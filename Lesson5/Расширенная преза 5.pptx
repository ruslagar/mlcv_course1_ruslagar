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4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4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0428" autoAdjust="0"/>
  </p:normalViewPr>
  <p:slideViewPr>
    <p:cSldViewPr>
      <p:cViewPr>
        <p:scale>
          <a:sx n="50" d="100"/>
          <a:sy n="50" d="100"/>
        </p:scale>
        <p:origin x="-652" y="-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3E1F2-B18D-40C6-9B4E-1097688C0F21}" type="datetimeFigureOut">
              <a:rPr lang="ru-RU" smtClean="0"/>
              <a:pPr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0BA36-EDB7-4E2D-BC6E-8F75DCB6F66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Начнём разбор одной из двух главных операций, которые позволяют реализовать логику поиска шаблонов и их объединения в более сложные формы.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Поиск паттерна (например, горизонтальной линии или, как на картинке, более сложного узора — мордочки котика) происходит во время свёртки с помощью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ядра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Давайте разберёмся, как это устроено.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Сначала — сама идея алгоритма.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вам дали задачу: есть картинка, и на ней нужно найти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тирлепудендуй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Вы понятия не имеете, что это такое. Но над вами сжалились и дали стеклышко, на котором нарисован контур этого загадочного объекта.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Ваши действия? Вы берёте стеклышко и картинку (желательно формата А1, а стеклышко в несколько сантиметров,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хорошее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времяприпровождение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начинаете перемещать его по изображению, надеясь, что контур на картинке совпадёт с нарисованным на стекле. Когда это счастье происходит, вы ставите отметку на листке-черновике: например, рисуете чёрную точку в том месте, где нашлось совпадение.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 того как вы прошлись стеклышком (в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нейросетях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оно называется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фильтр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или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ядро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по всей картинке и отметили на черновике все места, где нашёлся искомый объект, вы получили листок, на котором указано, где именно сработал фильтр. Это -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карта активации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(или карта признаков).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Теперь, когда общая идея свёртки понятна, давайте разберёмся детальнее, как она работает на уровне математики.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Логика операции свёртки (Как это работает математически)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у нас есть изображение (синяя сетка на слайде) и ядро 3×3 (серая сетка с мордочкой).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Наложение: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берем ядро и накладываем его на левый верхний угол изображения. То есть, каждая клетка ядра встает напротив соответствующей клетки изображения (клетка 1 ядра — на клетку 1 картинки, клетка 2 — на клетку 2 и т.д.).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Умножение: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умножаем число в каждой клетке ядра на число (яркость пикселя) в клетке изображения под ним.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3)Суммирование: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Все 9 получившихся произведений складываются в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одно-единственное число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Оно записывается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соответствующее место в 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карту активации (зеленую сеточку)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4) Сдвиг (Шаг /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Stride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сдвигаем ядро на одну клетку вправо (или на заданный шаг) и повторяем шаги 1–3.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Результат: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Когда мы так пройдем по всему изображению, у нас получится новая матрица чисел. Она называется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картой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активации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Простыми словами: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Мы как бы «прочесываем» всё изображение одним и тем же маленьким трафаретом и записываем, насколько сильно каждый участок картинки похож на этот трафарет.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Итак, на выходе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слоёв мы получаем карты активации. На последних слоях это буквально указания: есть ли на картинке искомые объекты (овал лица, глаза, нос) и если есть, то где именно они активировались (то есть где они расположены).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 эти карты активации — это ещё не готовый ответ. Нам нужно проанализировать их все вместе, чтобы вынести конечное решение: есть ли на фотографии искомый объект (в нашем случае — лицо).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применяем к картам активации (которые, как и изображения, являются матрицами) операцию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 Она разворачивает все эти матрицы в один длинный вектор.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Представьте, что у нас было 3 карты активации размером 28×28. После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они превращаются в один вектор длиной 3 × 28 × 28 = 2352 числа. Каждое число в этом векторе — это «сигнал» от определённого признака в определённом месте картинки.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этот вектор мы подаём на вход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полносвязной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нейронной сети (слои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Её задача — традиционная для классификатора: понять на основе признаков, которые мы ей дали, какой из них насколько важен, и на основе этого вынести финальное решение (предсказать класс).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 есть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свёрточные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слои — это своеобразная автоматическая предобработка изображений: поиск паттернов и их расположения на картинке. 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полносвязная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сеть — это «мозг», который смотрит на все эти найденные признаки и говорит: «Так, здесь есть глаз, здесь нос, здесь овал лица — да, это лицо».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E89E3-6383-42C0-A2BB-1768844ACE0A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Приступаем к решению наших практических</a:t>
            </a:r>
            <a:r>
              <a:rPr lang="ru-RU" baseline="0" dirty="0" smtClean="0"/>
              <a:t> вопросов</a:t>
            </a:r>
          </a:p>
          <a:p>
            <a:r>
              <a:rPr lang="ru-RU" baseline="0" dirty="0" smtClean="0"/>
              <a:t>Предположим, что мы работаем на заводе и хотим получить премию. Для этого мы решаем создать </a:t>
            </a:r>
            <a:r>
              <a:rPr lang="ru-RU" baseline="0" dirty="0" err="1" smtClean="0"/>
              <a:t>нейронку</a:t>
            </a:r>
            <a:r>
              <a:rPr lang="ru-RU" baseline="0" dirty="0" smtClean="0"/>
              <a:t>, которая умеет по фотографиям определять дефект детали, если он есть (царапина, скол и т.д.). Но наш завод работает хорошо, поэтому брака мало. Вы смогли набрать </a:t>
            </a:r>
            <a:r>
              <a:rPr lang="ru-RU" baseline="0" dirty="0" err="1" smtClean="0"/>
              <a:t>датасет</a:t>
            </a:r>
            <a:r>
              <a:rPr lang="ru-RU" baseline="0" dirty="0" smtClean="0"/>
              <a:t> всего из 50 картинок.</a:t>
            </a:r>
          </a:p>
          <a:p>
            <a:r>
              <a:rPr lang="ru-RU" baseline="0" dirty="0" smtClean="0"/>
              <a:t>Хватит ли этого?</a:t>
            </a:r>
            <a:br>
              <a:rPr lang="ru-RU" baseline="0" dirty="0" smtClean="0"/>
            </a:br>
            <a:r>
              <a:rPr lang="ru-RU" baseline="0" dirty="0" smtClean="0"/>
              <a:t>Чтобы </a:t>
            </a:r>
            <a:r>
              <a:rPr lang="ru-RU" baseline="0" dirty="0" err="1" smtClean="0"/>
              <a:t>нейросеть</a:t>
            </a:r>
            <a:r>
              <a:rPr lang="ru-RU" baseline="0" dirty="0" smtClean="0"/>
              <a:t> обладала хорошей обобщающей способностью и могла решать такую интересную задачу ей необходима достаточно сложная архитектура.   </a:t>
            </a:r>
          </a:p>
          <a:p>
            <a:r>
              <a:rPr lang="ru-RU" baseline="0" dirty="0" smtClean="0"/>
              <a:t>Много весов, мало данных -</a:t>
            </a:r>
            <a:r>
              <a:rPr lang="en-US" baseline="0" dirty="0" smtClean="0"/>
              <a:t>&gt; </a:t>
            </a:r>
            <a:r>
              <a:rPr lang="ru-RU" baseline="0" dirty="0" smtClean="0"/>
              <a:t>получим переобучение… Модель просто зазубрит наш маленький </a:t>
            </a:r>
            <a:r>
              <a:rPr lang="ru-RU" baseline="0" dirty="0" err="1" smtClean="0"/>
              <a:t>датасет</a:t>
            </a:r>
            <a:r>
              <a:rPr lang="ru-RU" baseline="0" dirty="0" smtClean="0"/>
              <a:t> и не сможет корректно работать на незнакомых данных. Премии не будет(</a:t>
            </a:r>
          </a:p>
          <a:p>
            <a:endParaRPr lang="ru-RU" baseline="0" dirty="0" smtClean="0"/>
          </a:p>
          <a:p>
            <a:r>
              <a:rPr lang="ru-RU" baseline="0" dirty="0" smtClean="0"/>
              <a:t>Но мы хотим деньгу. Значит нужно решить проблему. </a:t>
            </a:r>
          </a:p>
          <a:p>
            <a:r>
              <a:rPr lang="ru-RU" baseline="0" dirty="0" smtClean="0"/>
              <a:t>Вспомним предыдущий слайд о том, как глобально работают </a:t>
            </a:r>
            <a:r>
              <a:rPr lang="ru-RU" baseline="0" dirty="0" err="1" smtClean="0"/>
              <a:t>сверточные</a:t>
            </a:r>
            <a:r>
              <a:rPr lang="ru-RU" baseline="0" dirty="0" smtClean="0"/>
              <a:t> </a:t>
            </a:r>
            <a:r>
              <a:rPr lang="ru-RU" baseline="0" dirty="0" err="1" smtClean="0"/>
              <a:t>нейронки</a:t>
            </a:r>
            <a:r>
              <a:rPr lang="ru-RU" baseline="0" dirty="0" smtClean="0"/>
              <a:t>. На первых слоях происходит выделение самых общих паттернов: вертикальные/горизонтальные линии,  края и границы, простые геометрические фигуры. На дальнейших слоях – текстуры, фактуры. Далее еще более сложные объекты. </a:t>
            </a:r>
          </a:p>
          <a:p>
            <a:r>
              <a:rPr lang="ru-RU" baseline="0" dirty="0" smtClean="0"/>
              <a:t>Отнесемся к нейронной сети как к студенту. У которого есть базовые знания, на основе которых мы можем заставить его выполнять узкоспециализированную работу предварительно его </a:t>
            </a:r>
            <a:r>
              <a:rPr lang="ru-RU" baseline="0" dirty="0" err="1" smtClean="0"/>
              <a:t>дообучив</a:t>
            </a:r>
            <a:r>
              <a:rPr lang="ru-RU" baseline="0" dirty="0" smtClean="0"/>
              <a:t>. То есть мы можем взять </a:t>
            </a:r>
            <a:r>
              <a:rPr lang="ru-RU" baseline="0" dirty="0" err="1" smtClean="0"/>
              <a:t>нейросеть</a:t>
            </a:r>
            <a:r>
              <a:rPr lang="ru-RU" baseline="0" dirty="0" smtClean="0"/>
              <a:t>, которая уже была обучена работе с изображениями, научилась определять наличие некоторых объектов на картинке и </a:t>
            </a:r>
            <a:r>
              <a:rPr lang="ru-RU" baseline="0" dirty="0" err="1" smtClean="0"/>
              <a:t>дообучить</a:t>
            </a:r>
            <a:r>
              <a:rPr lang="ru-RU" baseline="0" dirty="0" smtClean="0"/>
              <a:t> ее на свою специфичную задачу.</a:t>
            </a:r>
          </a:p>
          <a:p>
            <a:r>
              <a:rPr lang="ru-RU" baseline="0" dirty="0" smtClean="0"/>
              <a:t>Эта </a:t>
            </a:r>
            <a:r>
              <a:rPr lang="ru-RU" baseline="0" dirty="0" err="1" smtClean="0"/>
              <a:t>нейросеть</a:t>
            </a:r>
            <a:r>
              <a:rPr lang="ru-RU" baseline="0" dirty="0" smtClean="0"/>
              <a:t> уже обучена работать с изображениями (края, границы, геометрические формы, текстуры и </a:t>
            </a:r>
            <a:r>
              <a:rPr lang="ru-RU" baseline="0" dirty="0" err="1" smtClean="0"/>
              <a:t>тд</a:t>
            </a:r>
            <a:r>
              <a:rPr lang="ru-RU" baseline="0" dirty="0" smtClean="0"/>
              <a:t>). Этому ее учить уже не нужно. Количество параметров модели, которые требуется обучить резко сокращается. И теперь нам может хватить даже нашей скудной выборки. Мы </a:t>
            </a:r>
            <a:r>
              <a:rPr lang="ru-RU" baseline="0" dirty="0" err="1" smtClean="0"/>
              <a:t>дообучим</a:t>
            </a:r>
            <a:r>
              <a:rPr lang="ru-RU" baseline="0" dirty="0" smtClean="0"/>
              <a:t> уже умного, что-то знающего студента, а не будем маяться с ним с нуля. Это сильно проще. Это и есть идея </a:t>
            </a:r>
            <a:r>
              <a:rPr lang="en-US" baseline="0" dirty="0" smtClean="0"/>
              <a:t>Transfer Learning</a:t>
            </a:r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Мы будем знакомиться с </a:t>
            </a:r>
            <a:r>
              <a:rPr lang="ru-RU" dirty="0" err="1" smtClean="0"/>
              <a:t>нейросетью</a:t>
            </a:r>
            <a:r>
              <a:rPr lang="ru-RU" dirty="0" smtClean="0"/>
              <a:t> </a:t>
            </a:r>
            <a:r>
              <a:rPr lang="en-US" dirty="0" smtClean="0"/>
              <a:t>ResNet</a:t>
            </a:r>
            <a:r>
              <a:rPr lang="en-US" baseline="0" dirty="0" smtClean="0"/>
              <a:t>50</a:t>
            </a:r>
            <a:r>
              <a:rPr lang="ru-RU" baseline="0" dirty="0" smtClean="0"/>
              <a:t> (50 – число слоев в ее архитектуре). И перед непосредственным знакомством (чтобы лучше ее понять..) рассмотрим ее </a:t>
            </a:r>
            <a:r>
              <a:rPr lang="ru-RU" baseline="0" dirty="0" err="1" smtClean="0"/>
              <a:t>бэкраунд</a:t>
            </a:r>
            <a:r>
              <a:rPr lang="ru-RU" baseline="0" dirty="0" smtClean="0"/>
              <a:t>. Какую школу жизни прошла эта </a:t>
            </a:r>
            <a:r>
              <a:rPr lang="ru-RU" baseline="0" dirty="0" err="1" smtClean="0"/>
              <a:t>нейронка</a:t>
            </a:r>
            <a:r>
              <a:rPr lang="ru-RU" baseline="0" dirty="0" smtClean="0"/>
              <a:t>?</a:t>
            </a:r>
          </a:p>
          <a:p>
            <a:endParaRPr lang="ru-RU" baseline="0" dirty="0" smtClean="0"/>
          </a:p>
          <a:p>
            <a:r>
              <a:rPr lang="ru-RU" baseline="0" dirty="0" smtClean="0"/>
              <a:t>Для обучения этой </a:t>
            </a:r>
            <a:r>
              <a:rPr lang="ru-RU" baseline="0" dirty="0" err="1" smtClean="0"/>
              <a:t>нейросети</a:t>
            </a:r>
            <a:r>
              <a:rPr lang="ru-RU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Microsoft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baseline="0" dirty="0" smtClean="0"/>
              <a:t>использовал </a:t>
            </a:r>
            <a:r>
              <a:rPr lang="ru-RU" baseline="0" dirty="0" err="1" smtClean="0"/>
              <a:t>датасет</a:t>
            </a:r>
            <a:r>
              <a:rPr lang="ru-RU" baseline="0" dirty="0" smtClean="0"/>
              <a:t> </a:t>
            </a:r>
            <a:r>
              <a:rPr lang="en-US" baseline="0" dirty="0" err="1" smtClean="0"/>
              <a:t>ImageNet</a:t>
            </a:r>
            <a:r>
              <a:rPr lang="ru-RU" baseline="0" dirty="0" smtClean="0"/>
              <a:t>, состоящий из 14 </a:t>
            </a:r>
            <a:r>
              <a:rPr lang="ru-RU" baseline="0" dirty="0" err="1" smtClean="0"/>
              <a:t>млн</a:t>
            </a:r>
            <a:r>
              <a:rPr lang="ru-RU" baseline="0" dirty="0" smtClean="0"/>
              <a:t> изображений самых разных объектов. </a:t>
            </a:r>
            <a:r>
              <a:rPr lang="ru-RU" baseline="0" dirty="0" err="1" smtClean="0"/>
              <a:t>Нейросеть</a:t>
            </a:r>
            <a:r>
              <a:rPr lang="ru-RU" baseline="0" dirty="0" smtClean="0"/>
              <a:t> обучена на 1.2 </a:t>
            </a:r>
            <a:r>
              <a:rPr lang="ru-RU" baseline="0" dirty="0" err="1" smtClean="0"/>
              <a:t>млн</a:t>
            </a:r>
            <a:r>
              <a:rPr lang="ru-RU" baseline="0" dirty="0" smtClean="0"/>
              <a:t> из них и заточена на решение задачи </a:t>
            </a:r>
            <a:r>
              <a:rPr lang="ru-RU" baseline="0" dirty="0" err="1" smtClean="0"/>
              <a:t>многоклассовой</a:t>
            </a:r>
            <a:r>
              <a:rPr lang="ru-RU" baseline="0" dirty="0" smtClean="0"/>
              <a:t> классификации. Она определяет к какому из 1000 существующих в ее голове классов вероятнее относится объект на картинке. Обращу Ваше внимание: она определяет ЧТО на картинке, но не определяет ГДЕ это что. Задачу </a:t>
            </a:r>
            <a:r>
              <a:rPr lang="ru-RU" baseline="0" dirty="0" err="1" smtClean="0"/>
              <a:t>детекции</a:t>
            </a:r>
            <a:r>
              <a:rPr lang="ru-RU" baseline="0" dirty="0" smtClean="0"/>
              <a:t> (т.е. определение положения объекта) мы будем решать с помощью другой </a:t>
            </a:r>
            <a:r>
              <a:rPr lang="ru-RU" baseline="0" dirty="0" err="1" smtClean="0"/>
              <a:t>нейросети</a:t>
            </a:r>
            <a:r>
              <a:rPr lang="ru-RU" baseline="0" dirty="0" smtClean="0"/>
              <a:t> (ту </a:t>
            </a:r>
            <a:r>
              <a:rPr lang="ru-RU" baseline="0" dirty="0" err="1" smtClean="0"/>
              <a:t>би</a:t>
            </a:r>
            <a:r>
              <a:rPr lang="ru-RU" baseline="0" dirty="0" smtClean="0"/>
              <a:t> </a:t>
            </a:r>
            <a:r>
              <a:rPr lang="ru-RU" baseline="0" dirty="0" err="1" smtClean="0"/>
              <a:t>континуед</a:t>
            </a:r>
            <a:r>
              <a:rPr lang="ru-RU" baseline="0" dirty="0" smtClean="0"/>
              <a:t>) </a:t>
            </a:r>
          </a:p>
          <a:p>
            <a:endParaRPr lang="ru-RU" baseline="0" dirty="0" smtClean="0"/>
          </a:p>
          <a:p>
            <a:r>
              <a:rPr lang="ru-RU" baseline="0" dirty="0" smtClean="0"/>
              <a:t>На этом </a:t>
            </a:r>
            <a:r>
              <a:rPr lang="ru-RU" baseline="0" dirty="0" err="1" smtClean="0"/>
              <a:t>датасете</a:t>
            </a:r>
            <a:r>
              <a:rPr lang="ru-RU" baseline="0" dirty="0" smtClean="0"/>
              <a:t> </a:t>
            </a:r>
            <a:r>
              <a:rPr lang="en-US" dirty="0" smtClean="0"/>
              <a:t>ResNet</a:t>
            </a:r>
            <a:r>
              <a:rPr lang="en-US" baseline="0" dirty="0" smtClean="0"/>
              <a:t>50</a:t>
            </a:r>
            <a:r>
              <a:rPr lang="ru-RU" baseline="0" dirty="0" smtClean="0"/>
              <a:t> училась работе с изображениями: искать края, границы, простые геометрические формы, какие-то более сложные формы. А в своем итоге искать признаки, характерные для объектов ее классов (разных пород кошек и собак, бытовых объектов, растений и т.д.) и учитывая их выраженность выносить решение: </a:t>
            </a:r>
            <a:r>
              <a:rPr lang="ru-RU" baseline="0" dirty="0" err="1" smtClean="0"/>
              <a:t>что-же</a:t>
            </a:r>
            <a:r>
              <a:rPr lang="ru-RU" baseline="0" dirty="0" smtClean="0"/>
              <a:t> изображено на картинке.</a:t>
            </a:r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Используем чужой мозг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Итак, как нам обучить умную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наших скудных 50 картинках и всё-таки получить премию? Ответ — использовать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(перенос обучения). Схема работает по принципу хирургии: «Берем базу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-&gt; Отрезаем голову -&gt; Приделываем свою».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это значит на практике?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ResNet50, обученная на миллионах картинок, состоит из двух частей: огромной «базы» (тело) и финального слоя (голова), который выдает ответ по 1000 классам. Нам не нужны эти 1000 классов (кошки, собаки, машины). Поэтому мы отрезаем родную голову, но оставляем нетронутым «тело» сети.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берем ее «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насмотренность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» — весь тот опыт, который она накопила, разглядывая миллионы фотографий (умение видеть края, текстуры, формы) — и приделываем к этому телу свою новую голову. Затем мы доучиваем только эту финальную часть под нашу задачу (поиск царапин и сколов). Поэтому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так хорош: основную-то учебу (базу) сеть уже прошла! (а котенок справа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нет – грызет гранит науки).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Нейросети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нужно снова зубрить основы. Мы просто даем ей немного специфичных знаний, и она готова работать. Быстро, дешево и премия у нас в кармане.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Итак, мы отрезали голову и приделали свою. Но у нас есть два способа её обучить: «безопасный» и «продвинутый».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Extraction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(Извлечение признаков)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наглухо замораживаем всю базу (тело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учим только нашу новую голову. Сеть просто использует те знания, которые уже есть, чтобы выдать нам классы.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Плюсы: Очень быстро (обучается за минуты), не требует много памяти, и почти невозможно переобучить.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применять: Когда у вас очень мало данных (например, наши 50 картинок) и ваша задача похожа на то, что сеть уже видела (цветы, животные, бытовые предметы). Мы просто просим умного студента применить его общие знания к новой узкой теме.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Fine-tuning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(Тонкая настройка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размораживаем последние слои базы (например, последние 30) и разрешаем им немного измениться. Мы как бы говорим сети: «Твои базовые знания хороши, но давай чуть-чуть подстроим твой взгляд под наши специфичные детали».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Главное правило: Мы используем очень маленький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(например, 1e-5). Мы не хотим сломать накопленный опыт резкими движениями. РАБОТАЕМ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НЕ ТРОГАЙ!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Плюсы: Позволяет выжать максимальную точность (обычно +2-5%).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применять: Когда данных уже достаточно (например, по 100-200 картинок на класс) и ваша задача сильно отличается от стандартных фотографий (например, рентгеновские снимки, снимки с микроскопа,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тепловизоры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Здесь базовым слоям нужно помочь адаптироваться.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Всегда начинайте 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Это базовый уровень. Если точности не хватает и данных достаточно — переходите к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Fine-tuning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нашем практическом коде мы попробуем оба подхода.</a:t>
            </a: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Pillow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(PIL)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OpenCV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две разные библиотеки для работы с изображениями, и у каждой своя специализация. В нашем уроке используется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Pillow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(PIL), потому что он идеально подходит для загрузки и базовой предобработки картинок в задачах глубокого обучения, особенно когда мы работаем с отдельными файлами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b="1" dirty="0" smtClean="0"/>
              <a:t>Ключевые различия:</a:t>
            </a:r>
          </a:p>
          <a:p>
            <a:endParaRPr lang="ru-RU" dirty="0" smtClean="0"/>
          </a:p>
          <a:p>
            <a:r>
              <a:rPr lang="ru-RU" dirty="0" smtClean="0"/>
              <a:t>Назначение: </a:t>
            </a:r>
            <a:r>
              <a:rPr lang="ru-RU" dirty="0" err="1" smtClean="0"/>
              <a:t>Pillow</a:t>
            </a:r>
            <a:r>
              <a:rPr lang="ru-RU" dirty="0" smtClean="0"/>
              <a:t> (PIL) — это классическая библиотека для обработки изображений (открыть, изменить размер, повернуть, сохранить в другом формате). </a:t>
            </a:r>
            <a:r>
              <a:rPr lang="ru-RU" dirty="0" err="1" smtClean="0"/>
              <a:t>OpenCV</a:t>
            </a:r>
            <a:r>
              <a:rPr lang="ru-RU" dirty="0" smtClean="0"/>
              <a:t> — это мощный </a:t>
            </a:r>
            <a:r>
              <a:rPr lang="ru-RU" dirty="0" err="1" smtClean="0"/>
              <a:t>фреймворк</a:t>
            </a:r>
            <a:r>
              <a:rPr lang="ru-RU" dirty="0" smtClean="0"/>
              <a:t> для компьютерного зрения, ориентированный на сложные задачи: распознавание, </a:t>
            </a:r>
            <a:r>
              <a:rPr lang="ru-RU" dirty="0" err="1" smtClean="0"/>
              <a:t>трекинг</a:t>
            </a:r>
            <a:r>
              <a:rPr lang="ru-RU" dirty="0" smtClean="0"/>
              <a:t>, работа с видео и камерами в реальном времени.</a:t>
            </a:r>
          </a:p>
          <a:p>
            <a:endParaRPr lang="ru-RU" dirty="0" smtClean="0"/>
          </a:p>
          <a:p>
            <a:r>
              <a:rPr lang="ru-RU" dirty="0" smtClean="0"/>
              <a:t>Формат данных: </a:t>
            </a:r>
            <a:r>
              <a:rPr lang="ru-RU" dirty="0" err="1" smtClean="0"/>
              <a:t>Pillow</a:t>
            </a:r>
            <a:r>
              <a:rPr lang="ru-RU" dirty="0" smtClean="0"/>
              <a:t> работает со специальным объектом </a:t>
            </a:r>
            <a:r>
              <a:rPr lang="ru-RU" dirty="0" err="1" smtClean="0"/>
              <a:t>PIL.Image</a:t>
            </a:r>
            <a:r>
              <a:rPr lang="ru-RU" dirty="0" smtClean="0"/>
              <a:t>, который очень удобен для последовательной обработки картинок (например, </a:t>
            </a:r>
            <a:r>
              <a:rPr lang="ru-RU" dirty="0" err="1" smtClean="0"/>
              <a:t>img.resize</a:t>
            </a:r>
            <a:r>
              <a:rPr lang="ru-RU" dirty="0" smtClean="0"/>
              <a:t>() или </a:t>
            </a:r>
            <a:r>
              <a:rPr lang="ru-RU" dirty="0" err="1" smtClean="0"/>
              <a:t>img.rotate</a:t>
            </a:r>
            <a:r>
              <a:rPr lang="ru-RU" dirty="0" smtClean="0"/>
              <a:t>()). </a:t>
            </a:r>
            <a:r>
              <a:rPr lang="ru-RU" dirty="0" err="1" smtClean="0"/>
              <a:t>OpenCV</a:t>
            </a:r>
            <a:r>
              <a:rPr lang="ru-RU" dirty="0" smtClean="0"/>
              <a:t> работает с изображениями как с массивами </a:t>
            </a:r>
            <a:r>
              <a:rPr lang="ru-RU" dirty="0" err="1" smtClean="0"/>
              <a:t>NumPy</a:t>
            </a:r>
            <a:r>
              <a:rPr lang="ru-RU" dirty="0" smtClean="0"/>
              <a:t> (</a:t>
            </a:r>
            <a:r>
              <a:rPr lang="ru-RU" dirty="0" err="1" smtClean="0"/>
              <a:t>numpy.ndarray</a:t>
            </a:r>
            <a:r>
              <a:rPr lang="ru-RU" dirty="0" smtClean="0"/>
              <a:t>), что идеально для математических операций и интеграции с </a:t>
            </a:r>
            <a:r>
              <a:rPr lang="ru-RU" dirty="0" err="1" smtClean="0"/>
              <a:t>TensorFlow</a:t>
            </a:r>
            <a:r>
              <a:rPr lang="ru-RU" dirty="0" smtClean="0"/>
              <a:t>, но требует больше кода для базовых действий.</a:t>
            </a:r>
          </a:p>
          <a:p>
            <a:endParaRPr lang="ru-RU" dirty="0" smtClean="0"/>
          </a:p>
          <a:p>
            <a:r>
              <a:rPr lang="ru-RU" dirty="0" smtClean="0"/>
              <a:t>Цветовые каналы: </a:t>
            </a:r>
            <a:r>
              <a:rPr lang="ru-RU" dirty="0" err="1" smtClean="0"/>
              <a:t>Pillow</a:t>
            </a:r>
            <a:r>
              <a:rPr lang="ru-RU" dirty="0" smtClean="0"/>
              <a:t> по умолчанию использует порядок RGB (</a:t>
            </a:r>
            <a:r>
              <a:rPr lang="ru-RU" dirty="0" err="1" smtClean="0"/>
              <a:t>Красный-Зеленый-Синий</a:t>
            </a:r>
            <a:r>
              <a:rPr lang="ru-RU" dirty="0" smtClean="0"/>
              <a:t>), который является стандартным для большинства дисплеев и библиотек (включая </a:t>
            </a:r>
            <a:r>
              <a:rPr lang="ru-RU" dirty="0" err="1" smtClean="0"/>
              <a:t>matplotlib</a:t>
            </a:r>
            <a:r>
              <a:rPr lang="ru-RU" dirty="0" smtClean="0"/>
              <a:t>). </a:t>
            </a:r>
            <a:r>
              <a:rPr lang="ru-RU" dirty="0" err="1" smtClean="0"/>
              <a:t>OpenCV</a:t>
            </a:r>
            <a:r>
              <a:rPr lang="ru-RU" dirty="0" smtClean="0"/>
              <a:t> исторически читает изображения в порядке BGR (</a:t>
            </a:r>
            <a:r>
              <a:rPr lang="ru-RU" dirty="0" err="1" smtClean="0"/>
              <a:t>Синий-Зеленый-Красный</a:t>
            </a:r>
            <a:r>
              <a:rPr lang="ru-RU" dirty="0" smtClean="0"/>
              <a:t>). Если перепутать, картинка будет выглядеть странно (например, лицо станет синим).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Загрузка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Смотрим на самую важную строчку в этом блоке, которая выделена цветом: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ResNet50(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weights='imagenet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ResNet50() — создает «скелет» (архитектуру)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Это просто пустые слои, соединенные между собой. В них пока нет никаких знаний, только случайные числа.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веса подтягиваются параметром 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weights='imagenet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Мы указываем модели, чтобы она взяла веса, которые были получены в ходе обучения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датасете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эту загруженную модель мы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складываем в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переменню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endParaRPr lang="en-US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 после загрузки :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Форма входа: (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224, 224, 3)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224, 224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размер картинки. Сеть привыкла работать с квадратными изображениями 224 на 224 пикселя.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три цветовых канала (Красный, Зеленый, Синий — RGB).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размер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батча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Мы можем подать сети хоть одну картинку, хоть 32 за раз. Программа пока не знает, сколько мы захотим, поэтому пишет «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» (пустота).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Форма выхода: (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1000)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выходе мы получаем массив из 1000 чисел. Это вероятности того, что на картинке изображен один из 1000 классов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Всего параметров: 25,636,712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количество «шестеренок» (весов) внутри модели. 25 с половиной миллионов параметров, которые сеть подкручивала, пока училась. Именно их мы будем замораживать на следующем шаге.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Импорты в начале ячейки: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preprocess_input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—переходник,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который нормализует цвета.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decode_predictions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«переводчик», который превратит число 281 в слово '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tabby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'. (позже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разберем подробнее)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 err="1" smtClean="0"/>
              <a:t>TensorFlow</a:t>
            </a:r>
            <a:r>
              <a:rPr lang="ru-RU" dirty="0" smtClean="0"/>
              <a:t> честно скачал 102 Мегабайта, чтобы мы могли пользоваться чужим опытом. Мы только что загрузили в нашу оперативную память 25 миллионов параметров, которые </a:t>
            </a:r>
            <a:r>
              <a:rPr lang="ru-RU" dirty="0" err="1" smtClean="0"/>
              <a:t>Microsoft</a:t>
            </a:r>
            <a:r>
              <a:rPr lang="ru-RU" dirty="0" smtClean="0"/>
              <a:t> обучал неделями на суперкомпьютерах. И все это — одной строчкой кода. А теперь давайте дадим ей картинку и посмотрим, как она работает!».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Настройки (IMG_SIZE и BATCH_SIZE)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224х224 — мы жестко задаем размер картинок, потому что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понимает только его.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 — размер «пачки»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батча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Сеть будет обрабатывать по 32 картинки за один шаг.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Загрузка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train_ds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val_ds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image_dataset_from_directory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сканирует нашу папку и автоматически присваивает картинкам метки на основе названий папок.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validation_split=0.2 — мы отдаем 80% картинок на обучение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20% на проверку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subset=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subset=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— создают два независимых потока.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seed=42 — гарантирует, что картинки не пересекутся между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image_size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batch_size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на лету сжимают картинки и собирают их в пачки.</a:t>
            </a:r>
          </a:p>
          <a:p>
            <a:pPr lvl="1"/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Получение классов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class_names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забирает названия классов (папок).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num_classes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считает их количество (у нас 5). Это число понадобится нам позже для финального слоя модели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base_model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ResNet50(weights='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 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include_top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=False, 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input_shape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=(224, 224, 3)) 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base_model.trainable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False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Загружаем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ResNet50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 весами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include_top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отрезает финальный слой на 1000 классов.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trainable=False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замораживает базу, чтобы мы её не сломали при обучении.</a:t>
            </a:r>
          </a:p>
          <a:p>
            <a:endParaRPr lang="ru-RU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Вход и Аугментация (Улучшение данных)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layers.Input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shape=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(224, 224, 3))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layers.RandomFlip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layers.RandomRotation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(0.1)(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Создаем точку входа для картинок. Затем добавляем слои, которые на лету отражают и поворачивают картинки.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искусственно увеличивает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датасет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спасает модель от «зазубривания» (переобучения).</a:t>
            </a:r>
          </a:p>
          <a:p>
            <a:endParaRPr lang="ru-RU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Пропускаем через замороженную базу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base_model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training=False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Отправляем картинки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training=False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Это критически важно для слоев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BatchNorm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внутри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Мы запрещаем им обновлять свои статистики, чтобы они использовали знания 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не подстраивались под наши цветы.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Приделываем свою «голову»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layers.GlobalAveragePooling2D()(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(0.2)(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num_classes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activation='softmax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Подробнее: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GlobalAveragePooling2D: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наша картинка проходит через всю базу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на выходе мы получаем трехмерный тензор. Его форма выглядит так: (7, 7, 2048).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2048 — это количество «карт признаков» (фильтров). Сеть выучила 2048 разных паттернов (один ищет глаза, другой — текстуру шерсти, третий — колеса).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7х7 — это пространственная сетка. Сеть как бы накладывает трафарет 7 на 7 на нашу картинку и смотрит, где именно сработал каждый паттерн.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работает GAP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)?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Слой берет каждую из 2048 карт (размером 7х7) и вычисляет среднее арифметическое всех чисел в ней.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Форма меняется с (7, 7, 2048) на (2048,).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(0.2):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Случайно отключает 20% нейронов при обучении, чтобы сеть не полагалась на один-единственный признак (защита от переобучения).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Наш финальный слой. Он выдает вероятности для наших 5 классов (сумма всех вероятностей = 1,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Финалим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модель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models.Model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Соединяем вход и выход в единый объект модели. Мы говорим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Всё, что между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наша новая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готовая к компиляции и обучению.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 этой строчки мы просто набрасывали в код отдельные «кирпичи» (слои). Мы вызвали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сделали аугментацию, добавили базу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прикрутили голову. Но для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это пока просто набор функций, которые не связаны в единую систему.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models.Model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нужна, чтобы зафиксировать граф вычислений.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base_model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dirty="0" err="1" smtClean="0"/>
              <a:t>trainable</a:t>
            </a:r>
            <a:r>
              <a:rPr lang="en-US" dirty="0" smtClean="0"/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dirty="0" smtClean="0"/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US" dirty="0" smtClean="0"/>
              <a:t> </a:t>
            </a:r>
            <a:r>
              <a:rPr lang="ru-RU" baseline="0" dirty="0" smtClean="0"/>
              <a:t> - </a:t>
            </a:r>
            <a:r>
              <a:rPr lang="ru-RU" baseline="0" dirty="0" err="1" smtClean="0"/>
              <a:t>разморозка</a:t>
            </a:r>
            <a:r>
              <a:rPr lang="ru-RU" baseline="0" dirty="0" smtClean="0"/>
              <a:t> всей </a:t>
            </a:r>
            <a:r>
              <a:rPr lang="ru-RU" baseline="0" dirty="0" err="1" smtClean="0"/>
              <a:t>нейронки</a:t>
            </a:r>
            <a:r>
              <a:rPr lang="ru-RU" baseline="0" dirty="0" smtClean="0"/>
              <a:t>, снимаем блок на изменение весов.</a:t>
            </a:r>
            <a:r>
              <a:rPr lang="ru-RU" b="0" baseline="0" dirty="0" smtClean="0"/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 затем запускаем цикл, который проходит по всем слоям базы и снова замораживает их все, кроме последних 30 (запись </a:t>
            </a:r>
            <a:r>
              <a:rPr lang="ru-RU" b="0" dirty="0" smtClean="0"/>
              <a:t>[:-30]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означает: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взять всё, кроме последних 30 элементов).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Ранние слои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ищут края и углы — это универсально, их трогать не нужно. А последние 30 слоев отвечают за сложные формы (например, форму лепестка). Мы разрешаем им немного измениться, чтобы они лучше поняли специфику наших цветов.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Далее компиляция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 маленьким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 rate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снова компилируем модель (это обязательно нужно делать после изменения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trainable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но меняем настройки оптимизатора: ставим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1e-5 (вместо 1e-3).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золотое правило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Fine-tuning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Мы не хотим резкими шагами сломать те идеальные веса, которые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накопила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Шаг в 100 раз меньше позволяет нам делать микроскопические, аккуратные корректировки.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Напоследок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запуск обучения –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дообучение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3 эпохи для тонкой настройки, пара кругов, чтобы веса немного подстроились. 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0BA36-EDB7-4E2D-BC6E-8F75DCB6F66F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Cascadia Mono Light" pitchFamily="49" charset="0"/>
                <a:cs typeface="Cascadia Mono Light" pitchFamily="49" charset="0"/>
              </a:rPr>
              <a:t>Франкенштейн из </a:t>
            </a:r>
            <a:r>
              <a:rPr lang="ru-RU" b="1" dirty="0" err="1" smtClean="0">
                <a:latin typeface="Cascadia Mono Light" pitchFamily="49" charset="0"/>
                <a:cs typeface="Cascadia Mono Light" pitchFamily="49" charset="0"/>
              </a:rPr>
              <a:t>ResNet</a:t>
            </a:r>
            <a:r>
              <a:rPr lang="ru-RU" b="1" dirty="0" smtClean="0">
                <a:latin typeface="Cascadia Mono Light" pitchFamily="49" charset="0"/>
                <a:cs typeface="Cascadia Mono Light" pitchFamily="49" charset="0"/>
              </a:rPr>
              <a:t>: отрезаем голову и учим своему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48200" y="5943600"/>
            <a:ext cx="5181600" cy="91440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5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743200"/>
            <a:ext cx="4343400" cy="3507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План занятия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48200" y="1600201"/>
            <a:ext cx="4038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Transfer Learning</a:t>
            </a:r>
          </a:p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Хирургия </a:t>
            </a:r>
            <a:r>
              <a:rPr lang="ru-RU" dirty="0" err="1" smtClean="0">
                <a:latin typeface="Cascadia Mono Light" pitchFamily="49" charset="0"/>
                <a:cs typeface="Cascadia Mono Light" pitchFamily="49" charset="0"/>
              </a:rPr>
              <a:t>нейросети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: как отрезать голову и остаться в плюсе</a:t>
            </a:r>
          </a:p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Учим всадника без головы распознавать цветочки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3765550" cy="4608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Повторение</a:t>
            </a:r>
            <a:br>
              <a:rPr lang="ru-RU" dirty="0" smtClean="0">
                <a:latin typeface="Cascadia Mono Light" pitchFamily="49" charset="0"/>
                <a:cs typeface="Cascadia Mono Light" pitchFamily="49" charset="0"/>
              </a:rPr>
            </a:b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Свертки за не одну минуту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524000"/>
            <a:ext cx="4191000" cy="48768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Ядро -  это маленькая матрица чисел (обычно 3×3), которую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свёрточная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сеть «прикладывает» к изображению, чтобы найти в нём определённый узор.</a:t>
            </a:r>
          </a:p>
          <a:p>
            <a:pPr lvl="0"/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464" y="1371600"/>
            <a:ext cx="4117411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5821363"/>
          </a:xfrm>
        </p:spPr>
        <p:txBody>
          <a:bodyPr/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Каждый следующий слой смотрит не на пиксели, а на карты предыдущего. Поэтому он видит более сложные вещи.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600200"/>
            <a:ext cx="851771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Problem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или зачем нам это все?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нехватка данных</a:t>
            </a:r>
          </a:p>
          <a:p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296532"/>
            <a:ext cx="5851525" cy="4561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err="1" smtClean="0">
                <a:latin typeface="Cascadia Mono Light" pitchFamily="49" charset="0"/>
                <a:cs typeface="Cascadia Mono Light" pitchFamily="49" charset="0"/>
              </a:rPr>
              <a:t>ImageNet</a:t>
            </a:r>
            <a:r>
              <a:rPr lang="en-US" sz="3200" b="1" dirty="0" smtClean="0">
                <a:latin typeface="Cascadia Mono Light" pitchFamily="49" charset="0"/>
                <a:cs typeface="Cascadia Mono Light" pitchFamily="49" charset="0"/>
              </a:rPr>
              <a:t>: </a:t>
            </a:r>
            <a:r>
              <a:rPr lang="ru-RU" sz="3200" b="1" dirty="0" smtClean="0">
                <a:latin typeface="Cascadia Mono Light" pitchFamily="49" charset="0"/>
                <a:cs typeface="Cascadia Mono Light" pitchFamily="49" charset="0"/>
              </a:rPr>
              <a:t>энциклопедия для </a:t>
            </a:r>
            <a:r>
              <a:rPr lang="ru-RU" sz="3200" b="1" dirty="0" err="1" smtClean="0">
                <a:latin typeface="Cascadia Mono Light" pitchFamily="49" charset="0"/>
                <a:cs typeface="Cascadia Mono Light" pitchFamily="49" charset="0"/>
              </a:rPr>
              <a:t>нейросетей</a:t>
            </a:r>
            <a:endParaRPr lang="ru-RU" sz="3200" dirty="0">
              <a:latin typeface="Cascadia Mono Light" pitchFamily="49" charset="0"/>
              <a:cs typeface="Cascadia Mono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600201"/>
            <a:ext cx="8305800" cy="685800"/>
          </a:xfrm>
        </p:spPr>
        <p:txBody>
          <a:bodyPr/>
          <a:lstStyle/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1.2 </a:t>
            </a:r>
            <a:r>
              <a:rPr lang="ru-RU" dirty="0" err="1" smtClean="0">
                <a:latin typeface="Cascadia Mono Light" pitchFamily="49" charset="0"/>
                <a:cs typeface="Cascadia Mono Light" pitchFamily="49" charset="0"/>
              </a:rPr>
              <a:t>млн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картинок, 1000 классов.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9218" name="Picture 2" descr="ImageNet 10 Image Recognition Dataset | Datasets | HyperA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286000"/>
            <a:ext cx="8572500" cy="342900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28600" y="6019800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Изучить иерархию признаков: контуры и границы 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-&gt;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текстуры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 -&gt;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сложные объекты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ascadia Mono Light" pitchFamily="49" charset="0"/>
                <a:cs typeface="Cascadia Mono Light" pitchFamily="49" charset="0"/>
              </a:rPr>
              <a:t>Transfer Learning: </a:t>
            </a:r>
            <a:r>
              <a:rPr lang="ru-RU" b="1" dirty="0" smtClean="0">
                <a:latin typeface="Cascadia Mono Light" pitchFamily="49" charset="0"/>
                <a:cs typeface="Cascadia Mono Light" pitchFamily="49" charset="0"/>
              </a:rPr>
              <a:t>Используем чужой мозг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600201"/>
            <a:ext cx="8153400" cy="1752599"/>
          </a:xfrm>
        </p:spPr>
        <p:txBody>
          <a:bodyPr>
            <a:normAutofit fontScale="62500" lnSpcReduction="20000"/>
          </a:bodyPr>
          <a:lstStyle/>
          <a:p>
            <a:r>
              <a:rPr lang="ru-RU" dirty="0" err="1" smtClean="0">
                <a:latin typeface="Cascadia Mono Light" pitchFamily="49" charset="0"/>
                <a:cs typeface="Cascadia Mono Light" pitchFamily="49" charset="0"/>
              </a:rPr>
              <a:t>ImageNet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-&gt; Отрезаем голову -&gt; Приделываем свою голову</a:t>
            </a:r>
          </a:p>
          <a:p>
            <a:endParaRPr lang="ru-RU" dirty="0" smtClean="0">
              <a:latin typeface="Cascadia Mono Light" pitchFamily="49" charset="0"/>
              <a:cs typeface="Cascadia Mono Light" pitchFamily="49" charset="0"/>
            </a:endParaRPr>
          </a:p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 Мы берем ее «</a:t>
            </a:r>
            <a:r>
              <a:rPr lang="ru-RU" dirty="0" err="1" smtClean="0">
                <a:latin typeface="Cascadia Mono Light" pitchFamily="49" charset="0"/>
                <a:cs typeface="Cascadia Mono Light" pitchFamily="49" charset="0"/>
              </a:rPr>
              <a:t>насмотренность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» (базу) и доучиваем только финальную часть под нашу задачу.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505200"/>
            <a:ext cx="3200400" cy="2706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3200400"/>
            <a:ext cx="43307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Feature Extraction </a:t>
            </a:r>
            <a:r>
              <a:rPr lang="en-US" dirty="0" err="1" smtClean="0">
                <a:latin typeface="Cascadia Mono Light" pitchFamily="49" charset="0"/>
                <a:cs typeface="Cascadia Mono Light" pitchFamily="49" charset="0"/>
              </a:rPr>
              <a:t>vs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 Fine-tuning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3657600" cy="4571999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i="1" dirty="0" smtClean="0">
                <a:latin typeface="Cascadia Mono Light" pitchFamily="49" charset="0"/>
                <a:cs typeface="Cascadia Mono Light" pitchFamily="49" charset="0"/>
              </a:rPr>
              <a:t>Feature Extraction: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 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Всё заморожено, учим только свою голову (быстро, мало данных).</a:t>
            </a:r>
          </a:p>
          <a:p>
            <a:pPr lvl="1"/>
            <a:r>
              <a:rPr lang="en-US" i="1" dirty="0" smtClean="0">
                <a:latin typeface="Cascadia Mono Light" pitchFamily="49" charset="0"/>
                <a:cs typeface="Cascadia Mono Light" pitchFamily="49" charset="0"/>
              </a:rPr>
              <a:t>Fine-tuning: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 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Разморожены последние слои, учимся аккуратно (медленнее, точнее, нужен маленький 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Learning Rate).</a:t>
            </a:r>
          </a:p>
          <a:p>
            <a:endParaRPr lang="ru-RU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2209800"/>
            <a:ext cx="4981575" cy="385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181600" y="1828800"/>
            <a:ext cx="3505200" cy="4297363"/>
          </a:xfrm>
        </p:spPr>
        <p:txBody>
          <a:bodyPr/>
          <a:lstStyle/>
          <a:p>
            <a:r>
              <a:rPr lang="ru-RU" dirty="0" err="1" smtClean="0">
                <a:latin typeface="Cascadia Mono Light" pitchFamily="49" charset="0"/>
                <a:cs typeface="Cascadia Mono Light" pitchFamily="49" charset="0"/>
              </a:rPr>
              <a:t>Кодим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!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685800"/>
            <a:ext cx="4203700" cy="548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3124200"/>
            <a:ext cx="9144000" cy="373380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tensorflow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as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tf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Самый главный инструмент. Это движок, на котором мы будем собирать, обучать и запускать нашу модель ResNet50.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as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np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Математика.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помогает нам превращать картинки в матрицы чисел и делать с ними вычисления.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matplotlib.pyplot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as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plt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—показывать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картинки на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экране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from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PIL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Image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Фоторедактор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Pillow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). Умеет открывать картинки, менять их размер до 224х224 (как требует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ResNet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и переводить в формат RGB.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requests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Курьер. Позволяет программе скачивать картинку по ссылке (URL) прямо из интернета.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from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io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BytesIO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Переходник. Когда «курьер»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requests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скачивает картинку, он приносит её в виде непонятных байтов.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BytesIO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оборачивает эти байты в объект, похожий на файл, чтобы «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фоторедактор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» (PIL) смог её прочитать, не сохраняя на диск.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04800"/>
            <a:ext cx="617549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495801"/>
            <a:ext cx="9144000" cy="23622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52400" y="228600"/>
            <a:ext cx="9144000" cy="4199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2. Классификация картинки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76800" y="1447800"/>
            <a:ext cx="4267200" cy="55626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Функция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classify_url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принимает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url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картинки, скачивает ее и скармливает это изображение нашей модели. Модель выдает предсказание – массив вероятности принадлежности объектов на изображении каждому из 1000 классов. Мы отображаем топ 5 классов с самой высокой вероятность. </a:t>
            </a: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19200"/>
            <a:ext cx="4343400" cy="5345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2. Классификация картинки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048000"/>
            <a:ext cx="8915400" cy="396240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img.resize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((224, 224))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Подгоняем размер - сжимаем или растягивает картинку до размера ровно 224 на 224 пикселя.  ResNet50  нужен именно этот формат. 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np.array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)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превращает объект картинки в матрицу размером 224, 224, 3.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np.expand_dims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, axis=0)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добавляет еще одну размерность в самое начало, соответствующую числу изображений. Массив (224, 224, 3) превращается в (1, 224, 224, 3).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Нейросеть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не работает с одной картинкой. Она всегда работает с «пачкой»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батчем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). Даже если мы хотим проверить одну картинку, мы обязаны сказать сети: вот пачка, в которой лежит ровно 1 картинка.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r="-4343" b="51724"/>
          <a:stretch>
            <a:fillRect/>
          </a:stretch>
        </p:blipFill>
        <p:spPr bwMode="auto">
          <a:xfrm>
            <a:off x="609600" y="1371600"/>
            <a:ext cx="81948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2. Классификация картинки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2895600"/>
            <a:ext cx="8991600" cy="411480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Эту часть в ячейке необходимо дописать самостоятельно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preprocess_input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Переходник - Берёт нашу картинку и математически меняет значения пикселей. Она вычитает средние значения цветов (которые использовались при обучении на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ImageNet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и меняет порядок каналов (RGB на BGR). Потому что ResNet50 привыкла видеть мир именно в таком виде. Если мы скормим ей обычную картинку с телефона (где цвета от 0 до 255), она сойдет с ума, и точность упадет до 1%.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preds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model.predict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)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Отправляет нашу подготовленную картинку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нейросеть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Картинка проходит через все 50 слоёв (прямой проход).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Результат - в переменной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preds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оказывается массив из 1000 сырых чисел (вероятностей). Поскольку мы подали «пачку из 1 картинки», форма массива будет (1, 1000).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results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decode_predictions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preds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top=top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)[0]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Словарь и Распаковка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decode_predictions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: Берёт 1000 сырых чисел, находит среди них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top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самых больших (например, 5). Затем смотрит в словарь и переводит номера классов в понятные слова (например, номер 281 -&gt; '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tabby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cat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').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0] в конце: Функция всегда возвращает «список списков» (потому что думает, что мы подали пачку картинок). Индекс [0] достаёт результат только для нашей первой (и единственной) картинки.</a:t>
            </a: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8164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5334000"/>
            <a:ext cx="8534400" cy="15240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Мы загружаем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датасет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цветов из 5 классов, на которых мы будем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дообучать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нашу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предобученную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нейросеть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Мы приближаемся к всаднику без головы, который будет учиться распознавать цветочки.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04800"/>
            <a:ext cx="8001000" cy="500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5380037"/>
            <a:ext cx="8686800" cy="1477963"/>
          </a:xfrm>
        </p:spPr>
        <p:txBody>
          <a:bodyPr/>
          <a:lstStyle/>
          <a:p>
            <a:r>
              <a:rPr lang="ru-RU" dirty="0" smtClean="0"/>
              <a:t>Эта ячейка превращает папки с картинками в готовые данные для обучения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04800"/>
            <a:ext cx="7239000" cy="4846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2667000"/>
            <a:ext cx="8077200" cy="3078163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Этот блок настраивает быструю и правильную подачу данных в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нейросеть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: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def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preprocess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y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 — создаем функцию, которая берет пачку картинок 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 и меток 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y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). Картинки она прогоняет через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preprocess_input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(нормализует цвета под стандарты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ImageNet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), а метки оставляет без изменений.</a:t>
            </a:r>
          </a:p>
          <a:p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map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preprocess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 — применяет эту нормализацию к каждой пачке данных «на лету» (по мере того, как они достаются с диска).</a:t>
            </a:r>
          </a:p>
          <a:p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prefetch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tf.data.AUTOTUNE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 — включает асинхронность. Пока видеокарта (GPU) обучает модель на текущей пачке, процессор (CPU) уже готовит следующую. Это экономит время и не дает GPU простаивать.</a:t>
            </a:r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533400"/>
            <a:ext cx="8305800" cy="1925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304800"/>
            <a:ext cx="9178219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Компиляция модели через метод </a:t>
            </a:r>
            <a:r>
              <a:rPr lang="en-US" dirty="0" smtClean="0"/>
              <a:t>compile </a:t>
            </a:r>
          </a:p>
          <a:p>
            <a:r>
              <a:rPr lang="ru-RU" dirty="0" smtClean="0"/>
              <a:t>Аргументы: </a:t>
            </a:r>
          </a:p>
          <a:p>
            <a:r>
              <a:rPr lang="ru-RU" dirty="0" smtClean="0"/>
              <a:t>оптимизатор </a:t>
            </a:r>
            <a:r>
              <a:rPr lang="en-US" dirty="0" smtClean="0"/>
              <a:t>Adam (learning rate = 1e-3),</a:t>
            </a:r>
            <a:endParaRPr lang="ru-RU" dirty="0" smtClean="0"/>
          </a:p>
          <a:p>
            <a:r>
              <a:rPr lang="ru-RU" dirty="0" smtClean="0"/>
              <a:t>функция </a:t>
            </a:r>
            <a:r>
              <a:rPr lang="ru-RU" dirty="0" smtClean="0"/>
              <a:t>потерь (</a:t>
            </a:r>
            <a:r>
              <a:rPr lang="ru-RU" dirty="0" err="1" smtClean="0"/>
              <a:t>sparse</a:t>
            </a:r>
            <a:r>
              <a:rPr lang="ru-RU" dirty="0" smtClean="0"/>
              <a:t>: Наши папки с цветами автоматически превратились в номера классов (0, 1, 2, 3, 4). Мы передаем ответы в виде простых чисел, а не массивов из нулей и единиц (</a:t>
            </a:r>
            <a:r>
              <a:rPr lang="ru-RU" dirty="0" err="1" smtClean="0"/>
              <a:t>one-hot</a:t>
            </a:r>
            <a:r>
              <a:rPr lang="ru-RU" dirty="0" smtClean="0"/>
              <a:t>). Функция </a:t>
            </a:r>
            <a:r>
              <a:rPr lang="ru-RU" dirty="0" err="1" smtClean="0"/>
              <a:t>sparse</a:t>
            </a:r>
            <a:r>
              <a:rPr lang="ru-RU" dirty="0" smtClean="0"/>
              <a:t> умеет работать с такими номерами</a:t>
            </a:r>
            <a:r>
              <a:rPr lang="ru-RU" dirty="0" smtClean="0"/>
              <a:t>.)</a:t>
            </a:r>
          </a:p>
          <a:p>
            <a:r>
              <a:rPr lang="ru-RU" dirty="0" smtClean="0"/>
              <a:t>Метрика - точность</a:t>
            </a:r>
          </a:p>
          <a:p>
            <a:endParaRPr lang="ru-RU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01643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Обучение через метод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fit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Сначала мы меняем только голову, но не веса в предшествующих слоях. Это подход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Feature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Extraction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Аргументы: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Датасет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для обучения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фоочки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метки)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Валидационная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выборка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Число эпох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304800"/>
            <a:ext cx="878889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86200"/>
            <a:ext cx="8153400" cy="2773363"/>
          </a:xfrm>
        </p:spPr>
        <p:txBody>
          <a:bodyPr/>
          <a:lstStyle/>
          <a:p>
            <a:r>
              <a:rPr lang="ru-RU" dirty="0" smtClean="0"/>
              <a:t>После обучения </a:t>
            </a:r>
            <a:r>
              <a:rPr lang="en-US" dirty="0" err="1" smtClean="0"/>
              <a:t>history_fe</a:t>
            </a:r>
            <a:r>
              <a:rPr lang="en-US" dirty="0" smtClean="0"/>
              <a:t> </a:t>
            </a:r>
            <a:r>
              <a:rPr lang="ru-RU" dirty="0" smtClean="0"/>
              <a:t>есть ячейка для построения графиков: слева точность на тренировочной и </a:t>
            </a:r>
            <a:r>
              <a:rPr lang="ru-RU" dirty="0" err="1" smtClean="0"/>
              <a:t>валидационной</a:t>
            </a:r>
            <a:r>
              <a:rPr lang="ru-RU" dirty="0" smtClean="0"/>
              <a:t> выборках. Справа: график для функции потерь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1000"/>
            <a:ext cx="8305800" cy="3247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Fine-tuning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495800"/>
            <a:ext cx="9144000" cy="23622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19200"/>
            <a:ext cx="9178155" cy="304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419600"/>
            <a:ext cx="9144000" cy="2438400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Снова рисуем графики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8686800" cy="338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Гадаем 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502920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следующую ячейку кода после запуска можно загрузить свою фотографию с цветочком и проверить, как хорошо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нейросеть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переучилась распознавать 5 классов цветочков)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1800" y="1828800"/>
            <a:ext cx="490220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Дз-шечка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Применить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Transfer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Learning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Feature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Extraction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+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Fine-tuning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на одном из двух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датасетов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на выбор. Оценить качество модели и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сохранить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её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Вариант 1: дорожные знаки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Вариант 2: еда (я знаю, что вы выберите)))</a:t>
            </a:r>
          </a:p>
          <a:p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PS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блокноты будут чуть опосля)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3000</Words>
  <Application>Microsoft Office PowerPoint</Application>
  <PresentationFormat>Экран (4:3)</PresentationFormat>
  <Paragraphs>239</Paragraphs>
  <Slides>25</Slides>
  <Notes>13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Office Theme</vt:lpstr>
      <vt:lpstr>Франкенштейн из ResNet: отрезаем голову и учим своему</vt:lpstr>
      <vt:lpstr>План занятия</vt:lpstr>
      <vt:lpstr>Повторение Свертки за не одну минуту</vt:lpstr>
      <vt:lpstr>Слайд 4</vt:lpstr>
      <vt:lpstr>Problem или зачем нам это все?</vt:lpstr>
      <vt:lpstr>ImageNet: энциклопедия для нейросетей</vt:lpstr>
      <vt:lpstr>Transfer Learning: Используем чужой мозг</vt:lpstr>
      <vt:lpstr>Feature Extraction vs Fine-tuning</vt:lpstr>
      <vt:lpstr>Слайд 9</vt:lpstr>
      <vt:lpstr>Слайд 10</vt:lpstr>
      <vt:lpstr>Слайд 11</vt:lpstr>
      <vt:lpstr>2. Классификация картинки</vt:lpstr>
      <vt:lpstr>2. Классификация картинки</vt:lpstr>
      <vt:lpstr>2. Классификация картинки</vt:lpstr>
      <vt:lpstr>  </vt:lpstr>
      <vt:lpstr>Слайд 16</vt:lpstr>
      <vt:lpstr>Слайд 17</vt:lpstr>
      <vt:lpstr>Слайд 18</vt:lpstr>
      <vt:lpstr>Слайд 19</vt:lpstr>
      <vt:lpstr>Слайд 20</vt:lpstr>
      <vt:lpstr>Слайд 21</vt:lpstr>
      <vt:lpstr>Fine-tuning</vt:lpstr>
      <vt:lpstr>Слайд 23</vt:lpstr>
      <vt:lpstr>Гадаем </vt:lpstr>
      <vt:lpstr>Дз-шечка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Франкенштейн из ResNet: отрезаем голову и учим своему</dc:title>
  <dc:creator>Вера Пономаренко</dc:creator>
  <cp:lastModifiedBy>Вера Пономаренко</cp:lastModifiedBy>
  <cp:revision>19</cp:revision>
  <dcterms:created xsi:type="dcterms:W3CDTF">2026-10-20T06:36:35Z</dcterms:created>
  <dcterms:modified xsi:type="dcterms:W3CDTF">2026-10-21T18:01:59Z</dcterms:modified>
</cp:coreProperties>
</file>
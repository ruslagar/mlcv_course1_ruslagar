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8" r:id="rId2"/>
    <p:sldId id="259" r:id="rId3"/>
    <p:sldId id="257" r:id="rId4"/>
    <p:sldId id="275" r:id="rId5"/>
    <p:sldId id="272" r:id="rId6"/>
    <p:sldId id="270" r:id="rId7"/>
    <p:sldId id="268" r:id="rId8"/>
    <p:sldId id="269" r:id="rId9"/>
    <p:sldId id="274" r:id="rId10"/>
    <p:sldId id="267" r:id="rId11"/>
    <p:sldId id="266" r:id="rId12"/>
    <p:sldId id="263" r:id="rId13"/>
    <p:sldId id="264" r:id="rId14"/>
    <p:sldId id="276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46191" autoAdjust="0"/>
  </p:normalViewPr>
  <p:slideViewPr>
    <p:cSldViewPr>
      <p:cViewPr varScale="1">
        <p:scale>
          <a:sx n="51" d="100"/>
          <a:sy n="51" d="100"/>
        </p:scale>
        <p:origin x="-632" y="-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11C7CE-563C-4673-AC3D-AD9878EA2BFC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1E89E3-6383-42C0-A2BB-1768844ACE0A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Давайте вспомним нашу предыдущую лекцию,</a:t>
            </a:r>
            <a:r>
              <a:rPr lang="ru-RU" baseline="0" dirty="0" smtClean="0"/>
              <a:t> ее практическую часть. Мы использовали </a:t>
            </a:r>
            <a:r>
              <a:rPr lang="ru-RU" baseline="0" dirty="0" err="1" smtClean="0"/>
              <a:t>полносвязную</a:t>
            </a:r>
            <a:r>
              <a:rPr lang="ru-RU" baseline="0" dirty="0" smtClean="0"/>
              <a:t> нейронную сеть (слои </a:t>
            </a:r>
            <a:r>
              <a:rPr lang="en-US" baseline="0" dirty="0" smtClean="0"/>
              <a:t>Dense) </a:t>
            </a:r>
            <a:r>
              <a:rPr lang="ru-RU" baseline="0" dirty="0" smtClean="0"/>
              <a:t>для решения задачи </a:t>
            </a:r>
            <a:r>
              <a:rPr lang="ru-RU" baseline="0" dirty="0" err="1" smtClean="0"/>
              <a:t>многоклассовой</a:t>
            </a:r>
            <a:r>
              <a:rPr lang="ru-RU" baseline="0" dirty="0" smtClean="0"/>
              <a:t> классификации – распознавания рукописных цифр из </a:t>
            </a:r>
            <a:r>
              <a:rPr lang="ru-RU" baseline="0" dirty="0" err="1" smtClean="0"/>
              <a:t>датасета</a:t>
            </a:r>
            <a:r>
              <a:rPr lang="ru-RU" baseline="0" dirty="0" smtClean="0"/>
              <a:t> </a:t>
            </a:r>
            <a:r>
              <a:rPr lang="en-US" baseline="0" dirty="0" smtClean="0"/>
              <a:t>MNIST. </a:t>
            </a:r>
            <a:r>
              <a:rPr lang="ru-RU" baseline="0" dirty="0" smtClean="0"/>
              <a:t>Работало же, чем плохо?</a:t>
            </a:r>
          </a:p>
          <a:p>
            <a:r>
              <a:rPr lang="ru-RU" baseline="0" dirty="0" smtClean="0"/>
              <a:t>Давайте вспомним, что мы делали с изображением перед передачей его </a:t>
            </a:r>
            <a:r>
              <a:rPr lang="ru-RU" baseline="0" dirty="0" err="1" smtClean="0"/>
              <a:t>полносвязному</a:t>
            </a:r>
            <a:r>
              <a:rPr lang="ru-RU" baseline="0" dirty="0" smtClean="0"/>
              <a:t> слою: мы применяли </a:t>
            </a:r>
            <a:r>
              <a:rPr lang="en-US" baseline="0" dirty="0" smtClean="0"/>
              <a:t>Flatten(), </a:t>
            </a:r>
            <a:r>
              <a:rPr lang="ru-RU" baseline="0" dirty="0" smtClean="0"/>
              <a:t>который разворачивал нашу матрицу изображения 28*28 пикселей в одномерный массив из 784 значений. И каждый пиксель подавался отдельно на вход первого </a:t>
            </a:r>
            <a:r>
              <a:rPr lang="ru-RU" baseline="0" dirty="0" err="1" smtClean="0"/>
              <a:t>полносвязного</a:t>
            </a:r>
            <a:r>
              <a:rPr lang="ru-RU" baseline="0" dirty="0" smtClean="0"/>
              <a:t> слоя как самостоятельный признак. </a:t>
            </a:r>
          </a:p>
          <a:p>
            <a:r>
              <a:rPr lang="ru-RU" baseline="0" dirty="0" smtClean="0"/>
              <a:t>Чем это </a:t>
            </a:r>
            <a:r>
              <a:rPr lang="ru-RU" baseline="0" dirty="0" err="1" smtClean="0"/>
              <a:t>черевато</a:t>
            </a:r>
            <a:r>
              <a:rPr lang="ru-RU" baseline="0" dirty="0" smtClean="0"/>
              <a:t>?</a:t>
            </a:r>
          </a:p>
          <a:p>
            <a:pPr marL="228600" indent="-228600">
              <a:buAutoNum type="arabicParenR"/>
            </a:pPr>
            <a:r>
              <a:rPr lang="ru-RU" baseline="0" dirty="0" smtClean="0"/>
              <a:t>Даже при маленьком черно-белом изображении </a:t>
            </a:r>
            <a:r>
              <a:rPr lang="ru-RU" baseline="0" dirty="0" err="1" smtClean="0"/>
              <a:t>изображении</a:t>
            </a:r>
            <a:r>
              <a:rPr lang="ru-RU" baseline="0" dirty="0" smtClean="0"/>
              <a:t> мы получаем уже 784*(число нейронов первого </a:t>
            </a:r>
            <a:r>
              <a:rPr lang="ru-RU" baseline="0" dirty="0" err="1" smtClean="0"/>
              <a:t>полносвязного</a:t>
            </a:r>
            <a:r>
              <a:rPr lang="ru-RU" baseline="0" dirty="0" smtClean="0"/>
              <a:t> слоя) весов (а еще + смещения, число которых также равно числу нейронов). </a:t>
            </a:r>
            <a:r>
              <a:rPr lang="ru-RU" baseline="0" dirty="0" err="1" smtClean="0"/>
              <a:t>Многа</a:t>
            </a:r>
            <a:r>
              <a:rPr lang="ru-RU" baseline="0" dirty="0" smtClean="0"/>
              <a:t>.. Очень. </a:t>
            </a:r>
          </a:p>
          <a:p>
            <a:pPr marL="228600" indent="-228600">
              <a:buAutoNum type="arabicParenR"/>
            </a:pP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Когда мы разворачиваем изображение в вектор, соседние пиксели перестают быть соседями. Сеть больше не знает, что два пикселя расположены рядом, что вместе они образуют линию, угол, контур или часть цифры. Она вынуждена рассматривать каждый пиксель отдельно.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marL="228600" indent="-228600">
              <a:buNone/>
            </a:pP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Это похоже на попытку оценить успех корпорации по вкладу каждого отдельного сотрудника, не видя отделов, филиалов и связей между ними.  Аналогия: </a:t>
            </a:r>
            <a:r>
              <a:rPr lang="ru-RU" baseline="0" dirty="0" smtClean="0"/>
              <a:t>какой вклад каждый отдельный человечек-сотрудник огромной корпорации вносит в ее успех. Но так же не делают. На самом высоком уровне оценивают вклад более крупных подразделений (филиалов, отделов, но никак не каждого отдельного сотрудника). Здесь нам нужно провернуть подобное. Заставить нашу </a:t>
            </a:r>
            <a:r>
              <a:rPr lang="ru-RU" baseline="0" dirty="0" err="1" smtClean="0"/>
              <a:t>нейросеть</a:t>
            </a:r>
            <a:r>
              <a:rPr lang="ru-RU" baseline="0" dirty="0" smtClean="0"/>
              <a:t> смотреть не на каждый пиксель отдельно, а на их группы и взаимное расположение друг относительно друга. </a:t>
            </a:r>
          </a:p>
          <a:p>
            <a:pPr marL="228600" indent="-228600">
              <a:buNone/>
            </a:pPr>
            <a:endParaRPr lang="ru-RU" baseline="0" dirty="0" smtClean="0"/>
          </a:p>
          <a:p>
            <a:pPr marL="228600" indent="-228600">
              <a:buNone/>
            </a:pPr>
            <a:r>
              <a:rPr lang="ru-RU" b="1" baseline="0" dirty="0" smtClean="0"/>
              <a:t>ИТОГО:</a:t>
            </a:r>
            <a:endParaRPr lang="ru-RU" sz="1200" b="1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>
              <a:buNone/>
            </a:pP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Таким образом </a:t>
            </a:r>
            <a:r>
              <a:rPr lang="ru-RU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сверточная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нейросеть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решает задачу работы </a:t>
            </a:r>
            <a:r>
              <a:rPr lang="ru-RU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изобрежения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другим подходом: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смотрит на небольшие группы соседних пикселей. </a:t>
            </a:r>
          </a:p>
          <a:p>
            <a:pPr marL="228600" indent="-228600">
              <a:buNone/>
            </a:pP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Сначала она ищет простые шаблоны: границы, линии, углы, пятна. </a:t>
            </a:r>
          </a:p>
          <a:p>
            <a:pPr marL="228600" indent="-228600">
              <a:buNone/>
            </a:pP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Затем из этих простых шаблонов собирает более сложные: дуги, пересечения, петли, фрагменты цифр.</a:t>
            </a:r>
          </a:p>
          <a:p>
            <a:pPr marL="228600" indent="-228600">
              <a:buNone/>
            </a:pP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А на следующих уровнях — уже целые объекты, например цифру или букву. </a:t>
            </a:r>
          </a:p>
          <a:p>
            <a:pPr marL="228600" indent="-228600">
              <a:buNone/>
            </a:pP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Сложность растёт постепенно: от простых локальных узоров к сложным формам.</a:t>
            </a:r>
          </a:p>
          <a:p>
            <a:pPr marL="228600" indent="-228600">
              <a:buAutoNum type="arabicParenR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1E89E3-6383-42C0-A2BB-1768844ACE0A}" type="slidenum">
              <a:rPr lang="ru-RU" smtClean="0"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Начнём разбор одной из двух главных операций, которые позволяют реализовать логику поиска шаблонов и их объединения в более сложные формы.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Поиск паттерна (например, горизонтальной линии или, как на картинке, более сложного узора — мордочки котика) происходит во время свёртки с помощью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ядра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Давайте разберёмся, как это устроено.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Сначала — сама идея алгоритма.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Представьте, вам дали задачу: есть картинка, и на ней нужно найти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тирлепудендуй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Вы понятия не имеете, что это такое. Но над вами сжалились и дали стеклышко, на котором нарисован контур этого загадочного объекта.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Ваши действия? Вы берёте стеклышко и картинку (желательно формата А1, а стеклышко в несколько сантиметров,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хорошее </a:t>
            </a:r>
            <a:r>
              <a:rPr lang="ru-RU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времяприпровождение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и начинаете перемещать его по изображению, надеясь, что контур на картинке совпадёт с нарисованным на стекле. Когда это счастье происходит, вы ставите отметку на листке-черновике: например, рисуете чёрную точку в том месте, где нашлось совпадение.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После того как вы прошлись стеклышком (в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нейросетях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оно называется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фильтр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или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ядро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по всей картинке и отметили на черновике все места, где нашёлся искомый объект, вы получили листок, на котором указано, где именно сработал фильтр. Это -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карта активации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(или карта признаков).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Теперь, когда общая идея свёртки понятна, давайте разберёмся детальнее, как она работает на уровне математики.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Логика операции свёртки (Как это работает математически)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Представьте, что у нас есть изображение (синяя сетка на слайде) и ядро 3×3 (серая сетка с мордочкой).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1) Наложение: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Мы берем ядро и накладываем его на левый верхний угол изображения. То есть, каждая клетка ядра встает напротив соответствующей клетки изображения (клетка 1 ядра — на клетку 1 картинки, клетка 2 — на клетку 2 и т.д.).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2) Умножение: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Мы умножаем число в каждой клетке ядра на число (яркость пикселя) в клетке изображения под ним.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3)Суммирование: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Все 9 получившихся произведений складываются в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одно-единственное число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Оно записывается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на соответствующее место в </a:t>
            </a:r>
            <a:r>
              <a:rPr lang="ru-RU" sz="1200" b="1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карту активации (зеленую сеточку)</a:t>
            </a:r>
            <a:endParaRPr lang="ru-RU" sz="1200" b="1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4) Сдвиг (Шаг / </a:t>
            </a:r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Stride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):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Мы сдвигаем ядро на одну клетку вправо (или на заданный шаг) и повторяем шаги 1–3.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Результат: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Когда мы так пройдем по всему изображению, у нас получится новая матрица чисел. Она называется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картой</a:t>
            </a:r>
            <a:r>
              <a:rPr lang="ru-RU" sz="1200" b="1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активации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feature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map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Простыми словами: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Мы как бы «прочесываем» всё изображение одним и тем же маленьким трафаретом и записываем, насколько сильно каждый участок картинки похож на этот трафарет.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1E89E3-6383-42C0-A2BB-1768844ACE0A}" type="slidenum">
              <a:rPr lang="ru-RU" smtClean="0"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Шаг 1. Как стеклышко понимает, что контур совпал?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реальности на стеклышке нарисованы не просто линии, а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числа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(это и есть веса ядра, они подбираются в ходе обучения, как веса в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полносвязных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слоях).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Представьте, что в местах, где должен быть контур, стоят, например,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+1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а там, где контура быть не должно —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-1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Когда вы накладываете стеклышко на участок картинки (например, 3×3 пикселя), вы перемножаете числа на стекле с яркостью пикселей под ними.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Если пиксель яркий (белый = 255), а на стекле стоит +1, получается большое положительное число (1 × 255 = 255).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Если пиксель тёмный (чёрный = 0), а на стекле стоит +1, получается 0 (0 × 1 = 0).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 если на стекле стоит -1, а пиксель яркий, получается отрицательное число (255 × -1 = -255). Это «штраф» за то, что в этом месте контура быть не должно, а он есть.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Затем все эти произведения складываются в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одно итоговое число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Чем оно больше — тем сильнее этот участок изображения похож на то, что закодировано в шаблоне-фильтре. На черновике вы ставите точку тем «чернее» (или тем выше значение записываете), чем больше получилось итоговое число.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1E89E3-6383-42C0-A2BB-1768844ACE0A}" type="slidenum">
              <a:rPr lang="ru-RU" smtClean="0"/>
              <a:t>5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Шаг 2. Двигаемся дальше (Шаг /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Stride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Вы сдвигаете стеклышко на одну клетку вправо и повторяете расчёт. Опять получаете число и записываете его в черновик. 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Если сдвигать на 1 пиксель — это stride=1. 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Заметим,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что при ядре 3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x3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stride=1 полученная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карта активации уменьшится. В описанном раскладе от изображения уйдет «рамочка». Был размер 28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x28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станет 26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x2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1E89E3-6383-42C0-A2BB-1768844ACE0A}" type="slidenum">
              <a:rPr lang="ru-RU" smtClean="0"/>
              <a:t>6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Если сдвигать через две клетки (быстрее, но менее детально) — это stride=2.</a:t>
            </a:r>
            <a:b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Так вы проходите всю картинку слева направо и сверху вниз, заполняя весь черновик числами. Этот черновик и есть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карта признаков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 следующих двух слайдах показано как будет двигаться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ядро по изображению, если установить шаг 2, то есть каждый раз прыгаем на 2 пикселя (как по горизонтали, так и при переходе по вертикали) </a:t>
            </a:r>
          </a:p>
          <a:p>
            <a:endParaRPr lang="ru-RU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Заметим, что в таком случае карта активации уменьшится еще сильнее относительно начального изображения.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1E89E3-6383-42C0-A2BB-1768844ACE0A}" type="slidenum">
              <a:rPr lang="ru-RU" smtClean="0"/>
              <a:t>7</a:t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Иногда, чтобы не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терять края, картинку часто искусственно окружают рамкой из нулей. Это называется </a:t>
            </a:r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(заполнение). Это позволяет обрабатывать края так же тщательно, как и центр.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За счет такого искусственного расширения размера исходного изображения после операции свертки карта активации окажется такого же размера, как исходное изображение до </a:t>
            </a:r>
            <a:r>
              <a:rPr lang="ru-RU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паддинга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1E89E3-6383-42C0-A2BB-1768844ACE0A}" type="slidenum">
              <a:rPr lang="ru-RU" smtClean="0"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Шаг 3. Одного стеклышка мало (Много фильтров)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Одно стеклышко ищет только один паттерн (например, вертикальную линию). Но нам нужно найти и горизонтальные линии, и углы, и мордочку котика.</a:t>
            </a:r>
            <a:b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Поэтому в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свёрточном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слое используется сразу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много ядер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(например, 32 или 64).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Каждое ядро — это отдельное стеклышко со своими числами.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Каждое ядро проходит по картинке и создаёт свою собственную карту активации.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 выходе мы получаем стопку из 32 или 64 карт. Это как если бы мы посмотрели на картинку через 32 разных фильтра одновременно.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Рассмотрим</a:t>
            </a:r>
            <a:r>
              <a:rPr lang="ru-RU" sz="1200" b="1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пример на картинке</a:t>
            </a:r>
          </a:p>
          <a:p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 вход- картинка 32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x32 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пикселя, собираемся искать (детектировать) лицо. </a:t>
            </a:r>
          </a:p>
          <a:p>
            <a:r>
              <a:rPr lang="ru-RU" sz="1200" b="1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1-ый </a:t>
            </a:r>
            <a:r>
              <a:rPr lang="ru-RU" sz="1200" b="1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сверточный</a:t>
            </a:r>
            <a:r>
              <a:rPr lang="ru-RU" sz="1200" b="1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слой: 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 фильтров (ядер). Каждое ядро – матрица  3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x3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Их всего 5 в первом слое: т.е. ищем 5 простых признаков (горизонтальная, вертикальная, диагональная линия ну и т.д. у меня фантазия закончилась)</a:t>
            </a:r>
          </a:p>
          <a:p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 выходе 1-ого </a:t>
            </a:r>
            <a:r>
              <a:rPr lang="ru-RU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сверточного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слоя мы получим 5 карт активации: результат проходки каждым ядром по входному изображению. 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2-й </a:t>
            </a:r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сверточный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слой: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у нас есть 3 ядра. Каждое ядро теперь состоит не из одной матрицы 3×3, а из 5 матриц 3×3, наложенных друг на друга (стопкой).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Потому что у нас на входе 5 карт активации. Мы не можем смотреть только на одну из них. Чтобы найти сложный признак (например, глаз), нам нужно одновременно проанализировать результат работы всех 5 простых фильтров. Глубина ядра всегда должна совпадать с глубиной входа. (сколько карт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активаций на вход </a:t>
            </a:r>
            <a:r>
              <a:rPr lang="ru-RU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сверточного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слоя, столько матриц в каждом ядре)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Как это работает:</a:t>
            </a:r>
            <a:b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Представьте, что мы взяли объемное стеклышко размером 3×3 пикселя в ширину и высоту, и 5 слоев в глубину. Мы накладываем этот «кубик» на такой же объемный кусочек входных данных (3×3 пикселя на всех 5 картах сразу).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 каждую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карту активации с 1-ого слоя мы приложили соответствующую матрицу из ядра (1-ой карте 1-ую матрицу, 2-ой 2-ую и </a:t>
            </a:r>
            <a:r>
              <a:rPr lang="ru-RU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тд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посчитали сумму из поэлементных произведений для каждой из 5 пар карта-матрица,  и сложили эти 5 чисел и записали эту сумму на карту активации, получаемую на выходе 2-ого слоя для данного ядра. То есть на выходе второго слоя мы получим 3 карты активации. </a:t>
            </a:r>
          </a:p>
          <a:p>
            <a:endParaRPr lang="ru-RU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 втором слое, получая на вход карты активаций для простых признаков и сочетая их друг с другом, мы можем найти более сложные признаки (например очертания глаз, носа, губ, лица)</a:t>
            </a:r>
          </a:p>
          <a:p>
            <a:endParaRPr lang="ru-RU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1E89E3-6383-42C0-A2BB-1768844ACE0A}" type="slidenum">
              <a:rPr lang="ru-RU" smtClean="0"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Итак, на выходе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свёрточных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слоёв мы получаем карты активации. На последних слоях это буквально указания: есть ли на картинке искомые объекты (овал лица, глаза, нос) и если есть, то где именно они активировались (то есть где они расположены).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Но эти карты активации — это ещё не готовый ответ. Нам нужно проанализировать их все вместе, чтобы вынести конечное решение: есть ли на фотографии искомый объект (в нашем случае — лицо).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Мы применяем к картам активации (которые, как и изображения, являются матрицами) операцию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Flatten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(). Она разворачивает все эти матрицы в один длинный вектор.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Представьте, что у нас было 3 карты активации размером 28×28. После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Flatten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они превращаются в один вектор длиной 3 × 28 × 28 = 2352 числа. Каждое число в этом векторе — это «сигнал» от определённого признака в определённом месте картинки.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 этот вектор мы подаём на вход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полносвязной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нейронной сети (слои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Dense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</a:t>
            </a:r>
            <a:b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Её задача — традиционная для классификатора: понять на основе признаков, которые мы ей дали, какой из них насколько важен, и на основе этого вынести финальное решение (предсказать класс).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То есть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свёрточные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слои — это своеобразная автоматическая предобработка изображений: поиск паттернов и их расположения на картинке. А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полносвязная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сеть — это «мозг», который смотрит на все эти найденные признаки и говорит: «Так, здесь есть глаз, здесь нос, здесь овал лица — да, это лицо».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1E89E3-6383-42C0-A2BB-1768844ACE0A}" type="slidenum">
              <a:rPr lang="ru-RU" smtClean="0"/>
              <a:t>11</a:t>
            </a:fld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228600" indent="-228600">
              <a:buNone/>
            </a:pP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Зачем нам вообще уменьшать размер? (Проблем…)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Нам выгодно уменьшать размер изображения по ходу продвижения вглубь сети. В конце мы будем разворачивать матрицы карт активаций через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Flatten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в вектора и подавать на вход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полносвязной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нейронной сети. А, как мы выяснили на первых слайдах, размер входа напрямую влияет на число весов в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полносвязных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слоях: чем больше вход, тем больше параметров. Большое количество параметров — это риск переобучения, долгое обучение и большие вычислительные затраты.</a:t>
            </a:r>
          </a:p>
          <a:p>
            <a:pPr marL="228600" indent="-228600">
              <a:buNone/>
            </a:pP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Свёртки — это мощный инструмент, но они вычислительно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затратны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имеют много параметров для обучения. Использовать только их для уменьшения размерности — это долго, дорого и неэффективно.</a:t>
            </a:r>
          </a:p>
          <a:p>
            <a:pPr marL="228600" indent="-228600">
              <a:buNone/>
            </a:pP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 помощь приходит вторая важная операция в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сверточных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нейронках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пулинг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pooling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Идея </a:t>
            </a:r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пулинга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«Шаг назад»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Представьте, что вы уткнулись носом в картинку и изучаете каждую мелкую деталь. Чтобы увидеть общую картину, нужно сделать шаг назад. Вот этот шаг назад, позволяющий находить более общие черты и при этом уменьшать размер изображения, и есть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пулинг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Суть операции: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Мы уменьшаем размер карты активации, полученной на выходе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сверточного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слоя, но сохраняем положения срабатывания фильтров. То есть мы сохраняем большие числа там, где были найдены важные признаки, и «сжимаем» информацию вокруг них. Мы оставляем главное.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Математика: как это работает на примере слайда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Взгляните на левую часть слайда. У нас есть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карта признаков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(матрица 4×4) .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Пулинг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разбивает изображение на секции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2×2,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 каждой из этих секций он выбирает, в зависимости от типа </a:t>
            </a:r>
            <a:r>
              <a:rPr lang="ru-RU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пулинга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либо максимальное значение из пикселей, попавших в эту область (применятся чаще) или считает среднее всех пикселей в этой области.</a:t>
            </a:r>
          </a:p>
          <a:p>
            <a:endParaRPr lang="ru-RU" sz="1200" b="1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MaxPooling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(Максимальный </a:t>
            </a:r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пулинг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):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Мы берем окно 2×2 и выбираем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максимальное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число в этом окне.</a:t>
            </a:r>
          </a:p>
          <a:p>
            <a:pPr lvl="1"/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Верхний левый угол (числа 1, 2, 8, 9): максимум =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Верхний правый угол (числа 3, 4, 10, 11): максимум =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Нижний левый угол (числа 15, 16, 22, 23): максимум =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Нижний правый угол (числа 17, 18, 24, 25): максимум =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Результат: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Матрица 2×2 с числами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9, 11, 23, 25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lvl="1"/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Average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pooling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(Усредняющий </a:t>
            </a:r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пулинг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):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Мы берем окно 2×2 и считаем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среднее арифметическое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Верхний левый угол: (1+2+8+9) / 4 =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Верхний правый угол: (3+4+10+11) / 4 =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Нижний левый угол: (15+16+22+23) / 4 =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Нижний правый угол: (17+18+24+25) / 4 =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Результат: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Матрица 2×2 с числами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5, 7, 19, 21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lvl="1"/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Важнейшие свойства </a:t>
            </a:r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пулинга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(Почему это круто)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Нет весов!!!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Pooling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это не нейронный слой в привычном смысле. У него нет обучаемых параметров (весов и смещений). Это просто фиксированная математическая операция (взять максимум или среднее). Это делает сеть проще и быстрее.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Уменьшение размеров.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Размер карты уменьшается в 2 раза по ширине и высоте (при окне 2×2). 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Устойчивость к сдвигам (Инвариантность). Это ключевое преимущество. Если объект на картинке сдвинется на 1 пиксель в сторону, значения в окне 2×2 могут измениться незначительно, но максимум в окне останется тем же. Это делает сеть более устойчивой к небольшим смещениям объекта. Мы распознаем кота, даже если он сдвинулся на пару пикселей.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Итог: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Пулинг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это простой, но мощный инструмент. Он берет карту признаков, сжимает её, оставляя только самую яркую информацию (максимум) или усредняя её, и передает дальше. Это позволяет сети не «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зацикливаться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» на каждой мелкой детали, а видеть картину целиком, экономя ресурсы.</a:t>
            </a:r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1E89E3-6383-42C0-A2BB-1768844ACE0A}" type="slidenum">
              <a:rPr lang="ru-RU" smtClean="0"/>
              <a:t>12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1E89E3-6383-42C0-A2BB-1768844ACE0A}" type="slidenum">
              <a:rPr lang="ru-RU" smtClean="0"/>
              <a:t>15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Рассмотрим содержание</a:t>
            </a:r>
            <a:r>
              <a:rPr lang="ru-RU" baseline="0" dirty="0" smtClean="0"/>
              <a:t> контейнера </a:t>
            </a:r>
            <a:r>
              <a:rPr lang="en-US" baseline="0" dirty="0" smtClean="0"/>
              <a:t>Sequential</a:t>
            </a:r>
          </a:p>
          <a:p>
            <a:pPr marL="228600" indent="-228600">
              <a:buAutoNum type="arabicPeriod"/>
            </a:pPr>
            <a:r>
              <a:rPr lang="en-US" b="1" baseline="0" dirty="0" smtClean="0"/>
              <a:t>Input</a:t>
            </a:r>
            <a:r>
              <a:rPr lang="en-US" baseline="0" dirty="0" smtClean="0"/>
              <a:t> – </a:t>
            </a:r>
            <a:r>
              <a:rPr lang="ru-RU" baseline="0" dirty="0" smtClean="0"/>
              <a:t>объявление формы входных данных – картинки 28</a:t>
            </a:r>
            <a:r>
              <a:rPr lang="en-US" baseline="0" dirty="0" smtClean="0"/>
              <a:t>x</a:t>
            </a:r>
            <a:r>
              <a:rPr lang="ru-RU" baseline="0" dirty="0" smtClean="0"/>
              <a:t>28 пикселей, 1 цветовой канал (ч/б). Здесь нет обучаемых параметров. Ранее мы прописывали формат входных данных в первом, входном слое. Здесь мы выносим эту логику в отдельный слой, чтобы легче было изменять этот параметр (при дальнейшем масштабировании модели)</a:t>
            </a:r>
          </a:p>
          <a:p>
            <a:pPr marL="228600" indent="-228600">
              <a:buAutoNum type="arabicPeriod"/>
            </a:pPr>
            <a:endParaRPr lang="ru-RU" baseline="0" dirty="0" smtClean="0"/>
          </a:p>
          <a:p>
            <a:pPr marL="228600" indent="-228600">
              <a:buAutoNum type="arabicPeriod"/>
            </a:pPr>
            <a:r>
              <a:rPr lang="ru-RU" b="1" dirty="0" smtClean="0"/>
              <a:t>Далее идут </a:t>
            </a:r>
            <a:r>
              <a:rPr lang="ru-RU" b="1" dirty="0" err="1" smtClean="0"/>
              <a:t>сверточные</a:t>
            </a:r>
            <a:r>
              <a:rPr lang="ru-RU" b="1" dirty="0" smtClean="0"/>
              <a:t> блоки: каждый блок</a:t>
            </a:r>
            <a:r>
              <a:rPr lang="ru-RU" b="1" baseline="0" dirty="0" smtClean="0"/>
              <a:t> = слой свертки + слой </a:t>
            </a:r>
            <a:r>
              <a:rPr lang="ru-RU" b="1" baseline="0" dirty="0" err="1" smtClean="0"/>
              <a:t>пулинга</a:t>
            </a:r>
            <a:r>
              <a:rPr lang="ru-RU" b="1" baseline="0" dirty="0" smtClean="0"/>
              <a:t>. 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Conv2D(16, (3, 3), ...)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свёрточный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слой: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 — число ядер. Столько карт признаков получится на выходе.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(3, 3) — размер каждого ядра.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activation='relu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 — функция активации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relu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padding='same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 — добиваем края нулями, чтобы карта осталась 28×28. (опционально, если не хотите использовать – просто удалите этот параметр, по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умолчанию </a:t>
            </a:r>
            <a:r>
              <a:rPr lang="ru-RU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паддинга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нет)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MaxPooling2D((2, 2))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— уменьшает карту вдвое по каждой оси: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Берём окно 2×2, оставляем максимум.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28×28 → 14×14.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Итог блока 1: из (28, 28, 1) получаем (14, 14, 16).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</a:t>
            </a:r>
            <a:r>
              <a:rPr lang="ru-RU" sz="1200" b="1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Еще 1 </a:t>
            </a:r>
            <a:r>
              <a:rPr lang="ru-RU" sz="1200" b="1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сверточный</a:t>
            </a:r>
            <a:r>
              <a:rPr lang="ru-RU" sz="1200" b="1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блок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Устроен так же, но: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 ядра вместо 16 — больше узоров.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Вход — уже не пиксели, а 16 карт первого блока. Слой видит более сложные комбинации штрихов и краёв.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Итог блока 2: из (14, 14, 16) получаем (7, 7, 32). 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 опционально: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вы можете добавить еще </a:t>
            </a:r>
            <a:r>
              <a:rPr lang="ru-RU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сверточные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блоки, отличие будет только в увеличении числа ядер (как правило они увеличиваются по степени двойки в сравнении с предыдущем слоем)</a:t>
            </a:r>
          </a:p>
          <a:p>
            <a:endParaRPr lang="ru-RU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 Классификатор</a:t>
            </a:r>
          </a:p>
          <a:p>
            <a:endParaRPr lang="ru-RU" sz="1200" b="1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Flatten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— превращает 3D-тензор (7, 7, 32) в плоский вектор длиной 7 × 7 × 32 = 1568. Дальше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полносвязные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слои работают только с векторами.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Dense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(64,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activation='relu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') — 64 нейрона. Смешивают все признаки и формируют «сжатую суть» картинки.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Dense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(10,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activation='softmax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') — 10 выходов по числу классов.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softmax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превращает числа в вероятности, сумма = 1.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1E89E3-6383-42C0-A2BB-1768844ACE0A}" type="slidenum">
              <a:rPr lang="ru-RU" smtClean="0"/>
              <a:t>19</a:t>
            </a:fld>
            <a:endParaRPr 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Команда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model.summary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печатает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таблицу со всей архитектурой модели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какие слои, какие формы данных на выходе каждого слоя и сколько параметров (весов) нужно обучить. Это «рентген» модели — она показывает, что мы собрали и насколько модель тяжёлая.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Разберём таблицу по столбцам.</a:t>
            </a:r>
          </a:p>
          <a:p>
            <a:endParaRPr lang="ru-RU" dirty="0" smtClean="0"/>
          </a:p>
          <a:p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Столбец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Layer (type) — 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слой и его тип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Перечислены все слои по порядку, сверху вниз: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conv2d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первый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свёрточный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слой.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max_pooling2d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первый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pooling.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conv2d_1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второй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свёрточный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слой (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Keras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добавляет _1, потому что имя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conv2d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уже занято).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max_pooling2d_1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второй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pooling.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flatten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растягивание тензора в вектор.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dense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первый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полносвязный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слой.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dense_1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выходной слой на 10 классов.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Столбец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Output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форма данных после слоя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Формат: (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batch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..., ...).</a:t>
            </a:r>
          </a:p>
          <a:p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 первой позиции — это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batch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(число картинок).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Keras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не знает заранее, сколько картинок мы подадим — 32, 64 или 1000. Поэтому стоит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«сколько угодно».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Остальные числа — форма одной картинки после этого слоя.</a:t>
            </a:r>
          </a:p>
          <a:p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conv2d(</a:t>
            </a:r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None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28, 28, 16) т.е. выходные</a:t>
            </a:r>
            <a:r>
              <a:rPr lang="ru-RU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карты признаков 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28×28</a:t>
            </a: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размер</a:t>
            </a:r>
            <a:r>
              <a:rPr lang="ru-RU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не уменьшился, т.к. был </a:t>
            </a:r>
            <a:r>
              <a:rPr lang="ru-RU" sz="1200" b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падинг</a:t>
            </a:r>
            <a:r>
              <a:rPr lang="ru-RU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16 каналов (16 ядер)</a:t>
            </a:r>
          </a:p>
          <a:p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max_pooling2d(</a:t>
            </a:r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None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14, 14, 16), после</a:t>
            </a:r>
            <a:r>
              <a:rPr lang="ru-RU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этого слоя каждая карта активации уменьшилась в 2 раза и стала </a:t>
            </a:r>
            <a:r>
              <a:rPr lang="ru-RU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×14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flatten(None, 1568)7 × 7 × 32 = 1568 — 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растянули в вектор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dense(None, 64)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</a:t>
            </a: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64 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нейрона 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dense_1(None, 10)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</a:t>
            </a: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 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классов — выход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Столбец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Param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# — сколько весов у слоя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Это число параметров, которые сеть обучает. Чем больше — тем больше данных нужно и тем дольше обучение.</a:t>
            </a:r>
          </a:p>
          <a:p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conv2d — 160 параметров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Считаем: 16 ядер, каждое 3×3×1 = 9 весов → </a:t>
            </a:r>
            <a:r>
              <a:rPr lang="ru-RU" dirty="0" smtClean="0"/>
              <a:t>16 × 9 = 144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Плюс 16 смещений (по одному на ядро) → </a:t>
            </a:r>
            <a:r>
              <a:rPr lang="ru-RU" dirty="0" smtClean="0"/>
              <a:t>144 + 16 = 160)</a:t>
            </a:r>
          </a:p>
          <a:p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max_pooling2d — 0 параметров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Pooling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ничего не учит. Это фиксированная операция: берём максимум в окне. Весов нет.</a:t>
            </a:r>
          </a:p>
          <a:p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flatten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0 параметров</a:t>
            </a:r>
            <a:r>
              <a:rPr lang="ru-RU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Просто меняет форму. Никаких весов.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dense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100 416 параметров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Это самый тяжёлый слой. Вход — вектор 1568 чисел, выход — 64 нейрона. Каждый нейрон соединён со всеми 1568 входами: 1568 × 64 = 100 352. Плюс 64 смещения → 100 352 + 64 = 100 416.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1E89E3-6383-42C0-A2BB-1768844ACE0A}" type="slidenum">
              <a:rPr lang="ru-RU" smtClean="0"/>
              <a:t>20</a:t>
            </a:fld>
            <a:endParaRPr 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Левый график — Точность (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Accuracy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Синяя линия (обучение) — точность на обучающей выборке.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Оранжевая линия (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валидация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— точность на 10% данных, которые модель не видит во время обучения.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Обе линии растут — модель учится, точность увеличивается.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Вначале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валидация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была даже выше обучения (0.865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vs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0.83), но это нормально — так бывает на первых шагах.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 5-й эпохе обучение достигло ~0.915,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валидация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~0.905. Разрыв небольшой.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Модель хорошо обобщает. Она не просто запомнила данные, а научилась находить закономерности.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Небольшой разрыв (0.915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vs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0.905) — это лёгкое переобучение, но в пределах нормы. Если бы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валидация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начала падать, а обучение росло — это был бы тревожный сигнал.</a:t>
            </a:r>
          </a:p>
          <a:p>
            <a:endParaRPr lang="ru-RU" dirty="0" smtClean="0"/>
          </a:p>
          <a:p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Правый график — Потери (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Loss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Синяя линия — потери на обучении. Чем ниже, тем лучше.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Оранжевая линия — потери на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валидации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Обе линии падают — модель уменьшает ошибку.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Обучение упало с ~0.49 до ~0.24 (в 2 раза).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Валидация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упала с ~0.38 до ~0.27, но медленнее.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Модель продолжает улучшаться и на обучении, и на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валидации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Но растущий разрыв — первый признак лёгкого переобучения. Модель начинает «затачиваться» под обучающие данные, а на новых данных прогресс замедляется.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Это не критично на 5 эпохах. Если бы обучение шло 20–30 эпох,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валидационная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линия могла бы пойти вверх — тогда переобучение стало бы проблемой.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1E89E3-6383-42C0-A2BB-1768844ACE0A}" type="slidenum">
              <a:rPr lang="ru-RU" smtClean="0"/>
              <a:t>23</a:t>
            </a:fld>
            <a:endParaRPr 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1E89E3-6383-42C0-A2BB-1768844ACE0A}" type="slidenum">
              <a:rPr lang="ru-RU" smtClean="0"/>
              <a:t>24</a:t>
            </a:fld>
            <a:endParaRPr lang="ru-R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1E89E3-6383-42C0-A2BB-1768844ACE0A}" type="slidenum">
              <a:rPr lang="ru-RU" smtClean="0"/>
              <a:t>25</a:t>
            </a:fld>
            <a:endParaRPr lang="ru-RU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Этот блок — визуальная проверка модели на конкретных примерах. Он берёт 10 тестовых картинок, прогоняет их через обученную сеть и рисует сетку 2×5, где для каждой картинки показано: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истинный класс (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Ист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:),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предсказанный класс (Пред:),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уверенность модели в процентах.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Если предсказание совпало с истиной — подпись зелёная, если ошибка — красная.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Что делает код по шагам: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Получает предсказания: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model.predict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x_test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[:10]) возвращает вероятности по 10 классам для первых 10 картинок.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Извлекает решение: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выбирает класс-победитель,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max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уверенность в нём.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Рисует сетку 2×5: для каждой картинки выводит изображение и три строки заголовка (истина, предсказание, уверенность).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Красит заголовок: зелёный — верно, красный — ошибка.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1E89E3-6383-42C0-A2BB-1768844ACE0A}" type="slidenum">
              <a:rPr lang="ru-RU" smtClean="0"/>
              <a:t>26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add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F463A-BC7C-46EE-9F1E-7F377CCA4891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latinLnBrk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latinLnBrk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latinLnBrk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latinLnBrk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latinLnBrk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latinLnBrk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62000" y="0"/>
            <a:ext cx="7848600" cy="3505201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>Занятие</a:t>
            </a:r>
            <a:r>
              <a:rPr lang="en-US" b="1" dirty="0" smtClean="0">
                <a:latin typeface="Cascadia Code SemiLight" pitchFamily="49" charset="0"/>
                <a:cs typeface="Cascadia Code SemiLight" pitchFamily="49" charset="0"/>
              </a:rPr>
              <a:t> 4</a:t>
            </a:r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>.</a:t>
            </a:r>
            <a:r>
              <a:rPr lang="en-US" b="1" dirty="0" smtClean="0">
                <a:latin typeface="Cascadia Code SemiLight" pitchFamily="49" charset="0"/>
                <a:cs typeface="Cascadia Code SemiLight" pitchFamily="49" charset="0"/>
              </a:rPr>
              <a:t/>
            </a:r>
            <a:br>
              <a:rPr lang="en-US" b="1" dirty="0" smtClean="0">
                <a:latin typeface="Cascadia Code SemiLight" pitchFamily="49" charset="0"/>
                <a:cs typeface="Cascadia Code SemiLight" pitchFamily="49" charset="0"/>
              </a:rPr>
            </a:br>
            <a:r>
              <a:rPr lang="en-US" b="1" dirty="0" smtClean="0">
                <a:latin typeface="Cascadia Code SemiLight" pitchFamily="49" charset="0"/>
                <a:cs typeface="Cascadia Code SemiLight" pitchFamily="49" charset="0"/>
              </a:rPr>
              <a:t>ML </a:t>
            </a:r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>и изображения</a:t>
            </a:r>
            <a:b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</a:br>
            <a:r>
              <a:rPr lang="ru-RU" b="1" dirty="0" err="1" smtClean="0">
                <a:latin typeface="Cascadia Code SemiLight" pitchFamily="49" charset="0"/>
                <a:cs typeface="Cascadia Code SemiLight" pitchFamily="49" charset="0"/>
              </a:rPr>
              <a:t>Свёрточные</a:t>
            </a:r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> нейронные сети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/>
            </a:r>
            <a:br>
              <a:rPr lang="ru-RU" dirty="0" smtClean="0">
                <a:latin typeface="Cascadia Code SemiLight" pitchFamily="49" charset="0"/>
                <a:cs typeface="Cascadia Code SemiLight" pitchFamily="49" charset="0"/>
              </a:rPr>
            </a:br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 </a:t>
            </a:r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/>
            </a:r>
            <a:b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</a:br>
            <a:r>
              <a:rPr lang="en-US" b="1" dirty="0" smtClean="0">
                <a:latin typeface="Cascadia Code SemiLight" pitchFamily="49" charset="0"/>
                <a:cs typeface="Cascadia Code SemiLight" pitchFamily="49" charset="0"/>
              </a:rPr>
              <a:t/>
            </a:r>
            <a:br>
              <a:rPr lang="en-US" b="1" dirty="0" smtClean="0">
                <a:latin typeface="Cascadia Code SemiLight" pitchFamily="49" charset="0"/>
                <a:cs typeface="Cascadia Code SemiLight" pitchFamily="49" charset="0"/>
              </a:rPr>
            </a:b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0" y="5715000"/>
            <a:ext cx="3962400" cy="1143000"/>
          </a:xfrm>
        </p:spPr>
        <p:txBody>
          <a:bodyPr>
            <a:normAutofit fontScale="55000" lnSpcReduction="20000"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Мастерские МИЦ. 10 сезон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Основы машинного обучения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Занятие </a:t>
            </a:r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4</a:t>
            </a:r>
            <a:endParaRPr lang="ru-RU" dirty="0" smtClean="0">
              <a:latin typeface="Cascadia Code SemiLight" pitchFamily="49" charset="0"/>
              <a:cs typeface="Cascadia Code SemiLight" pitchFamily="49" charset="0"/>
            </a:endParaRP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Пономаренко Вера</a:t>
            </a:r>
          </a:p>
          <a:p>
            <a:endParaRPr lang="ru-RU" dirty="0" smtClean="0"/>
          </a:p>
          <a:p>
            <a:endParaRPr lang="ru-RU" dirty="0"/>
          </a:p>
        </p:txBody>
      </p:sp>
      <p:sp>
        <p:nvSpPr>
          <p:cNvPr id="19458" name="AutoShape 2" descr="blob:https://web.telegram.org/ed39cbfb-374d-4fbf-842a-6d3dbc23d7b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59135" y="2057400"/>
            <a:ext cx="6081849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План занятия</a:t>
            </a:r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3276600" cy="4648199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1.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Полносвязные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</a:t>
            </a:r>
            <a:r>
              <a:rPr lang="en-US" dirty="0" err="1" smtClean="0">
                <a:latin typeface="Cascadia Code ExtraLight" pitchFamily="49" charset="0"/>
                <a:cs typeface="Cascadia Code ExtraLight" pitchFamily="49" charset="0"/>
              </a:rPr>
              <a:t>vs</a:t>
            </a:r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сверточные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нейронные сети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2.Свертка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3.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Пулинг</a:t>
            </a:r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4. Создание </a:t>
            </a:r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CNN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для распознавания предметов гардероба</a:t>
            </a:r>
          </a:p>
        </p:txBody>
      </p:sp>
      <p:sp>
        <p:nvSpPr>
          <p:cNvPr id="18434" name="AutoShape 2" descr="blob:https://web.telegram.org/6247dee7-7b71-4e47-a673-d64e99929af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8436" name="AutoShape 4" descr="blob:https://web.telegram.org/6247dee7-7b71-4e47-a673-d64e99929af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8438" name="AutoShape 6" descr="blob:https://web.telegram.org/6247dee7-7b71-4e47-a673-d64e99929af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8440" name="AutoShape 8" descr="blob:https://web.telegram.org/6247dee7-7b71-4e47-a673-d64e99929af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8442" name="AutoShape 10" descr="blob:https://web.telegram.org/6247dee7-7b71-4e47-a673-d64e99929af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740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67200" y="1600200"/>
            <a:ext cx="4640599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Чем плохи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полносвязные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нейронные сети?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28600" y="1447800"/>
            <a:ext cx="8610600" cy="1447800"/>
          </a:xfrm>
        </p:spPr>
        <p:txBody>
          <a:bodyPr>
            <a:normAutofit/>
          </a:bodyPr>
          <a:lstStyle/>
          <a:p>
            <a:r>
              <a:rPr lang="ru-RU" sz="2400" dirty="0" smtClean="0">
                <a:latin typeface="Cascadia Code Light" pitchFamily="49" charset="0"/>
                <a:cs typeface="Cascadia Code Light" pitchFamily="49" charset="0"/>
              </a:rPr>
              <a:t>1. Слишком много весов</a:t>
            </a:r>
          </a:p>
          <a:p>
            <a:r>
              <a:rPr lang="ru-RU" sz="2400" dirty="0" smtClean="0">
                <a:latin typeface="Cascadia Code Light" pitchFamily="49" charset="0"/>
                <a:cs typeface="Cascadia Code Light" pitchFamily="49" charset="0"/>
              </a:rPr>
              <a:t>2. Ломаются пространственные отношения</a:t>
            </a:r>
            <a:endParaRPr lang="ru-RU" sz="2400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2438400"/>
            <a:ext cx="4670611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57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00400" y="3505200"/>
            <a:ext cx="5410200" cy="3193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Свёртка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1000" y="1524000"/>
            <a:ext cx="4191000" cy="4876800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Ядро -  это маленькая матрица чисел (обычно 3×3), которую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свёрточная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сеть «прикладывает» к изображению, чтобы найти в нём определённый узор.</a:t>
            </a:r>
          </a:p>
          <a:p>
            <a:pPr lvl="0"/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endParaRPr lang="ru-RU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8464" y="1371600"/>
            <a:ext cx="4117411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Математика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1600200"/>
            <a:ext cx="8065198" cy="4996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827" y="1371600"/>
            <a:ext cx="9114173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067800" cy="838200"/>
          </a:xfrm>
        </p:spPr>
        <p:txBody>
          <a:bodyPr/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Если 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stride = 2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1066800"/>
            <a:ext cx="5257800" cy="3213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14800" y="4006594"/>
            <a:ext cx="4726093" cy="2851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5410200" y="1219200"/>
            <a:ext cx="3429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latin typeface="Cascadia Code Light" pitchFamily="49" charset="0"/>
                <a:cs typeface="Cascadia Code Light" pitchFamily="49" charset="0"/>
              </a:rPr>
              <a:t>Stride</a:t>
            </a:r>
            <a:r>
              <a:rPr lang="en-US" sz="3200" dirty="0" smtClean="0">
                <a:latin typeface="Cascadia Code Light" pitchFamily="49" charset="0"/>
                <a:cs typeface="Cascadia Code Light" pitchFamily="49" charset="0"/>
              </a:rPr>
              <a:t> — </a:t>
            </a:r>
            <a:r>
              <a:rPr lang="ru-RU" sz="3200" dirty="0" smtClean="0">
                <a:latin typeface="Cascadia Code Light" pitchFamily="49" charset="0"/>
                <a:cs typeface="Cascadia Code Light" pitchFamily="49" charset="0"/>
              </a:rPr>
              <a:t>шаг сдвига окна (обычно 1).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1"/>
            <a:ext cx="6172200" cy="3674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29000" y="3429000"/>
            <a:ext cx="5567363" cy="33240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Паддинг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" y="1371600"/>
            <a:ext cx="5419725" cy="5259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5486400" y="1752600"/>
            <a:ext cx="3581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Cascadia Code Light" pitchFamily="49" charset="0"/>
                <a:cs typeface="Cascadia Code Light" pitchFamily="49" charset="0"/>
              </a:rPr>
              <a:t>Padding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 —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добивка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краёв нулями, чтобы карта не уменьшалась (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padding='same')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или уменьшалась (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padding='valid').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Несколько слоев сверток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8790" y="2133600"/>
            <a:ext cx="874521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28600" y="304800"/>
            <a:ext cx="8458200" cy="5821363"/>
          </a:xfrm>
        </p:spPr>
        <p:txBody>
          <a:bodyPr/>
          <a:lstStyle/>
          <a:p>
            <a:r>
              <a:rPr lang="ru-RU" sz="2400" dirty="0" smtClean="0">
                <a:latin typeface="Cascadia Code Light" pitchFamily="49" charset="0"/>
                <a:cs typeface="Cascadia Code Light" pitchFamily="49" charset="0"/>
              </a:rPr>
              <a:t>Каждый следующий слой смотрит не на пиксели, а на карты предыдущего. Поэтому он видит более сложные вещи.</a:t>
            </a:r>
          </a:p>
          <a:p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1600200"/>
            <a:ext cx="8517715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533400"/>
            <a:ext cx="8458200" cy="884238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 Pooling: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идея и математика </a:t>
            </a:r>
            <a:br>
              <a:rPr lang="ru-RU" dirty="0" smtClean="0">
                <a:latin typeface="Cascadia Code Light" pitchFamily="49" charset="0"/>
                <a:cs typeface="Cascadia Code Light" pitchFamily="49" charset="0"/>
              </a:rPr>
            </a:b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257800" y="1524000"/>
            <a:ext cx="3733800" cy="5334000"/>
          </a:xfrm>
        </p:spPr>
        <p:txBody>
          <a:bodyPr>
            <a:normAutofit fontScale="62500" lnSpcReduction="20000"/>
          </a:bodyPr>
          <a:lstStyle/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Идея -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Pooling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сжимает карту, оставляя главное.</a:t>
            </a:r>
          </a:p>
          <a:p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Pooling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не имеет весов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это просто операция.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Уменьшает размер → меньше вычислений и меньше весов на выходе.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Даёт устойчивость к небольшим сдвигам: сдвинули объект на пиксель — максимум в окне тот же.</a:t>
            </a:r>
          </a:p>
          <a:p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MaxPooling</a:t>
            </a:r>
            <a:endParaRPr lang="ru-RU" b="1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Average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pooling</a:t>
            </a:r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endParaRPr lang="ru-RU" dirty="0" smtClean="0"/>
          </a:p>
          <a:p>
            <a:endParaRPr lang="ru-RU" dirty="0"/>
          </a:p>
        </p:txBody>
      </p:sp>
      <p:pic>
        <p:nvPicPr>
          <p:cNvPr id="14338" name="Picture 2" descr="Пулинг для изображений | Машинное и глубокое обучение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2286000"/>
            <a:ext cx="4749452" cy="34671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Практика)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1371600"/>
            <a:ext cx="6248400" cy="530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0. Импорты библиотек</a:t>
            </a:r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3581400"/>
            <a:ext cx="8458200" cy="32766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err="1" smtClean="0">
                <a:latin typeface="Cascadia Code ExtraLight" pitchFamily="49" charset="0"/>
                <a:cs typeface="Cascadia Code ExtraLight" pitchFamily="49" charset="0"/>
              </a:rPr>
              <a:t>tensorflow</a:t>
            </a:r>
            <a:r>
              <a:rPr lang="en-US" b="1" dirty="0" smtClean="0">
                <a:latin typeface="Cascadia Code ExtraLight" pitchFamily="49" charset="0"/>
                <a:cs typeface="Cascadia Code ExtraLight" pitchFamily="49" charset="0"/>
              </a:rPr>
              <a:t> as </a:t>
            </a:r>
            <a:r>
              <a:rPr lang="en-US" b="1" dirty="0" err="1" smtClean="0">
                <a:latin typeface="Cascadia Code ExtraLight" pitchFamily="49" charset="0"/>
                <a:cs typeface="Cascadia Code ExtraLight" pitchFamily="49" charset="0"/>
              </a:rPr>
              <a:t>tf</a:t>
            </a:r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 —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нейросети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: слои (</a:t>
            </a:r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Conv2D, Dense), 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сборка модели, обучение, загрузка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датасетов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.</a:t>
            </a:r>
          </a:p>
          <a:p>
            <a:r>
              <a:rPr lang="en-US" b="1" dirty="0" err="1" smtClean="0">
                <a:latin typeface="Cascadia Code ExtraLight" pitchFamily="49" charset="0"/>
                <a:cs typeface="Cascadia Code ExtraLight" pitchFamily="49" charset="0"/>
              </a:rPr>
              <a:t>numpy</a:t>
            </a:r>
            <a:r>
              <a:rPr lang="en-US" b="1" dirty="0" smtClean="0">
                <a:latin typeface="Cascadia Code ExtraLight" pitchFamily="49" charset="0"/>
                <a:cs typeface="Cascadia Code ExtraLight" pitchFamily="49" charset="0"/>
              </a:rPr>
              <a:t> as </a:t>
            </a:r>
            <a:r>
              <a:rPr lang="en-US" b="1" dirty="0" err="1" smtClean="0">
                <a:latin typeface="Cascadia Code ExtraLight" pitchFamily="49" charset="0"/>
                <a:cs typeface="Cascadia Code ExtraLight" pitchFamily="49" charset="0"/>
              </a:rPr>
              <a:t>np</a:t>
            </a:r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 — 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числа и массивы: 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картинки-матрицы, </a:t>
            </a:r>
            <a:r>
              <a:rPr lang="en-US" dirty="0" err="1" smtClean="0">
                <a:latin typeface="Cascadia Code ExtraLight" pitchFamily="49" charset="0"/>
                <a:cs typeface="Cascadia Code ExtraLight" pitchFamily="49" charset="0"/>
              </a:rPr>
              <a:t>argmax</a:t>
            </a:r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, </a:t>
            </a:r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max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.</a:t>
            </a:r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r>
              <a:rPr lang="en-US" b="1" dirty="0" err="1" smtClean="0">
                <a:latin typeface="Cascadia Code ExtraLight" pitchFamily="49" charset="0"/>
                <a:cs typeface="Cascadia Code ExtraLight" pitchFamily="49" charset="0"/>
              </a:rPr>
              <a:t>matplotlib.pyplot</a:t>
            </a:r>
            <a:r>
              <a:rPr lang="en-US" b="1" dirty="0" smtClean="0">
                <a:latin typeface="Cascadia Code ExtraLight" pitchFamily="49" charset="0"/>
                <a:cs typeface="Cascadia Code ExtraLight" pitchFamily="49" charset="0"/>
              </a:rPr>
              <a:t> as </a:t>
            </a:r>
            <a:r>
              <a:rPr lang="en-US" b="1" dirty="0" err="1" smtClean="0">
                <a:latin typeface="Cascadia Code ExtraLight" pitchFamily="49" charset="0"/>
                <a:cs typeface="Cascadia Code ExtraLight" pitchFamily="49" charset="0"/>
              </a:rPr>
              <a:t>plt</a:t>
            </a:r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 — 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картинки и 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графики:</a:t>
            </a:r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 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графики обучения, визуализация ядер.</a:t>
            </a:r>
          </a:p>
          <a:p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b="87261"/>
          <a:stretch>
            <a:fillRect/>
          </a:stretch>
        </p:blipFill>
        <p:spPr bwMode="auto">
          <a:xfrm>
            <a:off x="771525" y="1524000"/>
            <a:ext cx="1674495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1. Загрузка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датесета</a:t>
            </a:r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28600" y="3124200"/>
            <a:ext cx="8610600" cy="3505200"/>
          </a:xfrm>
        </p:spPr>
        <p:txBody>
          <a:bodyPr>
            <a:noAutofit/>
          </a:bodyPr>
          <a:lstStyle/>
          <a:p>
            <a:r>
              <a:rPr lang="ru-RU" sz="1600" dirty="0" smtClean="0">
                <a:latin typeface="Cascadia Code ExtraLight" pitchFamily="49" charset="0"/>
                <a:cs typeface="Cascadia Code ExtraLight" pitchFamily="49" charset="0"/>
              </a:rPr>
              <a:t>В первой строке – загрузка </a:t>
            </a:r>
            <a:r>
              <a:rPr lang="ru-RU" sz="1600" dirty="0" err="1" smtClean="0">
                <a:latin typeface="Cascadia Code ExtraLight" pitchFamily="49" charset="0"/>
                <a:cs typeface="Cascadia Code ExtraLight" pitchFamily="49" charset="0"/>
              </a:rPr>
              <a:t>датасета</a:t>
            </a:r>
            <a:r>
              <a:rPr lang="ru-RU" sz="1600" dirty="0" smtClean="0">
                <a:latin typeface="Cascadia Code ExtraLight" pitchFamily="49" charset="0"/>
                <a:cs typeface="Cascadia Code ExtraLight" pitchFamily="49" charset="0"/>
              </a:rPr>
              <a:t> </a:t>
            </a:r>
            <a:r>
              <a:rPr lang="en-US" sz="1600" dirty="0" err="1" smtClean="0">
                <a:latin typeface="Cascadia Code ExtraLight" pitchFamily="49" charset="0"/>
                <a:cs typeface="Cascadia Code ExtraLight" pitchFamily="49" charset="0"/>
              </a:rPr>
              <a:t>fashion_mnist</a:t>
            </a:r>
            <a:r>
              <a:rPr lang="ru-RU" sz="1600" dirty="0" smtClean="0">
                <a:latin typeface="Cascadia Code ExtraLight" pitchFamily="49" charset="0"/>
                <a:cs typeface="Cascadia Code ExtraLight" pitchFamily="49" charset="0"/>
              </a:rPr>
              <a:t>. Загрузка через метод </a:t>
            </a:r>
            <a:r>
              <a:rPr lang="en-US" sz="1600" dirty="0" err="1" smtClean="0">
                <a:latin typeface="Cascadia Code ExtraLight" pitchFamily="49" charset="0"/>
                <a:cs typeface="Cascadia Code ExtraLight" pitchFamily="49" charset="0"/>
              </a:rPr>
              <a:t>load_data</a:t>
            </a:r>
            <a:r>
              <a:rPr lang="en-US" sz="1600" dirty="0" smtClean="0">
                <a:latin typeface="Cascadia Code ExtraLight" pitchFamily="49" charset="0"/>
                <a:cs typeface="Cascadia Code ExtraLight" pitchFamily="49" charset="0"/>
              </a:rPr>
              <a:t>()</a:t>
            </a:r>
            <a:r>
              <a:rPr lang="ru-RU" sz="1600" dirty="0" smtClean="0">
                <a:latin typeface="Cascadia Code ExtraLight" pitchFamily="49" charset="0"/>
                <a:cs typeface="Cascadia Code ExtraLight" pitchFamily="49" charset="0"/>
              </a:rPr>
              <a:t>.  И разбивка на тестовую и тренировочную выборки.</a:t>
            </a:r>
          </a:p>
          <a:p>
            <a:r>
              <a:rPr lang="ru-RU" sz="1600" dirty="0" smtClean="0">
                <a:latin typeface="Cascadia Code ExtraLight" pitchFamily="49" charset="0"/>
                <a:cs typeface="Cascadia Code ExtraLight" pitchFamily="49" charset="0"/>
              </a:rPr>
              <a:t>Запись (</a:t>
            </a:r>
            <a:r>
              <a:rPr lang="ru-RU" sz="1600" dirty="0" err="1" smtClean="0">
                <a:latin typeface="Cascadia Code ExtraLight" pitchFamily="49" charset="0"/>
                <a:cs typeface="Cascadia Code ExtraLight" pitchFamily="49" charset="0"/>
              </a:rPr>
              <a:t>a</a:t>
            </a:r>
            <a:r>
              <a:rPr lang="ru-RU" sz="1600" dirty="0" smtClean="0">
                <a:latin typeface="Cascadia Code ExtraLight" pitchFamily="49" charset="0"/>
                <a:cs typeface="Cascadia Code ExtraLight" pitchFamily="49" charset="0"/>
              </a:rPr>
              <a:t>, </a:t>
            </a:r>
            <a:r>
              <a:rPr lang="ru-RU" sz="1600" dirty="0" err="1" smtClean="0">
                <a:latin typeface="Cascadia Code ExtraLight" pitchFamily="49" charset="0"/>
                <a:cs typeface="Cascadia Code ExtraLight" pitchFamily="49" charset="0"/>
              </a:rPr>
              <a:t>b</a:t>
            </a:r>
            <a:r>
              <a:rPr lang="ru-RU" sz="1600" dirty="0" smtClean="0">
                <a:latin typeface="Cascadia Code ExtraLight" pitchFamily="49" charset="0"/>
                <a:cs typeface="Cascadia Code ExtraLight" pitchFamily="49" charset="0"/>
              </a:rPr>
              <a:t>), (</a:t>
            </a:r>
            <a:r>
              <a:rPr lang="ru-RU" sz="1600" dirty="0" err="1" smtClean="0">
                <a:latin typeface="Cascadia Code ExtraLight" pitchFamily="49" charset="0"/>
                <a:cs typeface="Cascadia Code ExtraLight" pitchFamily="49" charset="0"/>
              </a:rPr>
              <a:t>c</a:t>
            </a:r>
            <a:r>
              <a:rPr lang="ru-RU" sz="1600" dirty="0" smtClean="0">
                <a:latin typeface="Cascadia Code ExtraLight" pitchFamily="49" charset="0"/>
                <a:cs typeface="Cascadia Code ExtraLight" pitchFamily="49" charset="0"/>
              </a:rPr>
              <a:t>, </a:t>
            </a:r>
            <a:r>
              <a:rPr lang="ru-RU" sz="1600" dirty="0" err="1" smtClean="0">
                <a:latin typeface="Cascadia Code ExtraLight" pitchFamily="49" charset="0"/>
                <a:cs typeface="Cascadia Code ExtraLight" pitchFamily="49" charset="0"/>
              </a:rPr>
              <a:t>d</a:t>
            </a:r>
            <a:r>
              <a:rPr lang="ru-RU" sz="1600" dirty="0" smtClean="0">
                <a:latin typeface="Cascadia Code ExtraLight" pitchFamily="49" charset="0"/>
                <a:cs typeface="Cascadia Code ExtraLight" pitchFamily="49" charset="0"/>
              </a:rPr>
              <a:t>) = ... — это распаковка: функция возвращает два кортежа, и мы сразу раскладываем их по четырём переменным. </a:t>
            </a:r>
            <a:endParaRPr lang="ru-RU" sz="1600" dirty="0" smtClean="0">
              <a:latin typeface="Cascadia Code ExtraLight" pitchFamily="49" charset="0"/>
              <a:cs typeface="Cascadia Code ExtraLight" pitchFamily="49" charset="0"/>
            </a:endParaRPr>
          </a:p>
          <a:p>
            <a:endParaRPr lang="ru-RU" sz="1600" dirty="0" smtClean="0">
              <a:latin typeface="Cascadia Code ExtraLight" pitchFamily="49" charset="0"/>
              <a:cs typeface="Cascadia Code ExtraLight" pitchFamily="49" charset="0"/>
            </a:endParaRPr>
          </a:p>
          <a:p>
            <a:r>
              <a:rPr lang="ru-RU" sz="1600" dirty="0" smtClean="0">
                <a:latin typeface="Cascadia Code ExtraLight" pitchFamily="49" charset="0"/>
                <a:cs typeface="Cascadia Code ExtraLight" pitchFamily="49" charset="0"/>
              </a:rPr>
              <a:t>Метки в </a:t>
            </a:r>
            <a:r>
              <a:rPr lang="ru-RU" sz="1600" dirty="0" err="1" smtClean="0">
                <a:latin typeface="Cascadia Code ExtraLight" pitchFamily="49" charset="0"/>
                <a:cs typeface="Cascadia Code ExtraLight" pitchFamily="49" charset="0"/>
              </a:rPr>
              <a:t>датасете</a:t>
            </a:r>
            <a:r>
              <a:rPr lang="ru-RU" sz="1600" dirty="0" smtClean="0">
                <a:latin typeface="Cascadia Code ExtraLight" pitchFamily="49" charset="0"/>
                <a:cs typeface="Cascadia Code ExtraLight" pitchFamily="49" charset="0"/>
              </a:rPr>
              <a:t> — это просто числа от 0 до 9. Сеть понимает только числа, но нам неудобно читать «класс 3». Поэтому мы создаём список </a:t>
            </a:r>
            <a:r>
              <a:rPr lang="ru-RU" sz="1600" dirty="0" err="1" smtClean="0">
                <a:latin typeface="Cascadia Code ExtraLight" pitchFamily="49" charset="0"/>
                <a:cs typeface="Cascadia Code ExtraLight" pitchFamily="49" charset="0"/>
              </a:rPr>
              <a:t>class_names</a:t>
            </a:r>
            <a:r>
              <a:rPr lang="ru-RU" sz="1600" dirty="0" smtClean="0">
                <a:latin typeface="Cascadia Code ExtraLight" pitchFamily="49" charset="0"/>
                <a:cs typeface="Cascadia Code ExtraLight" pitchFamily="49" charset="0"/>
              </a:rPr>
              <a:t>, где по индексу лежит понятное название:</a:t>
            </a:r>
          </a:p>
          <a:p>
            <a:r>
              <a:rPr lang="ru-RU" sz="1600" dirty="0" err="1" smtClean="0">
                <a:latin typeface="Cascadia Code ExtraLight" pitchFamily="49" charset="0"/>
                <a:cs typeface="Cascadia Code ExtraLight" pitchFamily="49" charset="0"/>
              </a:rPr>
              <a:t>class_names</a:t>
            </a:r>
            <a:r>
              <a:rPr lang="ru-RU" sz="1600" dirty="0" smtClean="0">
                <a:latin typeface="Cascadia Code ExtraLight" pitchFamily="49" charset="0"/>
                <a:cs typeface="Cascadia Code ExtraLight" pitchFamily="49" charset="0"/>
              </a:rPr>
              <a:t>[0] → 'Футболка'</a:t>
            </a:r>
          </a:p>
          <a:p>
            <a:r>
              <a:rPr lang="ru-RU" sz="1600" dirty="0" err="1" smtClean="0">
                <a:latin typeface="Cascadia Code ExtraLight" pitchFamily="49" charset="0"/>
                <a:cs typeface="Cascadia Code ExtraLight" pitchFamily="49" charset="0"/>
              </a:rPr>
              <a:t>class_names</a:t>
            </a:r>
            <a:r>
              <a:rPr lang="ru-RU" sz="1600" dirty="0" smtClean="0">
                <a:latin typeface="Cascadia Code ExtraLight" pitchFamily="49" charset="0"/>
                <a:cs typeface="Cascadia Code ExtraLight" pitchFamily="49" charset="0"/>
              </a:rPr>
              <a:t>[3] → 'Платье'</a:t>
            </a:r>
          </a:p>
          <a:p>
            <a:r>
              <a:rPr lang="ru-RU" sz="1600" dirty="0" smtClean="0">
                <a:latin typeface="Cascadia Code ExtraLight" pitchFamily="49" charset="0"/>
                <a:cs typeface="Cascadia Code ExtraLight" pitchFamily="49" charset="0"/>
              </a:rPr>
              <a:t>Дальше </a:t>
            </a:r>
            <a:r>
              <a:rPr lang="ru-RU" sz="1600" dirty="0" smtClean="0">
                <a:latin typeface="Cascadia Code ExtraLight" pitchFamily="49" charset="0"/>
                <a:cs typeface="Cascadia Code ExtraLight" pitchFamily="49" charset="0"/>
              </a:rPr>
              <a:t>в коде мы будем писать </a:t>
            </a:r>
            <a:r>
              <a:rPr lang="ru-RU" sz="1600" dirty="0" err="1" smtClean="0">
                <a:latin typeface="Cascadia Code ExtraLight" pitchFamily="49" charset="0"/>
                <a:cs typeface="Cascadia Code ExtraLight" pitchFamily="49" charset="0"/>
              </a:rPr>
              <a:t>class_names</a:t>
            </a:r>
            <a:r>
              <a:rPr lang="ru-RU" sz="1600" dirty="0" smtClean="0">
                <a:latin typeface="Cascadia Code ExtraLight" pitchFamily="49" charset="0"/>
                <a:cs typeface="Cascadia Code ExtraLight" pitchFamily="49" charset="0"/>
              </a:rPr>
              <a:t>[</a:t>
            </a:r>
            <a:r>
              <a:rPr lang="ru-RU" sz="1600" dirty="0" err="1" smtClean="0">
                <a:latin typeface="Cascadia Code ExtraLight" pitchFamily="49" charset="0"/>
                <a:cs typeface="Cascadia Code ExtraLight" pitchFamily="49" charset="0"/>
              </a:rPr>
              <a:t>y_test</a:t>
            </a:r>
            <a:r>
              <a:rPr lang="ru-RU" sz="1600" dirty="0" smtClean="0">
                <a:latin typeface="Cascadia Code ExtraLight" pitchFamily="49" charset="0"/>
                <a:cs typeface="Cascadia Code ExtraLight" pitchFamily="49" charset="0"/>
              </a:rPr>
              <a:t>[</a:t>
            </a:r>
            <a:r>
              <a:rPr lang="ru-RU" sz="1600" dirty="0" err="1" smtClean="0">
                <a:latin typeface="Cascadia Code ExtraLight" pitchFamily="49" charset="0"/>
                <a:cs typeface="Cascadia Code ExtraLight" pitchFamily="49" charset="0"/>
              </a:rPr>
              <a:t>i</a:t>
            </a:r>
            <a:r>
              <a:rPr lang="ru-RU" sz="1600" dirty="0" smtClean="0">
                <a:latin typeface="Cascadia Code ExtraLight" pitchFamily="49" charset="0"/>
                <a:cs typeface="Cascadia Code ExtraLight" pitchFamily="49" charset="0"/>
              </a:rPr>
              <a:t>]], чтобы на графиках и в подписях вместо цифры появлялось человеческое название. Порядок классов фиксирован — он определён в самом </a:t>
            </a:r>
            <a:r>
              <a:rPr lang="ru-RU" sz="1600" dirty="0" err="1" smtClean="0">
                <a:latin typeface="Cascadia Code ExtraLight" pitchFamily="49" charset="0"/>
                <a:cs typeface="Cascadia Code ExtraLight" pitchFamily="49" charset="0"/>
              </a:rPr>
              <a:t>датасете</a:t>
            </a:r>
            <a:r>
              <a:rPr lang="ru-RU" sz="1600" dirty="0" smtClean="0">
                <a:latin typeface="Cascadia Code ExtraLight" pitchFamily="49" charset="0"/>
                <a:cs typeface="Cascadia Code ExtraLight" pitchFamily="49" charset="0"/>
              </a:rPr>
              <a:t>.</a:t>
            </a:r>
          </a:p>
          <a:p>
            <a:endParaRPr lang="ru-RU" sz="1600" dirty="0" smtClean="0">
              <a:latin typeface="Cascadia Code ExtraLight" pitchFamily="49" charset="0"/>
              <a:cs typeface="Cascadia Code ExtraLight" pitchFamily="49" charset="0"/>
            </a:endParaRPr>
          </a:p>
          <a:p>
            <a:endParaRPr lang="ru-RU" sz="1600" dirty="0">
              <a:latin typeface="Cascadia Code ExtraLight" pitchFamily="49" charset="0"/>
              <a:cs typeface="Cascadia Code ExtraLight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 l="1706" t="12739" r="-2457" b="66879"/>
          <a:stretch>
            <a:fillRect/>
          </a:stretch>
        </p:blipFill>
        <p:spPr bwMode="auto">
          <a:xfrm>
            <a:off x="0" y="1295400"/>
            <a:ext cx="12420600" cy="1615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3124200"/>
            <a:ext cx="9144000" cy="3733800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Далее нормализуем данные – приводим числа в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датасете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от 0.0 до 1.0 для более стабильного обучения на градиентном спуске.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Изначально картинки имеют форму </a:t>
            </a: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(28, 28)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— только высота и ширина. Но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свёрточный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слой Conv2D ожидает на входе </a:t>
            </a: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3D-тензор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: (высота, ширина, каналы). У чёрно-белой картинки канал 1, у цветной — 3 (RGB).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[...,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None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] — это способ добавить новую ось в конец массива. Форма </a:t>
            </a: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(28, 28)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превращается в </a:t>
            </a: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(28, 28, 1)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. Числа внутри не меняются — просто теперь у каждого пикселя явно указан его «канал».</a:t>
            </a:r>
          </a:p>
          <a:p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1706" t="31847" r="51240" b="40127"/>
          <a:stretch>
            <a:fillRect/>
          </a:stretch>
        </p:blipFill>
        <p:spPr bwMode="auto">
          <a:xfrm>
            <a:off x="1219200" y="304800"/>
            <a:ext cx="71628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1000" y="3505200"/>
            <a:ext cx="8229600" cy="3352800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Разберемся с выводом</a:t>
            </a:r>
          </a:p>
          <a:p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60 000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— столько картинок в обучающей выборке.</a:t>
            </a:r>
          </a:p>
          <a:p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10 000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— столько картинок в тестовой.</a:t>
            </a:r>
          </a:p>
          <a:p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28, 28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— высота и ширина каждой картинки в пикселях.</a:t>
            </a:r>
          </a:p>
          <a:p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1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— число каналов. Единица означает, что изображения чёрно-белые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.</a:t>
            </a:r>
          </a:p>
          <a:p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Это ровно то, что мы ожидаем: четыре оси в формате (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batch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, H, W, C) — именно такой формат требует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свёрточный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слой Conv2D.</a:t>
            </a:r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1706" t="57325" b="-1911"/>
          <a:stretch>
            <a:fillRect/>
          </a:stretch>
        </p:blipFill>
        <p:spPr bwMode="auto">
          <a:xfrm>
            <a:off x="152400" y="533400"/>
            <a:ext cx="91440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5029201"/>
            <a:ext cx="9144000" cy="1828800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Этот блок кода рисует </a:t>
            </a: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первые 10 картинок из обучающей выборки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в виде сетки 2×5, чтобы глазами проверить, что данные загрузились правильно, и наглядно показать, с чем будет работать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нейросеть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.</a:t>
            </a:r>
            <a:br>
              <a:rPr lang="ru-RU" dirty="0" smtClean="0">
                <a:latin typeface="Cascadia Code ExtraLight" pitchFamily="49" charset="0"/>
                <a:cs typeface="Cascadia Code ExtraLight" pitchFamily="49" charset="0"/>
              </a:rPr>
            </a:br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381000"/>
            <a:ext cx="7581900" cy="466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2. Конструирование сети</a:t>
            </a:r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1600200"/>
            <a:ext cx="7467600" cy="5021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6635" y="914400"/>
            <a:ext cx="8757365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3. Компиляция</a:t>
            </a:r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1000" y="3352800"/>
            <a:ext cx="8763000" cy="3352800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Настраивает, </a:t>
            </a: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как сеть будет учиться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. Обучение ещё не начинается — это только настройка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.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Оптимизатор – алгоритм обновления весов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Функция потерь – формула для оценки отличия предсказанного значения от реального, которые должны были получиться. 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Мы берем разреженную кросс-энтропию. Что это и почему? Это стандартная функция потерь для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многоклассовой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классификации, когда метки у нас представлены не в виде </a:t>
            </a:r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one-hot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, а в виде целых чисел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: Картинка 1: 9 → Ботинки </a:t>
            </a:r>
            <a:br>
              <a:rPr lang="ru-RU" dirty="0" smtClean="0">
                <a:latin typeface="Cascadia Code ExtraLight" pitchFamily="49" charset="0"/>
                <a:cs typeface="Cascadia Code ExtraLight" pitchFamily="49" charset="0"/>
              </a:rPr>
            </a:b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а </a:t>
            </a:r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one-hot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: </a:t>
            </a:r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[0,0,0,0,0,0,0,0,0,1]</a:t>
            </a:r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Метрика - точность </a:t>
            </a:r>
          </a:p>
          <a:p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524000"/>
            <a:ext cx="9677400" cy="1537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4. Обучение</a:t>
            </a:r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00200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057400"/>
            <a:ext cx="8561688" cy="229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5. Визуализация обучения</a:t>
            </a:r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1295399"/>
            <a:ext cx="8229600" cy="5548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6. Оценка модели на обучающей выборке</a:t>
            </a:r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28600" y="3733800"/>
            <a:ext cx="8458200" cy="2392363"/>
          </a:xfrm>
        </p:spPr>
        <p:txBody>
          <a:bodyPr>
            <a:noAutofit/>
          </a:bodyPr>
          <a:lstStyle/>
          <a:p>
            <a:r>
              <a:rPr lang="ru-RU" sz="1600" dirty="0" smtClean="0">
                <a:latin typeface="Cascadia Code ExtraLight" pitchFamily="49" charset="0"/>
                <a:cs typeface="Cascadia Code ExtraLight" pitchFamily="49" charset="0"/>
              </a:rPr>
              <a:t>Этот блок кода </a:t>
            </a:r>
            <a:r>
              <a:rPr lang="ru-RU" sz="1600" b="1" dirty="0" smtClean="0">
                <a:latin typeface="Cascadia Code ExtraLight" pitchFamily="49" charset="0"/>
                <a:cs typeface="Cascadia Code ExtraLight" pitchFamily="49" charset="0"/>
              </a:rPr>
              <a:t>проверяет финальное качество модели</a:t>
            </a:r>
            <a:r>
              <a:rPr lang="ru-RU" sz="1600" dirty="0" smtClean="0">
                <a:latin typeface="Cascadia Code ExtraLight" pitchFamily="49" charset="0"/>
                <a:cs typeface="Cascadia Code ExtraLight" pitchFamily="49" charset="0"/>
              </a:rPr>
              <a:t> на тестовой выборке — данных, которые сеть никогда не видела во время обучения. Это честная </a:t>
            </a:r>
            <a:r>
              <a:rPr lang="ru-RU" sz="1600" dirty="0" smtClean="0">
                <a:latin typeface="Cascadia Code ExtraLight" pitchFamily="49" charset="0"/>
                <a:cs typeface="Cascadia Code ExtraLight" pitchFamily="49" charset="0"/>
              </a:rPr>
              <a:t>оценка: как </a:t>
            </a:r>
            <a:r>
              <a:rPr lang="ru-RU" sz="1600" dirty="0" smtClean="0">
                <a:latin typeface="Cascadia Code ExtraLight" pitchFamily="49" charset="0"/>
                <a:cs typeface="Cascadia Code ExtraLight" pitchFamily="49" charset="0"/>
              </a:rPr>
              <a:t>модель покажет себя в реальной </a:t>
            </a:r>
            <a:r>
              <a:rPr lang="ru-RU" sz="1600" dirty="0" smtClean="0">
                <a:latin typeface="Cascadia Code ExtraLight" pitchFamily="49" charset="0"/>
                <a:cs typeface="Cascadia Code ExtraLight" pitchFamily="49" charset="0"/>
              </a:rPr>
              <a:t>жизни</a:t>
            </a:r>
            <a:endParaRPr lang="ru-RU" sz="1600" dirty="0" smtClean="0">
              <a:latin typeface="Cascadia Code ExtraLight" pitchFamily="49" charset="0"/>
              <a:cs typeface="Cascadia Code ExtraLight" pitchFamily="49" charset="0"/>
            </a:endParaRPr>
          </a:p>
          <a:p>
            <a:r>
              <a:rPr lang="ru-RU" sz="1600" b="1" dirty="0" err="1" smtClean="0">
                <a:latin typeface="Cascadia Code ExtraLight" pitchFamily="49" charset="0"/>
                <a:cs typeface="Cascadia Code ExtraLight" pitchFamily="49" charset="0"/>
              </a:rPr>
              <a:t>model.evaluate</a:t>
            </a:r>
            <a:r>
              <a:rPr lang="ru-RU" sz="1600" b="1" dirty="0" smtClean="0">
                <a:latin typeface="Cascadia Code ExtraLight" pitchFamily="49" charset="0"/>
                <a:cs typeface="Cascadia Code ExtraLight" pitchFamily="49" charset="0"/>
              </a:rPr>
              <a:t>(...)</a:t>
            </a:r>
            <a:r>
              <a:rPr lang="ru-RU" sz="1600" dirty="0" smtClean="0">
                <a:latin typeface="Cascadia Code ExtraLight" pitchFamily="49" charset="0"/>
                <a:cs typeface="Cascadia Code ExtraLight" pitchFamily="49" charset="0"/>
              </a:rPr>
              <a:t> — метод </a:t>
            </a:r>
            <a:r>
              <a:rPr lang="ru-RU" sz="1600" dirty="0" err="1" smtClean="0">
                <a:latin typeface="Cascadia Code ExtraLight" pitchFamily="49" charset="0"/>
                <a:cs typeface="Cascadia Code ExtraLight" pitchFamily="49" charset="0"/>
              </a:rPr>
              <a:t>Keras</a:t>
            </a:r>
            <a:r>
              <a:rPr lang="ru-RU" sz="1600" dirty="0" smtClean="0">
                <a:latin typeface="Cascadia Code ExtraLight" pitchFamily="49" charset="0"/>
                <a:cs typeface="Cascadia Code ExtraLight" pitchFamily="49" charset="0"/>
              </a:rPr>
              <a:t>, который прогоняет модель на тестовых данных и считает две вещи:</a:t>
            </a:r>
          </a:p>
          <a:p>
            <a:r>
              <a:rPr lang="ru-RU" sz="1600" b="1" dirty="0" err="1" smtClean="0">
                <a:latin typeface="Cascadia Code ExtraLight" pitchFamily="49" charset="0"/>
                <a:cs typeface="Cascadia Code ExtraLight" pitchFamily="49" charset="0"/>
              </a:rPr>
              <a:t>Loss</a:t>
            </a:r>
            <a:r>
              <a:rPr lang="ru-RU" sz="1600" b="1" dirty="0" smtClean="0">
                <a:latin typeface="Cascadia Code ExtraLight" pitchFamily="49" charset="0"/>
                <a:cs typeface="Cascadia Code ExtraLight" pitchFamily="49" charset="0"/>
              </a:rPr>
              <a:t> (потери)</a:t>
            </a:r>
            <a:r>
              <a:rPr lang="ru-RU" sz="1600" dirty="0" smtClean="0">
                <a:latin typeface="Cascadia Code ExtraLight" pitchFamily="49" charset="0"/>
                <a:cs typeface="Cascadia Code ExtraLight" pitchFamily="49" charset="0"/>
              </a:rPr>
              <a:t> — насколько сильно предсказания отличаются от истины.</a:t>
            </a:r>
          </a:p>
          <a:p>
            <a:r>
              <a:rPr lang="ru-RU" sz="1600" b="1" dirty="0" err="1" smtClean="0">
                <a:latin typeface="Cascadia Code ExtraLight" pitchFamily="49" charset="0"/>
                <a:cs typeface="Cascadia Code ExtraLight" pitchFamily="49" charset="0"/>
              </a:rPr>
              <a:t>Accuracy</a:t>
            </a:r>
            <a:r>
              <a:rPr lang="ru-RU" sz="1600" b="1" dirty="0" smtClean="0">
                <a:latin typeface="Cascadia Code ExtraLight" pitchFamily="49" charset="0"/>
                <a:cs typeface="Cascadia Code ExtraLight" pitchFamily="49" charset="0"/>
              </a:rPr>
              <a:t> (точность)</a:t>
            </a:r>
            <a:r>
              <a:rPr lang="ru-RU" sz="1600" dirty="0" smtClean="0">
                <a:latin typeface="Cascadia Code ExtraLight" pitchFamily="49" charset="0"/>
                <a:cs typeface="Cascadia Code ExtraLight" pitchFamily="49" charset="0"/>
              </a:rPr>
              <a:t> — долю правильных ответов (метрику мы указали при </a:t>
            </a:r>
            <a:r>
              <a:rPr lang="ru-RU" sz="1600" dirty="0" err="1" smtClean="0">
                <a:latin typeface="Cascadia Code ExtraLight" pitchFamily="49" charset="0"/>
                <a:cs typeface="Cascadia Code ExtraLight" pitchFamily="49" charset="0"/>
              </a:rPr>
              <a:t>compile</a:t>
            </a:r>
            <a:r>
              <a:rPr lang="ru-RU" sz="1600" dirty="0" smtClean="0">
                <a:latin typeface="Cascadia Code ExtraLight" pitchFamily="49" charset="0"/>
                <a:cs typeface="Cascadia Code ExtraLight" pitchFamily="49" charset="0"/>
              </a:rPr>
              <a:t>).</a:t>
            </a:r>
            <a:r>
              <a:rPr lang="ru-RU" sz="1600" dirty="0" smtClean="0">
                <a:latin typeface="Cascadia Code ExtraLight" pitchFamily="49" charset="0"/>
                <a:cs typeface="Cascadia Code ExtraLight" pitchFamily="49" charset="0"/>
              </a:rPr>
              <a:t/>
            </a:r>
            <a:br>
              <a:rPr lang="ru-RU" sz="1600" dirty="0" smtClean="0">
                <a:latin typeface="Cascadia Code ExtraLight" pitchFamily="49" charset="0"/>
                <a:cs typeface="Cascadia Code ExtraLight" pitchFamily="49" charset="0"/>
              </a:rPr>
            </a:br>
            <a:endParaRPr lang="ru-RU" sz="1600" dirty="0">
              <a:latin typeface="Cascadia Code ExtraLight" pitchFamily="49" charset="0"/>
              <a:cs typeface="Cascadia Code ExtraLight" pitchFamily="49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752600"/>
            <a:ext cx="9497122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smtClean="0">
                <a:latin typeface="Cascadia Code ExtraLight" pitchFamily="49" charset="0"/>
                <a:cs typeface="Cascadia Code ExtraLight" pitchFamily="49" charset="0"/>
              </a:rPr>
              <a:t>7.Демонстрация результата работы модели. Предсказание для 10 объектов из тестовой выборки</a:t>
            </a:r>
            <a:endParaRPr lang="ru-RU" sz="3200" dirty="0">
              <a:latin typeface="Cascadia Code ExtraLight" pitchFamily="49" charset="0"/>
              <a:cs typeface="Cascadia Code Extra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3124200"/>
            <a:ext cx="9144000" cy="3733800"/>
          </a:xfrm>
        </p:spPr>
        <p:txBody>
          <a:bodyPr>
            <a:normAutofit fontScale="40000" lnSpcReduction="20000"/>
          </a:bodyPr>
          <a:lstStyle/>
          <a:p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probs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=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model.predict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(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x_test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[:10]) # вероятности по 10 классам</a:t>
            </a:r>
          </a:p>
          <a:p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x_test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[:10] — берём первые 10 картинок из тестовой выборки. Форма: (10, 28, 28, 1).</a:t>
            </a:r>
          </a:p>
          <a:p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model.predict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(...) — прогоняет их через обученную сеть. Для каждой картинки выход — вектор из 10 вероятностей (по одной на каждый класс одежды).</a:t>
            </a:r>
          </a:p>
          <a:p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probs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— массив формы (10, 10):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10 строк — по одной на картинку.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10 столбцов — по одному на класс.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/>
            </a:r>
            <a:br>
              <a:rPr lang="ru-RU" dirty="0" smtClean="0">
                <a:latin typeface="Cascadia Code ExtraLight" pitchFamily="49" charset="0"/>
                <a:cs typeface="Cascadia Code ExtraLight" pitchFamily="49" charset="0"/>
              </a:rPr>
            </a:b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preds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=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np.argmax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(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probs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, axis=1) # выбранный класс</a:t>
            </a:r>
          </a:p>
          <a:p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np.argmax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— возвращает индекс максимального элемента.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axis=1 — искать максимум внутри каждой строки (по 10 классам), а не по всей матрице.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Для каждой из 10 картинок получаем одно число от 0 до 9 — индекс класса-победителя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.</a:t>
            </a:r>
          </a:p>
          <a:p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confs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=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np.max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(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probs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, axis=1) </a:t>
            </a:r>
            <a:r>
              <a:rPr lang="ru-RU" i="1" dirty="0" smtClean="0">
                <a:latin typeface="Cascadia Code ExtraLight" pitchFamily="49" charset="0"/>
                <a:cs typeface="Cascadia Code ExtraLight" pitchFamily="49" charset="0"/>
              </a:rPr>
              <a:t># уверенность модели</a:t>
            </a:r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r>
              <a:rPr lang="ru-RU" b="1" dirty="0" err="1" smtClean="0">
                <a:latin typeface="Cascadia Code ExtraLight" pitchFamily="49" charset="0"/>
                <a:cs typeface="Cascadia Code ExtraLight" pitchFamily="49" charset="0"/>
              </a:rPr>
              <a:t>np.max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— возвращает </a:t>
            </a: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само максимальное значение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(не индекс, как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argmax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).</a:t>
            </a:r>
          </a:p>
          <a:p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axis=1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— снова по каждой строке отдельно.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Для каждой картинки получаем </a:t>
            </a: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вероятность победившего класса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— это и есть уверенность.</a:t>
            </a:r>
          </a:p>
          <a:p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/>
          <a:srcRect r="36277" b="88127"/>
          <a:stretch>
            <a:fillRect/>
          </a:stretch>
        </p:blipFill>
        <p:spPr bwMode="auto">
          <a:xfrm>
            <a:off x="609600" y="19050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smtClean="0">
                <a:latin typeface="Cascadia Code ExtraLight" pitchFamily="49" charset="0"/>
                <a:cs typeface="Cascadia Code ExtraLight" pitchFamily="49" charset="0"/>
              </a:rPr>
              <a:t>7.Демонстрация результата работы модели. Предсказание для 10 объектов из тестовой выборки</a:t>
            </a:r>
            <a:endParaRPr lang="ru-RU" sz="3200" dirty="0">
              <a:latin typeface="Cascadia Code ExtraLight" pitchFamily="49" charset="0"/>
              <a:cs typeface="Cascadia Code Extra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1670050"/>
            <a:ext cx="6959600" cy="518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Дз-шечка</a:t>
            </a:r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1) Добейтесь точности в 95% + на тестовых данных. Попробуйте менять архитектуру и параметры слоев.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2) Оцените полученную модель по изученным на предыдущем занятии метрикам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3)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Доп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задачка </a:t>
            </a:r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to be continued)</a:t>
            </a:r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802</TotalTime>
  <Words>3218</Words>
  <Application>Microsoft Office PowerPoint</Application>
  <PresentationFormat>Экран (4:3)</PresentationFormat>
  <Paragraphs>305</Paragraphs>
  <Slides>27</Slides>
  <Notes>16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28" baseType="lpstr">
      <vt:lpstr>Office Theme</vt:lpstr>
      <vt:lpstr>Занятие 4. ML и изображения Свёрточные нейронные сети    </vt:lpstr>
      <vt:lpstr>План занятия</vt:lpstr>
      <vt:lpstr>Чем плохи полносвязные нейронные сети?</vt:lpstr>
      <vt:lpstr>Свёртка</vt:lpstr>
      <vt:lpstr>Математика</vt:lpstr>
      <vt:lpstr>Слайд 6</vt:lpstr>
      <vt:lpstr>Если stride = 2</vt:lpstr>
      <vt:lpstr>Слайд 8</vt:lpstr>
      <vt:lpstr>Паддинг</vt:lpstr>
      <vt:lpstr>Несколько слоев сверток</vt:lpstr>
      <vt:lpstr>Слайд 11</vt:lpstr>
      <vt:lpstr> Pooling: идея и математика  </vt:lpstr>
      <vt:lpstr>Практика)</vt:lpstr>
      <vt:lpstr>0. Импорты библиотек</vt:lpstr>
      <vt:lpstr>1. Загрузка датесета</vt:lpstr>
      <vt:lpstr>Слайд 16</vt:lpstr>
      <vt:lpstr>Слайд 17</vt:lpstr>
      <vt:lpstr>Слайд 18</vt:lpstr>
      <vt:lpstr>2. Конструирование сети</vt:lpstr>
      <vt:lpstr>Слайд 20</vt:lpstr>
      <vt:lpstr>3. Компиляция</vt:lpstr>
      <vt:lpstr>4. Обучение</vt:lpstr>
      <vt:lpstr>5. Визуализация обучения</vt:lpstr>
      <vt:lpstr>6. Оценка модели на обучающей выборке</vt:lpstr>
      <vt:lpstr>7.Демонстрация результата работы модели. Предсказание для 10 объектов из тестовой выборки</vt:lpstr>
      <vt:lpstr>7.Демонстрация результата работы модели. Предсказание для 10 объектов из тестовой выборки</vt:lpstr>
      <vt:lpstr>Дз-шечка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Занятие 4. ML и изображения Свёрточные нейронные сети</dc:title>
  <dc:creator>Вера Пономаренко</dc:creator>
  <cp:lastModifiedBy>Вера Пономаренко</cp:lastModifiedBy>
  <cp:revision>20</cp:revision>
  <dcterms:created xsi:type="dcterms:W3CDTF">2026-10-12T19:50:59Z</dcterms:created>
  <dcterms:modified xsi:type="dcterms:W3CDTF">2026-10-14T17:12:46Z</dcterms:modified>
</cp:coreProperties>
</file>
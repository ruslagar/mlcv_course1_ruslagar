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259" r:id="rId3"/>
    <p:sldId id="260" r:id="rId4"/>
    <p:sldId id="261" r:id="rId5"/>
    <p:sldId id="281" r:id="rId6"/>
    <p:sldId id="277" r:id="rId7"/>
    <p:sldId id="278" r:id="rId8"/>
    <p:sldId id="279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2" r:id="rId17"/>
    <p:sldId id="270" r:id="rId18"/>
    <p:sldId id="271" r:id="rId19"/>
    <p:sldId id="272" r:id="rId20"/>
    <p:sldId id="273" r:id="rId21"/>
    <p:sldId id="274" r:id="rId22"/>
    <p:sldId id="275" r:id="rId23"/>
    <p:sldId id="283" r:id="rId24"/>
    <p:sldId id="285" r:id="rId25"/>
    <p:sldId id="286" r:id="rId26"/>
    <p:sldId id="287" r:id="rId27"/>
    <p:sldId id="288" r:id="rId28"/>
    <p:sldId id="291" r:id="rId29"/>
    <p:sldId id="289" r:id="rId30"/>
    <p:sldId id="292" r:id="rId31"/>
    <p:sldId id="293" r:id="rId32"/>
    <p:sldId id="290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284" r:id="rId44"/>
    <p:sldId id="280" r:id="rId45"/>
    <p:sldId id="276" r:id="rId46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25" autoAdjust="0"/>
    <p:restoredTop sz="52044" autoAdjust="0"/>
  </p:normalViewPr>
  <p:slideViewPr>
    <p:cSldViewPr>
      <p:cViewPr>
        <p:scale>
          <a:sx n="50" d="100"/>
          <a:sy n="50" d="100"/>
        </p:scale>
        <p:origin x="-588" y="-24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10965-1510-4A48-A24A-7580395DEF7F}" type="datetimeFigureOut">
              <a:rPr lang="ru-RU" smtClean="0"/>
              <a:pPr/>
              <a:t>10.10.2026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BEEF0-4D19-43B5-A40E-F48A5CC46DC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Конечная цель нашей работы — получить модель, которая, будучи обученной на имеющихся у нас данных, выдаёт разумный ответ для данных, которые она прежде никогда не видела.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 здесь есть тонкая грань. Можно перестараться с обучением настолько, что модель просто запомнит все данные из обучающей выборки. Чем это чревато? Модель теряет обобщающую способность: её веса подбираются так, чтобы не ошибаться на тренировочных данных, а не чтобы достаточно полно описывать предметную область.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и есть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переобучение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b="0" baseline="0" dirty="0" smtClean="0"/>
          </a:p>
          <a:p>
            <a:endParaRPr lang="ru-RU" b="0" baseline="0" dirty="0" smtClean="0"/>
          </a:p>
          <a:p>
            <a:r>
              <a:rPr lang="ru-RU" b="1" baseline="0" dirty="0" smtClean="0"/>
              <a:t>Пример-аналогия:</a:t>
            </a:r>
            <a:r>
              <a:rPr lang="ru-RU" b="0" baseline="0" dirty="0" smtClean="0"/>
              <a:t> ученик-зубрилка.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Он выучил все задачи из учебника. Выучил решения всех задач из сборника вариантов ЕГЭ. Он может воспроизвести решение любой знакомой задачи — от начала до конца, слово в слово.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 он не понимает, как происходит решение. Не умеет применять формулы к новым условиям. Не видит, какая формула подходит к какой задаче. Он просто запомнил последовательности действий для конкретных примеров.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вот он приходит на ЕГЭ. Ему попадаются задачи, которые он раньше не видел — с другими числами, с другой формулировкой, с небольшим изменением условия. И он не может их решить. Не потому что не знает формул — а потому что не научился обобщать те решения, которые видел, на похожие задачи. Он переобучился. Потерял способность обобщать.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 же и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нейросеть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переобучении она теряет способность обобщать данные и искать общие закономерности для принятия решений. Вместо этого она пытается учесть каждый выброс, шум и ошибку в обучающей выборке. Из-за этого страдает её способность находить правильные общие правила.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это выглядит на практике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Обученная модель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(без переобучения):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скажем, 96%.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тоже ~96%.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Разрыв между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маленький.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Переобученная модель: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100%. Модель идеально отвечает на все тренировочные примеры.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90–94%. Модель теряет 6–10% на новых данных.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Разрыв между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большой и растёт с каждой эпохой.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Ключевое: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переобученная модель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хуже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обучалась. Она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лучше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знает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Но именно поэтому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хуже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работает на новых данных — она запомнила шум и случайности, которые не повторятся.</a:t>
            </a:r>
          </a:p>
          <a:p>
            <a:endParaRPr lang="ru-RU" sz="1200" b="1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Причины переобучения:</a:t>
            </a:r>
          </a:p>
          <a:p>
            <a:endParaRPr lang="ru-RU" dirty="0" smtClean="0"/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Слишком сложная модель.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Миллионы параметров. Модель может «позволить себе» запомнить каждый пример. Вы палите пушкой по воробьем и спалили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поллеса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Мало данных.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Если примеров меньше, чем параметров, модель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обязана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запомнить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у неё нет другого выхода.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Пункты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 и 2 связаны. Чем меньше данных тем менее мощную и сложную архитектуру надо применять. Большая и сложная архитектура с большим числом нейронов легко запомнит немногочисленные данные.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Долгое обучение.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Даже правильная модель со временем начинает переобучаться, если её учить слишком долго. Вы по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n-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ому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кругу читаете одну и ту же книгу. Мало того, что она вам жуть надоела, вы ее уже успели выучить наизусть.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Расшифровка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картинки: в начале обучения чем ниже потери на обучающих данных, тем ниже и на контрольных – модель пока что </a:t>
            </a:r>
            <a:r>
              <a:rPr lang="ru-RU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недообучена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результат еще можно улучшить. </a:t>
            </a:r>
          </a:p>
          <a:p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дальнейшем обучении результат на проверочных данных останавливает свой рост ( оптимальное обучение), а затем начинает ухудшаться (переобучение).</a:t>
            </a:r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Признаки переобучения на графиках</a:t>
            </a:r>
          </a:p>
          <a:p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- значение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функции потерь на обучающей выборке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значение функции потерь 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валидационной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выборке</a:t>
            </a:r>
          </a:p>
          <a:p>
            <a:endParaRPr lang="ru-RU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стремиться 0,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сначала падает, потом растёт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происходит так: пока модель не потеряла обобщающую способность и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ищет закономерности – функция потерь на контрольной падает. А когда модель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наинает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переобучаться и зазубривать ошибки, шумы и выбросы – качество ее работы падает и как результат функция потерь на данной выборке начинает расти.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U-образная кривая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классический сигнал. Минимум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точка, где модель была лучшей. Всё после — уже переобучение.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Разрыв между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растёт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100%,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94% — разрыв 6%. Это и есть «цена» переобучения. Именно разрыв, а не абсолютное значение метрик, — главный индикатор.</a:t>
            </a: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слайде —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примеров из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датасета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MNIST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которые сильно отличаются от «идеальных» рукописных цифр,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искаженные данные. 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шум.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Реальные данные почти всегда содержат такие примеры: плохое освещение, размытие, дефекты сканирования, небрежный почерк.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Шум — это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часть данных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от которой невозможно избавиться.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вот тут возникает конфликт: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модель учится на шуме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она пытается запомнить каждую такую картинку дословно. Веса подстраиваются под конкретные дефекты: «вот этот размытый объект — это 8, значит, для такого пятна выход должен быть 8». Модель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запоминает шум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Это переобучение.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модель учится на закономерностях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она игнорирует детали, которые не повторяются от примера к примеру. Она понимает, что размытость, деформация, обрывы — это случайные вариации одной и той же цифры. Модель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обобщает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Это то, что нам нужно.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модель постарается учесть такие выбросы, ее способность к обобщению ухудшится </a:t>
            </a:r>
          </a:p>
          <a:p>
            <a:endParaRPr lang="ru-RU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 на этом слайде еще лучше – ошибки)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Как для задачи бинарной</a:t>
            </a:r>
            <a:r>
              <a:rPr lang="ru-RU" baseline="0" dirty="0" smtClean="0"/>
              <a:t> классификации выглядит переобучение</a:t>
            </a: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Слева — обученная модель, которая обобщает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Модель провела одну плавную границу между классами. Да, некоторые объекты у самой границы оказались не на своей стороне — это частности, шум, пограничные случаи. Но модель уловила общую закономерность: светлые точки — по одну сторону, тёмные — по другую.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новые данные подчиняются тем же общим закономерностям, что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модель с большой вероятностью определит их класс правильно.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Небольшие ошибки на границе — это цена за обобщение, и она оправдана.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b="1" baseline="0" dirty="0" smtClean="0"/>
              <a:t>Справа – переобученная модель.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Она подстроилась под каждую точку обучающей выборки. Её граница решения изломана, чтобы обязательно правильно классифицировать каждый тренировочный пример — включая выбросы, шум и случайные особенности.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Качество работы на новых данных будет хуже, потому что модель подстраивалась под конкретные примеры, а не под общую структуру.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Модель не умеет обобщать — она умеет только «узнавать» то, что видела.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Сравнение в одной фразе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Слева: модель выучила правило и иногда ошибается на пограничных примерах.</a:t>
            </a:r>
            <a:b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Справа: модель выучила примеры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kern="1200" dirty="0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Как бороться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Регуляризация L1/L2 — штраф за большие веса.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Dropout</a:t>
            </a:r>
            <a:r>
              <a:rPr lang="ru-RU" sz="1200" b="0" i="0" kern="1200" dirty="0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 — случайное отключение нейронов.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EarlyStopping</a:t>
            </a:r>
            <a:r>
              <a:rPr lang="ru-RU" sz="1200" b="0" i="0" kern="1200" dirty="0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 — остановка, когда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 перестал падать.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Уменьшение модели — меньше слоёв и нейронов.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Больше данных — самый надёжный способ.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Аугментация — расширение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Cascadia Code ExtraLight" pitchFamily="49" charset="0"/>
                <a:ea typeface="+mn-ea"/>
                <a:cs typeface="Cascadia Code ExtraLight" pitchFamily="49" charset="0"/>
              </a:rPr>
              <a:t>датасета</a:t>
            </a:r>
            <a:endParaRPr lang="ru-RU" sz="1200" b="0" i="0" kern="1200" dirty="0" smtClean="0">
              <a:solidFill>
                <a:schemeClr val="tx1"/>
              </a:solidFill>
              <a:latin typeface="Cascadia Code ExtraLight" pitchFamily="49" charset="0"/>
              <a:ea typeface="+mn-ea"/>
              <a:cs typeface="Cascadia Code ExtraLight" pitchFamily="49" charset="0"/>
            </a:endParaRPr>
          </a:p>
          <a:p>
            <a:endParaRPr lang="ru-RU" b="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Идеальной точности на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добиваться бессмысленно.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Если модель отвечает правильно на 100% тренировочных примеров — скорее всего, она переобучена.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Мелкие ошибки на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это нормально.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Они означают, что модель ищет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общие закономерности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не запоминает частности.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Хорошая модель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не та, что идеально знает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та, что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правильно работает на новых данных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b="0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Ltotal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​ — итоговая функция потерь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то, что модель минимизирует во время обучения. Чем меньше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Ltotal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тем «лучше» модель с точки зрения оптимизации.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не то же самое, что ошибка на данных. Это ошибка плюс штраф за сложность модели.</a:t>
            </a:r>
          </a:p>
          <a:p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Ldata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​ — обычная функция потерь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То, что мы использовали раньше: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cross-entropy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классификации, MSE для регрессии. Она показывает, насколько модель ошибается на тренировочных данных.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бы мы учились только по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модель могла бы стать очень сложной и запомнить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переобучение.</a:t>
            </a:r>
          </a:p>
          <a:p>
            <a:r>
              <a:rPr lang="ru-RU" sz="1200" b="1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λ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 сила регуляризации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Гиперпараметр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который мы задаём вручную. Он говорит: «насколько сильно штрафовать большие веса».</a:t>
            </a:r>
          </a:p>
          <a:p>
            <a:endParaRPr lang="ru-RU" b="0" dirty="0" smtClean="0"/>
          </a:p>
          <a:p>
            <a:r>
              <a:rPr lang="ru-RU" b="0" dirty="0" smtClean="0"/>
              <a:t>При суммировании</a:t>
            </a:r>
            <a:r>
              <a:rPr lang="ru-RU" b="0" baseline="0" dirty="0" smtClean="0"/>
              <a:t>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ем больше веса по модулю, тем больше штраф. Знак веса не важен —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важен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только его размер.</a:t>
            </a:r>
            <a:r>
              <a:rPr lang="ru-RU" b="0" dirty="0" smtClean="0"/>
              <a:t/>
            </a:r>
            <a:br>
              <a:rPr lang="ru-RU" b="0" dirty="0" smtClean="0"/>
            </a:br>
            <a:endParaRPr lang="ru-RU" b="0" dirty="0" smtClean="0"/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 это даёт: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модель может уменьшить ошибку, не увеличивая веса — она это сделает.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для уменьшения ошибки нужно сильно увеличить веса — модель сначала подумает: «а стоит ли? Ведь за это будет штраф».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итоге модель вынуждена искать компромисс: уменьшать ошибку, но держать веса маленькими.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Маленькие веса = простая, гладкая функция = лучшее обобщение.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Из-за свойства обнуления многие веса L1-модели становятся точно нулевыми.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вес = 0, соответствующий входной признак (или нейрон) не влияет на выход.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Модель фактически отбросила ненужные признаки.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Остались только те, что реально помогают решать задачу.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это записывается в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</a:t>
            </a:r>
            <a:endParaRPr lang="en-US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layers.Dense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(512, activation='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kernel_regularizer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=regularizers.l1(0.001))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kernel_regularizer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говорит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наложить штраф на веса этого слоя.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regularizers.l1(0.001) — L1-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штраф с </a:t>
            </a:r>
            <a:r>
              <a:rPr lang="el-G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λ=0.001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Смещения 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bias)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регуляризуются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только веса 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kernel).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 использовать L1</a:t>
            </a: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Хорошо подходит, когда: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Подозреваете, что многие признаки бесполезны.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Хотите получить компактную модель (меньше параметров — быстрее работает).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Нужна интерпретируемость: обнулённые веса = отброшенные признаки.</a:t>
            </a:r>
          </a:p>
          <a:p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стоит использовать, если: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Все признаки реально важны (L1 их частично обнулит).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Нужна максимальная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L1 иногда «теряет» полезные слабые связи.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L2-регуляризация (она же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Ridge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она же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weight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decay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это способ борьбы с переобучением, при котором к обычной функции потерь добавляется штраф за сумму квадратов весов. Смысл: мы хотим не просто минимизировать ошибку на данных, но и удержать веса маленькими.</a:t>
            </a:r>
            <a:r>
              <a:rPr lang="ru-RU" b="0" dirty="0" smtClean="0"/>
              <a:t/>
            </a:r>
            <a:br>
              <a:rPr lang="ru-RU" b="0" dirty="0" smtClean="0"/>
            </a:br>
            <a:endParaRPr lang="ru-RU" b="0" dirty="0" smtClean="0"/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Зачем это нужно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Переобучение = большие веса. Когда веса большие, модель может «подстроиться» под каждый пример: границы решения становятся резкими, изрезанными, запоминают шум и выбросы.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Маленькие веса = простая модель. Если веса маленькие, функция, которую вычисляет сеть, становится плавной. Плавная функция не может «запомнить» каждый шумный пример — она вынуждена выучить общую закономерность.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Аналогия: вместо того чтобы строить забор с тысячью резких поворотов вокруг каждого куста, L2 заставляет строить плавную кривую, которая огибает всю поляну. Такая кривая лучше обобщает.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Чем больше вес — тем сильнее его тянет к нулю. Чем ближе к нулю — тем слабее тяга.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Ключевое: на каждом шаге вес умножается на число чуть меньше 1. То есть веса постоянно подтягиваются к нулю.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L2 не «выключает» признаки, как L1. Он все веса делает маленькими, но не нулевыми. Модель по-прежнему использует все признаки — просто более мягко.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записывается в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layers.Dense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(512, activation='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',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kernel_regularizer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=regularizers.l2(0.001))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kernel_regularizer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наложить штраф на веса слоя.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regularizers.l2(0.001) — L2-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штраф с </a:t>
            </a:r>
            <a:r>
              <a:rPr lang="el-G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λ=0.001</a:t>
            </a:r>
            <a:r>
              <a:rPr lang="el-G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λ</a:t>
            </a:r>
            <a:r>
              <a:rPr lang="el-G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=0.001.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Смещения 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bias)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регуляризуются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только веса.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Когда использовать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L2 — метод по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умолчанию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Он хорошо работает почти всегда.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-Много признаков, и все они немного полезны (L1 бы их часть обнулил, L2 — сохранит).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-Нужно плавное решение без резких скачков.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-Данные шумные, и хочется, чтобы модель не подстраивалась под шум.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-Нет уверенности, какие признаки важны — L2 не отбрасывает, а «приглушает» все.</a:t>
            </a:r>
          </a:p>
          <a:p>
            <a:r>
              <a:rPr lang="ru-RU" b="0" dirty="0" smtClean="0"/>
              <a:t/>
            </a:r>
            <a:br>
              <a:rPr lang="ru-RU" b="0" dirty="0" smtClean="0"/>
            </a:b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Идея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каждом шаге обучения случайно отключать долю нейронов слоя.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Представьте: берём слой из 512 нейронов. На каждом шаге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батче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случайно выбираем часть из них и временно выключаем — их выход = 0. На следующем шаге — другой набор нейронов.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происходит только во время обучения. На предсказании все нейроны работают.</a:t>
            </a:r>
          </a:p>
          <a:p>
            <a:endParaRPr lang="ru-RU" dirty="0" smtClean="0"/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Сеть не может полагаться на конкретный нейрон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Без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сеть может «назначить» один нейрон ответственным за какую-то важную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фичу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«не развивать» остальные. Этот нейрон всегда включён — сеть на него рассчитывает.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этот нейрон в любой момент может быть отключён. Если он «выключится», выход слоя резко изменится. Значит, остальные нейроны обязаны подхватить его функцию. Сеть вынуждена учить все нейроны полезными, а не полагаться на одного.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Аналогия: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экзамене случайно выключаем часть студентов. Группа не может рассчитывать на одного знатока — все вынуждены учиться.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Почему помогает</a:t>
            </a: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 Уменьшает совместную адаптацию нейронов (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co-adaptation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Co-adaptation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это когда нейроны «договариваются» друг с другом: «ты отвечаешь за эту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фичу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я — за эту, а вместе мы решаем задачу». Такая «кооперация» опасна: если один нейрон «сломается» (на новых данных), вся конструкция рассыплется.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разрывает эти связи. Нейрон не может рассчитывать, что партнёр всегда рядом. Каждый вынужден быть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самодостаточным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2) Эффект ансамбля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Отключая случайные 40%, мы на каждом шаге обучаем разную подсеть. Итоговая модель — как усреднение тысяч разных подсетей. А усреднение моделей — известный способ уменьшить переобучение.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ставят после слоя с обучаемыми весами. Он не имеет своих параметров — это просто операция. НЕ СТАВИТЬ ПЕРЕД ВЫХОДНЫМ СЛОЕМ, в нем никогда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 надо отключать нейроны.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 smtClean="0"/>
          </a:p>
          <a:p>
            <a:r>
              <a:rPr lang="ru-RU" dirty="0" smtClean="0"/>
              <a:t>Код: </a:t>
            </a:r>
            <a:r>
              <a:rPr lang="en-US" dirty="0" err="1" smtClean="0"/>
              <a:t>layers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dirty="0" err="1" smtClean="0"/>
              <a:t>Dropout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(0.4),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Пояснение</a:t>
            </a:r>
            <a:r>
              <a:rPr lang="ru-RU" baseline="0" dirty="0" smtClean="0"/>
              <a:t> к дисбалансу: </a:t>
            </a:r>
          </a:p>
          <a:p>
            <a:r>
              <a:rPr lang="ru-RU" baseline="0" dirty="0" smtClean="0"/>
              <a:t>Представьте, что вы создаете модель для выявления очень редкой болезни, которая есть только у 1 %. Вы начинаете тестировать ее. </a:t>
            </a:r>
            <a:br>
              <a:rPr lang="ru-RU" baseline="0" dirty="0" smtClean="0"/>
            </a:br>
            <a:r>
              <a:rPr lang="ru-RU" baseline="0" dirty="0" smtClean="0"/>
              <a:t>И если ваша гениальная модель будет просто всегда говорить нет, то ее точность составит приблизительно 99%, нормально так)</a:t>
            </a:r>
            <a:br>
              <a:rPr lang="ru-RU" baseline="0" dirty="0" smtClean="0"/>
            </a:br>
            <a:r>
              <a:rPr lang="ru-RU" baseline="0" dirty="0" smtClean="0"/>
              <a:t>только толку от этой модели? На практике она не несет с собой никакой пользы. Надо придумать что-то другое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Confusion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(«матрица ошибок» или «матрица неточностей») — это таблица, которая показывает, как именно модель ошибается. Не просто «сколько ошибок», а кого с кем путает.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Она работает для любого числа классов. У нас в MNIST их 10, значит матрица будет 10×10. На слайде — простейший случай: бинарная классификация (2 класса: 0 и 1).</a:t>
            </a:r>
          </a:p>
          <a:p>
            <a:endParaRPr lang="ru-RU" b="0" dirty="0" smtClean="0"/>
          </a:p>
          <a:p>
            <a:endParaRPr lang="ru-RU" b="0" dirty="0" smtClean="0"/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Confusion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говорит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где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именно.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Какие классы модель путает чаще всего?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 систематическая ошибка (похожие цифры) или случайная?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Какие классы она плохо распознаёт?</a:t>
            </a:r>
          </a:p>
          <a:p>
            <a:r>
              <a:rPr lang="ru-RU" b="0" dirty="0" smtClean="0"/>
              <a:t>Так</a:t>
            </a:r>
            <a:r>
              <a:rPr lang="ru-RU" b="0" baseline="0" dirty="0" smtClean="0"/>
              <a:t> мы лучше начинаем понимать где именно у модели «</a:t>
            </a:r>
            <a:r>
              <a:rPr lang="ru-RU" b="0" baseline="0" dirty="0" err="1" smtClean="0"/>
              <a:t>затык</a:t>
            </a:r>
            <a:r>
              <a:rPr lang="ru-RU" b="0" baseline="0" dirty="0" smtClean="0"/>
              <a:t>»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Пример для MNIST: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матрица 10×10. Ячейка </a:t>
            </a:r>
            <a:r>
              <a:rPr lang="ru-RU" dirty="0" smtClean="0"/>
              <a:t>[9, 4] = 26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означает: «26 настоящих девяток модель назвала четвёрками». Это конкретная ошибка, с которой можно работать.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Разберем</a:t>
            </a:r>
            <a:r>
              <a:rPr lang="ru-RU" baseline="0" dirty="0" smtClean="0"/>
              <a:t> на примере нашей задачи с определением какая из рукописных цифр изображена на фотографии</a:t>
            </a:r>
          </a:p>
          <a:p>
            <a:endParaRPr lang="ru-RU" baseline="0" dirty="0" smtClean="0"/>
          </a:p>
          <a:p>
            <a:r>
              <a:rPr lang="ru-RU" baseline="0" dirty="0" smtClean="0"/>
              <a:t>Точность определяет: сколько цифр из тех, что модель назвала 8 действительно 8. Здесь </a:t>
            </a:r>
            <a:r>
              <a:rPr lang="en-US" baseline="0" dirty="0" smtClean="0"/>
              <a:t>TP –</a:t>
            </a:r>
            <a:r>
              <a:rPr lang="ru-RU" baseline="0" dirty="0" smtClean="0"/>
              <a:t> действительно 8, которые модель опознала как 8,</a:t>
            </a:r>
            <a:r>
              <a:rPr lang="en-US" baseline="0" dirty="0" smtClean="0"/>
              <a:t> FP – </a:t>
            </a:r>
            <a:r>
              <a:rPr lang="ru-RU" baseline="0" dirty="0" smtClean="0"/>
              <a:t>не 8 вовсе, но модель нагадала, что это 8.</a:t>
            </a:r>
          </a:p>
          <a:p>
            <a:endParaRPr lang="ru-RU" baseline="0" dirty="0" smtClean="0"/>
          </a:p>
          <a:p>
            <a:r>
              <a:rPr lang="ru-RU" baseline="0" dirty="0" smtClean="0"/>
              <a:t>Т.е. точность показывает: насколько можно верить модели, когда она говорит «да» (или, например, 8)</a:t>
            </a:r>
          </a:p>
          <a:p>
            <a:endParaRPr lang="ru-RU" baseline="0" dirty="0" smtClean="0"/>
          </a:p>
          <a:p>
            <a:r>
              <a:rPr lang="ru-RU" baseline="0" dirty="0" smtClean="0"/>
              <a:t>Если </a:t>
            </a:r>
            <a:r>
              <a:rPr lang="en-US" baseline="0" dirty="0" smtClean="0"/>
              <a:t>Precision=</a:t>
            </a:r>
            <a:r>
              <a:rPr lang="ru-RU" baseline="0" dirty="0" smtClean="0"/>
              <a:t>0.93, то это значит, что из 100 цифр, которые модель назвала 8, 93 действительно 8.</a:t>
            </a:r>
          </a:p>
          <a:p>
            <a:endParaRPr lang="ru-RU" baseline="0" dirty="0" smtClean="0"/>
          </a:p>
          <a:p>
            <a:r>
              <a:rPr lang="ru-RU" baseline="0" dirty="0" smtClean="0"/>
              <a:t>Как сломать эту метрику? Очень высокий порог, т.е. когда нужно соответствовать ой каким высоким требованиям, чтобы тебя сочли 8.И вот с такими высокими требованиями модель мало предсказывает, но, вероятно, уже не ошибется. Чтобы сломать нам достаточно 1 раз угадать 8. Тогда показатель точности будет равен 1, т.е. 100%. Но в выборке вряд ли была всего одна 8, в </a:t>
            </a:r>
            <a:r>
              <a:rPr lang="en-US" baseline="0" dirty="0" err="1" smtClean="0"/>
              <a:t>mnist</a:t>
            </a:r>
            <a:r>
              <a:rPr lang="en-US" baseline="0" dirty="0" smtClean="0"/>
              <a:t> </a:t>
            </a:r>
            <a:r>
              <a:rPr lang="ru-RU" baseline="0" dirty="0" smtClean="0"/>
              <a:t>данные распределены равномерно. Т.е. модель профукала где-то знатное количество 8, отнеся их к другим классам. Можно ли назвать этот </a:t>
            </a:r>
            <a:r>
              <a:rPr lang="ru-RU" baseline="0" dirty="0" err="1" smtClean="0"/>
              <a:t>дискридитарор</a:t>
            </a:r>
            <a:r>
              <a:rPr lang="ru-RU" baseline="0" dirty="0" smtClean="0"/>
              <a:t> 8 хорошей моделью? Едва ли.</a:t>
            </a:r>
          </a:p>
          <a:p>
            <a:r>
              <a:rPr lang="ru-RU" baseline="0" dirty="0" smtClean="0"/>
              <a:t>Нам нужен другой критерий!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Продолжим разбор на том же примере</a:t>
            </a:r>
          </a:p>
          <a:p>
            <a:endParaRPr lang="ru-RU" baseline="0" dirty="0" smtClean="0"/>
          </a:p>
          <a:p>
            <a:r>
              <a:rPr lang="ru-RU" baseline="0" dirty="0" smtClean="0"/>
              <a:t>Полнота определяет сколько 8 из всех 8, что есть, модель нашла и распознала. Здесь </a:t>
            </a:r>
            <a:r>
              <a:rPr lang="en-US" baseline="0" dirty="0" smtClean="0"/>
              <a:t>TP –</a:t>
            </a:r>
            <a:r>
              <a:rPr lang="ru-RU" baseline="0" dirty="0" smtClean="0"/>
              <a:t> действительно 8, которые модель опознала как 8,</a:t>
            </a:r>
            <a:r>
              <a:rPr lang="en-US" baseline="0" dirty="0" smtClean="0"/>
              <a:t>  FN – </a:t>
            </a:r>
            <a:r>
              <a:rPr lang="ru-RU" baseline="0" dirty="0" smtClean="0"/>
              <a:t>то, что является 8, но модель не распознала это как 8. </a:t>
            </a:r>
          </a:p>
          <a:p>
            <a:endParaRPr lang="ru-RU" baseline="0" dirty="0" smtClean="0"/>
          </a:p>
          <a:p>
            <a:r>
              <a:rPr lang="ru-RU" baseline="0" dirty="0" smtClean="0"/>
              <a:t>Если </a:t>
            </a:r>
            <a:r>
              <a:rPr lang="en-US" baseline="0" dirty="0" smtClean="0"/>
              <a:t>Precision=</a:t>
            </a:r>
            <a:r>
              <a:rPr lang="ru-RU" baseline="0" dirty="0" smtClean="0"/>
              <a:t>0.93, то это значит, что из 100 цифр, которые являются 8, модель нашла 93 восьмерки.</a:t>
            </a:r>
          </a:p>
          <a:p>
            <a:endParaRPr lang="ru-RU" baseline="0" dirty="0" smtClean="0"/>
          </a:p>
          <a:p>
            <a:r>
              <a:rPr lang="ru-RU" baseline="0" dirty="0" smtClean="0"/>
              <a:t>Как сломать эту метрику? Очень низкий порог, т.е.когда требований считай  и нет. Модель рада всем. Всегда говори ДА (или 8). И вот эта </a:t>
            </a:r>
            <a:r>
              <a:rPr lang="ru-RU" baseline="0" dirty="0" err="1" smtClean="0"/>
              <a:t>дакалка</a:t>
            </a:r>
            <a:r>
              <a:rPr lang="ru-RU" baseline="0" dirty="0" smtClean="0"/>
              <a:t> наберет вам кучу 8, у нее не останется </a:t>
            </a:r>
            <a:r>
              <a:rPr lang="en-US" baseline="0" dirty="0" smtClean="0"/>
              <a:t>FN</a:t>
            </a:r>
            <a:r>
              <a:rPr lang="ru-RU" baseline="0" dirty="0" smtClean="0"/>
              <a:t>, она все назвала 8. Не упустила ни одну. </a:t>
            </a:r>
            <a:r>
              <a:rPr lang="en-US" baseline="0" dirty="0" smtClean="0"/>
              <a:t>Recall = 1 = 100%. </a:t>
            </a:r>
            <a:r>
              <a:rPr lang="ru-RU" baseline="0" dirty="0" smtClean="0"/>
              <a:t>Но по факту она вам просто на любую картинку говорит, что это 8. От такой модели тоже толку не особо. Надо придумать другую метрику, которая учтет обе проблемы, с которыми мы столкнулись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Пояснение к примерам: </a:t>
            </a:r>
          </a:p>
          <a:p>
            <a:r>
              <a:rPr lang="ru-RU" dirty="0" smtClean="0"/>
              <a:t>Если</a:t>
            </a:r>
            <a:r>
              <a:rPr lang="ru-RU" baseline="0" dirty="0" smtClean="0"/>
              <a:t> мы ищем рак, то лучше поставить порог ниже, ведь лучше </a:t>
            </a:r>
            <a:r>
              <a:rPr lang="ru-RU" baseline="0" dirty="0" err="1" smtClean="0"/>
              <a:t>переобследовать</a:t>
            </a:r>
            <a:r>
              <a:rPr lang="ru-RU" baseline="0" dirty="0" smtClean="0"/>
              <a:t> здорового, чем счесть здоровым больного. В таком раскладе нам важно скольких больных из всех мы нашли и нам нужна полнота, сделать так, чтобы модель на этой метрике показывала высокий результат, т.е. находила всех больных (если зацепит и здоровых, это не критично)</a:t>
            </a:r>
          </a:p>
          <a:p>
            <a:endParaRPr lang="ru-RU" baseline="0" dirty="0" smtClean="0"/>
          </a:p>
          <a:p>
            <a:r>
              <a:rPr lang="ru-RU" baseline="0" dirty="0" smtClean="0"/>
              <a:t>А в случае, когда мы определяем спам нам важнее не обозначить важное письмо как спам, лучше пусть парочка </a:t>
            </a:r>
            <a:r>
              <a:rPr lang="ru-RU" baseline="0" dirty="0" err="1" smtClean="0"/>
              <a:t>спамовых</a:t>
            </a:r>
            <a:r>
              <a:rPr lang="ru-RU" baseline="0" dirty="0" smtClean="0"/>
              <a:t> рассылок проберется в почту. Т.е. порог тут выше, чтобы признать письмо спамом. Т.е. мы хотим высокую метрику точности, мы </a:t>
            </a:r>
            <a:r>
              <a:rPr lang="ru-RU" baseline="0" dirty="0" err="1" smtClean="0"/>
              <a:t>хотмим</a:t>
            </a:r>
            <a:r>
              <a:rPr lang="ru-RU" baseline="0" dirty="0" smtClean="0"/>
              <a:t> доверять модели, когда она говорит, что это спам. Чтобы модель не нагадала на </a:t>
            </a:r>
            <a:r>
              <a:rPr lang="ru-RU" baseline="0" dirty="0" err="1" smtClean="0"/>
              <a:t>Неспамовые</a:t>
            </a:r>
            <a:r>
              <a:rPr lang="ru-RU" baseline="0" dirty="0" smtClean="0"/>
              <a:t> письма, что они – спам.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Еще бывают взвешенные метрики</a:t>
            </a:r>
            <a:r>
              <a:rPr lang="ru-RU" baseline="0" dirty="0" smtClean="0"/>
              <a:t> (</a:t>
            </a:r>
            <a:r>
              <a:rPr lang="en-US" baseline="0" dirty="0" smtClean="0"/>
              <a:t>weighted).</a:t>
            </a:r>
            <a:r>
              <a:rPr lang="ru-RU" baseline="0" dirty="0" smtClean="0"/>
              <a:t> Применяется для задач, где классы неравномерны. Там мы учитываем вклад каждого класса отдельно пропорционально его размеру и работы модели на нем.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Традиционно</a:t>
            </a:r>
            <a:r>
              <a:rPr lang="ru-RU" baseline="0" dirty="0" smtClean="0"/>
              <a:t>: первая ячейка – импорт библиотек.</a:t>
            </a:r>
          </a:p>
          <a:p>
            <a:endParaRPr lang="ru-RU" baseline="0" dirty="0" smtClean="0"/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NumPy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библиотека для работы с массивами и матрицами. В ML через неё идут все вычисления: массивы картинок, веса, метрики. Псевдоним </a:t>
            </a:r>
            <a:r>
              <a:rPr lang="ru-RU" dirty="0" err="1" smtClean="0"/>
              <a:t>np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стандарт.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Matplotlib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библиотека для построения графиков. Используем для кривых обучения 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loss/accuracy)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confusion matrix.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Псевдоним </a:t>
            </a:r>
            <a:r>
              <a:rPr lang="en-US" dirty="0" err="1" smtClean="0"/>
              <a:t>plt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стандарт.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Seaborn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надстройка над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Matplotlib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«красивых» статистических графиков. Используем для </a:t>
            </a:r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heatmap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визуализации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confusion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Без него пришлось бы настраивать цвета и подписи вручную.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TensorFlow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основной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фреймворк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глубокого обучения от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Google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Через него строятся, обучаются и запускаются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высокоуровневый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поверх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TensorFlow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Импортируем три модуля: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слои сети 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Dense, Flatten, Dropout).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контейнеры для сборки сети 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Sequential).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regularizers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регуляризация 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l1, l2, l1_l2).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tensorflow.keras.datasets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import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mnist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MNIST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встроенный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датасет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 рукописными цифрами. 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tensorflow.keras.utils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import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to_categorical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to_categorical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функция для 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one-hot encoding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меток. Превращает число 3 в вектор [0,0,0,1,0,0,0,0,0,0]. Это нужно для функции потерь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categorical_crossentropy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tensorflow.keras.callbacks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import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EarlyStopping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EarlyStopping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специальный объект, который останавливает обучение, когда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val_loss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перестал улучшаться. Передаётся в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model.fit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sklearn.metrics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модуль с готовыми метриками. Импортируем шесть функций: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accuracy_score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доля правильных ответов.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precision_score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точность (из названных «+» сколько реально «+»).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recall_score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полнота (из всех реальных «+» сколько нашёл).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f1_score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баланс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recall.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confusion_matrix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таблица «кого с кем путает модель».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classification_report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готовый текстовый отчёт со всеми метриками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 каждому классу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macro/weighted avg.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np.random.seed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(42)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tf.random.set_seed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(42)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Зачем: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многие операции в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ML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случайны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инициализация весов, разбиение 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батчи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Без фиксации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seed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каждый запуск даёт разный результат.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np.random.seed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(42)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фиксирует генератор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NumPy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разбиения данных, если бы мы его делали через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NumPy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tf.random.set_seed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(42)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фиксирует генератор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TensorFlow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инициализации весов 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Почему два: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это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разные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генераторы.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NumPy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TensorFlow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 делят один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seed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между собой.</a:t>
            </a:r>
          </a:p>
          <a:p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Вторая ячейка – вспомогательные функции.</a:t>
            </a:r>
          </a:p>
          <a:p>
            <a:endParaRPr lang="ru-RU" dirty="0" smtClean="0"/>
          </a:p>
          <a:p>
            <a:r>
              <a:rPr lang="ru-RU" dirty="0" smtClean="0"/>
              <a:t>Разберемся</a:t>
            </a:r>
            <a:r>
              <a:rPr lang="ru-RU" baseline="0" dirty="0" smtClean="0"/>
              <a:t> с кодом на поверхностно-идейном уровне (можно </a:t>
            </a:r>
            <a:r>
              <a:rPr lang="ru-RU" baseline="0" dirty="0" err="1" smtClean="0"/>
              <a:t>скипнуть</a:t>
            </a:r>
            <a:r>
              <a:rPr lang="ru-RU" baseline="0" dirty="0" smtClean="0"/>
              <a:t>)</a:t>
            </a:r>
          </a:p>
          <a:p>
            <a:endParaRPr lang="ru-RU" baseline="0" dirty="0" smtClean="0"/>
          </a:p>
          <a:p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plot_history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(history, title)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Функционал: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строит два графика в ряд —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работает: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Принимает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history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объект из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model.fit)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заголовок).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history.history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достаёт 4 массива: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loss,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val_loss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accuracy,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val_accuracy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plt.subplots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(1, 2, ...)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создаёт фигуру с 2 графиками.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axes[0] — loss, axes[1] — accuracy.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plt.tight_layout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автоматически подгоняет отступы.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plt.show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выводит картинку.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Особенности: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figsize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=(14, 5)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широкий формат, чтобы два графика влезли.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linewidth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=2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линии толще, лучше видно разрыв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train/val.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grid(True)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сетка для удобства чтения.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f'{title} — Loss' — f-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строка подставляет имя модели в заголовок.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compute_metrics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(model,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x_test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y_test_true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name)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Функционал: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считает 5 метрик и возвращает их + предсказания в словаре.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работает: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model.predict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прогоняет тест через модель, получает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вероятности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формы 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N, 10).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np.argmax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(..., axis=1)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берёт индекс максимальной вероятности → предсказанный класс.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Считает метрики через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sklearn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accuracy_score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доля правильных.</a:t>
            </a:r>
          </a:p>
          <a:p>
            <a:pPr lvl="1"/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precision_score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(average='macro') — precision,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усреднённый по классам без весов.</a:t>
            </a:r>
          </a:p>
          <a:p>
            <a:pPr lvl="1"/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recall_score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(average='macro')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 же для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recall.</a:t>
            </a:r>
          </a:p>
          <a:p>
            <a:pPr lvl="1"/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f1_score(average='macro')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f1_score(average='weighted')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два варианта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Собирает всё в словарь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Печатает значения с .4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 (4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знака после запятой).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Возвращает словарь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пригодится для сравнения моделей.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Особенности: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verbose=0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predict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убирает прогресс-бар (меньше шума в выводе).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zero_division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=0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знаменатель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 = 0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класс не предсказан), считать за 0 без предупреждений.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y_pred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хранится в словаре — не надо гонять модель второй раз для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classification_report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confusion_matrix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show_classification_report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y_test_true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y_pred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name)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Функционал: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печатает детальный отчёт по метрикам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каждого класса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работает: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Вызывает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classification_report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sklearn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Выводит таблицу: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precision, recall, f1-score, support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 каждому классу +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accuracy, macro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avg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weighted avg.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Особенности: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digits=4 — 4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знака после запятой. По умолчанию было бы 2.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заголовке — чтобы отличить отчёты разных моделей.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Принимает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уже готовый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y_pred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 не модель → не тратит время на повторный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predict.</a:t>
            </a:r>
          </a:p>
          <a:p>
            <a:endParaRPr lang="ru-RU" dirty="0" smtClean="0"/>
          </a:p>
          <a:p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show_confusion_matrix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y_test_true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y_pred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title,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cmap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='Blues')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Функционал: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рисует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confusion matrix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работает: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confusion_matrix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считает матрицу 10×10 через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sklearn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plt.figure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figsize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=(8, 6))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создаёт фигуру.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sns.heatmap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рисует матрицу как цветную таблицу.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Подписывает оси и заголовок.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plt.show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выводит.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Особенности: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annot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=True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подписывает ячейки числами.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fmt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='d'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формат целых чисел (не 1.0, а 1).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cbar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=False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убирает цветовую шкалу справа (лишняя).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square=True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ячейки квадратные, матрица читается лучше.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cmap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цветовая схема. У нас: '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Reds'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базовой, '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Greens'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регуляризованной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визуально различаем.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 Нормализация данных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x_test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x_test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255.0 – делим на 255 каждое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число в двумерном массиве (матрице)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numpy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было: пиксели — целые числа от 0 до 255 (uint8).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 — чёрный,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255 — белый)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стало: числа от 0.0 до 1.0 (тип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Зачем: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Стабильность обучения.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Нейросеть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работает с числами. Большие значения (0–255) дают большие градиенты → веса «прыгают» → обучение расходится. Маленькие (0–1) → градиенты стабильные.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в уроке 2. Мы уже делали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StandardScaler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California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Housing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Там приводили признаки к среднему 0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1. Здесь — к диапазону [0, 1].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Логика та же: привести все входы к одному масштабу.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Дёшево. Просто деление на 255 — никаких сложных формул.</a:t>
            </a:r>
          </a:p>
          <a:p>
            <a:endParaRPr lang="ru-RU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One-hot encoding 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меток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было: метки — целые числа [5, 0, 4, 1, 9, ...].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стало: векторы из 10 чисел, где одна единица и девять нулей.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Например, метка 3 превращается в: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[0, 0, 0, 1, 0, 0, 0, 0, 0, 0]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Второй аргумент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to_categorical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Это число классов (цифры 0–9, т.е. 10 классов).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Зачем: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Выходной слой с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softmax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выдаёт 10 вероятностей — по одной на класс.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Функция потерь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categorical_crossentropy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сравнивает вектор с вектором: предсказание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истина.</a:t>
            </a: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3)</a:t>
            </a:r>
            <a:r>
              <a:rPr lang="ru-RU" b="1" baseline="0" dirty="0" smtClean="0"/>
              <a:t> Формирование маленькой выборки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первые 3 000 примеров.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следующие 3 000 примеров (с 3000 до 5999).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все 10 000 (не трогаем).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Намеренно берем маленькую обучающую выборку, чтобы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поспособствовать переобучению. </a:t>
            </a:r>
          </a:p>
          <a:p>
            <a:endParaRPr lang="ru-RU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Берем срезы от массивов тренировочных данных (образцы-задачки и ответы) и для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валидации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endParaRPr lang="ru-RU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Далее выводим формы тренировочной,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валидационной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тестовой выборки</a:t>
            </a:r>
            <a:b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 тренировочной 3000 экземпляров, каждый – массив 28 строк по 28 столбцов</a:t>
            </a: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валидационной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аналогично</a:t>
            </a: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 тестовой – 10 000 образцов, каждый – массив 28 строк по 28 столбцов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y_train_full_cat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dirty="0" err="1" smtClean="0"/>
              <a:t>shape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[1]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Второе измерение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[1]) — длина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one-hot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вектора. 10 — по числу классов.</a:t>
            </a:r>
          </a:p>
          <a:p>
            <a:endParaRPr lang="ru-RU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 smtClean="0"/>
              <a:t>models.Sequential</a:t>
            </a:r>
            <a:r>
              <a:rPr lang="en-US" b="1" dirty="0" smtClean="0"/>
              <a:t>([...])</a:t>
            </a:r>
            <a:r>
              <a:rPr lang="ru-RU" b="1" dirty="0" smtClean="0"/>
              <a:t> - Контейнер</a:t>
            </a:r>
            <a:r>
              <a:rPr lang="ru-RU" dirty="0" smtClean="0"/>
              <a:t> для слоёв.</a:t>
            </a:r>
          </a:p>
          <a:p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Слой 1.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input_shape=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(28, 28))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Превращает матрицу 28×28 в вектор длины 784.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[28×28] → [784]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Обучаемых параметров — нет. Это простое преобразование формы.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input_shape=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(28, 28) — сообщает модели, какой формы будут входы. Нужно указать в первом слое,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т.к. далее идущий слой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капризуля и принимает вектор, а не матрицу.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Flatten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выпрямляет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матрицу в требуемый вектор.</a:t>
            </a:r>
          </a:p>
          <a:p>
            <a:endParaRPr lang="ru-RU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Слой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2. Dense(512, activation='relu')</a:t>
            </a:r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Первый скрытый слой, 512 нейронов.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полносвязный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Каждый нейрон получает все 784 входа.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512 — сколько нейронов. Это наше решение, не выводится из данных.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activation='relu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— нелинейность. Без неё глубокая сеть = линейная модель.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Параметров: 784 × 512 + 512 = 401 920.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Слой 3.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(512,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activation='relu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Второй скрытый слой, тоже 512 нейронов.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Комбинирует признаки первого слоя в более абстрактные.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Параметров: 512 × 512 + 512 = 262 656.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Слой 4.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(10,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activation='softmax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Выходной слой, 10 нейронов — по одному на цифру.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 — число классов (цифры 0–9).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softmax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превращает выходы в вероятности, сумма = 1.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Параметров: 512 × 10 + 10 = 5 130.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Итого параметров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~670 000. На 3 000 примеров — ~223 параметра на один пример. Это и есть причина переобучения.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Компиляция</a:t>
            </a:r>
          </a:p>
          <a:p>
            <a:endParaRPr lang="ru-RU" b="1" dirty="0" smtClean="0"/>
          </a:p>
          <a:p>
            <a:r>
              <a:rPr lang="ru-RU" b="0" dirty="0" smtClean="0"/>
              <a:t>Метод</a:t>
            </a:r>
            <a:r>
              <a:rPr lang="ru-RU" b="0" baseline="0" dirty="0" smtClean="0"/>
              <a:t> </a:t>
            </a:r>
            <a:r>
              <a:rPr lang="en-US" b="0" baseline="0" dirty="0" smtClean="0"/>
              <a:t>compile – </a:t>
            </a:r>
            <a:r>
              <a:rPr lang="ru-RU" b="0" baseline="0" dirty="0" smtClean="0"/>
              <a:t>в качестве параметров: оптимизатор, функция потерь – категориальная кросс-энтропия (стандарт для </a:t>
            </a:r>
            <a:r>
              <a:rPr lang="ru-RU" b="0" baseline="0" dirty="0" err="1" smtClean="0"/>
              <a:t>многоклассовой</a:t>
            </a:r>
            <a:r>
              <a:rPr lang="ru-RU" b="0" baseline="0" dirty="0" smtClean="0"/>
              <a:t> классификации), метрика – точность (можете добавить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recall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Обучение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Метод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fit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параметры: обучающие данные и ответы (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x_train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y_train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число эпох (50, много т.к. хотим переобучение, но вы можете поставить свое значение),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батчсайз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сколько примеров в одном шаге для обновления весов (32),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validation_data=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x_val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y_val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Отдельный набор для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Модель его не видит при обучении, но после каждой эпохи мы проверяем на нём.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Пояснение вывода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Epoch 36/50 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94/94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━━━━━━━━━━━━━━━━━━━━ 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13ms/step - accuracy: 1.0000 - loss: 3.3849e-05 -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val_accuracy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0.9483 -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val_loss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0.3023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 каждой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эпохи выводится точность и функция потерь (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на тренировочных данных.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100%. Модель идеально отвечает на все 3 000 тренировочных примеров. Она запомнила их.  И 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94.83%. На данных, которых модель не видела при обучении, она ошибается в 5% случаев.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0.3023. Это в ~9000 раз больше, чем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1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Матрица имеет размер 10×10, потому что классов ровно десять — от нуля до девяти.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Строки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соответствуют истинным классам, то есть тому, что на картинке на самом деле, а 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столбцы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предсказанным классам, то есть тому, что сказала модель.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Ячейка на пересечении строки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столбца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показывает, сколько объектов истинного класса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модель отнесла к классу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Значения на главной диагонали — это правильные ответы, когда истина и предсказание совпали, а всё, что находится вне диагонали, — это ошибки, причём чем больше в ячейке число, тем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систематичнее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ошибка модели.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Самое интересное в этой матрице — не диагональ, а то, что происходит вне её. Именно здесь видно, с кем именно модель путает цифры.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Например, в строке 4 и столбце 9 стоит 27 — это значит, что 27 настоящих четвёрок модель назвала девятками.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строке 9 и столбце 4 стоит 26 — и это симметричная ошибка: 26 настоящих девяток модель назвала четвёрками. Модель систематически путает их в обе стороны.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Каждая такая ячейка — это конкретный тип ошибки, и именно с ними нужно работать, если мы хотим улучшить модель. Например, если вы обнаруживаете, что модель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систематически путает 4 и 9, то вам нужно расширить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датасет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образцами именно этих классов.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Есть и «односторонние» ошибки, которые выглядят подозрительно. Например, в строке 3, столбце 5 стоит 25, но обратная ошибка (5 → 3) в два раза меньше — 17. Это говорит о том, что модель не просто «не различает» две цифры, а имеет смещённое представление о них: она чаще склоняется к одному из двух классов, когда видит нечто похожее. Такие асимметрии — важный диагностический сигнал: возможно, в обучающей выборке было больше примеров одного класса, написанных «похоже» на другой, либо сам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датасет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содержит шумные метки.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Итог по этой матрице такой: базовая модель действительно переобучена, потому что 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она почти идеальна, а на тесте допускает систематические ошибки, и эти ошибки не случайны — они группируются вокруг пар похожих цифр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34</a:t>
            </a:fld>
            <a:endParaRPr 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Архитектура</a:t>
            </a:r>
          </a:p>
          <a:p>
            <a:r>
              <a:rPr lang="ru-RU" dirty="0" smtClean="0"/>
              <a:t>Рассмотрим только</a:t>
            </a:r>
            <a:r>
              <a:rPr lang="ru-RU" baseline="0" dirty="0" smtClean="0"/>
              <a:t> изменения</a:t>
            </a:r>
          </a:p>
          <a:p>
            <a:r>
              <a:rPr lang="en-US" dirty="0" err="1" smtClean="0"/>
              <a:t>l</a:t>
            </a:r>
            <a:r>
              <a:rPr lang="en-US" b="1" dirty="0" err="1" smtClean="0"/>
              <a:t>ayers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b="1" dirty="0" err="1" smtClean="0"/>
              <a:t>Dense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(512,</a:t>
            </a:r>
            <a:r>
              <a:rPr lang="en-US" b="1" dirty="0" smtClean="0"/>
              <a:t> activation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relu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',</a:t>
            </a:r>
            <a:r>
              <a:rPr lang="ru-RU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dirty="0" err="1" smtClean="0"/>
              <a:t>kernel_regularizer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b="1" dirty="0" smtClean="0"/>
              <a:t>regularizers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b="1" dirty="0" smtClean="0"/>
              <a:t>l2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(0.001)),</a:t>
            </a:r>
            <a:r>
              <a:rPr lang="en-US" dirty="0" smtClean="0"/>
              <a:t> </a:t>
            </a:r>
            <a:endParaRPr lang="ru-RU" dirty="0" smtClean="0"/>
          </a:p>
          <a:p>
            <a:endParaRPr lang="ru-RU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L2-регуляризация. К функции потерь добавляется штраф за большие веса: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0.001 — сила штрафа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λ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Чем больше, тем сильнее модель вынуждена держать веса маленькими.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Смещения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bias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не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регуляризуются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только веса.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еса плавно уменьшаются, границы решений становятся гладкими, модель перестаёт подстраиваться под шум.</a:t>
            </a:r>
          </a:p>
          <a:p>
            <a:endParaRPr lang="ru-RU" dirty="0" smtClean="0"/>
          </a:p>
          <a:p>
            <a:r>
              <a:rPr lang="en-US" dirty="0" err="1" smtClean="0"/>
              <a:t>layers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dirty="0" err="1" smtClean="0"/>
              <a:t>Dropout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(0.4),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40%. На каждом шаге обучения случайно отключаются 40% нейронов предыдущего слоя.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Сеть не может полагаться на конкретный нейрон — все вынуждены учиться.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Уменьшает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co-adaptation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(зависимость нейронов друг от друга).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предсказании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Dropout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отключён — работают все 512 нейронов.</a:t>
            </a:r>
          </a:p>
          <a:p>
            <a:endParaRPr lang="ru-RU" dirty="0" smtClean="0"/>
          </a:p>
          <a:p>
            <a:r>
              <a:rPr lang="ru-RU" b="1" dirty="0" smtClean="0"/>
              <a:t>Компиляция</a:t>
            </a:r>
            <a:r>
              <a:rPr lang="ru-RU" b="1" baseline="0" dirty="0" smtClean="0"/>
              <a:t> не изменилась</a:t>
            </a:r>
            <a:endParaRPr lang="ru-RU" b="1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35</a:t>
            </a:fld>
            <a:endParaRPr 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Создание </a:t>
            </a:r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колбэка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EarlyStopping</a:t>
            </a:r>
            <a:endParaRPr lang="en-US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b="0" dirty="0" err="1" smtClean="0"/>
              <a:t>Колбек</a:t>
            </a:r>
            <a:r>
              <a:rPr lang="ru-RU" b="0" dirty="0" smtClean="0"/>
              <a:t> </a:t>
            </a:r>
            <a:r>
              <a:rPr lang="en-US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EarlyStopping</a:t>
            </a:r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b="0" dirty="0" smtClean="0"/>
              <a:t>это специальный</a:t>
            </a:r>
            <a:r>
              <a:rPr lang="ru-RU" b="0" baseline="0" dirty="0" smtClean="0"/>
              <a:t> объект, который </a:t>
            </a:r>
            <a:r>
              <a:rPr lang="en-US" b="0" dirty="0" err="1" smtClean="0"/>
              <a:t>Keras</a:t>
            </a:r>
            <a:r>
              <a:rPr lang="en-US" b="0" baseline="0" dirty="0" smtClean="0"/>
              <a:t> </a:t>
            </a:r>
            <a:r>
              <a:rPr lang="ru-RU" b="0" baseline="0" dirty="0" smtClean="0"/>
              <a:t>вызывает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 каждой эпохи и проверяет, не пора ли остановить обучение. 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Рассмотрим его параметры</a:t>
            </a:r>
          </a:p>
          <a:p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monitor='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val_loss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Этот параметр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означет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то, за чем мы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следим. Может быть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val_loss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val_accuracy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loss, accuracy.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Мы выбираем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val_loss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ошибку 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валидации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Это честнее, чем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 loss,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потому что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 loss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всегда падает.</a:t>
            </a:r>
          </a:p>
          <a:p>
            <a:endParaRPr lang="ru-RU" dirty="0" smtClean="0"/>
          </a:p>
          <a:p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patience=5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Сколько эпох ждать. Если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не улучшается 5 эпох подряд — останавливаемся.</a:t>
            </a:r>
          </a:p>
          <a:p>
            <a:endParaRPr lang="ru-RU" dirty="0" smtClean="0"/>
          </a:p>
          <a:p>
            <a:r>
              <a:rPr lang="ru-RU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restore_best_weights=True</a:t>
            </a:r>
            <a:endParaRPr lang="ru-RU" sz="120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 делать после остановки. После 5 эпох без улучшения веса модели «испорчены». Флаг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возвращает веса из лучшей эпохи (где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val_loss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минимальный).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Без этого флага модель осталась бы с весами последней, уже переобученной эпохи.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verbose=0</a:t>
            </a:r>
            <a:r>
              <a:rPr lang="ru-RU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не выводим служебную/отладочную информацию по прогрессу.</a:t>
            </a:r>
          </a:p>
          <a:p>
            <a:endParaRPr lang="ru-RU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Обучение</a:t>
            </a: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Добавился только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список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колбэков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callbacks=[</a:t>
            </a:r>
            <a:r>
              <a:rPr lang="en-US" sz="1200" b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early_stop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Keras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будет вызывать </a:t>
            </a:r>
            <a:r>
              <a:rPr lang="en-US" sz="1200" b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early_stop</a:t>
            </a:r>
            <a:r>
              <a:rPr lang="ru-RU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 каждой эпохи. Список — потому что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колбэков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может быть несколько,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как и метрик.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36</a:t>
            </a:fld>
            <a:endParaRPr lang="ru-R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Эти два графика показывают, зачем вообще нужна регуляризация: они позволяют </a:t>
            </a:r>
            <a:r>
              <a:rPr lang="ru-RU" b="1" dirty="0" smtClean="0"/>
              <a:t>сравнить поведение базовой и </a:t>
            </a:r>
            <a:r>
              <a:rPr lang="ru-RU" b="1" dirty="0" err="1" smtClean="0"/>
              <a:t>регуляризованной</a:t>
            </a:r>
            <a:r>
              <a:rPr lang="ru-RU" b="1" dirty="0" smtClean="0"/>
              <a:t> модели на </a:t>
            </a:r>
            <a:r>
              <a:rPr lang="ru-RU" b="1" dirty="0" err="1" smtClean="0"/>
              <a:t>валидации</a:t>
            </a:r>
            <a:r>
              <a:rPr lang="ru-RU" dirty="0" smtClean="0"/>
              <a:t> по эпохам. </a:t>
            </a:r>
          </a:p>
          <a:p>
            <a:r>
              <a:rPr lang="ru-RU" dirty="0" smtClean="0"/>
              <a:t>Слева — </a:t>
            </a:r>
            <a:r>
              <a:rPr lang="ru-RU" dirty="0" err="1" smtClean="0"/>
              <a:t>val</a:t>
            </a:r>
            <a:r>
              <a:rPr lang="ru-RU" dirty="0" smtClean="0"/>
              <a:t> </a:t>
            </a:r>
            <a:r>
              <a:rPr lang="ru-RU" dirty="0" err="1" smtClean="0"/>
              <a:t>loss</a:t>
            </a:r>
            <a:r>
              <a:rPr lang="ru-RU" dirty="0" smtClean="0"/>
              <a:t>, справа — </a:t>
            </a:r>
            <a:r>
              <a:rPr lang="ru-RU" dirty="0" err="1" smtClean="0"/>
              <a:t>val</a:t>
            </a:r>
            <a:r>
              <a:rPr lang="ru-RU" dirty="0" smtClean="0"/>
              <a:t> </a:t>
            </a:r>
            <a:r>
              <a:rPr lang="ru-RU" dirty="0" err="1" smtClean="0"/>
              <a:t>accuracy</a:t>
            </a:r>
            <a:r>
              <a:rPr lang="ru-RU" dirty="0" smtClean="0"/>
              <a:t>. </a:t>
            </a:r>
          </a:p>
          <a:p>
            <a:endParaRPr lang="ru-RU" dirty="0" smtClean="0"/>
          </a:p>
          <a:p>
            <a:r>
              <a:rPr lang="ru-RU" dirty="0" smtClean="0"/>
              <a:t>На левом графике видно ключевое отличие: у базовой модели  </a:t>
            </a:r>
            <a:r>
              <a:rPr lang="ru-RU" dirty="0" err="1" smtClean="0"/>
              <a:t>val</a:t>
            </a:r>
            <a:r>
              <a:rPr lang="ru-RU" dirty="0" smtClean="0"/>
              <a:t> </a:t>
            </a:r>
            <a:r>
              <a:rPr lang="ru-RU" dirty="0" err="1" smtClean="0"/>
              <a:t>loss</a:t>
            </a:r>
            <a:r>
              <a:rPr lang="ru-RU" dirty="0" smtClean="0"/>
              <a:t> сначала падает до ~0.25, потом на 15-й эпохе даёт всплеск и далее медленно </a:t>
            </a:r>
            <a:r>
              <a:rPr lang="ru-RU" b="1" dirty="0" smtClean="0"/>
              <a:t>растёт</a:t>
            </a:r>
            <a:r>
              <a:rPr lang="ru-RU" dirty="0" smtClean="0"/>
              <a:t> до ~0.32 — это U-образная кривая, классический признак переобучения. </a:t>
            </a:r>
          </a:p>
          <a:p>
            <a:r>
              <a:rPr lang="ru-RU" dirty="0" smtClean="0"/>
              <a:t>У </a:t>
            </a:r>
            <a:r>
              <a:rPr lang="ru-RU" dirty="0" err="1" smtClean="0"/>
              <a:t>регуляризованной</a:t>
            </a:r>
            <a:r>
              <a:rPr lang="ru-RU" dirty="0" smtClean="0"/>
              <a:t>  </a:t>
            </a:r>
            <a:r>
              <a:rPr lang="ru-RU" dirty="0" err="1" smtClean="0"/>
              <a:t>val</a:t>
            </a:r>
            <a:r>
              <a:rPr lang="ru-RU" dirty="0" smtClean="0"/>
              <a:t> </a:t>
            </a:r>
            <a:r>
              <a:rPr lang="ru-RU" dirty="0" err="1" smtClean="0"/>
              <a:t>loss</a:t>
            </a:r>
            <a:r>
              <a:rPr lang="ru-RU" dirty="0" smtClean="0"/>
              <a:t> начинается </a:t>
            </a:r>
            <a:r>
              <a:rPr lang="ru-RU" b="1" dirty="0" smtClean="0"/>
              <a:t>гораздо выше</a:t>
            </a:r>
            <a:r>
              <a:rPr lang="ru-RU" dirty="0" smtClean="0"/>
              <a:t> (~1.08) — потому что L2-штраф добавляется прямо в </a:t>
            </a:r>
            <a:r>
              <a:rPr lang="ru-RU" dirty="0" err="1" smtClean="0"/>
              <a:t>loss</a:t>
            </a:r>
            <a:r>
              <a:rPr lang="ru-RU" dirty="0" smtClean="0"/>
              <a:t> — но затем плавно снижается и </a:t>
            </a:r>
            <a:r>
              <a:rPr lang="ru-RU" b="1" dirty="0" smtClean="0"/>
              <a:t>выходит на плато</a:t>
            </a:r>
            <a:r>
              <a:rPr lang="ru-RU" dirty="0" smtClean="0"/>
              <a:t> около 0.45–0.50, не разворачиваясь вверх: переобучения нет. </a:t>
            </a:r>
          </a:p>
          <a:p>
            <a:r>
              <a:rPr lang="ru-RU" dirty="0" smtClean="0"/>
              <a:t>Также </a:t>
            </a:r>
            <a:r>
              <a:rPr lang="ru-RU" dirty="0" err="1" smtClean="0"/>
              <a:t>регуляризованная</a:t>
            </a:r>
            <a:r>
              <a:rPr lang="ru-RU" dirty="0" smtClean="0"/>
              <a:t>  </a:t>
            </a:r>
            <a:r>
              <a:rPr lang="ru-RU" b="1" dirty="0" smtClean="0"/>
              <a:t>более «дёрганая»</a:t>
            </a:r>
            <a:r>
              <a:rPr lang="ru-RU" dirty="0" smtClean="0"/>
              <a:t>, потому что </a:t>
            </a:r>
            <a:r>
              <a:rPr lang="ru-RU" dirty="0" err="1" smtClean="0"/>
              <a:t>Dropout</a:t>
            </a:r>
            <a:r>
              <a:rPr lang="ru-RU" dirty="0" smtClean="0"/>
              <a:t> добавляет шум в каждую эпоху. </a:t>
            </a:r>
          </a:p>
          <a:p>
            <a:endParaRPr lang="ru-RU" dirty="0" smtClean="0"/>
          </a:p>
          <a:p>
            <a:r>
              <a:rPr lang="ru-RU" dirty="0" smtClean="0"/>
              <a:t>Также видно, что </a:t>
            </a:r>
            <a:r>
              <a:rPr lang="ru-RU" dirty="0" err="1" smtClean="0"/>
              <a:t>регуляризованная</a:t>
            </a:r>
            <a:r>
              <a:rPr lang="ru-RU" dirty="0" smtClean="0"/>
              <a:t> модель </a:t>
            </a:r>
            <a:r>
              <a:rPr lang="ru-RU" b="1" dirty="0" smtClean="0"/>
              <a:t>останавливается раньше</a:t>
            </a:r>
            <a:r>
              <a:rPr lang="ru-RU" dirty="0" smtClean="0"/>
              <a:t> — примерно на 23-й эпохе (это наш </a:t>
            </a:r>
            <a:r>
              <a:rPr lang="ru-RU" dirty="0" err="1" smtClean="0"/>
              <a:t>колбек</a:t>
            </a:r>
            <a:r>
              <a:rPr lang="ru-RU" dirty="0" smtClean="0"/>
              <a:t> </a:t>
            </a:r>
            <a:r>
              <a:rPr lang="en-US" dirty="0" err="1" smtClean="0"/>
              <a:t>early_stopping</a:t>
            </a:r>
            <a:r>
              <a:rPr lang="en-US" dirty="0" smtClean="0"/>
              <a:t> </a:t>
            </a:r>
            <a:r>
              <a:rPr lang="ru-RU" dirty="0" smtClean="0"/>
              <a:t>постарался) , тогда как базовая учится все 50. </a:t>
            </a:r>
          </a:p>
          <a:p>
            <a:r>
              <a:rPr lang="ru-RU" dirty="0" smtClean="0"/>
              <a:t>Важна </a:t>
            </a:r>
            <a:r>
              <a:rPr lang="ru-RU" b="1" dirty="0" smtClean="0"/>
              <a:t>форма кривой</a:t>
            </a:r>
            <a:r>
              <a:rPr lang="ru-RU" dirty="0" smtClean="0"/>
              <a:t>: у базовой </a:t>
            </a:r>
            <a:r>
              <a:rPr lang="ru-RU" dirty="0" err="1" smtClean="0"/>
              <a:t>val</a:t>
            </a:r>
            <a:r>
              <a:rPr lang="ru-RU" dirty="0" smtClean="0"/>
              <a:t> </a:t>
            </a:r>
            <a:r>
              <a:rPr lang="ru-RU" dirty="0" err="1" smtClean="0"/>
              <a:t>loss</a:t>
            </a:r>
            <a:r>
              <a:rPr lang="ru-RU" dirty="0" smtClean="0"/>
              <a:t> разворачивается вверх, у </a:t>
            </a:r>
            <a:r>
              <a:rPr lang="ru-RU" dirty="0" err="1" smtClean="0"/>
              <a:t>регуляризованной</a:t>
            </a:r>
            <a:r>
              <a:rPr lang="ru-RU" dirty="0" smtClean="0"/>
              <a:t> — стабилен; это и есть победа регуляризации. При этом абсолютная </a:t>
            </a:r>
            <a:r>
              <a:rPr lang="ru-RU" dirty="0" err="1" smtClean="0"/>
              <a:t>val</a:t>
            </a:r>
            <a:r>
              <a:rPr lang="ru-RU" dirty="0" smtClean="0"/>
              <a:t> </a:t>
            </a:r>
            <a:r>
              <a:rPr lang="ru-RU" dirty="0" err="1" smtClean="0"/>
              <a:t>accuracy</a:t>
            </a:r>
            <a:r>
              <a:rPr lang="ru-RU" dirty="0" smtClean="0"/>
              <a:t> чуть уступает — мы обменяли 1–2% точности на устойчивость и меньший разрыв </a:t>
            </a:r>
            <a:r>
              <a:rPr lang="ru-RU" dirty="0" err="1" smtClean="0"/>
              <a:t>train</a:t>
            </a:r>
            <a:r>
              <a:rPr lang="ru-RU" dirty="0" smtClean="0"/>
              <a:t>/</a:t>
            </a:r>
            <a:r>
              <a:rPr lang="ru-RU" dirty="0" err="1" smtClean="0"/>
              <a:t>val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BEEF0-4D19-43B5-A40E-F48A5CC46DC6}" type="slidenum">
              <a:rPr lang="ru-RU" smtClean="0"/>
              <a:pPr/>
              <a:t>42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810000" y="2362200"/>
            <a:ext cx="5334000" cy="1600201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Занятие</a:t>
            </a: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> 3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Переобучение и регуляризация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Распознавание рукописных цифр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953000" y="5334000"/>
            <a:ext cx="4191000" cy="15240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Мастерские МИЦ. 10 сезон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Основы машинного обучения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2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Пономаренко Вера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19458" name="AutoShape 2" descr="blob:https://web.telegram.org/ed39cbfb-374d-4fbf-842a-6d3dbc23d7b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066800"/>
            <a:ext cx="3681413" cy="499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План занятия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4038600" cy="4419599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1. Переобучения и методы борьбы с ним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2. Оцениваем проделанную работу. Метрики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3. Разбор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нейросети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для распознавания рукописных чисел</a:t>
            </a:r>
          </a:p>
        </p:txBody>
      </p:sp>
      <p:sp>
        <p:nvSpPr>
          <p:cNvPr id="18434" name="AutoShape 2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36" name="AutoShape 4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38" name="AutoShape 6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40" name="AutoShape 8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8442" name="AutoShape 10" descr="blob:https://web.telegram.org/6247dee7-7b71-4e47-a673-d64e99929af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443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828800"/>
            <a:ext cx="3843195" cy="4128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Переобучение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600201"/>
            <a:ext cx="8153400" cy="2590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Модель запомнила тренировочные данные, но не научилась обобщать на новые.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Как увидеть на графиках: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→ 0,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сначала падает, потом растёт (U-образная кривая)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Разрыв между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растёт с каждой эпохой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3886200"/>
            <a:ext cx="4504747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304800"/>
            <a:ext cx="8534400" cy="678180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Ключевая идея: переобучение — это когда модель «слишком хорошо подстроилась» под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включая шум и случайности, и потеряла способность видеть общие закономерности.</a:t>
            </a: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Причины: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Много параметров у модели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Мало данных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Долгое обучение</a:t>
            </a:r>
          </a:p>
          <a:p>
            <a:endParaRPr lang="ru-RU" dirty="0"/>
          </a:p>
        </p:txBody>
      </p:sp>
      <p:sp>
        <p:nvSpPr>
          <p:cNvPr id="16386" name="AutoShape 2" descr="blob:https://web.telegram.org/483cbbeb-b13e-466e-9294-0d1c5dfe534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2133600"/>
            <a:ext cx="4097454" cy="295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Поведение модели при переобучении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828800"/>
            <a:ext cx="778528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Пример зашумленных данных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371600"/>
            <a:ext cx="6630988" cy="502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Пример ошибочных обучающих данных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52400" y="1600200"/>
            <a:ext cx="9440863" cy="2210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 descr="https://sun9-16.vkuserphoto.ru/s/v1/ig2/x4ZTIe2MfsyHndksq-kjdCOzrtuRu5OhWSkcILdct7CoJxxyHGx_NXMnGysDhVk_jdZ6Ar_Sg23x3XySObSi0byxIHOa_Q.jpg?quality=95&amp;as=32x37,48x56,72x84,108x126,160x187,240x281,341x399&amp;from=bu&amp;u=B_Mq5SSB6IvL4lQjgIrzkxpsyIsi7LvTJ5YhzFQ3PFE&amp;cs=341x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3763296"/>
            <a:ext cx="2514600" cy="29423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Обобщение выбросов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057400"/>
            <a:ext cx="8363195" cy="3269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Методы борьбы: 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L1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– регуляризация</a:t>
            </a:r>
          </a:p>
          <a:p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2 – регуляризация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Дропаут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2971800"/>
            <a:ext cx="3631242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L1-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регуляризация (</a:t>
            </a:r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Lasso)</a:t>
            </a:r>
            <a:b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</a:b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5562600"/>
          </a:xfrm>
        </p:spPr>
        <p:txBody>
          <a:bodyPr>
            <a:normAutofit/>
          </a:bodyPr>
          <a:lstStyle/>
          <a:p>
            <a:r>
              <a:rPr lang="ru-RU" sz="2400" b="1" dirty="0" smtClean="0">
                <a:latin typeface="Cascadia Code ExtraLight" pitchFamily="49" charset="0"/>
                <a:cs typeface="Cascadia Code ExtraLight" pitchFamily="49" charset="0"/>
              </a:rPr>
              <a:t>Идея:</a:t>
            </a:r>
            <a:r>
              <a:rPr lang="ru-RU" sz="2400" dirty="0" smtClean="0">
                <a:latin typeface="Cascadia Code ExtraLight" pitchFamily="49" charset="0"/>
                <a:cs typeface="Cascadia Code ExtraLight" pitchFamily="49" charset="0"/>
              </a:rPr>
              <a:t> добавить к функции потерь штраф за </a:t>
            </a:r>
            <a:r>
              <a:rPr lang="ru-RU" sz="2400" b="1" dirty="0" smtClean="0">
                <a:latin typeface="Cascadia Code ExtraLight" pitchFamily="49" charset="0"/>
                <a:cs typeface="Cascadia Code ExtraLight" pitchFamily="49" charset="0"/>
              </a:rPr>
              <a:t>сумму абсолютных значений весов</a:t>
            </a:r>
            <a:r>
              <a:rPr lang="ru-RU" sz="2400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  <a:endParaRPr lang="en-US" sz="24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en-US" sz="24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en-US" sz="24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sz="2400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sz="2400" i="1" dirty="0" err="1" smtClean="0">
                <a:latin typeface="Cascadia Code ExtraLight" pitchFamily="49" charset="0"/>
                <a:cs typeface="Cascadia Code ExtraLight" pitchFamily="49" charset="0"/>
              </a:rPr>
              <a:t>λ</a:t>
            </a:r>
            <a:r>
              <a:rPr lang="ru-RU" sz="2400" dirty="0" err="1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sz="2400" dirty="0" smtClean="0">
                <a:latin typeface="Cascadia Code ExtraLight" pitchFamily="49" charset="0"/>
                <a:cs typeface="Cascadia Code ExtraLight" pitchFamily="49" charset="0"/>
              </a:rPr>
              <a:t>— сила регуляризации (например, 0.001).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2057400"/>
            <a:ext cx="388824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2600" y="3886200"/>
            <a:ext cx="2571750" cy="280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L2-регуляризация (</a:t>
            </a:r>
            <a:r>
              <a:rPr lang="ru-RU" b="1" dirty="0" err="1" smtClean="0">
                <a:latin typeface="Cascadia Code ExtraLight" pitchFamily="49" charset="0"/>
                <a:cs typeface="Cascadia Code ExtraLight" pitchFamily="49" charset="0"/>
              </a:rPr>
              <a:t>Ridge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Идея: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добавить к функции потерь штраф за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сумму квадратов весов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pPr>
              <a:buNone/>
            </a:pP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2362200"/>
            <a:ext cx="3865529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14800" y="3581400"/>
            <a:ext cx="4183063" cy="272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Dropout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Идея: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на каждом шаге обучения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случайно отключать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долю нейронов слоя.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Например,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Dropout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(0.4) — 40% нейронов случайно «выключаются» на каждом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батче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</a:t>
            </a:r>
          </a:p>
          <a:p>
            <a:endParaRPr lang="en-US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Что происходит: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Сеть не может полагаться на конкретный нейрон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На этапе предсказания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Dropout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отключён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(все нейроны работают)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Почему помогает: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Уменьшает совместную адаптацию нейронов (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co-adaptation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Куда ставить: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После слоя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Dense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или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свёрточного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слоя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Не ставить перед выходным слоем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Метрики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600201"/>
            <a:ext cx="8153400" cy="1981199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Метрики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то, по чему мы, люди, оцениваем качество модели. Они могут быть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недифференцируемыми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(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accuracy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F1), и их может быть несколько.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Одной метрики почти никогда не достаточно: у каждой есть свои слепые зоны.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429000"/>
            <a:ext cx="4464050" cy="3188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Accuracy (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Точность)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Доля правильных ответов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Плюсы: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Простая и интуитивная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Работает, когда классы сбалансированы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Минусы: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Обманывает при дисбалансе классов.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 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accuracy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только как общая ориентировка. Для реальных задач с дисбалансом нужны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precision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recall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F1.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2133600"/>
            <a:ext cx="4821237" cy="993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Confusion matrix (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матрица ошибок)</a:t>
            </a:r>
            <a:endParaRPr lang="ru-RU" b="1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Для K классов — таблица K×K: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Строки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истинные классы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Столбцы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предсказанные классы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Диагональ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правильные ответы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Вне диагонали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— ошибки</a:t>
            </a: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TP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(True Positive) —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истина 1, предсказали 1</a:t>
            </a:r>
          </a:p>
          <a:p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TN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(True Negative) —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истина 0, предсказали 0</a:t>
            </a:r>
          </a:p>
          <a:p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FP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(False Positive) —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истина 0, предсказали 1 (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ложная тревога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</a:p>
          <a:p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FN</a:t>
            </a:r>
            <a:r>
              <a:rPr lang="en-US" dirty="0" smtClean="0">
                <a:latin typeface="Cascadia Code ExtraLight" pitchFamily="49" charset="0"/>
                <a:cs typeface="Cascadia Code ExtraLight" pitchFamily="49" charset="0"/>
              </a:rPr>
              <a:t> (False Negative) — 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истина 1, предсказали 0 (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пропуск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)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352800"/>
            <a:ext cx="4305300" cy="112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52400"/>
            <a:ext cx="6248400" cy="640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Precision (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точность)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76600" y="1524000"/>
            <a:ext cx="5410200" cy="4602163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Смысл: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из всех объектов, которых модель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назвала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положительными, сколько действительно положительные?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Когда важна: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Ложное срабатывание дорого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Спам-фильтр: лучше пропустить спам, чем пометить важное письмо как спам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Поиск: если мы пометили объект как «релевантный», он должен быть релевантным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2590800"/>
            <a:ext cx="307657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2286000"/>
            <a:ext cx="3117289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 Recall (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полнота, чувствительность)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1600200"/>
            <a:ext cx="4419600" cy="4876800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Смысл: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из всех реальных положительных объектов сколько модель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нашла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?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Когда важен: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Пропуск дорог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Диагностика болезни: лучше лишний раз проверить здорового, чем пропустить больного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Поиск дефектов на производстве: пропустить брак — катастрофа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438400"/>
            <a:ext cx="2935111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2133600"/>
            <a:ext cx="3668713" cy="3744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Precision </a:t>
            </a:r>
            <a:r>
              <a:rPr lang="en-US" b="1" dirty="0" err="1" smtClean="0">
                <a:latin typeface="Cascadia Code ExtraLight" pitchFamily="49" charset="0"/>
                <a:cs typeface="Cascadia Code ExtraLight" pitchFamily="49" charset="0"/>
              </a:rPr>
              <a:t>vs</a:t>
            </a:r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 Recall: </a:t>
            </a:r>
            <a:r>
              <a:rPr lang="en-US" b="1" dirty="0" err="1" smtClean="0">
                <a:latin typeface="Cascadia Code ExtraLight" pitchFamily="49" charset="0"/>
                <a:cs typeface="Cascadia Code ExtraLight" pitchFamily="49" charset="0"/>
              </a:rPr>
              <a:t>конфликт</a:t>
            </a:r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/>
            </a:r>
            <a:b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</a:b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4572000"/>
            <a:ext cx="8305800" cy="1554163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Что важнее — зависит от задачи:</a:t>
            </a: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Рак: важнее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recall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(не пропустить больного)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Спам: важнее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precision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(не потерять важное письмо)</a:t>
            </a:r>
          </a:p>
          <a:p>
            <a:pPr>
              <a:buNone/>
            </a:pP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/>
            </a:r>
            <a:br>
              <a:rPr lang="ru-RU" dirty="0" smtClean="0">
                <a:latin typeface="Cascadia Code ExtraLight" pitchFamily="49" charset="0"/>
                <a:cs typeface="Cascadia Code ExtraLight" pitchFamily="49" charset="0"/>
              </a:rPr>
            </a:b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828800"/>
            <a:ext cx="7964488" cy="2071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Решение: </a:t>
            </a:r>
            <a:r>
              <a:rPr lang="en-US" b="1" dirty="0" smtClean="0">
                <a:latin typeface="Cascadia Code ExtraLight" pitchFamily="49" charset="0"/>
                <a:cs typeface="Cascadia Code ExtraLight" pitchFamily="49" charset="0"/>
              </a:rPr>
              <a:t> F1-score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86200" y="1600200"/>
            <a:ext cx="4800600" cy="4724399"/>
          </a:xfrm>
        </p:spPr>
        <p:txBody>
          <a:bodyPr>
            <a:normAutofit fontScale="55000" lnSpcReduction="20000"/>
          </a:bodyPr>
          <a:lstStyle/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Почему гармоническое, а не арифметическое среднее?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/>
            </a:r>
            <a:br>
              <a:rPr lang="ru-RU" dirty="0" smtClean="0">
                <a:latin typeface="Cascadia Code ExtraLight" pitchFamily="49" charset="0"/>
                <a:cs typeface="Cascadia Code ExtraLight" pitchFamily="49" charset="0"/>
              </a:rPr>
            </a:b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Гармоническое сильно «наказывает» за низкие значения. Если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precision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= 1.0,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recall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= 0.0, то: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Арифметическое среднее = 0.5 (обманчиво хорошо)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Гармоническое = 0.0 (правильно — модель бесполезна)</a:t>
            </a:r>
          </a:p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F1 = 1.0 → идеально. F1 = 0.0 → модель полностью провалилась.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Когда использовать: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когда нужен баланс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precision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и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recall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,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и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классы важны одинаково.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447800"/>
            <a:ext cx="349567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057400"/>
            <a:ext cx="380652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Для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многоклассовой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задачи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Для </a:t>
            </a:r>
            <a:r>
              <a:rPr lang="ru-RU" i="1" dirty="0" smtClean="0">
                <a:latin typeface="Cascadia Code ExtraLight" pitchFamily="49" charset="0"/>
                <a:cs typeface="Cascadia Code ExtraLight" pitchFamily="49" charset="0"/>
              </a:rPr>
              <a:t>K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классов мы считаем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precision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/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recall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/F1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по каждому классу отдельно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. Но нужна одна итоговая цифра. </a:t>
            </a:r>
          </a:p>
          <a:p>
            <a:r>
              <a:rPr lang="ru-RU" b="1" dirty="0" err="1" smtClean="0">
                <a:latin typeface="Cascadia Code ExtraLight" pitchFamily="49" charset="0"/>
                <a:cs typeface="Cascadia Code ExtraLight" pitchFamily="49" charset="0"/>
              </a:rPr>
              <a:t>Macro</a:t>
            </a:r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pPr>
              <a:buNone/>
            </a:pPr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pPr>
              <a:buNone/>
            </a:pP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Считаем метрику для каждого класса, затем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простое среднее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:</a:t>
            </a: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dirty="0" smtClean="0">
              <a:latin typeface="Cascadia Code ExtraLight" pitchFamily="49" charset="0"/>
              <a:cs typeface="Cascadia Code ExtraLight" pitchFamily="49" charset="0"/>
            </a:endParaRPr>
          </a:p>
          <a:p>
            <a:pPr>
              <a:buNone/>
            </a:pP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​</a:t>
            </a: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endParaRPr lang="ru-RU" b="1" dirty="0" smtClean="0">
              <a:latin typeface="Cascadia Code ExtraLight" pitchFamily="49" charset="0"/>
              <a:cs typeface="Cascadia Code ExtraLight" pitchFamily="49" charset="0"/>
            </a:endParaRP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Свойство: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все классы равны, независимо от размера.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Когда использовать: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когда важен 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каждый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класс, даже редкий. Например, классификация редких заболеваний.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Минус: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если один класс совсем плохо предсказывается,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macro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сильно падает.</a:t>
            </a:r>
          </a:p>
          <a:p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3048000"/>
            <a:ext cx="52993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Задача </a:t>
            </a:r>
            <a:r>
              <a:rPr lang="ru-RU" dirty="0" err="1" smtClean="0">
                <a:latin typeface="Cascadia Code ExtraLight" pitchFamily="49" charset="0"/>
                <a:cs typeface="Cascadia Code ExtraLight" pitchFamily="49" charset="0"/>
              </a:rPr>
              <a:t>многоклассовой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классификации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Распознавание рукописных цифр</a:t>
            </a:r>
          </a:p>
          <a:p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Дано: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изображение 28×28 пикселей, чёрно-белое (один канал).</a:t>
            </a:r>
            <a:br>
              <a:rPr lang="ru-RU" dirty="0" smtClean="0">
                <a:latin typeface="Cascadia Code ExtraLight" pitchFamily="49" charset="0"/>
                <a:cs typeface="Cascadia Code ExtraLight" pitchFamily="49" charset="0"/>
              </a:rPr>
            </a:b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Надо: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определить, какая цифра на нём написана (0–9).</a:t>
            </a:r>
            <a:br>
              <a:rPr lang="ru-RU" dirty="0" smtClean="0">
                <a:latin typeface="Cascadia Code ExtraLight" pitchFamily="49" charset="0"/>
                <a:cs typeface="Cascadia Code ExtraLight" pitchFamily="49" charset="0"/>
              </a:rPr>
            </a:b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Классов: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10.</a:t>
            </a:r>
            <a:br>
              <a:rPr lang="ru-RU" dirty="0" smtClean="0">
                <a:latin typeface="Cascadia Code ExtraLight" pitchFamily="49" charset="0"/>
                <a:cs typeface="Cascadia Code ExtraLight" pitchFamily="49" charset="0"/>
              </a:rPr>
            </a:br>
            <a:r>
              <a:rPr lang="ru-RU" b="1" dirty="0" err="1" smtClean="0">
                <a:latin typeface="Cascadia Code ExtraLight" pitchFamily="49" charset="0"/>
                <a:cs typeface="Cascadia Code ExtraLight" pitchFamily="49" charset="0"/>
              </a:rPr>
              <a:t>Train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60 000 изображений. </a:t>
            </a:r>
            <a:r>
              <a:rPr lang="ru-RU" b="1" dirty="0" err="1" smtClean="0">
                <a:latin typeface="Cascadia Code ExtraLight" pitchFamily="49" charset="0"/>
                <a:cs typeface="Cascadia Code ExtraLight" pitchFamily="49" charset="0"/>
              </a:rPr>
              <a:t>Test</a:t>
            </a:r>
            <a:r>
              <a:rPr lang="ru-RU" b="1" dirty="0" smtClean="0">
                <a:latin typeface="Cascadia Code ExtraLight" pitchFamily="49" charset="0"/>
                <a:cs typeface="Cascadia Code ExtraLight" pitchFamily="49" charset="0"/>
              </a:rPr>
              <a:t>:</a:t>
            </a:r>
            <a:r>
              <a:rPr lang="ru-RU" dirty="0" smtClean="0">
                <a:latin typeface="Cascadia Code ExtraLight" pitchFamily="49" charset="0"/>
                <a:cs typeface="Cascadia Code ExtraLight" pitchFamily="49" charset="0"/>
              </a:rPr>
              <a:t> 10 000.</a:t>
            </a:r>
            <a:endParaRPr lang="ru-RU" dirty="0">
              <a:latin typeface="Cascadia Code ExtraLight" pitchFamily="49" charset="0"/>
              <a:cs typeface="Cascadia Code Extra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Кодим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!)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50" name="AutoShape 2" descr="blob:https://web.telegram.org/b3564d3d-f591-4762-8ec4-ff1a46173c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00200"/>
            <a:ext cx="607006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304800"/>
            <a:ext cx="632362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Для любопытных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447800"/>
            <a:ext cx="7753350" cy="568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1. Загрузка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4267200"/>
            <a:ext cx="8077200" cy="1858963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Загружаем </a:t>
            </a:r>
            <a:r>
              <a:rPr lang="ru-RU" dirty="0" err="1" smtClean="0"/>
              <a:t>датасет</a:t>
            </a:r>
            <a:r>
              <a:rPr lang="ru-RU" dirty="0" smtClean="0"/>
              <a:t> из фотографий 28*28 пикселей и делим его сразу (он поделен предварительно) на тренировочную и тестовую выборку и ответы к ним</a:t>
            </a:r>
            <a:endParaRPr lang="ru-RU" dirty="0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9857" y="1524000"/>
            <a:ext cx="8654143" cy="2189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 Подготовка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105400" y="1447800"/>
            <a:ext cx="3581400" cy="46783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 cstate="print"/>
          <a:srcRect l="7692" b="59334"/>
          <a:stretch>
            <a:fillRect/>
          </a:stretch>
        </p:blipFill>
        <p:spPr bwMode="auto">
          <a:xfrm>
            <a:off x="914400" y="1447800"/>
            <a:ext cx="7450667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 Подготовка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105400" y="1447800"/>
            <a:ext cx="3581400" cy="46783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295400"/>
            <a:ext cx="5973763" cy="4739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3. Создание первой (базовой) модели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5334000"/>
            <a:ext cx="8686800" cy="1524000"/>
          </a:xfrm>
        </p:spPr>
        <p:txBody>
          <a:bodyPr>
            <a:normAutofit/>
          </a:bodyPr>
          <a:lstStyle/>
          <a:p>
            <a:r>
              <a:rPr lang="ru-RU" dirty="0" smtClean="0"/>
              <a:t>Архитектура модели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r="-4244" b="60235"/>
          <a:stretch>
            <a:fillRect/>
          </a:stretch>
        </p:blipFill>
        <p:spPr bwMode="auto">
          <a:xfrm>
            <a:off x="533400" y="1752600"/>
            <a:ext cx="80341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3. Создание первой (базовой) модели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l="2856" t="37822" b="-858"/>
          <a:stretch>
            <a:fillRect/>
          </a:stretch>
        </p:blipFill>
        <p:spPr bwMode="auto">
          <a:xfrm>
            <a:off x="1295400" y="1676400"/>
            <a:ext cx="7142011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Cascadia Code Light" pitchFamily="49" charset="0"/>
                <a:cs typeface="Cascadia Code Light" pitchFamily="49" charset="0"/>
              </a:rPr>
              <a:t>Анализ графиков </a:t>
            </a:r>
            <a:endParaRPr lang="ru-RU" sz="2800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4038600"/>
            <a:ext cx="3962400" cy="2819400"/>
          </a:xfrm>
        </p:spPr>
        <p:txBody>
          <a:bodyPr>
            <a:normAutofit fontScale="47500" lnSpcReduction="2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Левый график —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(ошибка)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(синяя линия):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стремительно падает и к 10–15 эпохе уходит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почти в ноль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Модель идеально предсказывает тренировочные данные.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(оранжевая линия):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сначала немного падает, но потом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начинает расти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(U-образная кривая). Это классический признак переобучения — модель начинает запоминать шум.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914400"/>
            <a:ext cx="848377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724400" y="4038600"/>
            <a:ext cx="44196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Правый график — </a:t>
            </a:r>
            <a:r>
              <a:rPr lang="ru-RU" sz="1400" b="1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 (точность)</a:t>
            </a:r>
          </a:p>
          <a:p>
            <a:r>
              <a:rPr lang="ru-RU" sz="1400" b="1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400" b="1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 (синяя):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быстро растёт до </a:t>
            </a:r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1.0 (100%)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и остаётся там до конца. Модель выучила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наизусть.</a:t>
            </a:r>
          </a:p>
          <a:p>
            <a:r>
              <a:rPr lang="ru-RU" sz="1400" b="1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400" b="1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 (оранжевая):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растёт до ~0.94, потом </a:t>
            </a:r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застревает на плато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и почти не улучшается. Всплеск вниз на 14-й эпохе совпадает с всплеском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Разрыв (</a:t>
            </a:r>
            <a:r>
              <a:rPr lang="ru-RU" sz="1400" b="1" dirty="0" err="1" smtClean="0">
                <a:latin typeface="Cascadia Code Light" pitchFamily="49" charset="0"/>
                <a:cs typeface="Cascadia Code Light" pitchFamily="49" charset="0"/>
              </a:rPr>
              <a:t>gap</a:t>
            </a:r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):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~</a:t>
            </a:r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5.5%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(1.00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vs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0.945). Огромный разрыв между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и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— прямое доказательство переобучения.</a:t>
            </a:r>
            <a:endParaRPr lang="ru-RU" sz="14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rmAutofit/>
          </a:bodyPr>
          <a:lstStyle/>
          <a:p>
            <a:r>
              <a:rPr lang="ru-RU" sz="3200" dirty="0" smtClean="0">
                <a:latin typeface="Cascadia Code Light" pitchFamily="49" charset="0"/>
                <a:cs typeface="Cascadia Code Light" pitchFamily="49" charset="0"/>
              </a:rPr>
              <a:t>4. </a:t>
            </a:r>
            <a:r>
              <a:rPr lang="ru-RU" sz="3200" dirty="0" smtClean="0">
                <a:latin typeface="Cascadia Code Light" pitchFamily="49" charset="0"/>
                <a:cs typeface="Cascadia Code Light" pitchFamily="49" charset="0"/>
              </a:rPr>
              <a:t>Анализ результатов. </a:t>
            </a:r>
            <a:r>
              <a:rPr lang="ru-RU" sz="3200" dirty="0" smtClean="0">
                <a:latin typeface="Cascadia Code Light" pitchFamily="49" charset="0"/>
                <a:cs typeface="Cascadia Code Light" pitchFamily="49" charset="0"/>
              </a:rPr>
              <a:t>Оценка метрик</a:t>
            </a:r>
            <a:endParaRPr lang="ru-RU" sz="3200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3200400"/>
            <a:ext cx="8382000" cy="3657600"/>
          </a:xfrm>
        </p:spPr>
        <p:txBody>
          <a:bodyPr>
            <a:noAutofit/>
          </a:bodyPr>
          <a:lstStyle/>
          <a:p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Вызов функции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compute_metrics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, которую мы определили в блоке вспомогательных функций.</a:t>
            </a:r>
          </a:p>
          <a:p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Параметры:</a:t>
            </a:r>
            <a:endParaRPr lang="ru-RU" sz="105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model_base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 — обученная базовая модель.</a:t>
            </a:r>
          </a:p>
          <a:p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x_test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 — тестовые картинки (10 000 штук, которых модель не видела).</a:t>
            </a:r>
          </a:p>
          <a:p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y_test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 — истинные метки (числа 0–9, </a:t>
            </a:r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не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one-hot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).</a:t>
            </a:r>
          </a:p>
          <a:p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"Базовая модель" — имя для печати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ru-RU" sz="105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050" b="1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 = 0.9434</a:t>
            </a:r>
          </a:p>
          <a:p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94.34% правильных ответов на тесте. Из 10 000 картинок модель угадала 9 434.</a:t>
            </a:r>
          </a:p>
          <a:p>
            <a:r>
              <a:rPr lang="ru-RU" sz="1050" b="1" dirty="0" err="1" smtClean="0">
                <a:latin typeface="Cascadia Code Light" pitchFamily="49" charset="0"/>
                <a:cs typeface="Cascadia Code Light" pitchFamily="49" charset="0"/>
              </a:rPr>
              <a:t>Precision</a:t>
            </a:r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050" b="1" dirty="0" err="1" smtClean="0">
                <a:latin typeface="Cascadia Code Light" pitchFamily="49" charset="0"/>
                <a:cs typeface="Cascadia Code Light" pitchFamily="49" charset="0"/>
              </a:rPr>
              <a:t>macro</a:t>
            </a:r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 = 0.9427</a:t>
            </a:r>
          </a:p>
          <a:p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Средняя </a:t>
            </a:r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precision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 по 10 классам (без весов). Из всех объектов, которые модель назвала классом </a:t>
            </a:r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k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, в среднем 94.27% действительно этого класса.</a:t>
            </a:r>
          </a:p>
          <a:p>
            <a:r>
              <a:rPr lang="ru-RU" sz="1050" b="1" dirty="0" err="1" smtClean="0">
                <a:latin typeface="Cascadia Code Light" pitchFamily="49" charset="0"/>
                <a:cs typeface="Cascadia Code Light" pitchFamily="49" charset="0"/>
              </a:rPr>
              <a:t>Recall</a:t>
            </a:r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050" b="1" dirty="0" err="1" smtClean="0">
                <a:latin typeface="Cascadia Code Light" pitchFamily="49" charset="0"/>
                <a:cs typeface="Cascadia Code Light" pitchFamily="49" charset="0"/>
              </a:rPr>
              <a:t>macro</a:t>
            </a:r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 = 0.9427</a:t>
            </a:r>
          </a:p>
          <a:p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Средняя </a:t>
            </a:r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recall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 по 10 классам. Из всех реальных объектов класса </a:t>
            </a:r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k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 модель в среднем нашла 94.27%.</a:t>
            </a:r>
          </a:p>
          <a:p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F1 </a:t>
            </a:r>
            <a:r>
              <a:rPr lang="ru-RU" sz="1050" b="1" dirty="0" err="1" smtClean="0">
                <a:latin typeface="Cascadia Code Light" pitchFamily="49" charset="0"/>
                <a:cs typeface="Cascadia Code Light" pitchFamily="49" charset="0"/>
              </a:rPr>
              <a:t>macro</a:t>
            </a:r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 = 0.9427</a:t>
            </a:r>
          </a:p>
          <a:p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Средний F1 по классам — баланс </a:t>
            </a:r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precision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 и </a:t>
            </a:r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recall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F1 </a:t>
            </a:r>
            <a:r>
              <a:rPr lang="ru-RU" sz="1050" b="1" dirty="0" err="1" smtClean="0">
                <a:latin typeface="Cascadia Code Light" pitchFamily="49" charset="0"/>
                <a:cs typeface="Cascadia Code Light" pitchFamily="49" charset="0"/>
              </a:rPr>
              <a:t>weighted</a:t>
            </a:r>
            <a:r>
              <a:rPr lang="ru-RU" sz="1050" b="1" dirty="0" smtClean="0">
                <a:latin typeface="Cascadia Code Light" pitchFamily="49" charset="0"/>
                <a:cs typeface="Cascadia Code Light" pitchFamily="49" charset="0"/>
              </a:rPr>
              <a:t> = 0.9433</a:t>
            </a:r>
          </a:p>
          <a:p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То же, но с весами по размеру класса. Чуть выше </a:t>
            </a:r>
            <a:r>
              <a:rPr lang="ru-RU" sz="1050" dirty="0" err="1" smtClean="0">
                <a:latin typeface="Cascadia Code Light" pitchFamily="49" charset="0"/>
                <a:cs typeface="Cascadia Code Light" pitchFamily="49" charset="0"/>
              </a:rPr>
              <a:t>macro</a:t>
            </a:r>
            <a:r>
              <a:rPr lang="ru-RU" sz="1050" dirty="0" smtClean="0">
                <a:latin typeface="Cascadia Code Light" pitchFamily="49" charset="0"/>
                <a:cs typeface="Cascadia Code Light" pitchFamily="49" charset="0"/>
              </a:rPr>
              <a:t>, потому что большие классы предсказываются чуть лучше.</a:t>
            </a:r>
          </a:p>
          <a:p>
            <a:endParaRPr lang="ru-RU" sz="1050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sz="105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762000"/>
            <a:ext cx="8245475" cy="2397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Детальный отчет по классам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4572001"/>
            <a:ext cx="8382000" cy="2286000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Вызывает вспомогательную функцию, которая печатает детальный отчёт по метрикам для каждого класса отдельно. Мы передаём: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y_test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истинные метки.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result_base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['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y_pred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'] — предсказания базовой модели, которые мы уже посчитали 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compute_metrics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(не гоняем модель второй раз).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"Базовая модель" — имя для заголовка.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Каждая строка – отдельный класс, последние 3 строки – общие метрики. Каждый столбец – метрика, обсужденная ранее, последний столбец – число образцов в каждом классе.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609600"/>
            <a:ext cx="6683375" cy="3838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Матрица ошибок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762000"/>
            <a:ext cx="5352743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5. Создание регуляризированной модели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24000"/>
            <a:ext cx="9676432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609600"/>
            <a:ext cx="8507413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Cascadia Code Light" pitchFamily="49" charset="0"/>
                <a:cs typeface="Cascadia Code Light" pitchFamily="49" charset="0"/>
              </a:rPr>
              <a:t>Анализ графиков</a:t>
            </a:r>
            <a:endParaRPr lang="ru-RU" sz="3600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4343400"/>
            <a:ext cx="4419600" cy="2514600"/>
          </a:xfrm>
        </p:spPr>
        <p:txBody>
          <a:bodyPr>
            <a:normAutofit fontScale="32500" lnSpcReduction="20000"/>
          </a:bodyPr>
          <a:lstStyle/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(ошибка)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(синяя линия):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начинается с 1.65 —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гораздо выше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чем у базовой модели. Это ожидаемо: L2-штраф 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Dropout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усложняют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обучение. Кривая плавно снижается и к 20-й эпохе достигает ~0.31.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Важно: не уходит в ноль.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Модель не запоминает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(оранжевая линия):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начинается с 1.08, падает параллельно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и стабилизируется на ~0.45–0.50.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Никакого U-образного роста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модель не переобучается.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Разрыв: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~0.31,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~0.46. Разрыв есть, но он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маленький и стабильный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И, что важнее,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не растёт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нет переобучения.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Главное отличие от базовой: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там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→ 0, а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рос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Здесь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держится на ~0.3, а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стоит на месте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Это и есть победа регуляризации.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90599"/>
            <a:ext cx="9144000" cy="318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648200" y="4180344"/>
            <a:ext cx="4495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 (точность)</a:t>
            </a:r>
          </a:p>
          <a:p>
            <a:r>
              <a:rPr lang="ru-RU" sz="1200" b="1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200" b="1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 (синяя):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начинается с 0.74, быстро растёт до ~0.97 и 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останавливается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. Она 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не достигает 1.0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— это ключевой момент. Модель 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не запомнила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200" b="1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200" b="1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 (оранжевая):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начинается с 0.90, растёт до ~0.93–0.94, колеблется в этом диапазоне. Не застревает, как у базовой, а 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продолжает немного улучшаться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Разрыв: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~3–4% (0.97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vs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0.935). Это 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меньше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чем у базовой (~5.5%). Хотя разрыв всё ещё есть, он 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сократился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и, главное, </a:t>
            </a:r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не растёт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Обе кривые идут близко друг к другу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— модель обобщает, а не запоминает.</a:t>
            </a:r>
            <a:endParaRPr lang="ru-RU" sz="12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6. Анализ результатов регуляризированной модели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0" y="1828800"/>
            <a:ext cx="3048000" cy="5029200"/>
          </a:xfrm>
        </p:spPr>
        <p:txBody>
          <a:bodyPr>
            <a:normAutofit/>
          </a:bodyPr>
          <a:lstStyle/>
          <a:p>
            <a:r>
              <a:rPr lang="ru-RU" sz="1100" b="1" dirty="0" smtClean="0">
                <a:latin typeface="Cascadia Code Light" pitchFamily="49" charset="0"/>
                <a:cs typeface="Cascadia Code Light" pitchFamily="49" charset="0"/>
              </a:rPr>
              <a:t>Вывод: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на тесте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регуляризованная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модель </a:t>
            </a:r>
            <a:r>
              <a:rPr lang="ru-RU" sz="1100" b="1" dirty="0" smtClean="0">
                <a:latin typeface="Cascadia Code Light" pitchFamily="49" charset="0"/>
                <a:cs typeface="Cascadia Code Light" pitchFamily="49" charset="0"/>
              </a:rPr>
              <a:t>немного уступает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базовой — примерно на </a:t>
            </a:r>
            <a:r>
              <a:rPr lang="ru-RU" sz="1100" b="1" dirty="0" smtClean="0">
                <a:latin typeface="Cascadia Code Light" pitchFamily="49" charset="0"/>
                <a:cs typeface="Cascadia Code Light" pitchFamily="49" charset="0"/>
              </a:rPr>
              <a:t>0.5%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. Это неожиданно, если 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считать, 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что регуляризация всегда улучшает метрики. Но это </a:t>
            </a:r>
            <a:r>
              <a:rPr lang="ru-RU" sz="1100" b="1" dirty="0" smtClean="0">
                <a:latin typeface="Cascadia Code Light" pitchFamily="49" charset="0"/>
                <a:cs typeface="Cascadia Code Light" pitchFamily="49" charset="0"/>
              </a:rPr>
              <a:t>нормальный результат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для нашей учебной постановки.</a:t>
            </a:r>
          </a:p>
          <a:p>
            <a:r>
              <a:rPr lang="ru-RU" sz="1100" b="1" dirty="0" smtClean="0">
                <a:latin typeface="Cascadia Code Light" pitchFamily="49" charset="0"/>
                <a:cs typeface="Cascadia Code Light" pitchFamily="49" charset="0"/>
              </a:rPr>
              <a:t>Вероятная причина прокола: слишком </a:t>
            </a:r>
            <a:r>
              <a:rPr lang="ru-RU" sz="1100" b="1" dirty="0" smtClean="0">
                <a:latin typeface="Cascadia Code Light" pitchFamily="49" charset="0"/>
                <a:cs typeface="Cascadia Code Light" pitchFamily="49" charset="0"/>
              </a:rPr>
              <a:t>сильная регуляризация для маленькой выборки.</a:t>
            </a:r>
            <a:endParaRPr lang="ru-RU" sz="11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— всего </a:t>
            </a:r>
            <a:r>
              <a:rPr lang="ru-RU" sz="1100" b="1" dirty="0" smtClean="0">
                <a:latin typeface="Cascadia Code Light" pitchFamily="49" charset="0"/>
                <a:cs typeface="Cascadia Code Light" pitchFamily="49" charset="0"/>
              </a:rPr>
              <a:t>3 000 примеров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Dropout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(0.4) + L2(0.001) — </a:t>
            </a:r>
            <a:r>
              <a:rPr lang="ru-RU" sz="1100" b="1" dirty="0" smtClean="0">
                <a:latin typeface="Cascadia Code Light" pitchFamily="49" charset="0"/>
                <a:cs typeface="Cascadia Code Light" pitchFamily="49" charset="0"/>
              </a:rPr>
              <a:t>агрессивные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параметры.</a:t>
            </a:r>
          </a:p>
          <a:p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Модель </a:t>
            </a:r>
            <a:r>
              <a:rPr lang="ru-RU" sz="1100" b="1" dirty="0" smtClean="0">
                <a:latin typeface="Cascadia Code Light" pitchFamily="49" charset="0"/>
                <a:cs typeface="Cascadia Code Light" pitchFamily="49" charset="0"/>
              </a:rPr>
              <a:t>недоучилась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: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упала до ~0.97, но и тест не догнал базовую.</a:t>
            </a:r>
          </a:p>
          <a:p>
            <a:endParaRPr lang="ru-RU" sz="11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Спойлер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: исправлять это мы будем в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дз</a:t>
            </a:r>
            <a:endParaRPr lang="ru-RU" sz="11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47800"/>
            <a:ext cx="5640718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Матрица ошибок 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562600" y="914400"/>
            <a:ext cx="3581400" cy="5943600"/>
          </a:xfrm>
        </p:spPr>
        <p:txBody>
          <a:bodyPr>
            <a:noAutofit/>
          </a:bodyPr>
          <a:lstStyle/>
          <a:p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Регуляризация 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не привела к равномерному улучшению, а перераспределила ошибки: общая точность на тесте немного снизилась (0.9434 → 0.9387), но разрыв между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и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сократился с ~5.2% до ~3%, а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loss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перестал расти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Диагональ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регуляризованной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модели чуть бледнее: особенно пострадали классы 8 (887 → 852), 7 (967 → 946) и 4 (929 → 912), зато классы 5 (828 → 843) и 3 (940 → 946) немного улучшились. </a:t>
            </a:r>
            <a:endParaRPr lang="ru-RU" sz="11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Ошибки 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перераспределились: путаница 4→9 выросла с 27 до 42, 8→5 — с 18 до 33, 7→9 — с 21 до 32, а 9→4, 2→8, 9→7 и 6→4, наоборот, уменьшились. </a:t>
            </a:r>
            <a:endParaRPr lang="ru-RU" sz="1100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sz="11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Главный 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вывод: цель регуляризации — не рост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, а улучшение обобщения; на маленькой выборке (3 000 примеров) слишком сильные L2 и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Dropout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(0.001 и 0.4) слегка недоучили модель, поэтому абсолютные метрики просели, но переобучение уменьшилось. Чтобы выиграть и в точности, и в обобщении, нужно ослабить регуляризацию или увеличить данные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. (Это подсказка к 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дз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))</a:t>
            </a:r>
            <a:endParaRPr lang="ru-RU" sz="11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r="10708"/>
          <a:stretch>
            <a:fillRect/>
          </a:stretch>
        </p:blipFill>
        <p:spPr bwMode="auto">
          <a:xfrm>
            <a:off x="381000" y="990600"/>
            <a:ext cx="4953000" cy="5632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r>
              <a:rPr lang="ru-RU" sz="3200" dirty="0" smtClean="0">
                <a:latin typeface="Cascadia Code Light" pitchFamily="49" charset="0"/>
                <a:cs typeface="Cascadia Code Light" pitchFamily="49" charset="0"/>
              </a:rPr>
              <a:t>7. Сравнение метрик</a:t>
            </a:r>
            <a:endParaRPr lang="ru-RU" sz="3200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4267200"/>
            <a:ext cx="9144000" cy="2590800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Код в этом блоке автоматически сравнивает пять метрик 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precision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recall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F1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macro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и F1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weighted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 для базовой 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регуляризованной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модели, выводя их в виде таблицы с колонкой Δ — разницей между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регуляризованной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и базовой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Делается это через цикл по списку метрик, извлекая значения из словарей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result_base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result_reg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вычисляя разницу и форматируя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вывод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Результат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показывает, что все метрики немного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снизились. То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есть регуляризация не улучшила абсолютные значения, а слегка их ухудшила. Почему так: на маленькой выборке (3 000 примеров) слишком сильные L2 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Dropout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привели к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недообучению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модель стала проще, переобучение уменьшилось (разрыв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train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/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val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сократился), но пиковая точность на тесте чуть просела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Вывод: цель регуляризации — не максимизация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accuracy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, а улучшение обобщения; на этой задаче выигрыш в устойчивости достигнут ценой небольшой потери в абсолютных метриках.</a:t>
            </a:r>
            <a:endParaRPr lang="ru-RU" b="1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838200"/>
            <a:ext cx="564497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4114800"/>
            <a:ext cx="8458200" cy="1371600"/>
          </a:xfrm>
        </p:spPr>
        <p:txBody>
          <a:bodyPr>
            <a:noAutofit/>
          </a:bodyPr>
          <a:lstStyle/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Визуально 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показать разницу между метриками базовой и </a:t>
            </a:r>
            <a:r>
              <a:rPr lang="ru-RU" sz="2400" dirty="0" err="1" smtClean="0">
                <a:latin typeface="Cascadia Code Light" pitchFamily="49" charset="0"/>
                <a:cs typeface="Cascadia Code Light" pitchFamily="49" charset="0"/>
              </a:rPr>
              <a:t>регуляризованной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 модели. Цифры в таблице — это хорошо, но столбчатая диаграмма нагляднее: сразу видно, что все метрики </a:t>
            </a:r>
            <a:r>
              <a:rPr lang="ru-RU" sz="2400" dirty="0" err="1" smtClean="0">
                <a:latin typeface="Cascadia Code Light" pitchFamily="49" charset="0"/>
                <a:cs typeface="Cascadia Code Light" pitchFamily="49" charset="0"/>
              </a:rPr>
              <a:t>регуляризованной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 модели чуть ниже, но очень близко к базовой.</a:t>
            </a:r>
            <a:endParaRPr lang="ru-RU" sz="2400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2400"/>
            <a:ext cx="9109076" cy="3961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Сравнение кривых обучения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05000"/>
            <a:ext cx="9337676" cy="31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533400"/>
            <a:ext cx="7924800" cy="6000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ДЗ)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524000"/>
            <a:ext cx="3352800" cy="57150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1) В задаче на бинарную классификацию отзывов из ДЗ2 проведите оценку метрик на тестовой выборке. Постарайтесь изменить архитектуру модели, добавить борьбу с переобучением, чтобы показатели метрик стали выше. Попробуйте добиться максимально хорошего результата на тестовой выборке</a:t>
            </a:r>
          </a:p>
          <a:p>
            <a:r>
              <a:rPr lang="ru-RU" dirty="0" smtClean="0"/>
              <a:t>2) Оптимизируйте задачу из класса для распознавания рукописных чисел(измените архитектуру, добавьте регуляризацию, </a:t>
            </a:r>
            <a:r>
              <a:rPr lang="ru-RU" dirty="0" err="1" smtClean="0"/>
              <a:t>дропауты</a:t>
            </a:r>
            <a:r>
              <a:rPr lang="ru-RU" dirty="0" smtClean="0"/>
              <a:t>). Постарайтесь достичь результата для </a:t>
            </a:r>
            <a:r>
              <a:rPr lang="en-US" dirty="0" smtClean="0"/>
              <a:t>F1macro &gt;= 9</a:t>
            </a:r>
            <a:r>
              <a:rPr lang="ru-RU" dirty="0" smtClean="0"/>
              <a:t>7</a:t>
            </a:r>
            <a:r>
              <a:rPr lang="en-US" dirty="0" smtClean="0"/>
              <a:t>%</a:t>
            </a:r>
            <a:r>
              <a:rPr lang="ru-RU" dirty="0" smtClean="0"/>
              <a:t>. Чем выше, тем лучше)</a:t>
            </a:r>
            <a:endParaRPr lang="ru-RU" dirty="0"/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600200"/>
            <a:ext cx="4813300" cy="4896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609600"/>
            <a:ext cx="8459788" cy="5820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2332</TotalTime>
  <Words>6622</Words>
  <Application>Microsoft Office PowerPoint</Application>
  <PresentationFormat>Экран (4:3)</PresentationFormat>
  <Paragraphs>670</Paragraphs>
  <Slides>45</Slides>
  <Notes>29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46" baseType="lpstr">
      <vt:lpstr>Office Theme</vt:lpstr>
      <vt:lpstr>Занятие 3.  Переобучение и регуляризация Распознавание рукописных цифр  </vt:lpstr>
      <vt:lpstr>План занятия</vt:lpstr>
      <vt:lpstr>Переобучение</vt:lpstr>
      <vt:lpstr>Слайд 4</vt:lpstr>
      <vt:lpstr>Поведение модели при переобучении</vt:lpstr>
      <vt:lpstr>Пример зашумленных данных</vt:lpstr>
      <vt:lpstr>Пример ошибочных обучающих данных</vt:lpstr>
      <vt:lpstr>Обобщение выбросов</vt:lpstr>
      <vt:lpstr>Методы борьбы: </vt:lpstr>
      <vt:lpstr>L1-регуляризация (Lasso) </vt:lpstr>
      <vt:lpstr>L2-регуляризация (Ridge)</vt:lpstr>
      <vt:lpstr>Dropout</vt:lpstr>
      <vt:lpstr>Метрики</vt:lpstr>
      <vt:lpstr>Accuracy (Точность)</vt:lpstr>
      <vt:lpstr>Confusion matrix (матрица ошибок)</vt:lpstr>
      <vt:lpstr>Слайд 16</vt:lpstr>
      <vt:lpstr>Precision (точность)</vt:lpstr>
      <vt:lpstr> Recall (полнота, чувствительность)</vt:lpstr>
      <vt:lpstr>Precision vs Recall: конфликт </vt:lpstr>
      <vt:lpstr>Решение:  F1-score</vt:lpstr>
      <vt:lpstr>Для многоклассовой задачи</vt:lpstr>
      <vt:lpstr>Задача многоклассовой классификации</vt:lpstr>
      <vt:lpstr>Кодим!)</vt:lpstr>
      <vt:lpstr>Слайд 24</vt:lpstr>
      <vt:lpstr>Для любопытных</vt:lpstr>
      <vt:lpstr>1. Загрузка данных</vt:lpstr>
      <vt:lpstr>2. Подготовка данных</vt:lpstr>
      <vt:lpstr>2. Подготовка данных</vt:lpstr>
      <vt:lpstr>3. Создание первой (базовой) модели</vt:lpstr>
      <vt:lpstr>3. Создание первой (базовой) модели</vt:lpstr>
      <vt:lpstr>Анализ графиков </vt:lpstr>
      <vt:lpstr>4. Анализ результатов. Оценка метрик</vt:lpstr>
      <vt:lpstr>Детальный отчет по классам</vt:lpstr>
      <vt:lpstr>Матрица ошибок</vt:lpstr>
      <vt:lpstr>5. Создание регуляризированной модели</vt:lpstr>
      <vt:lpstr>Слайд 36</vt:lpstr>
      <vt:lpstr>Анализ графиков</vt:lpstr>
      <vt:lpstr>6. Анализ результатов регуляризированной модели</vt:lpstr>
      <vt:lpstr>Матрица ошибок </vt:lpstr>
      <vt:lpstr>7. Сравнение метрик</vt:lpstr>
      <vt:lpstr>Слайд 41</vt:lpstr>
      <vt:lpstr>Сравнение кривых обучения </vt:lpstr>
      <vt:lpstr>Слайд 43</vt:lpstr>
      <vt:lpstr>ДЗ)</vt:lpstr>
      <vt:lpstr>Слайд 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3.  Переобучение и регуляризация Распознавание рукописных цифр</dc:title>
  <dc:creator>Вера Пономаренко</dc:creator>
  <cp:lastModifiedBy>Вера Пономаренко</cp:lastModifiedBy>
  <cp:revision>54</cp:revision>
  <dcterms:created xsi:type="dcterms:W3CDTF">2026-10-04T13:59:13Z</dcterms:created>
  <dcterms:modified xsi:type="dcterms:W3CDTF">2026-10-10T19:11:48Z</dcterms:modified>
</cp:coreProperties>
</file>
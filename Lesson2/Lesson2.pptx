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80" r:id="rId9"/>
    <p:sldId id="278" r:id="rId10"/>
    <p:sldId id="279" r:id="rId11"/>
    <p:sldId id="273" r:id="rId12"/>
    <p:sldId id="274" r:id="rId13"/>
    <p:sldId id="281" r:id="rId14"/>
    <p:sldId id="282" r:id="rId15"/>
    <p:sldId id="275" r:id="rId16"/>
    <p:sldId id="284" r:id="rId17"/>
    <p:sldId id="283" r:id="rId18"/>
    <p:sldId id="276" r:id="rId19"/>
    <p:sldId id="277" r:id="rId20"/>
    <p:sldId id="285" r:id="rId21"/>
    <p:sldId id="287" r:id="rId22"/>
    <p:sldId id="263" r:id="rId23"/>
    <p:sldId id="286" r:id="rId24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76" y="-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1295400"/>
            <a:ext cx="8077200" cy="1600199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2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Основы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основ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Посвящение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в </a:t>
            </a: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>ML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b="1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953000" y="5334000"/>
            <a:ext cx="4191000" cy="15240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2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24578" name="Picture 2" descr="https://sun9-68.vkuserphoto.ru/s/v1/ig2/XqN5CgQlP5rHz6TeLnS-ziHG9NIr-ONppcLfbfkted78sxneCsTH-x15S1ukMhrJ4gHPC3C7R5SBjQa5ASZIwmCL.jpg?quality=95&amp;as=32x32,48x48,72x72,108x107,160x159,240x239,360x358,480x477,540x537,640x637,720x716,735x731&amp;from=bu&amp;u=oPdBnw-I1bTVoWfsVLu4mxdoaxX7OdDyYUbqeQ63AsA&amp;cs=735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590800"/>
            <a:ext cx="3830848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Орг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момент. Опрос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Прямо здесь, прямо сейчас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занятия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7162800" cy="2362199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1.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Датасет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 признаки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2.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Нейросеть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 слои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3. Функция потерь и градиентный спуск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4. Регрессия </a:t>
            </a:r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vs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классификация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5.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California Housing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22530" name="Picture 2" descr="https://sun9-74.vkuserphoto.ru/s/v1/ig2/3HTopDgdh8C1Ukew1dO9uXyEC7LA8ulbrdDQKu1jMCqFvsaETl4FZh19fTk4OYxbEZPfCwp_EiAJhMUEqwWoevWG.jpg?quality=95&amp;as=32x32,48x48,72x72,108x108,160x160,240x240,360x360,480x480,540x540,640x640,720x720,736x736&amp;from=bu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3581400"/>
            <a:ext cx="4038600" cy="40386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Датасет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 все вытекающее 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295400"/>
            <a:ext cx="6193941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4800600"/>
            <a:ext cx="5778500" cy="1693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Нейросеть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 слои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800600"/>
            <a:ext cx="8305800" cy="1401763"/>
          </a:xfrm>
        </p:spPr>
        <p:txBody>
          <a:bodyPr>
            <a:noAutofit/>
          </a:bodyPr>
          <a:lstStyle/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Слой — набор нейронов, обрабатывающих вход и передающих выход дальше. </a:t>
            </a:r>
          </a:p>
          <a:p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Dense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–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полносвязный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слой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Скрытые слои + нелинейная активация → сложные закономерности;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Глубина → более абстрактные, сложные признаки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Важно: без нелинейности вся сеть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схлопнется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в одну линейную функцию.</a:t>
            </a:r>
          </a:p>
          <a:p>
            <a:endParaRPr lang="ru-RU" sz="1600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5" name="Picture 2" descr="https://sun9-14.userapi.com/s/v1/ig2/tVHu_ddbW-sfGbCa0SAr8-pdNeRI8a5ehmypVxRFq0GPWU879PX3vy24FywLgrLYz6OFuh9mUS1C7pfTWnh0awAk.jpg?quality=95&amp;as=32x22,48x32,72x49,108x73,160x108,240x162,360x244,480x325,540x365,640x433,720x487,1080x731,1280x866,1440x974,1933x1308&amp;from=bu&amp;u=Qib1uoRtiy12xjpY_n6F2dXJSF_zcQOFugKzu1HudhU&amp;cs=1933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219200"/>
            <a:ext cx="4954862" cy="33527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52400"/>
            <a:ext cx="8991600" cy="914400"/>
          </a:xfrm>
        </p:spPr>
        <p:txBody>
          <a:bodyPr>
            <a:noAutofit/>
          </a:bodyPr>
          <a:lstStyle/>
          <a:p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Рассмотрим менее страшное более подробно </a:t>
            </a:r>
            <a:endParaRPr lang="ru-RU" sz="28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066800"/>
            <a:ext cx="4757389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5334000"/>
            <a:ext cx="4733291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 descr="https://sun9-38.vkuserphoto.ru/s/v1/ig2/yXxAqs872LcqVyX-0JZLVNw9LVOoSEM_cfWpZHIR9WAsA9vhYBePOIzDHmO9OzvQx7ppNM4Fjsqx7561PHBbbubC.jpg?quality=95&amp;as=32x36,48x55,72x82,108x123,160x182,240x274,360x410,480x547,540x616,640x730,720x821,735x838&amp;from=bu&amp;cs=735x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1219200"/>
            <a:ext cx="3498545" cy="398881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Функция потерь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3992563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Регрессия: 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MS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E – (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Mean Squared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Error,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средняя квадратичная ошибка)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3124200"/>
            <a:ext cx="3260214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 descr="https://sun9-19.vkuserphoto.ru/s/v1/ig2/bhYdtXaxcRy7lOUbDUKcXmaaZ1fPvY36bQkFPfITnJiofnVcEeH-DXD6iqbM6eaovlv37Mi8hPR5wW6uiKXaYJ6e.jpg?quality=95&amp;as=32x27,48x41,72x62,108x92,160x137,240x205,360x308,480x411,540x462,563x482&amp;from=bu&amp;u=G9L2vYDSu1nKo8hY--rPeY-QvySz1AYvTPSa0ibP8gk&amp;cs=563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3124200"/>
            <a:ext cx="3738226" cy="320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MAE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(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Mean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Absolute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Error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, средняя абсолютная ошибка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)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MAE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не усиливает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большие ошибки. Ошибка 10 даёт вклад 10, а не 100. Это значит: модель не будет «паниковать» из-за выбросов.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4953000"/>
            <a:ext cx="4143375" cy="1397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609601"/>
            <a:ext cx="8153400" cy="2514600"/>
          </a:xfrm>
        </p:spPr>
        <p:txBody>
          <a:bodyPr>
            <a:normAutofit/>
          </a:bodyPr>
          <a:lstStyle/>
          <a:p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Классификация: </a:t>
            </a:r>
            <a:r>
              <a:rPr lang="ru-RU" sz="2800" dirty="0" err="1" smtClean="0">
                <a:latin typeface="Cascadia Code SemiLight" pitchFamily="49" charset="0"/>
                <a:cs typeface="Cascadia Code SemiLight" pitchFamily="49" charset="0"/>
              </a:rPr>
              <a:t>cross-entropy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- перекрёстной энтропии</a:t>
            </a:r>
            <a:endParaRPr lang="ru-RU" sz="2800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5355193"/>
            <a:ext cx="65" cy="414814"/>
          </a:xfrm>
          <a:prstGeom prst="rect">
            <a:avLst/>
          </a:prstGeom>
          <a:solidFill>
            <a:srgbClr val="EBEEF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68241" rIns="0" bIns="6824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28600" y="3352800"/>
            <a:ext cx="88392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Ключевая идея: формула состоит из двух частей, и в каждой конкретной ситуации работает только одна:</a:t>
            </a:r>
          </a:p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Если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yᵢ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= 1, то (1 -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yᵢ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) = 0, и вторая часть обнуляется. Остаётся -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log(ŷᵢ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).</a:t>
            </a:r>
          </a:p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Если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yᵢ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= 0, то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yᵢ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= 0, и первая часть обнуляется. Остаётся -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log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(1 -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ŷᵢ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).</a:t>
            </a:r>
          </a:p>
          <a:p>
            <a:endParaRPr lang="ru-RU" sz="1600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Почему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log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?</a:t>
            </a:r>
          </a:p>
          <a:p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log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— это функция, которая:</a:t>
            </a:r>
          </a:p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при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= 1 даёт 0 (идеальное предсказание → нулевой штраф);</a:t>
            </a:r>
          </a:p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при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→ 0 уходит в -∞ (уверенно неправильное предсказание → огромный штраф).</a:t>
            </a:r>
          </a:p>
          <a:p>
            <a:endParaRPr lang="ru-RU" sz="1200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752600"/>
            <a:ext cx="5411788" cy="1366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Градиентный спуск. Смысл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447800"/>
            <a:ext cx="7620000" cy="2316163"/>
          </a:xfrm>
        </p:spPr>
        <p:txBody>
          <a:bodyPr>
            <a:normAutofit fontScale="55000" lnSpcReduction="20000"/>
          </a:bodyPr>
          <a:lstStyle/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Шаги в градиентном спуске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Инициализация весов и смещений случайными значениями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 Вычисление целевой переменной с текущими весами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 Анализ расхождения полученного от действительного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4)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К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орректировка весов 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5) Возврат к шагу 2 </a:t>
            </a: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3200400"/>
            <a:ext cx="3664183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Градиентный спуск. Смысл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Предлагаю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закодировать вручную эту прелесть</a:t>
            </a: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2819400"/>
            <a:ext cx="466616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 descr="https://sun9-7.vkuserphoto.ru/s/v1/ig2/F12vTNaqTxIlaxEYVcQ1ZBdDDLZIX03lVUZrXpVvUloeIgyHPfeSQaoXFhwokkVxsGIW6a8y-bAOHVeB6oj5BsBv.jpg?quality=95&amp;as=32x18,48x27,72x40,108x61,160x90,240x135,360x202,480x270,540x303,640x360,720x405,735x413&amp;from=bu&amp;u=ORBkjUEmLezGjWPLju169HMGWEyRAs4Me9bnuBeUJQ0&amp;cs=735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581400"/>
            <a:ext cx="3876675" cy="217832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Виды градиентного спуска.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953000" y="1600200"/>
            <a:ext cx="3733800" cy="50292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Batch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Gradient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Descent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(пакетный)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на каждом шаге используем все обучающие примеры, чтобы посчитать один градиент и сделать одно обновление весов.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Минус: очень медленно, много памяти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" name="Picture 7" descr="https://sun9-10.vkuserphoto.ru/s/v1/ig2/31xZ7PJB99QoIR3MAJfmX_uUnFcICDBO0Ph5ay3tPXbosHCGvjcxl0EkMs_dSxstguxV0_MMgMXGV9TPcySSNohU.jpg?quality=95&amp;as=32x32,48x48,72x72,108x108,160x160,240x240,360x360,480x480,540x540,640x640,720x720,736x736&amp;from=bu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4343400" cy="434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2) </a:t>
            </a:r>
            <a:r>
              <a:rPr lang="ru-RU" sz="2400" dirty="0" err="1" smtClean="0">
                <a:latin typeface="Cascadia Code SemiLight" pitchFamily="49" charset="0"/>
                <a:cs typeface="Cascadia Code SemiLight" pitchFamily="49" charset="0"/>
              </a:rPr>
              <a:t>Stochastic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2400" dirty="0" err="1" smtClean="0">
                <a:latin typeface="Cascadia Code SemiLight" pitchFamily="49" charset="0"/>
                <a:cs typeface="Cascadia Code SemiLight" pitchFamily="49" charset="0"/>
              </a:rPr>
              <a:t>Gradient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2400" dirty="0" err="1" smtClean="0">
                <a:latin typeface="Cascadia Code SemiLight" pitchFamily="49" charset="0"/>
                <a:cs typeface="Cascadia Code SemiLight" pitchFamily="49" charset="0"/>
              </a:rPr>
              <a:t>Descent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 (SGD, стохастический)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Суть: на каждом шаге используем один случайный пример, считаем по нему градиент и сразу обновляем веса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Плюсы: 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Очень быстро на больших 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данных, не 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требует держать всю выборку в памяти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Минусы: Можно пропустить хорошее решение из-за случайности, нет гарантии</a:t>
            </a:r>
            <a:endParaRPr lang="ru-RU" sz="2400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sz="2400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3) 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 </a:t>
            </a:r>
            <a:r>
              <a:rPr lang="ru-RU" sz="2800" dirty="0" err="1" smtClean="0">
                <a:latin typeface="Cascadia Code SemiLight" pitchFamily="49" charset="0"/>
                <a:cs typeface="Cascadia Code SemiLight" pitchFamily="49" charset="0"/>
              </a:rPr>
              <a:t>Mini-batch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2800" dirty="0" err="1" smtClean="0">
                <a:latin typeface="Cascadia Code SemiLight" pitchFamily="49" charset="0"/>
                <a:cs typeface="Cascadia Code SemiLight" pitchFamily="49" charset="0"/>
              </a:rPr>
              <a:t>Gradient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2800" dirty="0" err="1" smtClean="0">
                <a:latin typeface="Cascadia Code SemiLight" pitchFamily="49" charset="0"/>
                <a:cs typeface="Cascadia Code SemiLight" pitchFamily="49" charset="0"/>
              </a:rPr>
              <a:t>Descent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 (</a:t>
            </a:r>
            <a:r>
              <a:rPr lang="ru-RU" sz="2800" dirty="0" err="1" smtClean="0">
                <a:latin typeface="Cascadia Code SemiLight" pitchFamily="49" charset="0"/>
                <a:cs typeface="Cascadia Code SemiLight" pitchFamily="49" charset="0"/>
              </a:rPr>
              <a:t>мини-пакетный</a:t>
            </a:r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)</a:t>
            </a:r>
          </a:p>
          <a:p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Суть: компромисс — на каждом шаге используем небольшую порцию примеров (обычно 16–256), считаем по ней градиент и обновляем веса.</a:t>
            </a:r>
          </a:p>
          <a:p>
            <a:r>
              <a:rPr lang="ru-RU" sz="2800" dirty="0" smtClean="0">
                <a:latin typeface="Cascadia Code SemiLight" pitchFamily="49" charset="0"/>
                <a:cs typeface="Cascadia Code SemiLight" pitchFamily="49" charset="0"/>
              </a:rPr>
              <a:t>Баланс между скоростью и стабильностью</a:t>
            </a:r>
            <a:endParaRPr lang="ru-RU" sz="2800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Оптимизаторы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Оптимизатор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это алгоритм, который решает,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как именно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обновлять веса на основе градиента. Градиентный спуск — базовая идея, оптимизаторы — её улучшения.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Основная проблема базового SGD: он всегда делает шаг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одинакового размера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в направлении градиента. Это плохо, когда: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разные признаки имеют разный масштаб;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градиенты шумные;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нужно быстрее двигаться в «плоских» направлениях и осторожнее — в «крутых».</a:t>
            </a: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RMSprop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Суть: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адаптивный шаг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для каждого веса отдельно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 Если вес получает большие градиенты — уменьшаем для него шаг. Если маленькие — увеличиваем.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Если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градиент по весу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₁ всё время большой, значит, мы «прыгаем» через минимум — уменьшим шаг. Если градиент по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₂ маленький — увеличим, чтобы быстрее двигаться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Плюсы: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Хорошо работает при разном масштабе признаков.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Не требует ручной настройки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lr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под каждый вес.</a:t>
            </a: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Adam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181600" y="1524000"/>
            <a:ext cx="3505200" cy="5486400"/>
          </a:xfrm>
        </p:spPr>
        <p:txBody>
          <a:bodyPr>
            <a:normAutofit fontScale="55000" lnSpcReduction="20000"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Adam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(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Adaptive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Moment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Estimation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) — оптимизатор, который на каждом шаге сам решает, насколько сильно обновлять каждый вес отдельно. Не один общий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learning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rate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для всех весов, а свой эффективный шаг для каждого.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Используя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обе статистики,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Adam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вычисляет индивидуальный шаг для каждого веса: если градиент большой и шумный — шаг уменьшается; если маленький и стабильный — увеличивается.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0962" name="Picture 2" descr="https://sun9-43.vkuserphoto.ru/s/v1/ig2/T7fcHo3gRx614KOsv-Yvi0f3kK9nNjQULW5SYe2glnuIumg2HcpI6ctxQmuHzvQsCKGlDROkWzVHkMt-EBADhco-.jpg?quality=95&amp;as=32x32,48x48,72x72,108x108,160x160,240x240,360x360,480x480,540x540,640x640,720x720,736x736&amp;from=bu&amp;u=tR0LwWRYGEVOef9YI4YtI5l0TzB8uZXQ4Z3YgQrf9q0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00200"/>
            <a:ext cx="4427537" cy="44275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Регрессия и классификация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b="19391"/>
          <a:stretch>
            <a:fillRect/>
          </a:stretch>
        </p:blipFill>
        <p:spPr bwMode="auto">
          <a:xfrm>
            <a:off x="1981200" y="4648200"/>
            <a:ext cx="57023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 descr="Регрессия и классификация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295400"/>
            <a:ext cx="6076950" cy="34004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Линейная регрессия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Линейная регрессия — это модель, которая предсказывает число как линейную комбинацию входных признаков.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Проще говоря: мы предполагаем, что целевая переменная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y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зависит от признаков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₁,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₂, ...,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ₙ линейно — то есть каждый признак входит в формулу просто умноженным на свой вес</a:t>
            </a: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Постановка задачи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419600" cy="5257800"/>
          </a:xfrm>
        </p:spPr>
        <p:txBody>
          <a:bodyPr>
            <a:noAutofit/>
          </a:bodyPr>
          <a:lstStyle/>
          <a:p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Дано</a:t>
            </a:r>
          </a:p>
          <a:p>
            <a:pPr>
              <a:buNone/>
            </a:pP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	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	</a:t>
            </a:r>
            <a:r>
              <a:rPr lang="ru-RU" sz="1600" b="1" dirty="0" err="1" smtClean="0">
                <a:latin typeface="Cascadia Code SemiLight" pitchFamily="49" charset="0"/>
                <a:cs typeface="Cascadia Code SemiLight" pitchFamily="49" charset="0"/>
              </a:rPr>
              <a:t>Датасет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: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N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объектов.</a:t>
            </a:r>
          </a:p>
          <a:p>
            <a:pPr>
              <a:buNone/>
            </a:pP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	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	Признаки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: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у каждого объекта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n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числовых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признаков.</a:t>
            </a:r>
          </a:p>
          <a:p>
            <a:pPr>
              <a:buNone/>
            </a:pP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	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	Целевая 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переменная: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у каждого объекта одно число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y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, которое мы хотим предсказывать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</a:p>
          <a:p>
            <a:pPr>
              <a:buNone/>
            </a:pPr>
            <a:endParaRPr lang="ru-RU" sz="1600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Требуется</a:t>
            </a:r>
          </a:p>
          <a:p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Найти такие 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веса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₁,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₂, ...,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ₙ и </a:t>
            </a:r>
            <a:r>
              <a:rPr lang="ru-RU" sz="1600" b="1" dirty="0" smtClean="0">
                <a:latin typeface="Cascadia Code SemiLight" pitchFamily="49" charset="0"/>
                <a:cs typeface="Cascadia Code SemiLight" pitchFamily="49" charset="0"/>
              </a:rPr>
              <a:t>смещение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b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, чтобы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предсказание</a:t>
            </a:r>
          </a:p>
          <a:p>
            <a:pPr>
              <a:buNone/>
            </a:pP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ŷ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=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w₁x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₁ +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w₂x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₂ + ... +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wₙx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ₙ +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b</a:t>
            </a:r>
            <a:endParaRPr lang="ru-RU" sz="1600" dirty="0" smtClean="0">
              <a:latin typeface="Cascadia Code SemiLight" pitchFamily="49" charset="0"/>
              <a:cs typeface="Cascadia Code SemiLight" pitchFamily="49" charset="0"/>
            </a:endParaRPr>
          </a:p>
          <a:p>
            <a:pPr>
              <a:buNone/>
            </a:pP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	было 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как можно ближе к реальному </a:t>
            </a:r>
            <a:r>
              <a:rPr lang="ru-RU" sz="1600" dirty="0" err="1" smtClean="0">
                <a:latin typeface="Cascadia Code SemiLight" pitchFamily="49" charset="0"/>
                <a:cs typeface="Cascadia Code SemiLight" pitchFamily="49" charset="0"/>
              </a:rPr>
              <a:t>y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 для всех объектов</a:t>
            </a:r>
            <a:r>
              <a:rPr lang="ru-RU" sz="1600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endParaRPr lang="ru-RU" sz="1600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38914" name="Picture 2" descr="https://sun9-59.vkuserphoto.ru/s/v1/ig2/7Hunp1SwCKfaOwfGnAVG1uXdvExQjfXHF5unt46GyckZE4WaIZeDW4RyRPnqBmzT7Fg5QttITASeric6H-Gv4aDT.jpg?quality=95&amp;as=32x32,48x48,72x72,108x108,160x160,240x240,360x360,480x480,540x540,640x640,720x720,736x736&amp;from=bu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752600"/>
            <a:ext cx="3810000" cy="3810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19600" y="304800"/>
            <a:ext cx="4267200" cy="1112838"/>
          </a:xfrm>
        </p:spPr>
        <p:txBody>
          <a:bodyPr>
            <a:noAutofit/>
          </a:bodyPr>
          <a:lstStyle/>
          <a:p>
            <a:r>
              <a:rPr lang="ru-RU" sz="3200" dirty="0" smtClean="0">
                <a:latin typeface="Cascadia Code SemiLight" pitchFamily="49" charset="0"/>
                <a:cs typeface="Cascadia Code SemiLight" pitchFamily="49" charset="0"/>
              </a:rPr>
              <a:t>Предсказание цен домов в Калифорнии</a:t>
            </a:r>
            <a:endParaRPr lang="ru-RU" sz="32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45058" name="Picture 2" descr="https://sun9-8.vkuserphoto.ru/s/v1/ig2/KqndFLWSM7ArYNRNqfYkQH9FxMe3SvEVHNo6EDrwNNi74qolvu8UtDWyYMmdR44aR_QMKuwU5y55E6p6Dz34MC1_.jpg?quality=95&amp;as=32x57,48x85,72x128,108x192,160x284,240x427,360x640,480x853,540x960,640x1138,675x1200&amp;from=bu&amp;u=l0ElUvNaZvgbwV_i50bxj9dUGnw-vLFQO1Y-zECTQLo&amp;cs=675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4200525" cy="7467600"/>
          </a:xfrm>
          <a:prstGeom prst="rect">
            <a:avLst/>
          </a:prstGeom>
          <a:noFill/>
        </p:spPr>
      </p:pic>
      <p:pic>
        <p:nvPicPr>
          <p:cNvPr id="45060" name="Picture 4" descr="https://sun9-66.vkuserphoto.ru/s/v1/ig2/wORwHa79ROU5-vJFk-Yh9KBdFgFlcYK7PJ6AoeEcSvBmwWaF8rlgVM1v3ZIltwfpH_FS0zK6tu9lK1DEWd9VYOfc.jpg?quality=95&amp;as=32x24,48x36,72x54,108x81,160x120,240x180,360x270,480x360,540x405,640x480,720x540,736x552&amp;from=bu&amp;cs=736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438400"/>
            <a:ext cx="4267199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38600"/>
            <a:ext cx="8229600" cy="2468563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 следующей серии: 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	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-	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переобучение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 методы борьбы с ним: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дропаут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регуляризация</a:t>
            </a: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	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-	обучение модели для решения задачи распознавания рукописных цифр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ДЗ: задача бинарной классификации на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датасете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с фильмами, ручная реализация градиентного спуска для задачи линейной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регресии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, цепное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правило.  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098" name="Picture 2" descr="https://sun9-70.vkuserphoto.ru/s/v1/ig2/yXgPk5hpg7rlolHl5ltFvKsm-TtfsE_YmncQCP9oJErWBD2ePGzjppMYJTE2B63RiugijbClSDDRqkh9SirPRV5c.jpg?quality=95&amp;as=32x18,48x27,72x41,108x62,160x91,240x137,360x206,480x274,540x309,630x360&amp;from=bu&amp;u=dNVCQmWxYhuebSfHCIkl4Gxp_aF7zpfzaVnUH8N19VI&amp;cs=630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52400"/>
            <a:ext cx="6000750" cy="34290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4034" name="Picture 2" descr="https://sun9-59.vkuserphoto.ru/s/v1/ig2/AkDM4Lw0LPyfvNILZS2eLELf4AjQRhF9yvkRuBuDVe4mI1icQtXeT4O0H0_u1wJCi2LVuvKk9hyBB66O6VNQ6TLh.jpg?quality=95&amp;as=32x32,48x48,72x72,108x108,160x160,240x240,360x360,480x480,540x540,640x640,720x720,736x736&amp;from=bu&amp;u=b6pn8Ygm9E5laLOmxZA2tX9V0nDkZ7ZJKLpQtGQ6Pek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76199"/>
            <a:ext cx="6781800" cy="6781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698</Words>
  <Application>Microsoft Office PowerPoint</Application>
  <PresentationFormat>Экран (4:3)</PresentationFormat>
  <Paragraphs>95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Office Theme</vt:lpstr>
      <vt:lpstr>Занятие 2. Основы основ Посвящение в ML  </vt:lpstr>
      <vt:lpstr>Орг момент. Опрос Прямо здесь, прямо сейчас</vt:lpstr>
      <vt:lpstr>План занятия</vt:lpstr>
      <vt:lpstr>Датасет и все вытекающее </vt:lpstr>
      <vt:lpstr>Нейросеть и слои</vt:lpstr>
      <vt:lpstr>Рассмотрим менее страшное более подробно </vt:lpstr>
      <vt:lpstr>Функция потерь</vt:lpstr>
      <vt:lpstr>Слайд 8</vt:lpstr>
      <vt:lpstr>Слайд 9</vt:lpstr>
      <vt:lpstr>Градиентный спуск. Смысл</vt:lpstr>
      <vt:lpstr>Градиентный спуск. Смысл</vt:lpstr>
      <vt:lpstr>Виды градиентного спуска. </vt:lpstr>
      <vt:lpstr>Слайд 13</vt:lpstr>
      <vt:lpstr>Слайд 14</vt:lpstr>
      <vt:lpstr>Оптимизаторы</vt:lpstr>
      <vt:lpstr>RMSprop</vt:lpstr>
      <vt:lpstr>Adam</vt:lpstr>
      <vt:lpstr>Регрессия и классификация</vt:lpstr>
      <vt:lpstr>Линейная регрессия</vt:lpstr>
      <vt:lpstr>Постановка задачи</vt:lpstr>
      <vt:lpstr>Предсказание цен домов в Калифорнии</vt:lpstr>
      <vt:lpstr>Слайд 22</vt:lpstr>
      <vt:lpstr>Слайд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2. Основы основ. Посвящение в ML Градиентый спуск, нейросети,линейная регрессия </dc:title>
  <dc:creator>Вера Пономаренко</dc:creator>
  <cp:lastModifiedBy>Вера Пономаренко</cp:lastModifiedBy>
  <cp:revision>27</cp:revision>
  <dcterms:created xsi:type="dcterms:W3CDTF">2026-09-26T20:54:10Z</dcterms:created>
  <dcterms:modified xsi:type="dcterms:W3CDTF">2026-09-28T18:19:29Z</dcterms:modified>
</cp:coreProperties>
</file>
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handoutMasterIdLst>
    <p:handoutMasterId r:id="rId61"/>
  </p:handoutMasterIdLst>
  <p:sldIdLst>
    <p:sldId id="256" r:id="rId2"/>
    <p:sldId id="268" r:id="rId3"/>
    <p:sldId id="269" r:id="rId4"/>
    <p:sldId id="270" r:id="rId5"/>
    <p:sldId id="271" r:id="rId6"/>
    <p:sldId id="272" r:id="rId7"/>
    <p:sldId id="280" r:id="rId8"/>
    <p:sldId id="278" r:id="rId9"/>
    <p:sldId id="279" r:id="rId10"/>
    <p:sldId id="288" r:id="rId11"/>
    <p:sldId id="289" r:id="rId12"/>
    <p:sldId id="291" r:id="rId13"/>
    <p:sldId id="292" r:id="rId14"/>
    <p:sldId id="293" r:id="rId15"/>
    <p:sldId id="294" r:id="rId16"/>
    <p:sldId id="295" r:id="rId17"/>
    <p:sldId id="296" r:id="rId18"/>
    <p:sldId id="297" r:id="rId19"/>
    <p:sldId id="298" r:id="rId20"/>
    <p:sldId id="299" r:id="rId21"/>
    <p:sldId id="300" r:id="rId22"/>
    <p:sldId id="274" r:id="rId23"/>
    <p:sldId id="281" r:id="rId24"/>
    <p:sldId id="282" r:id="rId25"/>
    <p:sldId id="275" r:id="rId26"/>
    <p:sldId id="284" r:id="rId27"/>
    <p:sldId id="283" r:id="rId28"/>
    <p:sldId id="276" r:id="rId29"/>
    <p:sldId id="277" r:id="rId30"/>
    <p:sldId id="285" r:id="rId31"/>
    <p:sldId id="287" r:id="rId32"/>
    <p:sldId id="290" r:id="rId33"/>
    <p:sldId id="301" r:id="rId34"/>
    <p:sldId id="302" r:id="rId35"/>
    <p:sldId id="303" r:id="rId36"/>
    <p:sldId id="304" r:id="rId37"/>
    <p:sldId id="305" r:id="rId38"/>
    <p:sldId id="306" r:id="rId39"/>
    <p:sldId id="307" r:id="rId40"/>
    <p:sldId id="308" r:id="rId41"/>
    <p:sldId id="309" r:id="rId42"/>
    <p:sldId id="310" r:id="rId43"/>
    <p:sldId id="311" r:id="rId44"/>
    <p:sldId id="312" r:id="rId45"/>
    <p:sldId id="313" r:id="rId46"/>
    <p:sldId id="315" r:id="rId47"/>
    <p:sldId id="316" r:id="rId48"/>
    <p:sldId id="317" r:id="rId49"/>
    <p:sldId id="318" r:id="rId50"/>
    <p:sldId id="319" r:id="rId51"/>
    <p:sldId id="320" r:id="rId52"/>
    <p:sldId id="321" r:id="rId53"/>
    <p:sldId id="322" r:id="rId54"/>
    <p:sldId id="323" r:id="rId55"/>
    <p:sldId id="324" r:id="rId56"/>
    <p:sldId id="325" r:id="rId57"/>
    <p:sldId id="326" r:id="rId58"/>
    <p:sldId id="286" r:id="rId59"/>
  </p:sldIdLst>
  <p:sldSz cx="9144000" cy="6858000" type="screen4x3"/>
  <p:notesSz cx="6858000" cy="9144000"/>
  <p:defaultText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075" autoAdjust="0"/>
  </p:normalViewPr>
  <p:slideViewPr>
    <p:cSldViewPr>
      <p:cViewPr varScale="1">
        <p:scale>
          <a:sx n="70" d="100"/>
          <a:sy n="70" d="100"/>
        </p:scale>
        <p:origin x="-72" y="-572"/>
      </p:cViewPr>
      <p:guideLst>
        <p:guide orient="horz" pos="2160"/>
        <p:guide pos="2880"/>
      </p:guideLst>
    </p:cSldViewPr>
  </p:slideViewPr>
  <p:notesTextViewPr>
    <p:cViewPr>
      <p:scale>
        <a:sx n="100" d="100"/>
        <a:sy n="100" d="100"/>
      </p:scale>
      <p:origin x="0" y="0"/>
    </p:cViewPr>
  </p:notesTextViewPr>
  <p:notesViewPr>
    <p:cSldViewPr>
      <p:cViewPr varScale="1">
        <p:scale>
          <a:sx n="87" d="100"/>
          <a:sy n="87" d="100"/>
        </p:scale>
        <p:origin x="-3244" y="-84"/>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B44FBDA-0A23-451D-9736-46D476C97053}" type="datetimeFigureOut">
              <a:rPr lang="ru-RU" smtClean="0"/>
              <a:pPr/>
              <a:t>02.10.2026</a:t>
            </a:fld>
            <a:endParaRPr lang="ru-RU"/>
          </a:p>
        </p:txBody>
      </p:sp>
      <p:sp>
        <p:nvSpPr>
          <p:cNvPr id="4" name="Нижний колонтитул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7038FB6-F057-4592-8887-AFECFEB7682E}" type="slidenum">
              <a:rPr lang="ru-RU" smtClean="0"/>
              <a:pPr/>
              <a:t>‹#›</a:t>
            </a:fld>
            <a:endParaRPr lang="ru-RU"/>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F64298-958C-44F7-BF4F-7B0B5D6B9447}" type="datetimeFigureOut">
              <a:rPr lang="ru-RU" smtClean="0"/>
              <a:pPr/>
              <a:t>02.10.2026</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BF9C1A-0A84-4F0C-9C04-72BCEF6B8C2A}" type="slidenum">
              <a:rPr lang="ru-RU" smtClean="0"/>
              <a:pPr/>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ru-RU" dirty="0" smtClean="0"/>
              <a:t>Когда</a:t>
            </a:r>
            <a:r>
              <a:rPr lang="ru-RU" baseline="0" dirty="0" smtClean="0"/>
              <a:t> мы говорим про машинное обучение, мы говорим о способе решения задачи не через задание алгоритма, т.е. последовательности действий, а о попытке заставить компьютер выявить некоторые закономерности</a:t>
            </a:r>
          </a:p>
          <a:p>
            <a:r>
              <a:rPr lang="ru-RU" baseline="0" dirty="0" smtClean="0"/>
              <a:t>Отдельное внимание мы уделяем обучению с учителем. Это сродни обучению по учебнику: есть задачи, есть ответы. </a:t>
            </a:r>
          </a:p>
          <a:p>
            <a:r>
              <a:rPr lang="ru-RU" baseline="0" dirty="0" err="1" smtClean="0"/>
              <a:t>Датасет</a:t>
            </a:r>
            <a:r>
              <a:rPr lang="ru-RU" baseline="0" dirty="0" smtClean="0"/>
              <a:t> представляет собой таблицу: каждая строка – объект, каждый отдельно взятый столбец – признак (</a:t>
            </a:r>
            <a:r>
              <a:rPr lang="en-US" baseline="0" dirty="0" smtClean="0"/>
              <a:t>x1, x2… </a:t>
            </a:r>
            <a:r>
              <a:rPr lang="en-US" baseline="0" dirty="0" err="1" smtClean="0"/>
              <a:t>xn</a:t>
            </a:r>
            <a:r>
              <a:rPr lang="en-US" baseline="0" dirty="0" smtClean="0"/>
              <a:t>)</a:t>
            </a:r>
            <a:r>
              <a:rPr lang="ru-RU" baseline="0" dirty="0" smtClean="0"/>
              <a:t>. Последний столбец (красный, традиционно </a:t>
            </a:r>
            <a:r>
              <a:rPr lang="ru-RU" baseline="0" dirty="0" err="1" smtClean="0"/>
              <a:t>обозначемый</a:t>
            </a:r>
            <a:r>
              <a:rPr lang="ru-RU" baseline="0" dirty="0" smtClean="0"/>
              <a:t> </a:t>
            </a:r>
            <a:r>
              <a:rPr lang="en-US" baseline="0" dirty="0" smtClean="0"/>
              <a:t>Y) –</a:t>
            </a:r>
            <a:r>
              <a:rPr lang="ru-RU" baseline="0" dirty="0" smtClean="0"/>
              <a:t> целевая переменная - правильный ответ для данной задачи.</a:t>
            </a:r>
          </a:p>
          <a:p>
            <a:endParaRPr lang="ru-RU" baseline="0" dirty="0" smtClean="0"/>
          </a:p>
          <a:p>
            <a:r>
              <a:rPr lang="ru-RU" baseline="0" dirty="0" smtClean="0"/>
              <a:t>Пример: рассмотрим на аналогии с прошлой лекции – милый ли зверек. В такой предметной области каждая строка – объект – это зверек. Столбец </a:t>
            </a:r>
            <a:r>
              <a:rPr lang="en-US" baseline="0" dirty="0" smtClean="0"/>
              <a:t>x1</a:t>
            </a:r>
            <a:r>
              <a:rPr lang="ru-RU" baseline="0" dirty="0" smtClean="0"/>
              <a:t> – первый признак – </a:t>
            </a:r>
            <a:r>
              <a:rPr lang="ru-RU" baseline="0" dirty="0" err="1" smtClean="0"/>
              <a:t>пушситость</a:t>
            </a:r>
            <a:r>
              <a:rPr lang="ru-RU" baseline="0" dirty="0" smtClean="0"/>
              <a:t>, последний столбец – целевая переменная – ответ: 1 если зверек милый и 0 если не очень</a:t>
            </a:r>
          </a:p>
          <a:p>
            <a:endParaRPr lang="ru-RU" baseline="0" dirty="0" smtClean="0"/>
          </a:p>
          <a:p>
            <a:r>
              <a:rPr lang="ru-RU" baseline="0" dirty="0" smtClean="0"/>
              <a:t>Все признаки выражаются в виде чисел (целых или вещественных)</a:t>
            </a:r>
          </a:p>
          <a:p>
            <a:endParaRPr lang="ru-RU" baseline="0" dirty="0" smtClean="0"/>
          </a:p>
          <a:p>
            <a:r>
              <a:rPr lang="ru-RU" baseline="0" dirty="0" smtClean="0"/>
              <a:t>Почему таблички 2? </a:t>
            </a:r>
          </a:p>
          <a:p>
            <a:r>
              <a:rPr lang="ru-RU" baseline="0" dirty="0" smtClean="0"/>
              <a:t>В процессе работы над моделью данные делятся на 2 выборки: тренировочная </a:t>
            </a:r>
            <a:r>
              <a:rPr lang="en-US" baseline="0" dirty="0" smtClean="0"/>
              <a:t>(train, ~80% </a:t>
            </a:r>
            <a:r>
              <a:rPr lang="ru-RU" baseline="0" dirty="0" smtClean="0"/>
              <a:t>всех данных) – она используется для непосредственного обучения, т.е. подбора весов. А вторая часть – тестовая </a:t>
            </a:r>
            <a:r>
              <a:rPr lang="en-US" baseline="0" dirty="0" smtClean="0"/>
              <a:t>(test) </a:t>
            </a:r>
            <a:r>
              <a:rPr lang="ru-RU" baseline="0" dirty="0" smtClean="0"/>
              <a:t>используется после того как модель обучена для того, чтобы проверить качество работы того, что мы </a:t>
            </a:r>
            <a:r>
              <a:rPr lang="ru-RU" baseline="0" dirty="0" err="1" smtClean="0"/>
              <a:t>наобучали</a:t>
            </a:r>
            <a:r>
              <a:rPr lang="ru-RU" baseline="0" dirty="0" smtClean="0"/>
              <a:t> на данных, которые модель никогда не видела. Т.е. вы устраиваете модели экзамен для входа во взрослую и независимую жизнь, где ей предстоит ошибаться в разумных пределах. Проверяете качество работы в полевых условиях перед сдачей заказчику.</a:t>
            </a:r>
          </a:p>
          <a:p>
            <a:endParaRPr lang="ru-RU" baseline="0" dirty="0" smtClean="0"/>
          </a:p>
          <a:p>
            <a:r>
              <a:rPr lang="ru-RU" sz="1200" b="1" kern="1200" dirty="0" smtClean="0">
                <a:solidFill>
                  <a:schemeClr val="tx1"/>
                </a:solidFill>
                <a:latin typeface="+mn-lt"/>
                <a:ea typeface="+mn-ea"/>
                <a:cs typeface="+mn-cs"/>
              </a:rPr>
              <a:t>Что такое машинное обучение</a:t>
            </a:r>
          </a:p>
          <a:p>
            <a:r>
              <a:rPr lang="ru-RU" sz="1200" b="0" i="0" kern="1200" dirty="0" smtClean="0">
                <a:solidFill>
                  <a:schemeClr val="tx1"/>
                </a:solidFill>
                <a:latin typeface="+mn-lt"/>
                <a:ea typeface="+mn-ea"/>
                <a:cs typeface="+mn-cs"/>
              </a:rPr>
              <a:t>Когда мы говорим о машинном обучении, мы имеем в виду принципиально другой способ решения задачи. В классическом программировании мы явно задаём алгоритм — последовательность действий, которая приводит к результату. В машинном обучении мы не пишем алгоритм. Вместо этого мы даём компьютеру данные и позволяем ему самому выявить закономерности, которые скрыты в этих данных.</a:t>
            </a:r>
          </a:p>
          <a:p>
            <a:r>
              <a:rPr lang="ru-RU" sz="1200" b="1" kern="1200" dirty="0" smtClean="0">
                <a:solidFill>
                  <a:schemeClr val="tx1"/>
                </a:solidFill>
                <a:latin typeface="+mn-lt"/>
                <a:ea typeface="+mn-ea"/>
                <a:cs typeface="+mn-cs"/>
              </a:rPr>
              <a:t>Обучение с учителем</a:t>
            </a:r>
          </a:p>
          <a:p>
            <a:r>
              <a:rPr lang="ru-RU" sz="1200" b="0" i="0" kern="1200" dirty="0" smtClean="0">
                <a:solidFill>
                  <a:schemeClr val="tx1"/>
                </a:solidFill>
                <a:latin typeface="+mn-lt"/>
                <a:ea typeface="+mn-ea"/>
                <a:cs typeface="+mn-cs"/>
              </a:rPr>
              <a:t>Отдельное внимание мы уделяем </a:t>
            </a:r>
            <a:r>
              <a:rPr lang="ru-RU" sz="1200" b="1" i="0" kern="1200" dirty="0" smtClean="0">
                <a:solidFill>
                  <a:schemeClr val="tx1"/>
                </a:solidFill>
                <a:latin typeface="+mn-lt"/>
                <a:ea typeface="+mn-ea"/>
                <a:cs typeface="+mn-cs"/>
              </a:rPr>
              <a:t>обучению с учителем</a:t>
            </a:r>
            <a:r>
              <a:rPr lang="ru-RU" sz="1200" b="0" i="0" kern="1200" dirty="0" smtClean="0">
                <a:solidFill>
                  <a:schemeClr val="tx1"/>
                </a:solidFill>
                <a:latin typeface="+mn-lt"/>
                <a:ea typeface="+mn-ea"/>
                <a:cs typeface="+mn-cs"/>
              </a:rPr>
              <a:t> — это самый распространённый тип задач.</a:t>
            </a:r>
          </a:p>
          <a:p>
            <a:r>
              <a:rPr lang="ru-RU" sz="1200" b="0" i="0" kern="1200" dirty="0" smtClean="0">
                <a:solidFill>
                  <a:schemeClr val="tx1"/>
                </a:solidFill>
                <a:latin typeface="+mn-lt"/>
                <a:ea typeface="+mn-ea"/>
                <a:cs typeface="+mn-cs"/>
              </a:rPr>
              <a:t>Это сродни обучению по учебнику: есть задачи, и есть ответы к ним. Компьютер смотрит на задачи и ответы, учится находить связь между ними и потом применяет найденную закономерность к новым задачам, ответов на которые у него нет.</a:t>
            </a:r>
          </a:p>
          <a:p>
            <a:endParaRPr lang="ru-RU" sz="1200" b="0" i="0" kern="1200" dirty="0" smtClean="0">
              <a:solidFill>
                <a:schemeClr val="tx1"/>
              </a:solidFill>
              <a:latin typeface="+mn-lt"/>
              <a:ea typeface="+mn-ea"/>
              <a:cs typeface="+mn-cs"/>
            </a:endParaRPr>
          </a:p>
          <a:p>
            <a:r>
              <a:rPr lang="ru-RU" sz="1200" b="1" kern="1200" dirty="0" err="1" smtClean="0">
                <a:solidFill>
                  <a:schemeClr val="tx1"/>
                </a:solidFill>
                <a:latin typeface="+mn-lt"/>
                <a:ea typeface="+mn-ea"/>
                <a:cs typeface="+mn-cs"/>
              </a:rPr>
              <a:t>Датасет</a:t>
            </a:r>
            <a:r>
              <a:rPr lang="ru-RU" sz="1200" b="1" kern="1200" dirty="0" smtClean="0">
                <a:solidFill>
                  <a:schemeClr val="tx1"/>
                </a:solidFill>
                <a:latin typeface="+mn-lt"/>
                <a:ea typeface="+mn-ea"/>
                <a:cs typeface="+mn-cs"/>
              </a:rPr>
              <a:t> — </a:t>
            </a:r>
            <a:r>
              <a:rPr lang="ru-RU" sz="1200" b="0" kern="1200" dirty="0" smtClean="0">
                <a:solidFill>
                  <a:schemeClr val="tx1"/>
                </a:solidFill>
                <a:latin typeface="+mn-lt"/>
                <a:ea typeface="+mn-ea"/>
                <a:cs typeface="+mn-cs"/>
              </a:rPr>
              <a:t>это таблица</a:t>
            </a:r>
            <a:r>
              <a:rPr lang="ru-RU" sz="1200" b="0" kern="1200" baseline="0" dirty="0" smtClean="0">
                <a:solidFill>
                  <a:schemeClr val="tx1"/>
                </a:solidFill>
                <a:latin typeface="+mn-lt"/>
                <a:ea typeface="+mn-ea"/>
                <a:cs typeface="+mn-cs"/>
              </a:rPr>
              <a:t> с</a:t>
            </a:r>
            <a:r>
              <a:rPr lang="ru-RU" sz="1200" b="1" kern="1200" baseline="0" dirty="0" smtClean="0">
                <a:solidFill>
                  <a:schemeClr val="tx1"/>
                </a:solidFill>
                <a:latin typeface="+mn-lt"/>
                <a:ea typeface="+mn-ea"/>
                <a:cs typeface="+mn-cs"/>
              </a:rPr>
              <a:t> </a:t>
            </a:r>
            <a:r>
              <a:rPr lang="ru-RU" sz="1200" b="0" i="0" kern="1200" baseline="0" dirty="0" smtClean="0">
                <a:solidFill>
                  <a:schemeClr val="tx1"/>
                </a:solidFill>
                <a:latin typeface="+mn-lt"/>
                <a:ea typeface="+mn-ea"/>
                <a:cs typeface="+mn-cs"/>
              </a:rPr>
              <a:t>д</a:t>
            </a:r>
            <a:r>
              <a:rPr lang="ru-RU" sz="1200" b="0" i="0" kern="1200" dirty="0" smtClean="0">
                <a:solidFill>
                  <a:schemeClr val="tx1"/>
                </a:solidFill>
                <a:latin typeface="+mn-lt"/>
                <a:ea typeface="+mn-ea"/>
                <a:cs typeface="+mn-cs"/>
              </a:rPr>
              <a:t>анными в машинном обучении</a:t>
            </a:r>
          </a:p>
          <a:p>
            <a:r>
              <a:rPr lang="ru-RU" sz="1200" b="1" i="0" kern="1200" dirty="0" smtClean="0">
                <a:solidFill>
                  <a:schemeClr val="tx1"/>
                </a:solidFill>
                <a:latin typeface="+mn-lt"/>
                <a:ea typeface="+mn-ea"/>
                <a:cs typeface="+mn-cs"/>
              </a:rPr>
              <a:t>Каждая строка</a:t>
            </a:r>
            <a:r>
              <a:rPr lang="ru-RU" sz="1200" b="0" i="0" kern="1200" dirty="0" smtClean="0">
                <a:solidFill>
                  <a:schemeClr val="tx1"/>
                </a:solidFill>
                <a:latin typeface="+mn-lt"/>
                <a:ea typeface="+mn-ea"/>
                <a:cs typeface="+mn-cs"/>
              </a:rPr>
              <a:t> — один объект (пример).</a:t>
            </a:r>
          </a:p>
          <a:p>
            <a:r>
              <a:rPr lang="ru-RU" sz="1200" b="1" i="0" kern="1200" dirty="0" smtClean="0">
                <a:solidFill>
                  <a:schemeClr val="tx1"/>
                </a:solidFill>
                <a:latin typeface="+mn-lt"/>
                <a:ea typeface="+mn-ea"/>
                <a:cs typeface="+mn-cs"/>
              </a:rPr>
              <a:t>Каждый столбец</a:t>
            </a:r>
            <a:r>
              <a:rPr lang="ru-RU" sz="1200" b="0" i="0" kern="1200" dirty="0" smtClean="0">
                <a:solidFill>
                  <a:schemeClr val="tx1"/>
                </a:solidFill>
                <a:latin typeface="+mn-lt"/>
                <a:ea typeface="+mn-ea"/>
                <a:cs typeface="+mn-cs"/>
              </a:rPr>
              <a:t> — один признак: </a:t>
            </a:r>
            <a:r>
              <a:rPr lang="ru-RU" sz="1200" b="0" i="0" kern="1200" dirty="0" err="1" smtClean="0">
                <a:solidFill>
                  <a:schemeClr val="tx1"/>
                </a:solidFill>
                <a:latin typeface="+mn-lt"/>
                <a:ea typeface="+mn-ea"/>
                <a:cs typeface="+mn-cs"/>
              </a:rPr>
              <a:t>x</a:t>
            </a:r>
            <a:r>
              <a:rPr lang="ru-RU" sz="1200" b="0" i="0" kern="1200" dirty="0" smtClean="0">
                <a:solidFill>
                  <a:schemeClr val="tx1"/>
                </a:solidFill>
                <a:latin typeface="+mn-lt"/>
                <a:ea typeface="+mn-ea"/>
                <a:cs typeface="+mn-cs"/>
              </a:rPr>
              <a:t>₁, </a:t>
            </a:r>
            <a:r>
              <a:rPr lang="ru-RU" sz="1200" b="0" i="0" kern="1200" dirty="0" err="1" smtClean="0">
                <a:solidFill>
                  <a:schemeClr val="tx1"/>
                </a:solidFill>
                <a:latin typeface="+mn-lt"/>
                <a:ea typeface="+mn-ea"/>
                <a:cs typeface="+mn-cs"/>
              </a:rPr>
              <a:t>x</a:t>
            </a:r>
            <a:r>
              <a:rPr lang="ru-RU" sz="1200" b="0" i="0" kern="1200" dirty="0" smtClean="0">
                <a:solidFill>
                  <a:schemeClr val="tx1"/>
                </a:solidFill>
                <a:latin typeface="+mn-lt"/>
                <a:ea typeface="+mn-ea"/>
                <a:cs typeface="+mn-cs"/>
              </a:rPr>
              <a:t>₂, ..., </a:t>
            </a:r>
            <a:r>
              <a:rPr lang="ru-RU" sz="1200" b="0" i="0" kern="1200" dirty="0" err="1" smtClean="0">
                <a:solidFill>
                  <a:schemeClr val="tx1"/>
                </a:solidFill>
                <a:latin typeface="+mn-lt"/>
                <a:ea typeface="+mn-ea"/>
                <a:cs typeface="+mn-cs"/>
              </a:rPr>
              <a:t>x</a:t>
            </a:r>
            <a:r>
              <a:rPr lang="ru-RU" sz="1200" b="0" i="0" kern="1200" dirty="0" smtClean="0">
                <a:solidFill>
                  <a:schemeClr val="tx1"/>
                </a:solidFill>
                <a:latin typeface="+mn-lt"/>
                <a:ea typeface="+mn-ea"/>
                <a:cs typeface="+mn-cs"/>
              </a:rPr>
              <a:t>ₙ.</a:t>
            </a:r>
          </a:p>
          <a:p>
            <a:r>
              <a:rPr lang="ru-RU" sz="1200" b="1" i="0" kern="1200" dirty="0" smtClean="0">
                <a:solidFill>
                  <a:schemeClr val="tx1"/>
                </a:solidFill>
                <a:latin typeface="+mn-lt"/>
                <a:ea typeface="+mn-ea"/>
                <a:cs typeface="+mn-cs"/>
              </a:rPr>
              <a:t>Последний столбец</a:t>
            </a:r>
            <a:r>
              <a:rPr lang="ru-RU" sz="1200" b="0" i="0" kern="1200" dirty="0" smtClean="0">
                <a:solidFill>
                  <a:schemeClr val="tx1"/>
                </a:solidFill>
                <a:latin typeface="+mn-lt"/>
                <a:ea typeface="+mn-ea"/>
                <a:cs typeface="+mn-cs"/>
              </a:rPr>
              <a:t> — целевая переменная Y: правильный ответ для данной задачи.</a:t>
            </a:r>
          </a:p>
          <a:p>
            <a:r>
              <a:rPr lang="ru-RU" sz="1200" b="0" i="0" kern="1200" dirty="0" smtClean="0">
                <a:solidFill>
                  <a:schemeClr val="tx1"/>
                </a:solidFill>
                <a:latin typeface="+mn-lt"/>
                <a:ea typeface="+mn-ea"/>
                <a:cs typeface="+mn-cs"/>
              </a:rPr>
              <a:t>Все признаки выражаются числами — целыми или вещественными. Это ключевое требование: компьютер работает с числами, поэтому любые категории, тексты и изображения перед подачей в модель преобразуются в числовой вид.</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Пример: милый ли зверёк</a:t>
            </a:r>
          </a:p>
          <a:p>
            <a:r>
              <a:rPr lang="ru-RU" sz="1200" b="0" i="0" kern="1200" dirty="0" smtClean="0">
                <a:solidFill>
                  <a:schemeClr val="tx1"/>
                </a:solidFill>
                <a:latin typeface="+mn-lt"/>
                <a:ea typeface="+mn-ea"/>
                <a:cs typeface="+mn-cs"/>
              </a:rPr>
              <a:t>Вернёмся к аналогии с прошлой лекции. Пусть наша задача — определить, милый ли зверёк на картинке.</a:t>
            </a:r>
          </a:p>
          <a:p>
            <a:r>
              <a:rPr lang="ru-RU" sz="1200" b="0" i="0" kern="1200" dirty="0" smtClean="0">
                <a:solidFill>
                  <a:schemeClr val="tx1"/>
                </a:solidFill>
                <a:latin typeface="+mn-lt"/>
                <a:ea typeface="+mn-ea"/>
                <a:cs typeface="+mn-cs"/>
              </a:rPr>
              <a:t>Каждая строка — один зверёк.</a:t>
            </a:r>
          </a:p>
          <a:p>
            <a:r>
              <a:rPr lang="ru-RU" sz="1200" b="0" i="0" kern="1200" dirty="0" err="1" smtClean="0">
                <a:solidFill>
                  <a:schemeClr val="tx1"/>
                </a:solidFill>
                <a:latin typeface="+mn-lt"/>
                <a:ea typeface="+mn-ea"/>
                <a:cs typeface="+mn-cs"/>
              </a:rPr>
              <a:t>x</a:t>
            </a:r>
            <a:r>
              <a:rPr lang="ru-RU" sz="1200" b="0" i="0" kern="1200" dirty="0" smtClean="0">
                <a:solidFill>
                  <a:schemeClr val="tx1"/>
                </a:solidFill>
                <a:latin typeface="+mn-lt"/>
                <a:ea typeface="+mn-ea"/>
                <a:cs typeface="+mn-cs"/>
              </a:rPr>
              <a:t>₁ — пушистость, </a:t>
            </a:r>
            <a:r>
              <a:rPr lang="ru-RU" sz="1200" b="0" i="0" kern="1200" dirty="0" err="1" smtClean="0">
                <a:solidFill>
                  <a:schemeClr val="tx1"/>
                </a:solidFill>
                <a:latin typeface="+mn-lt"/>
                <a:ea typeface="+mn-ea"/>
                <a:cs typeface="+mn-cs"/>
              </a:rPr>
              <a:t>x</a:t>
            </a:r>
            <a:r>
              <a:rPr lang="ru-RU" sz="1200" b="0" i="0" kern="1200" dirty="0" smtClean="0">
                <a:solidFill>
                  <a:schemeClr val="tx1"/>
                </a:solidFill>
                <a:latin typeface="+mn-lt"/>
                <a:ea typeface="+mn-ea"/>
                <a:cs typeface="+mn-cs"/>
              </a:rPr>
              <a:t>₂ — размер глаз, и так далее.</a:t>
            </a:r>
          </a:p>
          <a:p>
            <a:r>
              <a:rPr lang="ru-RU" sz="1200" b="0" i="0" kern="1200" dirty="0" smtClean="0">
                <a:solidFill>
                  <a:schemeClr val="tx1"/>
                </a:solidFill>
                <a:latin typeface="+mn-lt"/>
                <a:ea typeface="+mn-ea"/>
                <a:cs typeface="+mn-cs"/>
              </a:rPr>
              <a:t>Последний столбец — ответ: 1, если зверёк милый, и 0, если не очень.</a:t>
            </a:r>
          </a:p>
          <a:p>
            <a:r>
              <a:rPr lang="ru-RU" sz="1200" b="0" i="0" kern="1200" dirty="0" smtClean="0">
                <a:solidFill>
                  <a:schemeClr val="tx1"/>
                </a:solidFill>
                <a:latin typeface="+mn-lt"/>
                <a:ea typeface="+mn-ea"/>
                <a:cs typeface="+mn-cs"/>
              </a:rPr>
              <a:t>Модель должна научиться по признакам предсказывать этот ответ.</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Зачем нужны две таблицы</a:t>
            </a:r>
          </a:p>
          <a:p>
            <a:r>
              <a:rPr lang="ru-RU" sz="1200" b="0" i="0" kern="1200" dirty="0" smtClean="0">
                <a:solidFill>
                  <a:schemeClr val="tx1"/>
                </a:solidFill>
                <a:latin typeface="+mn-lt"/>
                <a:ea typeface="+mn-ea"/>
                <a:cs typeface="+mn-cs"/>
              </a:rPr>
              <a:t>В процессе работы данные делятся </a:t>
            </a:r>
            <a:r>
              <a:rPr lang="ru-RU" sz="1200" b="1" i="0" kern="1200" dirty="0" smtClean="0">
                <a:solidFill>
                  <a:schemeClr val="tx1"/>
                </a:solidFill>
                <a:latin typeface="+mn-lt"/>
                <a:ea typeface="+mn-ea"/>
                <a:cs typeface="+mn-cs"/>
              </a:rPr>
              <a:t>на две выборки</a:t>
            </a:r>
            <a:r>
              <a:rPr lang="ru-RU" sz="1200" b="0" i="0" kern="1200" dirty="0" smtClean="0">
                <a:solidFill>
                  <a:schemeClr val="tx1"/>
                </a:solidFill>
                <a:latin typeface="+mn-lt"/>
                <a:ea typeface="+mn-ea"/>
                <a:cs typeface="+mn-cs"/>
              </a:rPr>
              <a:t>.</a:t>
            </a:r>
          </a:p>
          <a:p>
            <a:r>
              <a:rPr lang="ru-RU" sz="1200" b="1" kern="1200" dirty="0" err="1" smtClean="0">
                <a:solidFill>
                  <a:schemeClr val="tx1"/>
                </a:solidFill>
                <a:latin typeface="+mn-lt"/>
                <a:ea typeface="+mn-ea"/>
                <a:cs typeface="+mn-cs"/>
              </a:rPr>
              <a:t>Train</a:t>
            </a:r>
            <a:r>
              <a:rPr lang="ru-RU" sz="1200" b="1" kern="1200" dirty="0" smtClean="0">
                <a:solidFill>
                  <a:schemeClr val="tx1"/>
                </a:solidFill>
                <a:latin typeface="+mn-lt"/>
                <a:ea typeface="+mn-ea"/>
                <a:cs typeface="+mn-cs"/>
              </a:rPr>
              <a:t> — тренировочная (~80%)</a:t>
            </a:r>
          </a:p>
          <a:p>
            <a:r>
              <a:rPr lang="ru-RU" sz="1200" b="0" i="0" kern="1200" dirty="0" smtClean="0">
                <a:solidFill>
                  <a:schemeClr val="tx1"/>
                </a:solidFill>
                <a:latin typeface="+mn-lt"/>
                <a:ea typeface="+mn-ea"/>
                <a:cs typeface="+mn-cs"/>
              </a:rPr>
              <a:t>На ней модель </a:t>
            </a:r>
            <a:r>
              <a:rPr lang="ru-RU" sz="1200" b="1" i="0" kern="1200" dirty="0" smtClean="0">
                <a:solidFill>
                  <a:schemeClr val="tx1"/>
                </a:solidFill>
                <a:latin typeface="+mn-lt"/>
                <a:ea typeface="+mn-ea"/>
                <a:cs typeface="+mn-cs"/>
              </a:rPr>
              <a:t>учится</a:t>
            </a:r>
            <a:r>
              <a:rPr lang="ru-RU" sz="1200" b="0" i="0" kern="1200" dirty="0" smtClean="0">
                <a:solidFill>
                  <a:schemeClr val="tx1"/>
                </a:solidFill>
                <a:latin typeface="+mn-lt"/>
                <a:ea typeface="+mn-ea"/>
                <a:cs typeface="+mn-cs"/>
              </a:rPr>
              <a:t>: подбирает веса, находит закономерности, «тренируется». Это как занятия по учебнику — здесь можно ошибаться, исправлять себя, пробовать снова.</a:t>
            </a:r>
          </a:p>
          <a:p>
            <a:r>
              <a:rPr lang="ru-RU" sz="1200" b="1" kern="1200" dirty="0" err="1" smtClean="0">
                <a:solidFill>
                  <a:schemeClr val="tx1"/>
                </a:solidFill>
                <a:latin typeface="+mn-lt"/>
                <a:ea typeface="+mn-ea"/>
                <a:cs typeface="+mn-cs"/>
              </a:rPr>
              <a:t>Test</a:t>
            </a:r>
            <a:r>
              <a:rPr lang="ru-RU" sz="1200" b="1" kern="1200" dirty="0" smtClean="0">
                <a:solidFill>
                  <a:schemeClr val="tx1"/>
                </a:solidFill>
                <a:latin typeface="+mn-lt"/>
                <a:ea typeface="+mn-ea"/>
                <a:cs typeface="+mn-cs"/>
              </a:rPr>
              <a:t> — тестовая (~20%)</a:t>
            </a:r>
          </a:p>
          <a:p>
            <a:r>
              <a:rPr lang="ru-RU" sz="1200" b="0" i="0" kern="1200" dirty="0" smtClean="0">
                <a:solidFill>
                  <a:schemeClr val="tx1"/>
                </a:solidFill>
                <a:latin typeface="+mn-lt"/>
                <a:ea typeface="+mn-ea"/>
                <a:cs typeface="+mn-cs"/>
              </a:rPr>
              <a:t>На неё модель смотрит только после обучения. Это данные, которых она никогда не видела. Мы проверяем: научилась ли модель чему-то общему, или просто запомнила тренировочные примеры.</a:t>
            </a:r>
          </a:p>
          <a:p>
            <a:r>
              <a:rPr lang="ru-RU" sz="1200" b="0" i="0" kern="1200" dirty="0" smtClean="0">
                <a:solidFill>
                  <a:schemeClr val="tx1"/>
                </a:solidFill>
                <a:latin typeface="+mn-lt"/>
                <a:ea typeface="+mn-ea"/>
                <a:cs typeface="+mn-cs"/>
              </a:rPr>
              <a:t>Это как экзамен перед выходом во взрослую жизнь. Мы устраиваем модели проверку в полевых условиях — там, где ей придётся ошибаться в разумных пределах. Так мы узнаём, готова ли она к реальной работе, прежде чем сдавать её заказчику.</a:t>
            </a:r>
          </a:p>
          <a:p>
            <a:endParaRPr lang="ru-RU" dirty="0" smtClean="0"/>
          </a:p>
        </p:txBody>
      </p:sp>
      <p:sp>
        <p:nvSpPr>
          <p:cNvPr id="4" name="Номер слайда 3"/>
          <p:cNvSpPr>
            <a:spLocks noGrp="1"/>
          </p:cNvSpPr>
          <p:nvPr>
            <p:ph type="sldNum" sz="quarter" idx="10"/>
          </p:nvPr>
        </p:nvSpPr>
        <p:spPr/>
        <p:txBody>
          <a:bodyPr/>
          <a:lstStyle/>
          <a:p>
            <a:fld id="{CEBF9C1A-0A84-4F0C-9C04-72BCEF6B8C2A}" type="slidenum">
              <a:rPr lang="ru-RU" smtClean="0"/>
              <a:pPr/>
              <a:t>3</a:t>
            </a:fld>
            <a:endParaRPr lang="ru-R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70000" lnSpcReduction="20000"/>
          </a:bodyPr>
          <a:lstStyle/>
          <a:p>
            <a:r>
              <a:rPr lang="ru-RU" sz="1200" b="1" kern="1200" dirty="0" smtClean="0">
                <a:solidFill>
                  <a:schemeClr val="tx1"/>
                </a:solidFill>
                <a:latin typeface="+mn-lt"/>
                <a:ea typeface="+mn-ea"/>
                <a:cs typeface="+mn-cs"/>
              </a:rPr>
              <a:t>Что такое нейронная сеть</a:t>
            </a:r>
          </a:p>
          <a:p>
            <a:r>
              <a:rPr lang="ru-RU" sz="1200" b="1" i="0" kern="1200" dirty="0" smtClean="0">
                <a:solidFill>
                  <a:schemeClr val="tx1"/>
                </a:solidFill>
                <a:latin typeface="+mn-lt"/>
                <a:ea typeface="+mn-ea"/>
                <a:cs typeface="+mn-cs"/>
              </a:rPr>
              <a:t>Нейронная сеть</a:t>
            </a:r>
            <a:r>
              <a:rPr lang="ru-RU" sz="1200" b="0" i="0" kern="1200" dirty="0" smtClean="0">
                <a:solidFill>
                  <a:schemeClr val="tx1"/>
                </a:solidFill>
                <a:latin typeface="+mn-lt"/>
                <a:ea typeface="+mn-ea"/>
                <a:cs typeface="+mn-cs"/>
              </a:rPr>
              <a:t> — это модель, которая учится решать задачу, проходя данные через последовательность </a:t>
            </a:r>
            <a:r>
              <a:rPr lang="ru-RU" sz="1200" b="1" i="0" kern="1200" dirty="0" smtClean="0">
                <a:solidFill>
                  <a:schemeClr val="tx1"/>
                </a:solidFill>
                <a:latin typeface="+mn-lt"/>
                <a:ea typeface="+mn-ea"/>
                <a:cs typeface="+mn-cs"/>
              </a:rPr>
              <a:t>слоёв</a:t>
            </a:r>
            <a:r>
              <a:rPr lang="ru-RU" sz="1200" b="0" i="0" kern="1200" dirty="0" smtClean="0">
                <a:solidFill>
                  <a:schemeClr val="tx1"/>
                </a:solidFill>
                <a:latin typeface="+mn-lt"/>
                <a:ea typeface="+mn-ea"/>
                <a:cs typeface="+mn-cs"/>
              </a:rPr>
              <a:t>. Каждый слой состоит из </a:t>
            </a:r>
            <a:r>
              <a:rPr lang="ru-RU" sz="1200" b="1" i="0" kern="1200" dirty="0" smtClean="0">
                <a:solidFill>
                  <a:schemeClr val="tx1"/>
                </a:solidFill>
                <a:latin typeface="+mn-lt"/>
                <a:ea typeface="+mn-ea"/>
                <a:cs typeface="+mn-cs"/>
              </a:rPr>
              <a:t>нейронов</a:t>
            </a:r>
            <a:r>
              <a:rPr lang="ru-RU" sz="1200" b="0" i="0" kern="1200" dirty="0" smtClean="0">
                <a:solidFill>
                  <a:schemeClr val="tx1"/>
                </a:solidFill>
                <a:latin typeface="+mn-lt"/>
                <a:ea typeface="+mn-ea"/>
                <a:cs typeface="+mn-cs"/>
              </a:rPr>
              <a:t> — маленьких вычислительных единиц, которые получают вход, преобразуют его и передают дальше.</a:t>
            </a:r>
          </a:p>
          <a:p>
            <a:r>
              <a:rPr lang="ru-RU" sz="1200" b="0" i="0" kern="1200" dirty="0" smtClean="0">
                <a:solidFill>
                  <a:schemeClr val="tx1"/>
                </a:solidFill>
                <a:latin typeface="+mn-lt"/>
                <a:ea typeface="+mn-ea"/>
                <a:cs typeface="+mn-cs"/>
              </a:rPr>
              <a:t>Слои бывают разных типов. Сегодня мы знакомимся только с одним — </a:t>
            </a:r>
            <a:r>
              <a:rPr lang="ru-RU" sz="1200" b="0" i="0" kern="1200" dirty="0" err="1" smtClean="0">
                <a:solidFill>
                  <a:schemeClr val="tx1"/>
                </a:solidFill>
                <a:latin typeface="+mn-lt"/>
                <a:ea typeface="+mn-ea"/>
                <a:cs typeface="+mn-cs"/>
              </a:rPr>
              <a:t>полносвязным</a:t>
            </a:r>
            <a:r>
              <a:rPr lang="ru-RU" sz="1200" b="0" i="0" kern="1200" dirty="0" smtClean="0">
                <a:solidFill>
                  <a:schemeClr val="tx1"/>
                </a:solidFill>
                <a:latin typeface="+mn-lt"/>
                <a:ea typeface="+mn-ea"/>
                <a:cs typeface="+mn-cs"/>
              </a:rPr>
              <a:t> слоем.</a:t>
            </a:r>
          </a:p>
          <a:p>
            <a:r>
              <a:rPr lang="ru-RU" sz="1200" b="1" kern="1200" dirty="0" err="1" smtClean="0">
                <a:solidFill>
                  <a:schemeClr val="tx1"/>
                </a:solidFill>
                <a:latin typeface="+mn-lt"/>
                <a:ea typeface="+mn-ea"/>
                <a:cs typeface="+mn-cs"/>
              </a:rPr>
              <a:t>Полносвязный</a:t>
            </a:r>
            <a:r>
              <a:rPr lang="ru-RU" sz="1200" b="1" kern="1200" dirty="0" smtClean="0">
                <a:solidFill>
                  <a:schemeClr val="tx1"/>
                </a:solidFill>
                <a:latin typeface="+mn-lt"/>
                <a:ea typeface="+mn-ea"/>
                <a:cs typeface="+mn-cs"/>
              </a:rPr>
              <a:t> слой (</a:t>
            </a:r>
            <a:r>
              <a:rPr lang="ru-RU" sz="1200" b="1" kern="1200" dirty="0" err="1" smtClean="0">
                <a:solidFill>
                  <a:schemeClr val="tx1"/>
                </a:solidFill>
                <a:latin typeface="+mn-lt"/>
                <a:ea typeface="+mn-ea"/>
                <a:cs typeface="+mn-cs"/>
              </a:rPr>
              <a:t>Dense</a:t>
            </a:r>
            <a:r>
              <a:rPr lang="ru-RU" sz="1200" b="1" kern="1200" dirty="0" smtClean="0">
                <a:solidFill>
                  <a:schemeClr val="tx1"/>
                </a:solidFill>
                <a:latin typeface="+mn-lt"/>
                <a:ea typeface="+mn-ea"/>
                <a:cs typeface="+mn-cs"/>
              </a:rPr>
              <a:t>)</a:t>
            </a:r>
          </a:p>
          <a:p>
            <a:r>
              <a:rPr lang="ru-RU" sz="1200" b="0" i="0" kern="1200" dirty="0" smtClean="0">
                <a:solidFill>
                  <a:schemeClr val="tx1"/>
                </a:solidFill>
                <a:latin typeface="+mn-lt"/>
                <a:ea typeface="+mn-ea"/>
                <a:cs typeface="+mn-cs"/>
              </a:rPr>
              <a:t>Особенность </a:t>
            </a:r>
            <a:r>
              <a:rPr lang="ru-RU" sz="1200" b="0" i="0" kern="1200" dirty="0" err="1" smtClean="0">
                <a:solidFill>
                  <a:schemeClr val="tx1"/>
                </a:solidFill>
                <a:latin typeface="+mn-lt"/>
                <a:ea typeface="+mn-ea"/>
                <a:cs typeface="+mn-cs"/>
              </a:rPr>
              <a:t>полносвязного</a:t>
            </a:r>
            <a:r>
              <a:rPr lang="ru-RU" sz="1200" b="0" i="0" kern="1200" dirty="0" smtClean="0">
                <a:solidFill>
                  <a:schemeClr val="tx1"/>
                </a:solidFill>
                <a:latin typeface="+mn-lt"/>
                <a:ea typeface="+mn-ea"/>
                <a:cs typeface="+mn-cs"/>
              </a:rPr>
              <a:t> слоя понятна из названия: каждый нейрон этого слоя получает на вход выходы всех нейронов предыдущего слоя.</a:t>
            </a:r>
          </a:p>
          <a:p>
            <a:r>
              <a:rPr lang="ru-RU" sz="1200" b="0" i="0" kern="1200" dirty="0" smtClean="0">
                <a:solidFill>
                  <a:schemeClr val="tx1"/>
                </a:solidFill>
                <a:latin typeface="+mn-lt"/>
                <a:ea typeface="+mn-ea"/>
                <a:cs typeface="+mn-cs"/>
              </a:rPr>
              <a:t>Если это первый слой сети (на схеме — слой 0), то на вход каждому нейрону подаются все входные признаки.</a:t>
            </a:r>
          </a:p>
          <a:p>
            <a:r>
              <a:rPr lang="ru-RU" sz="1200" b="0" i="0" kern="1200" dirty="0" smtClean="0">
                <a:solidFill>
                  <a:schemeClr val="tx1"/>
                </a:solidFill>
                <a:latin typeface="+mn-lt"/>
                <a:ea typeface="+mn-ea"/>
                <a:cs typeface="+mn-cs"/>
              </a:rPr>
              <a:t>Если это </a:t>
            </a:r>
            <a:r>
              <a:rPr lang="ru-RU" sz="1200" b="1" i="0" kern="1200" dirty="0" smtClean="0">
                <a:solidFill>
                  <a:schemeClr val="tx1"/>
                </a:solidFill>
                <a:latin typeface="+mn-lt"/>
                <a:ea typeface="+mn-ea"/>
                <a:cs typeface="+mn-cs"/>
              </a:rPr>
              <a:t>скрытый слой</a:t>
            </a:r>
            <a:r>
              <a:rPr lang="ru-RU" sz="1200" b="0" i="0" kern="1200" dirty="0" smtClean="0">
                <a:solidFill>
                  <a:schemeClr val="tx1"/>
                </a:solidFill>
                <a:latin typeface="+mn-lt"/>
                <a:ea typeface="+mn-ea"/>
                <a:cs typeface="+mn-cs"/>
              </a:rPr>
              <a:t>, то каждый его нейрон получает </a:t>
            </a:r>
            <a:r>
              <a:rPr lang="ru-RU" sz="1200" b="1" i="0" kern="1200" dirty="0" smtClean="0">
                <a:solidFill>
                  <a:schemeClr val="tx1"/>
                </a:solidFill>
                <a:latin typeface="+mn-lt"/>
                <a:ea typeface="+mn-ea"/>
                <a:cs typeface="+mn-cs"/>
              </a:rPr>
              <a:t>все выходы предыдущего слоя</a:t>
            </a:r>
            <a:r>
              <a:rPr lang="ru-RU" sz="1200" b="0" i="0" kern="1200" dirty="0" smtClean="0">
                <a:solidFill>
                  <a:schemeClr val="tx1"/>
                </a:solidFill>
                <a:latin typeface="+mn-lt"/>
                <a:ea typeface="+mn-ea"/>
                <a:cs typeface="+mn-cs"/>
              </a:rPr>
              <a:t> — ничего не пропускается.</a:t>
            </a:r>
          </a:p>
          <a:p>
            <a:r>
              <a:rPr lang="ru-RU" sz="1200" b="0" i="0" kern="1200" dirty="0" smtClean="0">
                <a:solidFill>
                  <a:schemeClr val="tx1"/>
                </a:solidFill>
                <a:latin typeface="+mn-lt"/>
                <a:ea typeface="+mn-ea"/>
                <a:cs typeface="+mn-cs"/>
              </a:rPr>
              <a:t>Такая «полная связность» даёт слою максимум информации: каждый нейрон видит всю картину, а не только её часть.</a:t>
            </a:r>
          </a:p>
          <a:p>
            <a:endParaRPr lang="ru-RU" sz="1200" b="0" i="0" kern="1200" dirty="0" smtClean="0">
              <a:solidFill>
                <a:schemeClr val="tx1"/>
              </a:solidFill>
              <a:latin typeface="+mn-lt"/>
              <a:ea typeface="+mn-ea"/>
              <a:cs typeface="+mn-cs"/>
            </a:endParaRPr>
          </a:p>
          <a:p>
            <a:r>
              <a:rPr lang="ru-RU" sz="1200" b="0" kern="1200" dirty="0" smtClean="0">
                <a:solidFill>
                  <a:schemeClr val="tx1"/>
                </a:solidFill>
                <a:latin typeface="+mn-lt"/>
                <a:ea typeface="+mn-ea"/>
                <a:cs typeface="+mn-cs"/>
              </a:rPr>
              <a:t>Аналогия</a:t>
            </a:r>
          </a:p>
          <a:p>
            <a:r>
              <a:rPr lang="ru-RU" sz="1200" b="0" i="0" kern="1200" dirty="0" smtClean="0">
                <a:solidFill>
                  <a:schemeClr val="tx1"/>
                </a:solidFill>
                <a:latin typeface="+mn-lt"/>
                <a:ea typeface="+mn-ea"/>
                <a:cs typeface="+mn-cs"/>
              </a:rPr>
              <a:t>Представим нейронную сеть как департамент, который коллективно решает некоторый вопрос.</a:t>
            </a:r>
          </a:p>
          <a:p>
            <a:r>
              <a:rPr lang="ru-RU" sz="1200" b="0" i="0" kern="1200" dirty="0" smtClean="0">
                <a:solidFill>
                  <a:schemeClr val="tx1"/>
                </a:solidFill>
                <a:latin typeface="+mn-lt"/>
                <a:ea typeface="+mn-ea"/>
                <a:cs typeface="+mn-cs"/>
              </a:rPr>
              <a:t>В департаменте есть уровни иерархии:</a:t>
            </a:r>
          </a:p>
          <a:p>
            <a:r>
              <a:rPr lang="ru-RU" sz="1200" b="0" i="0" kern="1200" dirty="0" smtClean="0">
                <a:solidFill>
                  <a:schemeClr val="tx1"/>
                </a:solidFill>
                <a:latin typeface="+mn-lt"/>
                <a:ea typeface="+mn-ea"/>
                <a:cs typeface="+mn-cs"/>
              </a:rPr>
              <a:t>нижний уровень — обработка входящих обращений,</a:t>
            </a:r>
          </a:p>
          <a:p>
            <a:r>
              <a:rPr lang="ru-RU" sz="1200" b="0" i="0" kern="1200" dirty="0" smtClean="0">
                <a:solidFill>
                  <a:schemeClr val="tx1"/>
                </a:solidFill>
                <a:latin typeface="+mn-lt"/>
                <a:ea typeface="+mn-ea"/>
                <a:cs typeface="+mn-cs"/>
              </a:rPr>
              <a:t>средний — их анализ,</a:t>
            </a:r>
          </a:p>
          <a:p>
            <a:r>
              <a:rPr lang="ru-RU" sz="1200" b="0" i="0" kern="1200" dirty="0" smtClean="0">
                <a:solidFill>
                  <a:schemeClr val="tx1"/>
                </a:solidFill>
                <a:latin typeface="+mn-lt"/>
                <a:ea typeface="+mn-ea"/>
                <a:cs typeface="+mn-cs"/>
              </a:rPr>
              <a:t>верхний — анализ анализа,</a:t>
            </a:r>
          </a:p>
          <a:p>
            <a:r>
              <a:rPr lang="ru-RU" sz="1200" b="0" i="0" kern="1200" dirty="0" smtClean="0">
                <a:solidFill>
                  <a:schemeClr val="tx1"/>
                </a:solidFill>
                <a:latin typeface="+mn-lt"/>
                <a:ea typeface="+mn-ea"/>
                <a:cs typeface="+mn-cs"/>
              </a:rPr>
              <a:t>и так далее до финального решения.</a:t>
            </a:r>
          </a:p>
          <a:p>
            <a:r>
              <a:rPr lang="ru-RU" sz="1200" b="0" i="0" kern="1200" dirty="0" smtClean="0">
                <a:solidFill>
                  <a:schemeClr val="tx1"/>
                </a:solidFill>
                <a:latin typeface="+mn-lt"/>
                <a:ea typeface="+mn-ea"/>
                <a:cs typeface="+mn-cs"/>
              </a:rPr>
              <a:t>Каждый уровень — это слой сети. На каждом уровне сидят сотрудники — нейроны. Каждый сотрудник — дотошный дядя в костюме: он требует все отчёты с предыдущего уровня, хочет сам всё проанализировать и только потом предоставить начальству (нейронам следующего слоя) свой собственный отчёт.</a:t>
            </a:r>
          </a:p>
          <a:p>
            <a:r>
              <a:rPr lang="ru-RU" sz="1200" b="0" i="0" kern="1200" dirty="0" smtClean="0">
                <a:solidFill>
                  <a:schemeClr val="tx1"/>
                </a:solidFill>
                <a:latin typeface="+mn-lt"/>
                <a:ea typeface="+mn-ea"/>
                <a:cs typeface="+mn-cs"/>
              </a:rPr>
              <a:t>Именно так работает </a:t>
            </a:r>
            <a:r>
              <a:rPr lang="ru-RU" sz="1200" b="0" i="0" kern="1200" dirty="0" err="1" smtClean="0">
                <a:solidFill>
                  <a:schemeClr val="tx1"/>
                </a:solidFill>
                <a:latin typeface="+mn-lt"/>
                <a:ea typeface="+mn-ea"/>
                <a:cs typeface="+mn-cs"/>
              </a:rPr>
              <a:t>полносвязный</a:t>
            </a:r>
            <a:r>
              <a:rPr lang="ru-RU" sz="1200" b="0" i="0" kern="1200" dirty="0" smtClean="0">
                <a:solidFill>
                  <a:schemeClr val="tx1"/>
                </a:solidFill>
                <a:latin typeface="+mn-lt"/>
                <a:ea typeface="+mn-ea"/>
                <a:cs typeface="+mn-cs"/>
              </a:rPr>
              <a:t> слой: каждый нейрон собирает все сигналы снизу, обрабатывает их и передаёт наверх один результат.</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Зачем увеличивать число слоёв</a:t>
            </a:r>
          </a:p>
          <a:p>
            <a:r>
              <a:rPr lang="ru-RU" sz="1200" b="0" i="0" kern="1200" dirty="0" smtClean="0">
                <a:solidFill>
                  <a:schemeClr val="tx1"/>
                </a:solidFill>
                <a:latin typeface="+mn-lt"/>
                <a:ea typeface="+mn-ea"/>
                <a:cs typeface="+mn-cs"/>
              </a:rPr>
              <a:t>Чем больше слоёв, тем более сложные закономерности способна обнаружить модель. Но помним, что пушкой по воробьям мы не </a:t>
            </a:r>
            <a:r>
              <a:rPr lang="ru-RU" sz="1200" b="0" i="0" kern="1200" dirty="0" err="1" smtClean="0">
                <a:solidFill>
                  <a:schemeClr val="tx1"/>
                </a:solidFill>
                <a:latin typeface="+mn-lt"/>
                <a:ea typeface="+mn-ea"/>
                <a:cs typeface="+mn-cs"/>
              </a:rPr>
              <a:t>стрелсяем</a:t>
            </a:r>
            <a:r>
              <a:rPr lang="ru-RU" sz="1200" b="0" i="0" kern="1200" dirty="0" smtClean="0">
                <a:solidFill>
                  <a:schemeClr val="tx1"/>
                </a:solidFill>
                <a:latin typeface="+mn-lt"/>
                <a:ea typeface="+mn-ea"/>
                <a:cs typeface="+mn-cs"/>
              </a:rPr>
              <a:t>.</a:t>
            </a:r>
            <a:r>
              <a:rPr lang="ru-RU" sz="1200" b="0" i="0" kern="1200" baseline="0" dirty="0" smtClean="0">
                <a:solidFill>
                  <a:schemeClr val="tx1"/>
                </a:solidFill>
                <a:latin typeface="+mn-lt"/>
                <a:ea typeface="+mn-ea"/>
                <a:cs typeface="+mn-cs"/>
              </a:rPr>
              <a:t> Слишком сложная модель будет быстро переобучаться, об этом подробно </a:t>
            </a:r>
            <a:r>
              <a:rPr lang="ru-RU" sz="1200" b="0" i="0" kern="1200" baseline="0" dirty="0" err="1" smtClean="0">
                <a:solidFill>
                  <a:schemeClr val="tx1"/>
                </a:solidFill>
                <a:latin typeface="+mn-lt"/>
                <a:ea typeface="+mn-ea"/>
                <a:cs typeface="+mn-cs"/>
              </a:rPr>
              <a:t>поговрим</a:t>
            </a:r>
            <a:r>
              <a:rPr lang="ru-RU" sz="1200" b="0" i="0" kern="1200" baseline="0" dirty="0" smtClean="0">
                <a:solidFill>
                  <a:schemeClr val="tx1"/>
                </a:solidFill>
                <a:latin typeface="+mn-lt"/>
                <a:ea typeface="+mn-ea"/>
                <a:cs typeface="+mn-cs"/>
              </a:rPr>
              <a:t> на следующем занятии. А пока принимаем, что сложность архитектуры сети должна быть пропорциональна сложности задачи, для которой она разрабатывается. (Архитектура – последовательность слоев, их типы и их параметры, такие как число нейронов, функции активации и </a:t>
            </a:r>
            <a:r>
              <a:rPr lang="ru-RU" sz="1200" b="0" i="0" kern="1200" baseline="0" dirty="0" err="1" smtClean="0">
                <a:solidFill>
                  <a:schemeClr val="tx1"/>
                </a:solidFill>
                <a:latin typeface="+mn-lt"/>
                <a:ea typeface="+mn-ea"/>
                <a:cs typeface="+mn-cs"/>
              </a:rPr>
              <a:t>т.д</a:t>
            </a:r>
            <a:r>
              <a:rPr lang="ru-RU" sz="1200" b="0" i="0" kern="1200" baseline="0" dirty="0" smtClean="0">
                <a:solidFill>
                  <a:schemeClr val="tx1"/>
                </a:solidFill>
                <a:latin typeface="+mn-lt"/>
                <a:ea typeface="+mn-ea"/>
                <a:cs typeface="+mn-cs"/>
              </a:rPr>
              <a:t>)</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Интуиция такая:</a:t>
            </a:r>
          </a:p>
          <a:p>
            <a:r>
              <a:rPr lang="ru-RU" sz="1200" b="0" i="0" kern="1200" dirty="0" smtClean="0">
                <a:solidFill>
                  <a:schemeClr val="tx1"/>
                </a:solidFill>
                <a:latin typeface="+mn-lt"/>
                <a:ea typeface="+mn-ea"/>
                <a:cs typeface="+mn-cs"/>
              </a:rPr>
              <a:t>Первый слой видит только «сырые» признаки: яркость, цвет, наличие контура.</a:t>
            </a:r>
          </a:p>
          <a:p>
            <a:r>
              <a:rPr lang="ru-RU" sz="1200" b="0" i="0" kern="1200" dirty="0" smtClean="0">
                <a:solidFill>
                  <a:schemeClr val="tx1"/>
                </a:solidFill>
                <a:latin typeface="+mn-lt"/>
                <a:ea typeface="+mn-ea"/>
                <a:cs typeface="+mn-cs"/>
              </a:rPr>
              <a:t>Второй слой комбинирует их в более крупные структуры: линии, углы, градиенты.</a:t>
            </a:r>
          </a:p>
          <a:p>
            <a:r>
              <a:rPr lang="ru-RU" sz="1200" b="0" i="0" kern="1200" dirty="0" smtClean="0">
                <a:solidFill>
                  <a:schemeClr val="tx1"/>
                </a:solidFill>
                <a:latin typeface="+mn-lt"/>
                <a:ea typeface="+mn-ea"/>
                <a:cs typeface="+mn-cs"/>
              </a:rPr>
              <a:t>Третий слой собирает из них ещё более сложные объекты: части лиц, формы.</a:t>
            </a:r>
          </a:p>
          <a:p>
            <a:r>
              <a:rPr lang="ru-RU" sz="1200" b="0" i="0" kern="1200" dirty="0" smtClean="0">
                <a:solidFill>
                  <a:schemeClr val="tx1"/>
                </a:solidFill>
                <a:latin typeface="+mn-lt"/>
                <a:ea typeface="+mn-ea"/>
                <a:cs typeface="+mn-cs"/>
              </a:rPr>
              <a:t>Четвёртый и дальше — целые объекты: лицо, машина, дорожный знак.</a:t>
            </a:r>
          </a:p>
          <a:p>
            <a:r>
              <a:rPr lang="ru-RU" sz="1200" b="0" i="0" kern="1200" dirty="0" smtClean="0">
                <a:solidFill>
                  <a:schemeClr val="tx1"/>
                </a:solidFill>
                <a:latin typeface="+mn-lt"/>
                <a:ea typeface="+mn-ea"/>
                <a:cs typeface="+mn-cs"/>
              </a:rPr>
              <a:t>Каждый следующий слой работает не с исходными пикселями, а с абстракциями, которые построили предыдущие слои. Чем глубже сеть, тем выше уровень этих абстракций — и тем более сложные задачи она может решать.</a:t>
            </a:r>
          </a:p>
          <a:p>
            <a:r>
              <a:rPr lang="ru-RU" sz="1200" b="0" i="0" kern="1200" dirty="0" smtClean="0">
                <a:solidFill>
                  <a:schemeClr val="tx1"/>
                </a:solidFill>
                <a:latin typeface="+mn-lt"/>
                <a:ea typeface="+mn-ea"/>
                <a:cs typeface="+mn-cs"/>
              </a:rPr>
              <a:t>Именно поэтому глубокие нейронные сети (</a:t>
            </a:r>
            <a:r>
              <a:rPr lang="ru-RU" sz="1200" b="0" i="0" kern="1200" dirty="0" err="1" smtClean="0">
                <a:solidFill>
                  <a:schemeClr val="tx1"/>
                </a:solidFill>
                <a:latin typeface="+mn-lt"/>
                <a:ea typeface="+mn-ea"/>
                <a:cs typeface="+mn-cs"/>
              </a:rPr>
              <a:t>deep</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learning</a:t>
            </a:r>
            <a:r>
              <a:rPr lang="ru-RU" sz="1200" b="0" i="0" kern="1200" dirty="0" smtClean="0">
                <a:solidFill>
                  <a:schemeClr val="tx1"/>
                </a:solidFill>
                <a:latin typeface="+mn-lt"/>
                <a:ea typeface="+mn-ea"/>
                <a:cs typeface="+mn-cs"/>
              </a:rPr>
              <a:t>) произвели революцию в компьютерном зрении, обработке языка и многих других областях.</a:t>
            </a:r>
          </a:p>
          <a:p>
            <a:endParaRPr lang="ru-RU" sz="1200" b="0" i="0" kern="1200" dirty="0" smtClean="0">
              <a:solidFill>
                <a:schemeClr val="tx1"/>
              </a:solidFill>
              <a:latin typeface="+mn-lt"/>
              <a:ea typeface="+mn-ea"/>
              <a:cs typeface="+mn-cs"/>
            </a:endParaRPr>
          </a:p>
          <a:p>
            <a:r>
              <a:rPr lang="ru-RU" sz="1200" b="0" kern="1200" dirty="0" smtClean="0">
                <a:solidFill>
                  <a:schemeClr val="tx1"/>
                </a:solidFill>
                <a:latin typeface="+mn-lt"/>
                <a:ea typeface="+mn-ea"/>
                <a:cs typeface="+mn-cs"/>
              </a:rPr>
              <a:t>Важное замечание про нелинейность</a:t>
            </a:r>
          </a:p>
          <a:p>
            <a:r>
              <a:rPr lang="ru-RU" sz="1200" b="0" i="0" kern="1200" dirty="0" smtClean="0">
                <a:solidFill>
                  <a:schemeClr val="tx1"/>
                </a:solidFill>
                <a:latin typeface="+mn-lt"/>
                <a:ea typeface="+mn-ea"/>
                <a:cs typeface="+mn-cs"/>
              </a:rPr>
              <a:t>Если между слоями не ставить нелинейную активацию (</a:t>
            </a:r>
            <a:r>
              <a:rPr lang="ru-RU" sz="1200" b="0" i="0" kern="1200" dirty="0" err="1" smtClean="0">
                <a:solidFill>
                  <a:schemeClr val="tx1"/>
                </a:solidFill>
                <a:latin typeface="+mn-lt"/>
                <a:ea typeface="+mn-ea"/>
                <a:cs typeface="+mn-cs"/>
              </a:rPr>
              <a:t>ReLU</a:t>
            </a:r>
            <a:r>
              <a:rPr lang="ru-RU" sz="1200" b="0" i="0" kern="1200" baseline="0" dirty="0" smtClean="0">
                <a:solidFill>
                  <a:schemeClr val="tx1"/>
                </a:solidFill>
                <a:latin typeface="+mn-lt"/>
                <a:ea typeface="+mn-ea"/>
                <a:cs typeface="+mn-cs"/>
              </a:rPr>
              <a:t> например</a:t>
            </a:r>
            <a:r>
              <a:rPr lang="ru-RU" sz="1200" b="0" i="0" kern="1200" dirty="0" smtClean="0">
                <a:solidFill>
                  <a:schemeClr val="tx1"/>
                </a:solidFill>
                <a:latin typeface="+mn-lt"/>
                <a:ea typeface="+mn-ea"/>
                <a:cs typeface="+mn-cs"/>
              </a:rPr>
              <a:t>), вся сеть </a:t>
            </a:r>
            <a:r>
              <a:rPr lang="ru-RU" sz="1200" b="0" i="0" kern="1200" dirty="0" err="1" smtClean="0">
                <a:solidFill>
                  <a:schemeClr val="tx1"/>
                </a:solidFill>
                <a:latin typeface="+mn-lt"/>
                <a:ea typeface="+mn-ea"/>
                <a:cs typeface="+mn-cs"/>
              </a:rPr>
              <a:t>схлопнется</a:t>
            </a:r>
            <a:r>
              <a:rPr lang="ru-RU" sz="1200" b="0" i="0" kern="1200" dirty="0" smtClean="0">
                <a:solidFill>
                  <a:schemeClr val="tx1"/>
                </a:solidFill>
                <a:latin typeface="+mn-lt"/>
                <a:ea typeface="+mn-ea"/>
                <a:cs typeface="+mn-cs"/>
              </a:rPr>
              <a:t> в одну линейную функцию — сколько бы слоёв мы ни добавили.</a:t>
            </a:r>
          </a:p>
          <a:p>
            <a:r>
              <a:rPr lang="ru-RU" sz="1200" b="0" i="0" kern="1200" dirty="0" smtClean="0">
                <a:solidFill>
                  <a:schemeClr val="tx1"/>
                </a:solidFill>
                <a:latin typeface="+mn-lt"/>
                <a:ea typeface="+mn-ea"/>
                <a:cs typeface="+mn-cs"/>
              </a:rPr>
              <a:t>Почему: линейное преобразование после линейного — это снова линейное преобразование. Два слоя без активации эквивалентны одному. Именно нелинейность позволяет каждому слою добавлять новое качество, а не просто повторять то же самое.</a:t>
            </a:r>
          </a:p>
          <a:p>
            <a:r>
              <a:rPr lang="ru-RU" sz="1200" b="0" i="0" kern="1200" dirty="0" smtClean="0">
                <a:solidFill>
                  <a:schemeClr val="tx1"/>
                </a:solidFill>
                <a:latin typeface="+mn-lt"/>
                <a:ea typeface="+mn-ea"/>
                <a:cs typeface="+mn-cs"/>
              </a:rPr>
              <a:t>Поэтому в скрытых слоях всегда стоит нелинейная активация.</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Ключевая мысль:</a:t>
            </a:r>
            <a:r>
              <a:rPr lang="ru-RU" sz="1200" b="0" i="0" kern="1200" dirty="0" smtClean="0">
                <a:solidFill>
                  <a:schemeClr val="tx1"/>
                </a:solidFill>
                <a:latin typeface="+mn-lt"/>
                <a:ea typeface="+mn-ea"/>
                <a:cs typeface="+mn-cs"/>
              </a:rPr>
              <a:t> нейронная сеть — это иерархия слоёв, где каждый следующий уровень работает с более абстрактными признаками, чем предыдущий. </a:t>
            </a:r>
            <a:r>
              <a:rPr lang="ru-RU" sz="1200" b="0" i="0" kern="1200" dirty="0" err="1" smtClean="0">
                <a:solidFill>
                  <a:schemeClr val="tx1"/>
                </a:solidFill>
                <a:latin typeface="+mn-lt"/>
                <a:ea typeface="+mn-ea"/>
                <a:cs typeface="+mn-cs"/>
              </a:rPr>
              <a:t>Полносвязный</a:t>
            </a:r>
            <a:r>
              <a:rPr lang="ru-RU" sz="1200" b="0" i="0" kern="1200" dirty="0" smtClean="0">
                <a:solidFill>
                  <a:schemeClr val="tx1"/>
                </a:solidFill>
                <a:latin typeface="+mn-lt"/>
                <a:ea typeface="+mn-ea"/>
                <a:cs typeface="+mn-cs"/>
              </a:rPr>
              <a:t> слой соединяет всё со всем, чтобы каждый нейрон видел полную картину. А глубина + нелинейность позволяют сети улавливать всё более сложные закономерности — от пикселей до целых объектов.</a:t>
            </a:r>
          </a:p>
          <a:p>
            <a:r>
              <a:rPr lang="ru-RU" dirty="0" smtClean="0"/>
              <a:t/>
            </a:r>
            <a:br>
              <a:rPr lang="ru-RU" dirty="0" smtClean="0"/>
            </a:br>
            <a:endParaRPr lang="ru-RU" sz="1200" b="0" i="0" kern="1200" dirty="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CEBF9C1A-0A84-4F0C-9C04-72BCEF6B8C2A}" type="slidenum">
              <a:rPr lang="ru-RU" smtClean="0"/>
              <a:pPr/>
              <a:t>4</a:t>
            </a:fld>
            <a:endParaRPr lang="ru-R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lnSpcReduction="10000"/>
          </a:bodyPr>
          <a:lstStyle/>
          <a:p>
            <a:r>
              <a:rPr lang="ru-RU" dirty="0" smtClean="0"/>
              <a:t>Разберем пример. </a:t>
            </a:r>
            <a:r>
              <a:rPr lang="ru-RU" baseline="0" dirty="0" smtClean="0"/>
              <a:t> А также рассмотрим фрагмент кода, создающего нейронную сеть, представленную на рисунке</a:t>
            </a:r>
          </a:p>
          <a:p>
            <a:endParaRPr lang="ru-RU" baseline="0" dirty="0" smtClean="0"/>
          </a:p>
          <a:p>
            <a:r>
              <a:rPr lang="en-US" baseline="0" dirty="0" smtClean="0"/>
              <a:t>Model – </a:t>
            </a:r>
            <a:r>
              <a:rPr lang="ru-RU" baseline="0" dirty="0" smtClean="0"/>
              <a:t>имя переменной, которая хранит в себе нашу модель</a:t>
            </a:r>
          </a:p>
          <a:p>
            <a:r>
              <a:rPr lang="en-US" baseline="0" dirty="0" smtClean="0"/>
              <a:t>Sequential – </a:t>
            </a:r>
            <a:r>
              <a:rPr lang="ru-RU" baseline="0" dirty="0" smtClean="0"/>
              <a:t>класс контейнера. Это как список (т.е. упорядоченный), который хранит в себе последовательность слоев и их характеристик (число нейронов, функции активации)</a:t>
            </a:r>
          </a:p>
          <a:p>
            <a:endParaRPr lang="ru-RU" baseline="0" dirty="0" smtClean="0"/>
          </a:p>
          <a:p>
            <a:r>
              <a:rPr lang="ru-RU" baseline="0" dirty="0" smtClean="0"/>
              <a:t>Далее в </a:t>
            </a:r>
            <a:r>
              <a:rPr lang="en-US" baseline="0" dirty="0" smtClean="0"/>
              <a:t>Sequential </a:t>
            </a:r>
            <a:r>
              <a:rPr lang="ru-RU" baseline="0" dirty="0" smtClean="0"/>
              <a:t>передаем список слоев</a:t>
            </a:r>
          </a:p>
          <a:p>
            <a:r>
              <a:rPr lang="en-US" baseline="0" dirty="0" smtClean="0"/>
              <a:t>Dense – </a:t>
            </a:r>
            <a:r>
              <a:rPr lang="ru-RU" baseline="0" dirty="0" err="1" smtClean="0"/>
              <a:t>полносвязный</a:t>
            </a:r>
            <a:r>
              <a:rPr lang="ru-RU" baseline="0" dirty="0" smtClean="0"/>
              <a:t> слой. Первый параметр – число нейронов. В первом </a:t>
            </a:r>
            <a:r>
              <a:rPr lang="ru-RU" baseline="0" dirty="0" err="1" smtClean="0"/>
              <a:t>полносвязном</a:t>
            </a:r>
            <a:r>
              <a:rPr lang="ru-RU" baseline="0" dirty="0" smtClean="0"/>
              <a:t> слое у нас 16 нейронов. Второй аргумент – функция активации, тут </a:t>
            </a:r>
            <a:r>
              <a:rPr lang="en-US" baseline="0" dirty="0" err="1" smtClean="0"/>
              <a:t>relu</a:t>
            </a:r>
            <a:r>
              <a:rPr lang="en-US" baseline="0" dirty="0" smtClean="0"/>
              <a:t>. </a:t>
            </a:r>
            <a:r>
              <a:rPr lang="ru-RU" sz="1200" b="0" i="0" kern="1200" dirty="0" err="1" smtClean="0">
                <a:solidFill>
                  <a:schemeClr val="tx1"/>
                </a:solidFill>
                <a:latin typeface="+mn-lt"/>
                <a:ea typeface="+mn-ea"/>
                <a:cs typeface="+mn-cs"/>
              </a:rPr>
              <a:t>input_shape=</a:t>
            </a:r>
            <a:r>
              <a:rPr lang="ru-RU" sz="1200" b="0" i="0" kern="1200" dirty="0" smtClean="0">
                <a:solidFill>
                  <a:schemeClr val="tx1"/>
                </a:solidFill>
                <a:latin typeface="+mn-lt"/>
                <a:ea typeface="+mn-ea"/>
                <a:cs typeface="+mn-cs"/>
              </a:rPr>
              <a:t>(8,). Этот аргумент указывается только у входного слоя — того, на который непосредственно поступают признаки (а не выходы другого слоя). В нашем случае это массив из 8 признаков. Форма </a:t>
            </a:r>
            <a:r>
              <a:rPr lang="ru-RU" b="0" dirty="0" smtClean="0"/>
              <a:t>(8,)</a:t>
            </a:r>
            <a:r>
              <a:rPr lang="ru-RU" sz="1200" b="0" i="0" kern="1200" dirty="0" smtClean="0">
                <a:solidFill>
                  <a:schemeClr val="tx1"/>
                </a:solidFill>
                <a:latin typeface="+mn-lt"/>
                <a:ea typeface="+mn-ea"/>
                <a:cs typeface="+mn-cs"/>
              </a:rPr>
              <a:t> подчёркивает, что это одномерный тензор — массив.</a:t>
            </a:r>
            <a:endParaRPr lang="en-US" sz="1200" b="0" i="0" kern="1200" dirty="0" smtClean="0">
              <a:solidFill>
                <a:schemeClr val="tx1"/>
              </a:solidFill>
              <a:latin typeface="+mn-lt"/>
              <a:ea typeface="+mn-ea"/>
              <a:cs typeface="+mn-cs"/>
            </a:endParaRPr>
          </a:p>
          <a:p>
            <a:endParaRPr lang="en-US" baseline="0" dirty="0" smtClean="0"/>
          </a:p>
          <a:p>
            <a:r>
              <a:rPr lang="ru-RU" sz="1200" b="0" i="0" kern="1200" dirty="0" smtClean="0">
                <a:solidFill>
                  <a:schemeClr val="tx1"/>
                </a:solidFill>
                <a:latin typeface="+mn-lt"/>
                <a:ea typeface="+mn-ea"/>
                <a:cs typeface="+mn-cs"/>
              </a:rPr>
              <a:t>Каждую связь «вход → нейрон» или «выход нейрона → вход нейрона следующего слоя» характеризует вес. Именно эти веса сеть подбирает во время обучения.</a:t>
            </a:r>
            <a:endParaRPr lang="en-US" sz="1200" b="0" i="0" kern="1200" dirty="0" smtClean="0">
              <a:solidFill>
                <a:schemeClr val="tx1"/>
              </a:solidFill>
              <a:latin typeface="+mn-lt"/>
              <a:ea typeface="+mn-ea"/>
              <a:cs typeface="+mn-cs"/>
            </a:endParaRPr>
          </a:p>
          <a:p>
            <a:endParaRPr lang="ru-RU" baseline="0" dirty="0" smtClean="0"/>
          </a:p>
          <a:p>
            <a:r>
              <a:rPr lang="ru-RU" baseline="0" dirty="0" smtClean="0"/>
              <a:t>Далее мы создаем второй слой – </a:t>
            </a:r>
            <a:r>
              <a:rPr lang="en-US" baseline="0" dirty="0" smtClean="0"/>
              <a:t>Dense, </a:t>
            </a:r>
            <a:r>
              <a:rPr lang="ru-RU" baseline="0" dirty="0" smtClean="0"/>
              <a:t>тоже </a:t>
            </a:r>
            <a:r>
              <a:rPr lang="ru-RU" baseline="0" dirty="0" err="1" smtClean="0"/>
              <a:t>полносвязный</a:t>
            </a:r>
            <a:r>
              <a:rPr lang="ru-RU" baseline="0" dirty="0" smtClean="0"/>
              <a:t>. Это выходной слой. Это главный босс, который принимает итоговое решение на основе отчетов всех 16 нейронов предыдущего слоя. В конце </a:t>
            </a:r>
            <a:r>
              <a:rPr lang="ru-RU" baseline="0" dirty="0" err="1" smtClean="0"/>
              <a:t>жтого</a:t>
            </a:r>
            <a:r>
              <a:rPr lang="ru-RU" baseline="0" dirty="0" smtClean="0"/>
              <a:t> слоя у нас линейная функция активации. Она применяется для задачи регрессии. Эта функция выдает то же, что пришло ей на вход. Нетрудно догадаться, что она не нарушает линейность. Поэтому эта функция активации используется только в выходном, последнем слое.</a:t>
            </a:r>
            <a:endParaRPr lang="en-US" baseline="0" dirty="0" smtClean="0"/>
          </a:p>
          <a:p>
            <a:endParaRPr lang="ru-RU" baseline="0" dirty="0" smtClean="0"/>
          </a:p>
        </p:txBody>
      </p:sp>
      <p:sp>
        <p:nvSpPr>
          <p:cNvPr id="4" name="Номер слайда 3"/>
          <p:cNvSpPr>
            <a:spLocks noGrp="1"/>
          </p:cNvSpPr>
          <p:nvPr>
            <p:ph type="sldNum" sz="quarter" idx="10"/>
          </p:nvPr>
        </p:nvSpPr>
        <p:spPr/>
        <p:txBody>
          <a:bodyPr/>
          <a:lstStyle/>
          <a:p>
            <a:fld id="{CEBF9C1A-0A84-4F0C-9C04-72BCEF6B8C2A}" type="slidenum">
              <a:rPr lang="ru-RU" smtClean="0"/>
              <a:pPr/>
              <a:t>5</a:t>
            </a:fld>
            <a:endParaRPr lang="ru-R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lnSpcReduction="10000"/>
          </a:bodyPr>
          <a:lstStyle/>
          <a:p>
            <a:r>
              <a:rPr lang="ru-RU" sz="1200" b="1" kern="1200" dirty="0" smtClean="0">
                <a:solidFill>
                  <a:schemeClr val="tx1"/>
                </a:solidFill>
                <a:latin typeface="+mn-lt"/>
                <a:ea typeface="+mn-ea"/>
                <a:cs typeface="+mn-cs"/>
              </a:rPr>
              <a:t>Функция потерь: зачем она нужна</a:t>
            </a:r>
          </a:p>
          <a:p>
            <a:r>
              <a:rPr lang="ru-RU" sz="1200" b="1" kern="1200" dirty="0" smtClean="0">
                <a:solidFill>
                  <a:schemeClr val="tx1"/>
                </a:solidFill>
                <a:latin typeface="+mn-lt"/>
                <a:ea typeface="+mn-ea"/>
                <a:cs typeface="+mn-cs"/>
              </a:rPr>
              <a:t>Мера успеха</a:t>
            </a:r>
          </a:p>
          <a:p>
            <a:r>
              <a:rPr lang="ru-RU" sz="1200" b="0" i="0" kern="1200" dirty="0" smtClean="0">
                <a:solidFill>
                  <a:schemeClr val="tx1"/>
                </a:solidFill>
                <a:latin typeface="+mn-lt"/>
                <a:ea typeface="+mn-ea"/>
                <a:cs typeface="+mn-cs"/>
              </a:rPr>
              <a:t>В любой работе нужна мера успеха — чтобы понимать, насколько хорошо или плохо мы справляемся.</a:t>
            </a:r>
          </a:p>
          <a:p>
            <a:r>
              <a:rPr lang="ru-RU" sz="1200" b="0" i="0" kern="1200" dirty="0" smtClean="0">
                <a:solidFill>
                  <a:schemeClr val="tx1"/>
                </a:solidFill>
                <a:latin typeface="+mn-lt"/>
                <a:ea typeface="+mn-ea"/>
                <a:cs typeface="+mn-cs"/>
              </a:rPr>
              <a:t>Для </a:t>
            </a:r>
            <a:r>
              <a:rPr lang="ru-RU" sz="1200" b="0" i="0" kern="1200" dirty="0" err="1" smtClean="0">
                <a:solidFill>
                  <a:schemeClr val="tx1"/>
                </a:solidFill>
                <a:latin typeface="+mn-lt"/>
                <a:ea typeface="+mn-ea"/>
                <a:cs typeface="+mn-cs"/>
              </a:rPr>
              <a:t>нейросети</a:t>
            </a:r>
            <a:r>
              <a:rPr lang="ru-RU" sz="1200" b="0" i="0" kern="1200" dirty="0" smtClean="0">
                <a:solidFill>
                  <a:schemeClr val="tx1"/>
                </a:solidFill>
                <a:latin typeface="+mn-lt"/>
                <a:ea typeface="+mn-ea"/>
                <a:cs typeface="+mn-cs"/>
              </a:rPr>
              <a:t> таким </a:t>
            </a:r>
            <a:r>
              <a:rPr lang="ru-RU" sz="1200" b="0" i="0" kern="1200" dirty="0" err="1" smtClean="0">
                <a:solidFill>
                  <a:schemeClr val="tx1"/>
                </a:solidFill>
                <a:latin typeface="+mn-lt"/>
                <a:ea typeface="+mn-ea"/>
                <a:cs typeface="+mn-cs"/>
              </a:rPr>
              <a:t>фидбеком</a:t>
            </a:r>
            <a:r>
              <a:rPr lang="ru-RU" sz="1200" b="0" i="0" kern="1200" dirty="0" smtClean="0">
                <a:solidFill>
                  <a:schemeClr val="tx1"/>
                </a:solidFill>
                <a:latin typeface="+mn-lt"/>
                <a:ea typeface="+mn-ea"/>
                <a:cs typeface="+mn-cs"/>
              </a:rPr>
              <a:t> выступает функция потерь. По определённым формулам она вычисляет, насколько результаты, которые получила </a:t>
            </a:r>
            <a:r>
              <a:rPr lang="ru-RU" sz="1200" b="0" i="0" kern="1200" dirty="0" err="1" smtClean="0">
                <a:solidFill>
                  <a:schemeClr val="tx1"/>
                </a:solidFill>
                <a:latin typeface="+mn-lt"/>
                <a:ea typeface="+mn-ea"/>
                <a:cs typeface="+mn-cs"/>
              </a:rPr>
              <a:t>нейросеть</a:t>
            </a:r>
            <a:r>
              <a:rPr lang="ru-RU" sz="1200" b="0" i="0" kern="1200" dirty="0" smtClean="0">
                <a:solidFill>
                  <a:schemeClr val="tx1"/>
                </a:solidFill>
                <a:latin typeface="+mn-lt"/>
                <a:ea typeface="+mn-ea"/>
                <a:cs typeface="+mn-cs"/>
              </a:rPr>
              <a:t>, отличаются от тех, которые она должна была получить.</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Задача машинного обучения</a:t>
            </a:r>
          </a:p>
          <a:p>
            <a:r>
              <a:rPr lang="ru-RU" sz="1200" b="0" i="0" kern="1200" dirty="0" smtClean="0">
                <a:solidFill>
                  <a:schemeClr val="tx1"/>
                </a:solidFill>
                <a:latin typeface="+mn-lt"/>
                <a:ea typeface="+mn-ea"/>
                <a:cs typeface="+mn-cs"/>
              </a:rPr>
              <a:t>Задача машинного обучения формулируется так: подобрать веса так, чтобы модель решала задачу хорошо и не решала плохо)</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Но как понять — хорошо или плохо? Ответ даёт функция потерь: чем меньше её значение, тем лучше.</a:t>
            </a:r>
          </a:p>
          <a:p>
            <a:r>
              <a:rPr lang="ru-RU" sz="1200" b="0" i="0" kern="1200" dirty="0" smtClean="0">
                <a:solidFill>
                  <a:schemeClr val="tx1"/>
                </a:solidFill>
                <a:latin typeface="+mn-lt"/>
                <a:ea typeface="+mn-ea"/>
                <a:cs typeface="+mn-cs"/>
              </a:rPr>
              <a:t>Отсюда точная формулировка:</a:t>
            </a:r>
          </a:p>
          <a:p>
            <a:r>
              <a:rPr lang="ru-RU" b="1" dirty="0" smtClean="0"/>
              <a:t>Задача — подобрать веса так, чтобы минимизировать значение функции потерь.</a:t>
            </a:r>
          </a:p>
          <a:p>
            <a:endParaRPr lang="ru-RU" b="1" dirty="0" smtClean="0"/>
          </a:p>
          <a:p>
            <a:r>
              <a:rPr lang="ru-RU" sz="1200" b="1" kern="1200" dirty="0" smtClean="0">
                <a:solidFill>
                  <a:schemeClr val="tx1"/>
                </a:solidFill>
                <a:latin typeface="+mn-lt"/>
                <a:ea typeface="+mn-ea"/>
                <a:cs typeface="+mn-cs"/>
              </a:rPr>
              <a:t>Функции потерь для регрессии</a:t>
            </a:r>
          </a:p>
          <a:p>
            <a:r>
              <a:rPr lang="ru-RU" sz="1200" b="0" i="0" kern="1200" dirty="0" smtClean="0">
                <a:solidFill>
                  <a:schemeClr val="tx1"/>
                </a:solidFill>
                <a:latin typeface="+mn-lt"/>
                <a:ea typeface="+mn-ea"/>
                <a:cs typeface="+mn-cs"/>
              </a:rPr>
              <a:t>Сначала рассмотрим функции для задач </a:t>
            </a:r>
            <a:r>
              <a:rPr lang="ru-RU" sz="1200" b="1" i="0" kern="1200" dirty="0" smtClean="0">
                <a:solidFill>
                  <a:schemeClr val="tx1"/>
                </a:solidFill>
                <a:latin typeface="+mn-lt"/>
                <a:ea typeface="+mn-ea"/>
                <a:cs typeface="+mn-cs"/>
              </a:rPr>
              <a:t>регрессии</a:t>
            </a:r>
            <a:r>
              <a:rPr lang="ru-RU" sz="1200" b="0" i="0" kern="1200" dirty="0" smtClean="0">
                <a:solidFill>
                  <a:schemeClr val="tx1"/>
                </a:solidFill>
                <a:latin typeface="+mn-lt"/>
                <a:ea typeface="+mn-ea"/>
                <a:cs typeface="+mn-cs"/>
              </a:rPr>
              <a:t> — MSE и MAE.</a:t>
            </a:r>
          </a:p>
          <a:p>
            <a:r>
              <a:rPr lang="ru-RU" sz="1200" b="1" kern="1200" dirty="0" smtClean="0">
                <a:solidFill>
                  <a:schemeClr val="tx1"/>
                </a:solidFill>
                <a:latin typeface="+mn-lt"/>
                <a:ea typeface="+mn-ea"/>
                <a:cs typeface="+mn-cs"/>
              </a:rPr>
              <a:t>MSE — </a:t>
            </a:r>
            <a:r>
              <a:rPr lang="ru-RU" sz="1200" b="1" kern="1200" dirty="0" err="1" smtClean="0">
                <a:solidFill>
                  <a:schemeClr val="tx1"/>
                </a:solidFill>
                <a:latin typeface="+mn-lt"/>
                <a:ea typeface="+mn-ea"/>
                <a:cs typeface="+mn-cs"/>
              </a:rPr>
              <a:t>Mean</a:t>
            </a:r>
            <a:r>
              <a:rPr lang="ru-RU" sz="1200" b="1" kern="1200" dirty="0" smtClean="0">
                <a:solidFill>
                  <a:schemeClr val="tx1"/>
                </a:solidFill>
                <a:latin typeface="+mn-lt"/>
                <a:ea typeface="+mn-ea"/>
                <a:cs typeface="+mn-cs"/>
              </a:rPr>
              <a:t> </a:t>
            </a:r>
            <a:r>
              <a:rPr lang="ru-RU" sz="1200" b="1" kern="1200" dirty="0" err="1" smtClean="0">
                <a:solidFill>
                  <a:schemeClr val="tx1"/>
                </a:solidFill>
                <a:latin typeface="+mn-lt"/>
                <a:ea typeface="+mn-ea"/>
                <a:cs typeface="+mn-cs"/>
              </a:rPr>
              <a:t>Squared</a:t>
            </a:r>
            <a:r>
              <a:rPr lang="ru-RU" sz="1200" b="1" kern="1200" dirty="0" smtClean="0">
                <a:solidFill>
                  <a:schemeClr val="tx1"/>
                </a:solidFill>
                <a:latin typeface="+mn-lt"/>
                <a:ea typeface="+mn-ea"/>
                <a:cs typeface="+mn-cs"/>
              </a:rPr>
              <a:t> </a:t>
            </a:r>
            <a:r>
              <a:rPr lang="ru-RU" sz="1200" b="1" kern="1200" dirty="0" err="1" smtClean="0">
                <a:solidFill>
                  <a:schemeClr val="tx1"/>
                </a:solidFill>
                <a:latin typeface="+mn-lt"/>
                <a:ea typeface="+mn-ea"/>
                <a:cs typeface="+mn-cs"/>
              </a:rPr>
              <a:t>Error</a:t>
            </a:r>
            <a:endParaRPr lang="ru-RU" sz="1200" b="1" kern="1200" dirty="0" smtClean="0">
              <a:solidFill>
                <a:schemeClr val="tx1"/>
              </a:solidFill>
              <a:latin typeface="+mn-lt"/>
              <a:ea typeface="+mn-ea"/>
              <a:cs typeface="+mn-cs"/>
            </a:endParaRPr>
          </a:p>
          <a:p>
            <a:endParaRPr lang="ru-RU" sz="1200" b="1"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Обозначения:</a:t>
            </a:r>
          </a:p>
          <a:p>
            <a:r>
              <a:rPr lang="ru-RU" sz="1200" b="0" i="0" kern="1200" dirty="0" err="1" smtClean="0">
                <a:solidFill>
                  <a:schemeClr val="tx1"/>
                </a:solidFill>
                <a:latin typeface="+mn-lt"/>
                <a:ea typeface="+mn-ea"/>
                <a:cs typeface="+mn-cs"/>
              </a:rPr>
              <a:t>yᵢ </a:t>
            </a:r>
            <a:r>
              <a:rPr lang="ru-RU" sz="1200" b="0" i="0" kern="1200" dirty="0" smtClean="0">
                <a:solidFill>
                  <a:schemeClr val="tx1"/>
                </a:solidFill>
                <a:latin typeface="+mn-lt"/>
                <a:ea typeface="+mn-ea"/>
                <a:cs typeface="+mn-cs"/>
              </a:rPr>
              <a:t>— то, что получила наша </a:t>
            </a:r>
            <a:r>
              <a:rPr lang="ru-RU" sz="1200" b="0" i="0" kern="1200" dirty="0" err="1" smtClean="0">
                <a:solidFill>
                  <a:schemeClr val="tx1"/>
                </a:solidFill>
                <a:latin typeface="+mn-lt"/>
                <a:ea typeface="+mn-ea"/>
                <a:cs typeface="+mn-cs"/>
              </a:rPr>
              <a:t>нейросеть</a:t>
            </a:r>
            <a:r>
              <a:rPr lang="ru-RU" sz="1200" b="0" i="0" kern="1200" dirty="0" smtClean="0">
                <a:solidFill>
                  <a:schemeClr val="tx1"/>
                </a:solidFill>
                <a:latin typeface="+mn-lt"/>
                <a:ea typeface="+mn-ea"/>
                <a:cs typeface="+mn-cs"/>
              </a:rPr>
              <a:t> с текущими весами (предсказание, гадалку в студию</a:t>
            </a:r>
            <a:r>
              <a:rPr lang="ru-RU" sz="1200" b="0" i="0" kern="1200" baseline="0" dirty="0" smtClean="0">
                <a:solidFill>
                  <a:schemeClr val="tx1"/>
                </a:solidFill>
                <a:latin typeface="+mn-lt"/>
                <a:ea typeface="+mn-ea"/>
                <a:cs typeface="+mn-cs"/>
              </a:rPr>
              <a:t> .. ) </a:t>
            </a:r>
            <a:r>
              <a:rPr lang="ru-RU" sz="1200" b="0" i="0" kern="1200" dirty="0" smtClean="0">
                <a:solidFill>
                  <a:schemeClr val="tx1"/>
                </a:solidFill>
                <a:latin typeface="+mn-lt"/>
                <a:ea typeface="+mn-ea"/>
                <a:cs typeface="+mn-cs"/>
              </a:rPr>
              <a:t>);</a:t>
            </a:r>
          </a:p>
          <a:p>
            <a:r>
              <a:rPr lang="ru-RU" sz="1200" b="0" i="0" kern="1200" dirty="0" err="1" smtClean="0">
                <a:solidFill>
                  <a:schemeClr val="tx1"/>
                </a:solidFill>
                <a:latin typeface="+mn-lt"/>
                <a:ea typeface="+mn-ea"/>
                <a:cs typeface="+mn-cs"/>
              </a:rPr>
              <a:t>ŷᵢ </a:t>
            </a:r>
            <a:r>
              <a:rPr lang="ru-RU" sz="1200" b="0" i="0" kern="1200" dirty="0" smtClean="0">
                <a:solidFill>
                  <a:schemeClr val="tx1"/>
                </a:solidFill>
                <a:latin typeface="+mn-lt"/>
                <a:ea typeface="+mn-ea"/>
                <a:cs typeface="+mn-cs"/>
              </a:rPr>
              <a:t>— правильный ответ (то, что должно было получиться).</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Представим, что мы заставили </a:t>
            </a:r>
            <a:r>
              <a:rPr lang="ru-RU" sz="1200" b="0" i="0" kern="1200" dirty="0" err="1" smtClean="0">
                <a:solidFill>
                  <a:schemeClr val="tx1"/>
                </a:solidFill>
                <a:latin typeface="+mn-lt"/>
                <a:ea typeface="+mn-ea"/>
                <a:cs typeface="+mn-cs"/>
              </a:rPr>
              <a:t>нейросеть</a:t>
            </a:r>
            <a:r>
              <a:rPr lang="ru-RU" sz="1200" b="0" i="0" kern="1200" dirty="0" smtClean="0">
                <a:solidFill>
                  <a:schemeClr val="tx1"/>
                </a:solidFill>
                <a:latin typeface="+mn-lt"/>
                <a:ea typeface="+mn-ea"/>
                <a:cs typeface="+mn-cs"/>
              </a:rPr>
              <a:t> «решить </a:t>
            </a:r>
            <a:r>
              <a:rPr lang="ru-RU" sz="1200" b="0" i="0" kern="1200" dirty="0" err="1" smtClean="0">
                <a:solidFill>
                  <a:schemeClr val="tx1"/>
                </a:solidFill>
                <a:latin typeface="+mn-lt"/>
                <a:ea typeface="+mn-ea"/>
                <a:cs typeface="+mn-cs"/>
              </a:rPr>
              <a:t>n</a:t>
            </a:r>
            <a:r>
              <a:rPr lang="ru-RU" sz="1200" b="0" i="0" kern="1200" dirty="0" smtClean="0">
                <a:solidFill>
                  <a:schemeClr val="tx1"/>
                </a:solidFill>
                <a:latin typeface="+mn-lt"/>
                <a:ea typeface="+mn-ea"/>
                <a:cs typeface="+mn-cs"/>
              </a:rPr>
              <a:t> задачек» и получили значения целевой переменной для </a:t>
            </a:r>
            <a:r>
              <a:rPr lang="ru-RU" sz="1200" b="0" i="0" kern="1200" dirty="0" err="1" smtClean="0">
                <a:solidFill>
                  <a:schemeClr val="tx1"/>
                </a:solidFill>
                <a:latin typeface="+mn-lt"/>
                <a:ea typeface="+mn-ea"/>
                <a:cs typeface="+mn-cs"/>
              </a:rPr>
              <a:t>n</a:t>
            </a:r>
            <a:r>
              <a:rPr lang="ru-RU" sz="1200" b="0" i="0" kern="1200" dirty="0" smtClean="0">
                <a:solidFill>
                  <a:schemeClr val="tx1"/>
                </a:solidFill>
                <a:latin typeface="+mn-lt"/>
                <a:ea typeface="+mn-ea"/>
                <a:cs typeface="+mn-cs"/>
              </a:rPr>
              <a:t> образцов.</a:t>
            </a:r>
          </a:p>
          <a:p>
            <a:r>
              <a:rPr lang="ru-RU" sz="1200" b="0" i="0" kern="1200" dirty="0" smtClean="0">
                <a:solidFill>
                  <a:schemeClr val="tx1"/>
                </a:solidFill>
                <a:latin typeface="+mn-lt"/>
                <a:ea typeface="+mn-ea"/>
                <a:cs typeface="+mn-cs"/>
              </a:rPr>
              <a:t>Теперь мы хотим оценить, насколько модель ошибается с текущими параметрами — насколько хорош текущий подбор весов.</a:t>
            </a:r>
          </a:p>
          <a:p>
            <a:r>
              <a:rPr lang="ru-RU" sz="1200" b="0" i="0" kern="1200" dirty="0" smtClean="0">
                <a:solidFill>
                  <a:schemeClr val="tx1"/>
                </a:solidFill>
                <a:latin typeface="+mn-lt"/>
                <a:ea typeface="+mn-ea"/>
                <a:cs typeface="+mn-cs"/>
              </a:rPr>
              <a:t>Но есть нюанс. Ошибаться можно в большую сторону и в меньшую. И если мы просто просуммируем ошибки для подсчёта среднего, может возникнуть неприятная ситуация:</a:t>
            </a:r>
          </a:p>
          <a:p>
            <a:r>
              <a:rPr lang="ru-RU" sz="1200" b="0" i="0" kern="1200" dirty="0" smtClean="0">
                <a:solidFill>
                  <a:schemeClr val="tx1"/>
                </a:solidFill>
                <a:latin typeface="+mn-lt"/>
                <a:ea typeface="+mn-ea"/>
                <a:cs typeface="+mn-cs"/>
              </a:rPr>
              <a:t>-100 + 100 = 0</a:t>
            </a:r>
          </a:p>
          <a:p>
            <a:r>
              <a:rPr lang="ru-RU" sz="1200" b="0" i="0" kern="1200" dirty="0" err="1" smtClean="0">
                <a:solidFill>
                  <a:schemeClr val="tx1"/>
                </a:solidFill>
                <a:latin typeface="+mn-lt"/>
                <a:ea typeface="+mn-ea"/>
                <a:cs typeface="+mn-cs"/>
              </a:rPr>
              <a:t>Опа</a:t>
            </a:r>
            <a:r>
              <a:rPr lang="ru-RU" sz="1200" b="0" i="0" kern="1200" dirty="0" smtClean="0">
                <a:solidFill>
                  <a:schemeClr val="tx1"/>
                </a:solidFill>
                <a:latin typeface="+mn-lt"/>
                <a:ea typeface="+mn-ea"/>
                <a:cs typeface="+mn-cs"/>
              </a:rPr>
              <a:t>! Ошибка 0. Ну ага…</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Так не пойдёт — нужно избавиться от знака.</a:t>
            </a:r>
          </a:p>
          <a:p>
            <a:r>
              <a:rPr lang="ru-RU" sz="1200" b="0" i="0" kern="1200" dirty="0" smtClean="0">
                <a:solidFill>
                  <a:schemeClr val="tx1"/>
                </a:solidFill>
                <a:latin typeface="+mn-lt"/>
                <a:ea typeface="+mn-ea"/>
                <a:cs typeface="+mn-cs"/>
              </a:rPr>
              <a:t>Один из способов убрать знак — возвести разность в квадрат. Квадрат всегда неотрицателен, поэтому ошибки в плюс и в минус перестают взаимно уничтожаться.</a:t>
            </a:r>
          </a:p>
          <a:p>
            <a:endParaRPr lang="ru-RU" baseline="0" dirty="0" smtClean="0"/>
          </a:p>
          <a:p>
            <a:r>
              <a:rPr lang="ru-RU" sz="1200" b="1" i="0" kern="1200" dirty="0" smtClean="0">
                <a:solidFill>
                  <a:schemeClr val="tx1"/>
                </a:solidFill>
                <a:latin typeface="+mn-lt"/>
                <a:ea typeface="+mn-ea"/>
                <a:cs typeface="+mn-cs"/>
              </a:rPr>
              <a:t>Алгоритм:</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Для каждого образца считаем разность </a:t>
            </a:r>
            <a:r>
              <a:rPr lang="ru-RU" sz="1200" b="0" i="0" kern="1200" dirty="0" err="1" smtClean="0">
                <a:solidFill>
                  <a:schemeClr val="tx1"/>
                </a:solidFill>
                <a:latin typeface="+mn-lt"/>
                <a:ea typeface="+mn-ea"/>
                <a:cs typeface="+mn-cs"/>
              </a:rPr>
              <a:t>yᵢ </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ŷᵢ</a:t>
            </a:r>
            <a:r>
              <a:rPr lang="ru-RU" sz="1200" b="0" i="0" kern="1200" dirty="0" smtClean="0">
                <a:solidFill>
                  <a:schemeClr val="tx1"/>
                </a:solidFill>
                <a:latin typeface="+mn-lt"/>
                <a:ea typeface="+mn-ea"/>
                <a:cs typeface="+mn-cs"/>
              </a:rPr>
              <a:t>.</a:t>
            </a:r>
          </a:p>
          <a:p>
            <a:r>
              <a:rPr lang="ru-RU" sz="1200" b="0" i="0" kern="1200" dirty="0" smtClean="0">
                <a:solidFill>
                  <a:schemeClr val="tx1"/>
                </a:solidFill>
                <a:latin typeface="+mn-lt"/>
                <a:ea typeface="+mn-ea"/>
                <a:cs typeface="+mn-cs"/>
              </a:rPr>
              <a:t>Возводим каждую разность в квадрат.</a:t>
            </a:r>
          </a:p>
          <a:p>
            <a:r>
              <a:rPr lang="ru-RU" sz="1200" b="0" i="0" kern="1200" dirty="0" smtClean="0">
                <a:solidFill>
                  <a:schemeClr val="tx1"/>
                </a:solidFill>
                <a:latin typeface="+mn-lt"/>
                <a:ea typeface="+mn-ea"/>
                <a:cs typeface="+mn-cs"/>
              </a:rPr>
              <a:t>Суммируем все </a:t>
            </a:r>
            <a:r>
              <a:rPr lang="ru-RU" sz="1200" b="0" i="0" kern="1200" dirty="0" err="1" smtClean="0">
                <a:solidFill>
                  <a:schemeClr val="tx1"/>
                </a:solidFill>
                <a:latin typeface="+mn-lt"/>
                <a:ea typeface="+mn-ea"/>
                <a:cs typeface="+mn-cs"/>
              </a:rPr>
              <a:t>n</a:t>
            </a:r>
            <a:r>
              <a:rPr lang="ru-RU" sz="1200" b="0" i="0" kern="1200" dirty="0" smtClean="0">
                <a:solidFill>
                  <a:schemeClr val="tx1"/>
                </a:solidFill>
                <a:latin typeface="+mn-lt"/>
                <a:ea typeface="+mn-ea"/>
                <a:cs typeface="+mn-cs"/>
              </a:rPr>
              <a:t> значений.</a:t>
            </a:r>
          </a:p>
          <a:p>
            <a:r>
              <a:rPr lang="ru-RU" sz="1200" b="0" i="0" kern="1200" dirty="0" smtClean="0">
                <a:solidFill>
                  <a:schemeClr val="tx1"/>
                </a:solidFill>
                <a:latin typeface="+mn-lt"/>
                <a:ea typeface="+mn-ea"/>
                <a:cs typeface="+mn-cs"/>
              </a:rPr>
              <a:t>Делим на </a:t>
            </a:r>
            <a:r>
              <a:rPr lang="ru-RU" sz="1200" b="0" i="0" kern="1200" dirty="0" err="1" smtClean="0">
                <a:solidFill>
                  <a:schemeClr val="tx1"/>
                </a:solidFill>
                <a:latin typeface="+mn-lt"/>
                <a:ea typeface="+mn-ea"/>
                <a:cs typeface="+mn-cs"/>
              </a:rPr>
              <a:t>n</a:t>
            </a:r>
            <a:r>
              <a:rPr lang="ru-RU" sz="1200" b="0" i="0" kern="1200" dirty="0" smtClean="0">
                <a:solidFill>
                  <a:schemeClr val="tx1"/>
                </a:solidFill>
                <a:latin typeface="+mn-lt"/>
                <a:ea typeface="+mn-ea"/>
                <a:cs typeface="+mn-cs"/>
              </a:rPr>
              <a:t> — получаем среднее.</a:t>
            </a:r>
          </a:p>
          <a:p>
            <a:endParaRPr lang="ru-RU" baseline="0" dirty="0" smtClean="0"/>
          </a:p>
          <a:p>
            <a:endParaRPr lang="ru-RU" baseline="0" dirty="0" smtClean="0"/>
          </a:p>
          <a:p>
            <a:r>
              <a:rPr lang="ru-RU" b="1" baseline="0" dirty="0" smtClean="0"/>
              <a:t>Особенности</a:t>
            </a:r>
          </a:p>
          <a:p>
            <a:r>
              <a:rPr lang="ru-RU" sz="1200" b="0" i="0" kern="1200" dirty="0" smtClean="0">
                <a:solidFill>
                  <a:schemeClr val="tx1"/>
                </a:solidFill>
                <a:latin typeface="+mn-lt"/>
                <a:ea typeface="+mn-ea"/>
                <a:cs typeface="+mn-cs"/>
              </a:rPr>
              <a:t>Функция гладкая и дифференцируемая — удобна для градиентного спуска.</a:t>
            </a:r>
          </a:p>
          <a:p>
            <a:r>
              <a:rPr lang="ru-RU" sz="1200" b="0" i="0" kern="1200" dirty="0" smtClean="0">
                <a:solidFill>
                  <a:schemeClr val="tx1"/>
                </a:solidFill>
                <a:latin typeface="+mn-lt"/>
                <a:ea typeface="+mn-ea"/>
                <a:cs typeface="+mn-cs"/>
              </a:rPr>
              <a:t>Единицы измерения — квадрат целевой переменной (если цена в долларах, MSE — в «долларах в квадрате»).</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Плюсы</a:t>
            </a:r>
          </a:p>
          <a:p>
            <a:r>
              <a:rPr lang="ru-RU" sz="1200" b="0" i="0" kern="1200" dirty="0" smtClean="0">
                <a:solidFill>
                  <a:schemeClr val="tx1"/>
                </a:solidFill>
                <a:latin typeface="+mn-lt"/>
                <a:ea typeface="+mn-ea"/>
                <a:cs typeface="+mn-cs"/>
              </a:rPr>
              <a:t>Гладкая - Легко считается градиент, градиентный</a:t>
            </a:r>
            <a:r>
              <a:rPr lang="ru-RU" sz="1200" b="0" i="0" kern="1200" baseline="0" dirty="0" smtClean="0">
                <a:solidFill>
                  <a:schemeClr val="tx1"/>
                </a:solidFill>
                <a:latin typeface="+mn-lt"/>
                <a:ea typeface="+mn-ea"/>
                <a:cs typeface="+mn-cs"/>
              </a:rPr>
              <a:t> спуск </a:t>
            </a:r>
            <a:r>
              <a:rPr lang="en-US" sz="1200" b="0" i="0" kern="1200" baseline="0" dirty="0" smtClean="0">
                <a:solidFill>
                  <a:schemeClr val="tx1"/>
                </a:solidFill>
                <a:latin typeface="+mn-lt"/>
                <a:ea typeface="+mn-ea"/>
                <a:cs typeface="+mn-cs"/>
              </a:rPr>
              <a:t>(GD)</a:t>
            </a:r>
            <a:r>
              <a:rPr lang="ru-RU" sz="1200" b="0" i="0" kern="1200" dirty="0" smtClean="0">
                <a:solidFill>
                  <a:schemeClr val="tx1"/>
                </a:solidFill>
                <a:latin typeface="+mn-lt"/>
                <a:ea typeface="+mn-ea"/>
                <a:cs typeface="+mn-cs"/>
              </a:rPr>
              <a:t> работает стабильно</a:t>
            </a:r>
          </a:p>
          <a:p>
            <a:r>
              <a:rPr lang="ru-RU" sz="1200" b="0" i="0" kern="1200" dirty="0" smtClean="0">
                <a:solidFill>
                  <a:schemeClr val="tx1"/>
                </a:solidFill>
                <a:latin typeface="+mn-lt"/>
                <a:ea typeface="+mn-ea"/>
                <a:cs typeface="+mn-cs"/>
              </a:rPr>
              <a:t>Штрафует большие ошибки</a:t>
            </a:r>
            <a:r>
              <a:rPr lang="en-US" sz="1200" b="0" i="0" kern="1200" dirty="0" smtClean="0">
                <a:solidFill>
                  <a:schemeClr val="tx1"/>
                </a:solidFill>
                <a:latin typeface="+mn-lt"/>
                <a:ea typeface="+mn-ea"/>
                <a:cs typeface="+mn-cs"/>
              </a:rPr>
              <a:t> - </a:t>
            </a:r>
            <a:r>
              <a:rPr lang="ru-RU" sz="1200" b="0" i="0" kern="1200" dirty="0" smtClean="0">
                <a:solidFill>
                  <a:schemeClr val="tx1"/>
                </a:solidFill>
                <a:latin typeface="+mn-lt"/>
                <a:ea typeface="+mn-ea"/>
                <a:cs typeface="+mn-cs"/>
              </a:rPr>
              <a:t>Модель старается избегать катастрофических промахов</a:t>
            </a:r>
            <a:endParaRPr lang="en-US"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Дифференцируема везде</a:t>
            </a:r>
            <a:r>
              <a:rPr lang="en-US" sz="1200" b="0" i="0" kern="1200" dirty="0" smtClean="0">
                <a:solidFill>
                  <a:schemeClr val="tx1"/>
                </a:solidFill>
                <a:latin typeface="+mn-lt"/>
                <a:ea typeface="+mn-ea"/>
                <a:cs typeface="+mn-cs"/>
              </a:rPr>
              <a:t> - </a:t>
            </a:r>
            <a:r>
              <a:rPr lang="ru-RU" sz="1200" b="0" i="0" kern="1200" dirty="0" smtClean="0">
                <a:solidFill>
                  <a:schemeClr val="tx1"/>
                </a:solidFill>
                <a:latin typeface="+mn-lt"/>
                <a:ea typeface="+mn-ea"/>
                <a:cs typeface="+mn-cs"/>
              </a:rPr>
              <a:t>Не нужно возиться с </a:t>
            </a:r>
            <a:r>
              <a:rPr lang="ru-RU" sz="1200" b="0" i="0" kern="1200" dirty="0" err="1" smtClean="0">
                <a:solidFill>
                  <a:schemeClr val="tx1"/>
                </a:solidFill>
                <a:latin typeface="+mn-lt"/>
                <a:ea typeface="+mn-ea"/>
                <a:cs typeface="+mn-cs"/>
              </a:rPr>
              <a:t>субградиентами</a:t>
            </a:r>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Минусы</a:t>
            </a:r>
            <a:endParaRPr lang="en-US" sz="1200" b="1"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Чувствительна к выбросам</a:t>
            </a:r>
            <a:r>
              <a:rPr lang="en-US" sz="1200" b="0" i="0" kern="1200" dirty="0" smtClean="0">
                <a:solidFill>
                  <a:schemeClr val="tx1"/>
                </a:solidFill>
                <a:latin typeface="+mn-lt"/>
                <a:ea typeface="+mn-ea"/>
                <a:cs typeface="+mn-cs"/>
              </a:rPr>
              <a:t> - </a:t>
            </a:r>
            <a:r>
              <a:rPr lang="ru-RU" sz="1200" b="0" i="0" kern="1200" dirty="0" smtClean="0">
                <a:solidFill>
                  <a:schemeClr val="tx1"/>
                </a:solidFill>
                <a:latin typeface="+mn-lt"/>
                <a:ea typeface="+mn-ea"/>
                <a:cs typeface="+mn-cs"/>
              </a:rPr>
              <a:t>Один выброс может сильно сдвинуть модель</a:t>
            </a:r>
            <a:endParaRPr lang="en-US"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Квадратичный рост</a:t>
            </a:r>
            <a:r>
              <a:rPr lang="en-US" sz="1200" b="0" i="0" kern="1200" dirty="0" smtClean="0">
                <a:solidFill>
                  <a:schemeClr val="tx1"/>
                </a:solidFill>
                <a:latin typeface="+mn-lt"/>
                <a:ea typeface="+mn-ea"/>
                <a:cs typeface="+mn-cs"/>
              </a:rPr>
              <a:t> - </a:t>
            </a:r>
            <a:r>
              <a:rPr lang="ru-RU" sz="1200" b="0" i="0" kern="1200" dirty="0" smtClean="0">
                <a:solidFill>
                  <a:schemeClr val="tx1"/>
                </a:solidFill>
                <a:latin typeface="+mn-lt"/>
                <a:ea typeface="+mn-ea"/>
                <a:cs typeface="+mn-cs"/>
              </a:rPr>
              <a:t>Ошибка 10 даёт вклад 100 — модель «паникует» из-за выбросов</a:t>
            </a:r>
            <a:endParaRPr lang="en-US" sz="1200" b="0" i="0" kern="1200" dirty="0" smtClean="0">
              <a:solidFill>
                <a:schemeClr val="tx1"/>
              </a:solidFill>
              <a:latin typeface="+mn-lt"/>
              <a:ea typeface="+mn-ea"/>
              <a:cs typeface="+mn-cs"/>
            </a:endParaRPr>
          </a:p>
          <a:p>
            <a:endParaRPr lang="en-US"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Когда применять</a:t>
            </a:r>
          </a:p>
          <a:p>
            <a:r>
              <a:rPr lang="ru-RU" sz="1200" b="0" i="0" kern="1200" dirty="0" smtClean="0">
                <a:solidFill>
                  <a:schemeClr val="tx1"/>
                </a:solidFill>
                <a:latin typeface="+mn-lt"/>
                <a:ea typeface="+mn-ea"/>
                <a:cs typeface="+mn-cs"/>
              </a:rPr>
              <a:t>Стандартные задачи регрессии без сильных выбросов.</a:t>
            </a:r>
          </a:p>
          <a:p>
            <a:r>
              <a:rPr lang="ru-RU" sz="1200" b="0" i="0" kern="1200" dirty="0" smtClean="0">
                <a:solidFill>
                  <a:schemeClr val="tx1"/>
                </a:solidFill>
                <a:latin typeface="+mn-lt"/>
                <a:ea typeface="+mn-ea"/>
                <a:cs typeface="+mn-cs"/>
              </a:rPr>
              <a:t>Когда большие ошибки особенно недопустимы (прогноз нагрузки, температуры, цен).</a:t>
            </a:r>
          </a:p>
          <a:p>
            <a:r>
              <a:rPr lang="ru-RU" sz="1200" b="0" i="0" kern="1200" dirty="0" smtClean="0">
                <a:solidFill>
                  <a:schemeClr val="tx1"/>
                </a:solidFill>
                <a:latin typeface="+mn-lt"/>
                <a:ea typeface="+mn-ea"/>
                <a:cs typeface="+mn-cs"/>
              </a:rPr>
              <a:t>Когда нужна гладкая функция потерь для стабильного GD.</a:t>
            </a:r>
          </a:p>
          <a:p>
            <a:endParaRPr lang="ru-RU" sz="1200" b="0" i="0" kern="1200" dirty="0" smtClean="0">
              <a:solidFill>
                <a:schemeClr val="tx1"/>
              </a:solidFill>
              <a:latin typeface="+mn-lt"/>
              <a:ea typeface="+mn-ea"/>
              <a:cs typeface="+mn-cs"/>
            </a:endParaRPr>
          </a:p>
          <a:p>
            <a:endParaRPr lang="ru-RU" sz="1200" b="0" i="0" kern="1200" dirty="0" smtClean="0">
              <a:solidFill>
                <a:schemeClr val="tx1"/>
              </a:solidFill>
              <a:latin typeface="+mn-lt"/>
              <a:ea typeface="+mn-ea"/>
              <a:cs typeface="+mn-cs"/>
            </a:endParaRPr>
          </a:p>
          <a:p>
            <a:endParaRPr lang="ru-RU" baseline="0" dirty="0" smtClean="0"/>
          </a:p>
        </p:txBody>
      </p:sp>
      <p:sp>
        <p:nvSpPr>
          <p:cNvPr id="4" name="Номер слайда 3"/>
          <p:cNvSpPr>
            <a:spLocks noGrp="1"/>
          </p:cNvSpPr>
          <p:nvPr>
            <p:ph type="sldNum" sz="quarter" idx="10"/>
          </p:nvPr>
        </p:nvSpPr>
        <p:spPr/>
        <p:txBody>
          <a:bodyPr/>
          <a:lstStyle/>
          <a:p>
            <a:fld id="{CEBF9C1A-0A84-4F0C-9C04-72BCEF6B8C2A}" type="slidenum">
              <a:rPr lang="ru-RU" smtClean="0"/>
              <a:pPr/>
              <a:t>6</a:t>
            </a:fld>
            <a:endParaRPr lang="ru-R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lnSpcReduction="20000"/>
          </a:bodyPr>
          <a:lstStyle/>
          <a:p>
            <a:r>
              <a:rPr lang="ru-RU" dirty="0" smtClean="0"/>
              <a:t>Еще</a:t>
            </a:r>
            <a:r>
              <a:rPr lang="ru-RU" baseline="0" dirty="0" smtClean="0"/>
              <a:t> один способ избавиться от знака в разности между ошибками – навесить модуль.</a:t>
            </a:r>
          </a:p>
          <a:p>
            <a:r>
              <a:rPr lang="ru-RU" baseline="0" dirty="0" smtClean="0"/>
              <a:t>Отсюда появилась еще одна функция ошибки – </a:t>
            </a:r>
            <a:r>
              <a:rPr lang="en-US" baseline="0" dirty="0" smtClean="0"/>
              <a:t>MAE – Mean Absolute Error</a:t>
            </a:r>
            <a:r>
              <a:rPr lang="ru-RU" baseline="0" dirty="0" smtClean="0"/>
              <a:t>. Единственное отличие от предыдущей – применяем модуль вместо возведения в квадрат.</a:t>
            </a:r>
          </a:p>
          <a:p>
            <a:endParaRPr lang="ru-RU" baseline="0" dirty="0" smtClean="0"/>
          </a:p>
          <a:p>
            <a:r>
              <a:rPr lang="ru-RU" sz="1200" b="1" kern="1200" dirty="0" smtClean="0">
                <a:solidFill>
                  <a:schemeClr val="tx1"/>
                </a:solidFill>
                <a:latin typeface="+mn-lt"/>
                <a:ea typeface="+mn-ea"/>
                <a:cs typeface="+mn-cs"/>
              </a:rPr>
              <a:t>Особенности</a:t>
            </a:r>
          </a:p>
          <a:p>
            <a:r>
              <a:rPr lang="ru-RU" sz="1200" b="0" i="0" kern="1200" dirty="0" smtClean="0">
                <a:solidFill>
                  <a:schemeClr val="tx1"/>
                </a:solidFill>
                <a:latin typeface="+mn-lt"/>
                <a:ea typeface="+mn-ea"/>
                <a:cs typeface="+mn-cs"/>
              </a:rPr>
              <a:t>Ошибка берётся по модулю — знак исчезает, но большие промахи не усиливаются.</a:t>
            </a:r>
          </a:p>
          <a:p>
            <a:r>
              <a:rPr lang="ru-RU" sz="1200" b="0" i="0" kern="1200" dirty="0" smtClean="0">
                <a:solidFill>
                  <a:schemeClr val="tx1"/>
                </a:solidFill>
                <a:latin typeface="+mn-lt"/>
                <a:ea typeface="+mn-ea"/>
                <a:cs typeface="+mn-cs"/>
              </a:rPr>
              <a:t>Функция не гладкая в нуле — производная не определена в точке 0.</a:t>
            </a:r>
          </a:p>
          <a:p>
            <a:r>
              <a:rPr lang="ru-RU" sz="1200" b="0" i="0" kern="1200" dirty="0" smtClean="0">
                <a:solidFill>
                  <a:schemeClr val="tx1"/>
                </a:solidFill>
                <a:latin typeface="+mn-lt"/>
                <a:ea typeface="+mn-ea"/>
                <a:cs typeface="+mn-cs"/>
              </a:rPr>
              <a:t>Единицы измерения — те же, что у целевой переменной (если цена в долларах, MAE — в долларах).</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Плюсы</a:t>
            </a:r>
          </a:p>
          <a:p>
            <a:r>
              <a:rPr lang="ru-RU" sz="1200" b="0" i="0" kern="1200" dirty="0" smtClean="0">
                <a:solidFill>
                  <a:schemeClr val="tx1"/>
                </a:solidFill>
                <a:latin typeface="+mn-lt"/>
                <a:ea typeface="+mn-ea"/>
                <a:cs typeface="+mn-cs"/>
              </a:rPr>
              <a:t>Устойчива к выбросам - Один выброс не «перекосит» модель</a:t>
            </a:r>
          </a:p>
          <a:p>
            <a:r>
              <a:rPr lang="ru-RU" sz="1200" b="0" i="0" kern="1200" dirty="0" smtClean="0">
                <a:solidFill>
                  <a:schemeClr val="tx1"/>
                </a:solidFill>
                <a:latin typeface="+mn-lt"/>
                <a:ea typeface="+mn-ea"/>
                <a:cs typeface="+mn-cs"/>
              </a:rPr>
              <a:t>Линейный штраф - Все ошибки важны одинаково, без «паники»</a:t>
            </a:r>
          </a:p>
          <a:p>
            <a:endParaRPr lang="ru-RU" sz="1200" b="1"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Минусы</a:t>
            </a:r>
          </a:p>
          <a:p>
            <a:r>
              <a:rPr lang="ru-RU" sz="1200" b="0" i="0" kern="1200" dirty="0" smtClean="0">
                <a:solidFill>
                  <a:schemeClr val="tx1"/>
                </a:solidFill>
                <a:latin typeface="+mn-lt"/>
                <a:ea typeface="+mn-ea"/>
                <a:cs typeface="+mn-cs"/>
              </a:rPr>
              <a:t>Не гладкая в нуле - GD работает хуже — нужны </a:t>
            </a:r>
            <a:r>
              <a:rPr lang="ru-RU" sz="1200" b="0" i="0" kern="1200" dirty="0" err="1" smtClean="0">
                <a:solidFill>
                  <a:schemeClr val="tx1"/>
                </a:solidFill>
                <a:latin typeface="+mn-lt"/>
                <a:ea typeface="+mn-ea"/>
                <a:cs typeface="+mn-cs"/>
              </a:rPr>
              <a:t>субградиенты</a:t>
            </a:r>
            <a:r>
              <a:rPr lang="ru-RU" sz="1200" b="0" i="0" kern="1200" dirty="0" smtClean="0">
                <a:solidFill>
                  <a:schemeClr val="tx1"/>
                </a:solidFill>
                <a:latin typeface="+mn-lt"/>
                <a:ea typeface="+mn-ea"/>
                <a:cs typeface="+mn-cs"/>
              </a:rPr>
              <a:t> или сглаживание</a:t>
            </a:r>
          </a:p>
          <a:p>
            <a:r>
              <a:rPr lang="ru-RU" sz="1200" b="0" i="0" kern="1200" dirty="0" smtClean="0">
                <a:solidFill>
                  <a:schemeClr val="tx1"/>
                </a:solidFill>
                <a:latin typeface="+mn-lt"/>
                <a:ea typeface="+mn-ea"/>
                <a:cs typeface="+mn-cs"/>
              </a:rPr>
              <a:t>Не усиливает большие ошибки - Модель может «терпеть» крупные промахи</a:t>
            </a:r>
          </a:p>
          <a:p>
            <a:r>
              <a:rPr lang="ru-RU" sz="1200" b="0" i="0" kern="1200" dirty="0" smtClean="0">
                <a:solidFill>
                  <a:schemeClr val="tx1"/>
                </a:solidFill>
                <a:latin typeface="+mn-lt"/>
                <a:ea typeface="+mn-ea"/>
                <a:cs typeface="+mn-cs"/>
              </a:rPr>
              <a:t>Постоянный градиент - Медленнее сходится вблизи минимума — «болтается»</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Когда применять</a:t>
            </a:r>
          </a:p>
          <a:p>
            <a:r>
              <a:rPr lang="ru-RU" sz="1200" b="0" i="0" kern="1200" dirty="0" smtClean="0">
                <a:solidFill>
                  <a:schemeClr val="tx1"/>
                </a:solidFill>
                <a:latin typeface="+mn-lt"/>
                <a:ea typeface="+mn-ea"/>
                <a:cs typeface="+mn-cs"/>
              </a:rPr>
              <a:t>Когда в данных есть выбросы, которые не хочется учитывать.</a:t>
            </a:r>
          </a:p>
          <a:p>
            <a:r>
              <a:rPr lang="ru-RU" sz="1200" b="0" i="0" kern="1200" dirty="0" smtClean="0">
                <a:solidFill>
                  <a:schemeClr val="tx1"/>
                </a:solidFill>
                <a:latin typeface="+mn-lt"/>
                <a:ea typeface="+mn-ea"/>
                <a:cs typeface="+mn-cs"/>
              </a:rPr>
              <a:t>Когда важна интерпретируемость: MAE читается как «средняя ошибка в единицах </a:t>
            </a:r>
            <a:r>
              <a:rPr lang="ru-RU" sz="1200" b="0" i="0" kern="1200" dirty="0" err="1" smtClean="0">
                <a:solidFill>
                  <a:schemeClr val="tx1"/>
                </a:solidFill>
                <a:latin typeface="+mn-lt"/>
                <a:ea typeface="+mn-ea"/>
                <a:cs typeface="+mn-cs"/>
              </a:rPr>
              <a:t>y</a:t>
            </a:r>
            <a:r>
              <a:rPr lang="ru-RU" sz="1200" b="0" i="0" kern="1200" dirty="0" smtClean="0">
                <a:solidFill>
                  <a:schemeClr val="tx1"/>
                </a:solidFill>
                <a:latin typeface="+mn-lt"/>
                <a:ea typeface="+mn-ea"/>
                <a:cs typeface="+mn-cs"/>
              </a:rPr>
              <a:t>».</a:t>
            </a:r>
          </a:p>
          <a:p>
            <a:r>
              <a:rPr lang="ru-RU" sz="1200" b="0" i="0" kern="1200" dirty="0" smtClean="0">
                <a:solidFill>
                  <a:schemeClr val="tx1"/>
                </a:solidFill>
                <a:latin typeface="+mn-lt"/>
                <a:ea typeface="+mn-ea"/>
                <a:cs typeface="+mn-cs"/>
              </a:rPr>
              <a:t>Когда все ошибки одинаково важны — нет приоритета штрафовать крупные сильнее.</a:t>
            </a:r>
          </a:p>
          <a:p>
            <a:r>
              <a:rPr lang="ru-RU" sz="1200" b="0" i="0" kern="1200" dirty="0" smtClean="0">
                <a:solidFill>
                  <a:schemeClr val="tx1"/>
                </a:solidFill>
                <a:latin typeface="+mn-lt"/>
                <a:ea typeface="+mn-ea"/>
                <a:cs typeface="+mn-cs"/>
              </a:rPr>
              <a:t>Как метрика (в </a:t>
            </a:r>
            <a:r>
              <a:rPr lang="ru-RU" sz="1200" b="0" i="0" kern="1200" dirty="0" err="1" smtClean="0">
                <a:solidFill>
                  <a:schemeClr val="tx1"/>
                </a:solidFill>
                <a:latin typeface="+mn-lt"/>
                <a:ea typeface="+mn-ea"/>
                <a:cs typeface="+mn-cs"/>
              </a:rPr>
              <a:t>metrics=</a:t>
            </a:r>
            <a:r>
              <a:rPr lang="ru-RU" sz="1200" b="0" i="0" kern="1200" dirty="0" smtClean="0">
                <a:solidFill>
                  <a:schemeClr val="tx1"/>
                </a:solidFill>
                <a:latin typeface="+mn-lt"/>
                <a:ea typeface="+mn-ea"/>
                <a:cs typeface="+mn-cs"/>
              </a:rPr>
              <a:t>['</a:t>
            </a:r>
            <a:r>
              <a:rPr lang="ru-RU" sz="1200" b="0" i="0" kern="1200" dirty="0" err="1" smtClean="0">
                <a:solidFill>
                  <a:schemeClr val="tx1"/>
                </a:solidFill>
                <a:latin typeface="+mn-lt"/>
                <a:ea typeface="+mn-ea"/>
                <a:cs typeface="+mn-cs"/>
              </a:rPr>
              <a:t>mae</a:t>
            </a:r>
            <a:r>
              <a:rPr lang="ru-RU" sz="1200" b="0" i="0" kern="1200" dirty="0" smtClean="0">
                <a:solidFill>
                  <a:schemeClr val="tx1"/>
                </a:solidFill>
                <a:latin typeface="+mn-lt"/>
                <a:ea typeface="+mn-ea"/>
                <a:cs typeface="+mn-cs"/>
              </a:rPr>
              <a:t>'] в </a:t>
            </a:r>
            <a:r>
              <a:rPr lang="ru-RU" sz="1200" b="0" i="0" kern="1200" dirty="0" err="1" smtClean="0">
                <a:solidFill>
                  <a:schemeClr val="tx1"/>
                </a:solidFill>
                <a:latin typeface="+mn-lt"/>
                <a:ea typeface="+mn-ea"/>
                <a:cs typeface="+mn-cs"/>
              </a:rPr>
              <a:t>Keras</a:t>
            </a:r>
            <a:r>
              <a:rPr lang="ru-RU" sz="1200" b="0" i="0" kern="1200" dirty="0" smtClean="0">
                <a:solidFill>
                  <a:schemeClr val="tx1"/>
                </a:solidFill>
                <a:latin typeface="+mn-lt"/>
                <a:ea typeface="+mn-ea"/>
                <a:cs typeface="+mn-cs"/>
              </a:rPr>
              <a:t>) — даже если </a:t>
            </a:r>
            <a:r>
              <a:rPr lang="ru-RU" sz="1200" b="0" i="0" kern="1200" dirty="0" err="1" smtClean="0">
                <a:solidFill>
                  <a:schemeClr val="tx1"/>
                </a:solidFill>
                <a:latin typeface="+mn-lt"/>
                <a:ea typeface="+mn-ea"/>
                <a:cs typeface="+mn-cs"/>
              </a:rPr>
              <a:t>loss</a:t>
            </a:r>
            <a:r>
              <a:rPr lang="ru-RU" sz="1200" b="0" i="0" kern="1200" dirty="0" smtClean="0">
                <a:solidFill>
                  <a:schemeClr val="tx1"/>
                </a:solidFill>
                <a:latin typeface="+mn-lt"/>
                <a:ea typeface="+mn-ea"/>
                <a:cs typeface="+mn-cs"/>
              </a:rPr>
              <a:t> = MSE, MAE удобно смотреть глазами.</a:t>
            </a:r>
          </a:p>
          <a:p>
            <a:r>
              <a:rPr lang="ru-RU" b="0" dirty="0" smtClean="0"/>
              <a:t/>
            </a:r>
            <a:br>
              <a:rPr lang="ru-RU" b="0" dirty="0" smtClean="0"/>
            </a:br>
            <a:endParaRPr lang="ru-RU" b="0" baseline="0" dirty="0" smtClean="0"/>
          </a:p>
        </p:txBody>
      </p:sp>
      <p:sp>
        <p:nvSpPr>
          <p:cNvPr id="4" name="Номер слайда 3"/>
          <p:cNvSpPr>
            <a:spLocks noGrp="1"/>
          </p:cNvSpPr>
          <p:nvPr>
            <p:ph type="sldNum" sz="quarter" idx="10"/>
          </p:nvPr>
        </p:nvSpPr>
        <p:spPr/>
        <p:txBody>
          <a:bodyPr/>
          <a:lstStyle/>
          <a:p>
            <a:fld id="{CEBF9C1A-0A84-4F0C-9C04-72BCEF6B8C2A}" type="slidenum">
              <a:rPr lang="ru-RU" smtClean="0"/>
              <a:pPr/>
              <a:t>7</a:t>
            </a:fld>
            <a:endParaRPr lang="ru-R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25000" lnSpcReduction="20000"/>
          </a:bodyPr>
          <a:lstStyle/>
          <a:p>
            <a:r>
              <a:rPr lang="ru-RU" sz="1200" b="1" i="0" kern="1200" dirty="0" err="1" smtClean="0">
                <a:solidFill>
                  <a:schemeClr val="tx1"/>
                </a:solidFill>
                <a:latin typeface="+mn-lt"/>
                <a:ea typeface="+mn-ea"/>
                <a:cs typeface="+mn-cs"/>
              </a:rPr>
              <a:t>Binary</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Cross-Entropy</a:t>
            </a:r>
            <a:r>
              <a:rPr lang="ru-RU" sz="1200" b="0" i="0" kern="1200" dirty="0" smtClean="0">
                <a:solidFill>
                  <a:schemeClr val="tx1"/>
                </a:solidFill>
                <a:latin typeface="+mn-lt"/>
                <a:ea typeface="+mn-ea"/>
                <a:cs typeface="+mn-cs"/>
              </a:rPr>
              <a:t> (ВСЕ)— функция потерь для задачи </a:t>
            </a:r>
            <a:r>
              <a:rPr lang="ru-RU" sz="1200" b="1" i="0" kern="1200" dirty="0" smtClean="0">
                <a:solidFill>
                  <a:schemeClr val="tx1"/>
                </a:solidFill>
                <a:latin typeface="+mn-lt"/>
                <a:ea typeface="+mn-ea"/>
                <a:cs typeface="+mn-cs"/>
              </a:rPr>
              <a:t>бинарной классификации</a:t>
            </a:r>
            <a:r>
              <a:rPr lang="ru-RU" sz="1200" b="0" i="0" kern="1200" dirty="0" smtClean="0">
                <a:solidFill>
                  <a:schemeClr val="tx1"/>
                </a:solidFill>
                <a:latin typeface="+mn-lt"/>
                <a:ea typeface="+mn-ea"/>
                <a:cs typeface="+mn-cs"/>
              </a:rPr>
              <a:t>, то есть когда у нас всего два класса: 0 или 1.</a:t>
            </a:r>
          </a:p>
          <a:p>
            <a:r>
              <a:rPr lang="ru-RU" sz="1200" b="0" i="0" kern="1200" dirty="0" smtClean="0">
                <a:solidFill>
                  <a:schemeClr val="tx1"/>
                </a:solidFill>
                <a:latin typeface="+mn-lt"/>
                <a:ea typeface="+mn-ea"/>
                <a:cs typeface="+mn-cs"/>
              </a:rPr>
              <a:t>Примеры:</a:t>
            </a:r>
          </a:p>
          <a:p>
            <a:r>
              <a:rPr lang="ru-RU" sz="1200" b="0" i="0" kern="1200" dirty="0" smtClean="0">
                <a:solidFill>
                  <a:schemeClr val="tx1"/>
                </a:solidFill>
                <a:latin typeface="+mn-lt"/>
                <a:ea typeface="+mn-ea"/>
                <a:cs typeface="+mn-cs"/>
              </a:rPr>
              <a:t>Спам / не спам;</a:t>
            </a:r>
          </a:p>
          <a:p>
            <a:r>
              <a:rPr lang="ru-RU" sz="1200" b="0" i="0" kern="1200" dirty="0" smtClean="0">
                <a:solidFill>
                  <a:schemeClr val="tx1"/>
                </a:solidFill>
                <a:latin typeface="+mn-lt"/>
                <a:ea typeface="+mn-ea"/>
                <a:cs typeface="+mn-cs"/>
              </a:rPr>
              <a:t>Милый зверёк / не очень</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Модель для такой задачи выдаёт </a:t>
            </a:r>
            <a:r>
              <a:rPr lang="ru-RU" sz="1200" b="1" i="0" kern="1200" dirty="0" smtClean="0">
                <a:solidFill>
                  <a:schemeClr val="tx1"/>
                </a:solidFill>
                <a:latin typeface="+mn-lt"/>
                <a:ea typeface="+mn-ea"/>
                <a:cs typeface="+mn-cs"/>
              </a:rPr>
              <a:t>вероятность</a:t>
            </a:r>
            <a:r>
              <a:rPr lang="ru-RU" sz="1200" b="0" i="0" kern="1200" dirty="0" smtClean="0">
                <a:solidFill>
                  <a:schemeClr val="tx1"/>
                </a:solidFill>
                <a:latin typeface="+mn-lt"/>
                <a:ea typeface="+mn-ea"/>
                <a:cs typeface="+mn-cs"/>
              </a:rPr>
              <a:t> класса 1 — число от 0 до 1. BCE измеряет, насколько эта вероятность «неправильна» относительно реального ответа.</a:t>
            </a:r>
          </a:p>
          <a:p>
            <a:r>
              <a:rPr lang="ru-RU" sz="1200" b="0" i="0" kern="1200" dirty="0" smtClean="0">
                <a:solidFill>
                  <a:schemeClr val="tx1"/>
                </a:solidFill>
                <a:latin typeface="+mn-lt"/>
                <a:ea typeface="+mn-ea"/>
                <a:cs typeface="+mn-cs"/>
              </a:rPr>
              <a:t>Обозначения</a:t>
            </a:r>
            <a:r>
              <a:rPr lang="ru-RU" dirty="0" smtClean="0"/>
              <a:t/>
            </a:r>
            <a:br>
              <a:rPr lang="ru-RU" dirty="0" smtClean="0"/>
            </a:br>
            <a:r>
              <a:rPr lang="en-US" sz="1200" b="0" kern="1200" dirty="0" smtClean="0">
                <a:solidFill>
                  <a:schemeClr val="tx1"/>
                </a:solidFill>
                <a:latin typeface="+mn-lt"/>
                <a:ea typeface="+mn-ea"/>
                <a:cs typeface="+mn-cs"/>
              </a:rPr>
              <a:t>N</a:t>
            </a:r>
            <a:r>
              <a:rPr lang="ru-RU" sz="1200" b="0" kern="1200" dirty="0" smtClean="0">
                <a:solidFill>
                  <a:schemeClr val="tx1"/>
                </a:solidFill>
                <a:latin typeface="+mn-lt"/>
                <a:ea typeface="+mn-ea"/>
                <a:cs typeface="+mn-cs"/>
              </a:rPr>
              <a:t> - Число объектов</a:t>
            </a:r>
          </a:p>
          <a:p>
            <a:r>
              <a:rPr lang="ru-RU" sz="1200" b="0" kern="1200" dirty="0" smtClean="0">
                <a:solidFill>
                  <a:schemeClr val="tx1"/>
                </a:solidFill>
                <a:latin typeface="+mn-lt"/>
                <a:ea typeface="+mn-ea"/>
                <a:cs typeface="+mn-cs"/>
              </a:rPr>
              <a:t>Y </a:t>
            </a:r>
            <a:r>
              <a:rPr lang="ru-RU" sz="1200" b="0" kern="1200" dirty="0" err="1" smtClean="0">
                <a:solidFill>
                  <a:schemeClr val="tx1"/>
                </a:solidFill>
                <a:latin typeface="+mn-lt"/>
                <a:ea typeface="+mn-ea"/>
                <a:cs typeface="+mn-cs"/>
              </a:rPr>
              <a:t>ᵢ </a:t>
            </a:r>
            <a:r>
              <a:rPr lang="ru-RU" sz="1200" b="0" kern="1200" dirty="0" smtClean="0">
                <a:solidFill>
                  <a:schemeClr val="tx1"/>
                </a:solidFill>
                <a:latin typeface="+mn-lt"/>
                <a:ea typeface="+mn-ea"/>
                <a:cs typeface="+mn-cs"/>
              </a:rPr>
              <a:t>-Реальный класс: </a:t>
            </a:r>
            <a:r>
              <a:rPr lang="ru-RU" sz="1200" b="1" kern="1200" dirty="0" smtClean="0">
                <a:solidFill>
                  <a:schemeClr val="tx1"/>
                </a:solidFill>
                <a:latin typeface="+mn-lt"/>
                <a:ea typeface="+mn-ea"/>
                <a:cs typeface="+mn-cs"/>
              </a:rPr>
              <a:t>0 или 1</a:t>
            </a:r>
          </a:p>
          <a:p>
            <a:r>
              <a:rPr lang="ru-RU" sz="1200" b="0" kern="1200" dirty="0" err="1" smtClean="0">
                <a:solidFill>
                  <a:schemeClr val="tx1"/>
                </a:solidFill>
                <a:latin typeface="+mn-lt"/>
                <a:ea typeface="+mn-ea"/>
                <a:cs typeface="+mn-cs"/>
              </a:rPr>
              <a:t>Ŷᵢ </a:t>
            </a:r>
            <a:r>
              <a:rPr lang="ru-RU" sz="1200" b="0" kern="1200" dirty="0" smtClean="0">
                <a:solidFill>
                  <a:schemeClr val="tx1"/>
                </a:solidFill>
                <a:latin typeface="+mn-lt"/>
                <a:ea typeface="+mn-ea"/>
                <a:cs typeface="+mn-cs"/>
              </a:rPr>
              <a:t>- Предсказанная вероятность класса 1: число от </a:t>
            </a:r>
            <a:r>
              <a:rPr lang="ru-RU" sz="1200" b="1" kern="1200" dirty="0" smtClean="0">
                <a:solidFill>
                  <a:schemeClr val="tx1"/>
                </a:solidFill>
                <a:latin typeface="+mn-lt"/>
                <a:ea typeface="+mn-ea"/>
                <a:cs typeface="+mn-cs"/>
              </a:rPr>
              <a:t>0 до 1</a:t>
            </a:r>
          </a:p>
          <a:p>
            <a:r>
              <a:rPr lang="en-US" sz="1200" b="0" kern="1200" dirty="0" smtClean="0">
                <a:solidFill>
                  <a:schemeClr val="tx1"/>
                </a:solidFill>
                <a:latin typeface="+mn-lt"/>
                <a:ea typeface="+mn-ea"/>
                <a:cs typeface="+mn-cs"/>
              </a:rPr>
              <a:t>L</a:t>
            </a:r>
            <a:r>
              <a:rPr lang="ru-RU" sz="1200" b="0" kern="1200" dirty="0" err="1" smtClean="0">
                <a:solidFill>
                  <a:schemeClr val="tx1"/>
                </a:solidFill>
                <a:latin typeface="+mn-lt"/>
                <a:ea typeface="+mn-ea"/>
                <a:cs typeface="+mn-cs"/>
              </a:rPr>
              <a:t>og</a:t>
            </a:r>
            <a:r>
              <a:rPr lang="ru-RU" sz="1200" b="0" kern="1200" dirty="0" smtClean="0">
                <a:solidFill>
                  <a:schemeClr val="tx1"/>
                </a:solidFill>
                <a:latin typeface="+mn-lt"/>
                <a:ea typeface="+mn-ea"/>
                <a:cs typeface="+mn-cs"/>
              </a:rPr>
              <a:t> - Натуральный логарифм</a:t>
            </a:r>
          </a:p>
          <a:p>
            <a:r>
              <a:rPr lang="ru-RU" sz="1200" b="0" kern="1200" dirty="0" smtClean="0">
                <a:solidFill>
                  <a:schemeClr val="tx1"/>
                </a:solidFill>
                <a:latin typeface="+mn-lt"/>
                <a:ea typeface="+mn-ea"/>
                <a:cs typeface="+mn-cs"/>
              </a:rPr>
              <a:t>Σ - Сумма по всем объектам</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Ключевая идея формулы</a:t>
            </a:r>
          </a:p>
          <a:p>
            <a:r>
              <a:rPr lang="ru-RU" sz="1200" b="0" i="0" kern="1200" dirty="0" smtClean="0">
                <a:solidFill>
                  <a:schemeClr val="tx1"/>
                </a:solidFill>
                <a:latin typeface="+mn-lt"/>
                <a:ea typeface="+mn-ea"/>
                <a:cs typeface="+mn-cs"/>
              </a:rPr>
              <a:t>Формула состоит из двух частей, и в каждой конкретной ситуации работает только одна.</a:t>
            </a:r>
          </a:p>
          <a:p>
            <a:r>
              <a:rPr lang="ru-RU" sz="1200" b="1" kern="1200" dirty="0" smtClean="0">
                <a:solidFill>
                  <a:schemeClr val="tx1"/>
                </a:solidFill>
                <a:latin typeface="+mn-lt"/>
                <a:ea typeface="+mn-ea"/>
                <a:cs typeface="+mn-cs"/>
              </a:rPr>
              <a:t>Случай 1: </a:t>
            </a:r>
            <a:r>
              <a:rPr lang="ru-RU" sz="1200" b="1" kern="1200" dirty="0" err="1" smtClean="0">
                <a:solidFill>
                  <a:schemeClr val="tx1"/>
                </a:solidFill>
                <a:latin typeface="+mn-lt"/>
                <a:ea typeface="+mn-ea"/>
                <a:cs typeface="+mn-cs"/>
              </a:rPr>
              <a:t>Yᵢ </a:t>
            </a:r>
            <a:r>
              <a:rPr lang="ru-RU" sz="1200" b="1" kern="1200" dirty="0" smtClean="0">
                <a:solidFill>
                  <a:schemeClr val="tx1"/>
                </a:solidFill>
                <a:latin typeface="+mn-lt"/>
                <a:ea typeface="+mn-ea"/>
                <a:cs typeface="+mn-cs"/>
              </a:rPr>
              <a:t>= 1 (реально класс 1)</a:t>
            </a:r>
          </a:p>
          <a:p>
            <a:r>
              <a:rPr lang="ru-RU" sz="1200" b="0" i="0" kern="1200" dirty="0" smtClean="0">
                <a:solidFill>
                  <a:schemeClr val="tx1"/>
                </a:solidFill>
                <a:latin typeface="+mn-lt"/>
                <a:ea typeface="+mn-ea"/>
                <a:cs typeface="+mn-cs"/>
              </a:rPr>
              <a:t>Подставляем в формулу:</a:t>
            </a:r>
          </a:p>
          <a:p>
            <a:r>
              <a:rPr lang="ru-RU" sz="1200" b="0" i="0" kern="1200" dirty="0" err="1" smtClean="0">
                <a:solidFill>
                  <a:schemeClr val="tx1"/>
                </a:solidFill>
                <a:latin typeface="+mn-lt"/>
                <a:ea typeface="+mn-ea"/>
                <a:cs typeface="+mn-cs"/>
              </a:rPr>
              <a:t>Yᵢ </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log(Ŷᵢ</a:t>
            </a:r>
            <a:r>
              <a:rPr lang="ru-RU" sz="1200" b="0" i="0" kern="1200" dirty="0" smtClean="0">
                <a:solidFill>
                  <a:schemeClr val="tx1"/>
                </a:solidFill>
                <a:latin typeface="+mn-lt"/>
                <a:ea typeface="+mn-ea"/>
                <a:cs typeface="+mn-cs"/>
              </a:rPr>
              <a:t>) + (1 - </a:t>
            </a:r>
            <a:r>
              <a:rPr lang="ru-RU" sz="1200" b="0" i="0" kern="1200" dirty="0" err="1" smtClean="0">
                <a:solidFill>
                  <a:schemeClr val="tx1"/>
                </a:solidFill>
                <a:latin typeface="+mn-lt"/>
                <a:ea typeface="+mn-ea"/>
                <a:cs typeface="+mn-cs"/>
              </a:rPr>
              <a:t>Yᵢ</a:t>
            </a:r>
            <a:r>
              <a:rPr lang="ru-RU" sz="1200" b="0" i="0" kern="1200" dirty="0" smtClean="0">
                <a:solidFill>
                  <a:schemeClr val="tx1"/>
                </a:solidFill>
                <a:latin typeface="+mn-lt"/>
                <a:ea typeface="+mn-ea"/>
                <a:cs typeface="+mn-cs"/>
              </a:rPr>
              <a:t>) ·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(1 - </a:t>
            </a:r>
            <a:r>
              <a:rPr lang="ru-RU" sz="1200" b="0" i="0" kern="1200" dirty="0" err="1" smtClean="0">
                <a:solidFill>
                  <a:schemeClr val="tx1"/>
                </a:solidFill>
                <a:latin typeface="+mn-lt"/>
                <a:ea typeface="+mn-ea"/>
                <a:cs typeface="+mn-cs"/>
              </a:rPr>
              <a:t>Ŷᵢ</a:t>
            </a:r>
            <a:r>
              <a:rPr lang="ru-RU" sz="1200" b="0" i="0" kern="1200" dirty="0" smtClean="0">
                <a:solidFill>
                  <a:schemeClr val="tx1"/>
                </a:solidFill>
                <a:latin typeface="+mn-lt"/>
                <a:ea typeface="+mn-ea"/>
                <a:cs typeface="+mn-cs"/>
              </a:rPr>
              <a:t>) = 1 ·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a:t>
            </a:r>
            <a:r>
              <a:rPr lang="ru-RU" sz="1200" b="0" i="0" kern="1200" dirty="0" err="1" smtClean="0">
                <a:solidFill>
                  <a:schemeClr val="tx1"/>
                </a:solidFill>
                <a:latin typeface="+mn-lt"/>
                <a:ea typeface="+mn-ea"/>
                <a:cs typeface="+mn-cs"/>
              </a:rPr>
              <a:t>Ŷᵢ</a:t>
            </a:r>
            <a:r>
              <a:rPr lang="ru-RU" sz="1200" b="0" i="0" kern="1200" dirty="0" smtClean="0">
                <a:solidFill>
                  <a:schemeClr val="tx1"/>
                </a:solidFill>
                <a:latin typeface="+mn-lt"/>
                <a:ea typeface="+mn-ea"/>
                <a:cs typeface="+mn-cs"/>
              </a:rPr>
              <a:t>) + 0 ·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(1 - </a:t>
            </a:r>
            <a:r>
              <a:rPr lang="ru-RU" sz="1200" b="0" i="0" kern="1200" dirty="0" err="1" smtClean="0">
                <a:solidFill>
                  <a:schemeClr val="tx1"/>
                </a:solidFill>
                <a:latin typeface="+mn-lt"/>
                <a:ea typeface="+mn-ea"/>
                <a:cs typeface="+mn-cs"/>
              </a:rPr>
              <a:t>Ŷᵢ</a:t>
            </a:r>
            <a:r>
              <a:rPr lang="ru-RU" sz="1200" b="0" i="0" kern="1200" dirty="0" smtClean="0">
                <a:solidFill>
                  <a:schemeClr val="tx1"/>
                </a:solidFill>
                <a:latin typeface="+mn-lt"/>
                <a:ea typeface="+mn-ea"/>
                <a:cs typeface="+mn-cs"/>
              </a:rPr>
              <a:t>) =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a:t>
            </a:r>
            <a:r>
              <a:rPr lang="ru-RU" sz="1200" b="0" i="0" kern="1200" dirty="0" err="1" smtClean="0">
                <a:solidFill>
                  <a:schemeClr val="tx1"/>
                </a:solidFill>
                <a:latin typeface="+mn-lt"/>
                <a:ea typeface="+mn-ea"/>
                <a:cs typeface="+mn-cs"/>
              </a:rPr>
              <a:t>Ŷᵢ</a:t>
            </a:r>
            <a:r>
              <a:rPr lang="ru-RU" sz="1200" b="0" i="0" kern="1200" dirty="0" smtClean="0">
                <a:solidFill>
                  <a:schemeClr val="tx1"/>
                </a:solidFill>
                <a:latin typeface="+mn-lt"/>
                <a:ea typeface="+mn-ea"/>
                <a:cs typeface="+mn-cs"/>
              </a:rPr>
              <a:t>)</a:t>
            </a:r>
          </a:p>
          <a:p>
            <a:r>
              <a:rPr lang="ru-RU" sz="1200" b="0" i="0" kern="1200" dirty="0" smtClean="0">
                <a:solidFill>
                  <a:schemeClr val="tx1"/>
                </a:solidFill>
                <a:latin typeface="+mn-lt"/>
                <a:ea typeface="+mn-ea"/>
                <a:cs typeface="+mn-cs"/>
              </a:rPr>
              <a:t>Со знаком минус:</a:t>
            </a:r>
          </a:p>
          <a:p>
            <a:r>
              <a:rPr lang="ru-RU" sz="1200" b="0" i="0" kern="1200" dirty="0" smtClean="0">
                <a:solidFill>
                  <a:schemeClr val="tx1"/>
                </a:solidFill>
                <a:latin typeface="+mn-lt"/>
                <a:ea typeface="+mn-ea"/>
                <a:cs typeface="+mn-cs"/>
              </a:rPr>
              <a:t>L = -</a:t>
            </a:r>
            <a:r>
              <a:rPr lang="ru-RU" sz="1200" b="0" i="0" kern="1200" dirty="0" err="1" smtClean="0">
                <a:solidFill>
                  <a:schemeClr val="tx1"/>
                </a:solidFill>
                <a:latin typeface="+mn-lt"/>
                <a:ea typeface="+mn-ea"/>
                <a:cs typeface="+mn-cs"/>
              </a:rPr>
              <a:t>log(Ŷᵢ</a:t>
            </a:r>
            <a:r>
              <a:rPr lang="ru-RU" sz="1200" b="0" i="0" kern="1200" dirty="0" smtClean="0">
                <a:solidFill>
                  <a:schemeClr val="tx1"/>
                </a:solidFill>
                <a:latin typeface="+mn-lt"/>
                <a:ea typeface="+mn-ea"/>
                <a:cs typeface="+mn-cs"/>
              </a:rPr>
              <a:t>)</a:t>
            </a:r>
          </a:p>
          <a:p>
            <a:r>
              <a:rPr lang="ru-RU" sz="1200" b="1" i="0" kern="1200" dirty="0" smtClean="0">
                <a:solidFill>
                  <a:schemeClr val="tx1"/>
                </a:solidFill>
                <a:latin typeface="+mn-lt"/>
                <a:ea typeface="+mn-ea"/>
                <a:cs typeface="+mn-cs"/>
              </a:rPr>
              <a:t>Смысл:</a:t>
            </a:r>
            <a:r>
              <a:rPr lang="ru-RU" sz="1200" b="0" i="0" kern="1200" dirty="0" smtClean="0">
                <a:solidFill>
                  <a:schemeClr val="tx1"/>
                </a:solidFill>
                <a:latin typeface="+mn-lt"/>
                <a:ea typeface="+mn-ea"/>
                <a:cs typeface="+mn-cs"/>
              </a:rPr>
              <a:t> смотрим только на -</a:t>
            </a:r>
            <a:r>
              <a:rPr lang="ru-RU" sz="1200" b="0" i="0" kern="1200" dirty="0" err="1" smtClean="0">
                <a:solidFill>
                  <a:schemeClr val="tx1"/>
                </a:solidFill>
                <a:latin typeface="+mn-lt"/>
                <a:ea typeface="+mn-ea"/>
                <a:cs typeface="+mn-cs"/>
              </a:rPr>
              <a:t>log(Ŷᵢ</a:t>
            </a:r>
            <a:r>
              <a:rPr lang="ru-RU" sz="1200" b="0" i="0" kern="1200" dirty="0" smtClean="0">
                <a:solidFill>
                  <a:schemeClr val="tx1"/>
                </a:solidFill>
                <a:latin typeface="+mn-lt"/>
                <a:ea typeface="+mn-ea"/>
                <a:cs typeface="+mn-cs"/>
              </a:rPr>
              <a:t>). Чем ближе </a:t>
            </a:r>
            <a:r>
              <a:rPr lang="ru-RU" sz="1200" b="0" i="0" kern="1200" dirty="0" err="1" smtClean="0">
                <a:solidFill>
                  <a:schemeClr val="tx1"/>
                </a:solidFill>
                <a:latin typeface="+mn-lt"/>
                <a:ea typeface="+mn-ea"/>
                <a:cs typeface="+mn-cs"/>
              </a:rPr>
              <a:t>Ŷᵢ </a:t>
            </a:r>
            <a:r>
              <a:rPr lang="ru-RU" sz="1200" b="0" i="0" kern="1200" dirty="0" smtClean="0">
                <a:solidFill>
                  <a:schemeClr val="tx1"/>
                </a:solidFill>
                <a:latin typeface="+mn-lt"/>
                <a:ea typeface="+mn-ea"/>
                <a:cs typeface="+mn-cs"/>
              </a:rPr>
              <a:t>к 1, тем меньше штраф.</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Случай 2: </a:t>
            </a:r>
            <a:r>
              <a:rPr lang="ru-RU" sz="1200" b="1" kern="1200" dirty="0" err="1" smtClean="0">
                <a:solidFill>
                  <a:schemeClr val="tx1"/>
                </a:solidFill>
                <a:latin typeface="+mn-lt"/>
                <a:ea typeface="+mn-ea"/>
                <a:cs typeface="+mn-cs"/>
              </a:rPr>
              <a:t>Yᵢ </a:t>
            </a:r>
            <a:r>
              <a:rPr lang="ru-RU" sz="1200" b="1" kern="1200" dirty="0" smtClean="0">
                <a:solidFill>
                  <a:schemeClr val="tx1"/>
                </a:solidFill>
                <a:latin typeface="+mn-lt"/>
                <a:ea typeface="+mn-ea"/>
                <a:cs typeface="+mn-cs"/>
              </a:rPr>
              <a:t>= 0 (реально класс 0)</a:t>
            </a:r>
          </a:p>
          <a:p>
            <a:r>
              <a:rPr lang="ru-RU" sz="1200" b="0" i="0" kern="1200" dirty="0" smtClean="0">
                <a:solidFill>
                  <a:schemeClr val="tx1"/>
                </a:solidFill>
                <a:latin typeface="+mn-lt"/>
                <a:ea typeface="+mn-ea"/>
                <a:cs typeface="+mn-cs"/>
              </a:rPr>
              <a:t>Подставляем:</a:t>
            </a:r>
          </a:p>
          <a:p>
            <a:r>
              <a:rPr lang="ru-RU" sz="1200" b="0" i="0" kern="1200" dirty="0" err="1" smtClean="0">
                <a:solidFill>
                  <a:schemeClr val="tx1"/>
                </a:solidFill>
                <a:latin typeface="+mn-lt"/>
                <a:ea typeface="+mn-ea"/>
                <a:cs typeface="+mn-cs"/>
              </a:rPr>
              <a:t>Yᵢ </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log(Ŷᵢ</a:t>
            </a:r>
            <a:r>
              <a:rPr lang="ru-RU" sz="1200" b="0" i="0" kern="1200" dirty="0" smtClean="0">
                <a:solidFill>
                  <a:schemeClr val="tx1"/>
                </a:solidFill>
                <a:latin typeface="+mn-lt"/>
                <a:ea typeface="+mn-ea"/>
                <a:cs typeface="+mn-cs"/>
              </a:rPr>
              <a:t>) + (1 - </a:t>
            </a:r>
            <a:r>
              <a:rPr lang="ru-RU" sz="1200" b="0" i="0" kern="1200" dirty="0" err="1" smtClean="0">
                <a:solidFill>
                  <a:schemeClr val="tx1"/>
                </a:solidFill>
                <a:latin typeface="+mn-lt"/>
                <a:ea typeface="+mn-ea"/>
                <a:cs typeface="+mn-cs"/>
              </a:rPr>
              <a:t>Yᵢ</a:t>
            </a:r>
            <a:r>
              <a:rPr lang="ru-RU" sz="1200" b="0" i="0" kern="1200" dirty="0" smtClean="0">
                <a:solidFill>
                  <a:schemeClr val="tx1"/>
                </a:solidFill>
                <a:latin typeface="+mn-lt"/>
                <a:ea typeface="+mn-ea"/>
                <a:cs typeface="+mn-cs"/>
              </a:rPr>
              <a:t>) ·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(1 - </a:t>
            </a:r>
            <a:r>
              <a:rPr lang="ru-RU" sz="1200" b="0" i="0" kern="1200" dirty="0" err="1" smtClean="0">
                <a:solidFill>
                  <a:schemeClr val="tx1"/>
                </a:solidFill>
                <a:latin typeface="+mn-lt"/>
                <a:ea typeface="+mn-ea"/>
                <a:cs typeface="+mn-cs"/>
              </a:rPr>
              <a:t>Ŷᵢ</a:t>
            </a:r>
            <a:r>
              <a:rPr lang="ru-RU" sz="1200" b="0" i="0" kern="1200" dirty="0" smtClean="0">
                <a:solidFill>
                  <a:schemeClr val="tx1"/>
                </a:solidFill>
                <a:latin typeface="+mn-lt"/>
                <a:ea typeface="+mn-ea"/>
                <a:cs typeface="+mn-cs"/>
              </a:rPr>
              <a:t>) = 0 ·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a:t>
            </a:r>
            <a:r>
              <a:rPr lang="ru-RU" sz="1200" b="0" i="0" kern="1200" dirty="0" err="1" smtClean="0">
                <a:solidFill>
                  <a:schemeClr val="tx1"/>
                </a:solidFill>
                <a:latin typeface="+mn-lt"/>
                <a:ea typeface="+mn-ea"/>
                <a:cs typeface="+mn-cs"/>
              </a:rPr>
              <a:t>Ŷᵢ</a:t>
            </a:r>
            <a:r>
              <a:rPr lang="ru-RU" sz="1200" b="0" i="0" kern="1200" dirty="0" smtClean="0">
                <a:solidFill>
                  <a:schemeClr val="tx1"/>
                </a:solidFill>
                <a:latin typeface="+mn-lt"/>
                <a:ea typeface="+mn-ea"/>
                <a:cs typeface="+mn-cs"/>
              </a:rPr>
              <a:t>) + 1 ·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(1 - </a:t>
            </a:r>
            <a:r>
              <a:rPr lang="ru-RU" sz="1200" b="0" i="0" kern="1200" dirty="0" err="1" smtClean="0">
                <a:solidFill>
                  <a:schemeClr val="tx1"/>
                </a:solidFill>
                <a:latin typeface="+mn-lt"/>
                <a:ea typeface="+mn-ea"/>
                <a:cs typeface="+mn-cs"/>
              </a:rPr>
              <a:t>Ŷᵢ</a:t>
            </a:r>
            <a:r>
              <a:rPr lang="ru-RU" sz="1200" b="0" i="0" kern="1200" dirty="0" smtClean="0">
                <a:solidFill>
                  <a:schemeClr val="tx1"/>
                </a:solidFill>
                <a:latin typeface="+mn-lt"/>
                <a:ea typeface="+mn-ea"/>
                <a:cs typeface="+mn-cs"/>
              </a:rPr>
              <a:t>) =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(1 - </a:t>
            </a:r>
            <a:r>
              <a:rPr lang="ru-RU" sz="1200" b="0" i="0" kern="1200" dirty="0" err="1" smtClean="0">
                <a:solidFill>
                  <a:schemeClr val="tx1"/>
                </a:solidFill>
                <a:latin typeface="+mn-lt"/>
                <a:ea typeface="+mn-ea"/>
                <a:cs typeface="+mn-cs"/>
              </a:rPr>
              <a:t>Ŷᵢ</a:t>
            </a:r>
            <a:r>
              <a:rPr lang="ru-RU" sz="1200" b="0" i="0" kern="1200" dirty="0" smtClean="0">
                <a:solidFill>
                  <a:schemeClr val="tx1"/>
                </a:solidFill>
                <a:latin typeface="+mn-lt"/>
                <a:ea typeface="+mn-ea"/>
                <a:cs typeface="+mn-cs"/>
              </a:rPr>
              <a:t>)</a:t>
            </a:r>
          </a:p>
          <a:p>
            <a:r>
              <a:rPr lang="ru-RU" sz="1200" b="0" i="0" kern="1200" dirty="0" smtClean="0">
                <a:solidFill>
                  <a:schemeClr val="tx1"/>
                </a:solidFill>
                <a:latin typeface="+mn-lt"/>
                <a:ea typeface="+mn-ea"/>
                <a:cs typeface="+mn-cs"/>
              </a:rPr>
              <a:t>Со знаком минус:</a:t>
            </a:r>
          </a:p>
          <a:p>
            <a:r>
              <a:rPr lang="ru-RU" sz="1200" b="0" i="0" kern="1200" dirty="0" smtClean="0">
                <a:solidFill>
                  <a:schemeClr val="tx1"/>
                </a:solidFill>
                <a:latin typeface="+mn-lt"/>
                <a:ea typeface="+mn-ea"/>
                <a:cs typeface="+mn-cs"/>
              </a:rPr>
              <a:t>L =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(1 - </a:t>
            </a:r>
            <a:r>
              <a:rPr lang="ru-RU" sz="1200" b="0" i="0" kern="1200" dirty="0" err="1" smtClean="0">
                <a:solidFill>
                  <a:schemeClr val="tx1"/>
                </a:solidFill>
                <a:latin typeface="+mn-lt"/>
                <a:ea typeface="+mn-ea"/>
                <a:cs typeface="+mn-cs"/>
              </a:rPr>
              <a:t>Ŷᵢ</a:t>
            </a:r>
            <a:r>
              <a:rPr lang="ru-RU" sz="1200" b="0" i="0" kern="1200" dirty="0" smtClean="0">
                <a:solidFill>
                  <a:schemeClr val="tx1"/>
                </a:solidFill>
                <a:latin typeface="+mn-lt"/>
                <a:ea typeface="+mn-ea"/>
                <a:cs typeface="+mn-cs"/>
              </a:rPr>
              <a:t>)</a:t>
            </a:r>
          </a:p>
          <a:p>
            <a:r>
              <a:rPr lang="ru-RU" sz="1200" b="1" i="0" kern="1200" dirty="0" smtClean="0">
                <a:solidFill>
                  <a:schemeClr val="tx1"/>
                </a:solidFill>
                <a:latin typeface="+mn-lt"/>
                <a:ea typeface="+mn-ea"/>
                <a:cs typeface="+mn-cs"/>
              </a:rPr>
              <a:t>Смысл:</a:t>
            </a:r>
            <a:r>
              <a:rPr lang="ru-RU" sz="1200" b="0" i="0" kern="1200" dirty="0" smtClean="0">
                <a:solidFill>
                  <a:schemeClr val="tx1"/>
                </a:solidFill>
                <a:latin typeface="+mn-lt"/>
                <a:ea typeface="+mn-ea"/>
                <a:cs typeface="+mn-cs"/>
              </a:rPr>
              <a:t> смотрим только на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(1 - </a:t>
            </a:r>
            <a:r>
              <a:rPr lang="ru-RU" sz="1200" b="0" i="0" kern="1200" dirty="0" err="1" smtClean="0">
                <a:solidFill>
                  <a:schemeClr val="tx1"/>
                </a:solidFill>
                <a:latin typeface="+mn-lt"/>
                <a:ea typeface="+mn-ea"/>
                <a:cs typeface="+mn-cs"/>
              </a:rPr>
              <a:t>Ŷᵢ</a:t>
            </a:r>
            <a:r>
              <a:rPr lang="ru-RU" sz="1200" b="0" i="0" kern="1200" dirty="0" smtClean="0">
                <a:solidFill>
                  <a:schemeClr val="tx1"/>
                </a:solidFill>
                <a:latin typeface="+mn-lt"/>
                <a:ea typeface="+mn-ea"/>
                <a:cs typeface="+mn-cs"/>
              </a:rPr>
              <a:t>). Чем ближе </a:t>
            </a:r>
            <a:r>
              <a:rPr lang="ru-RU" sz="1200" b="0" i="0" kern="1200" dirty="0" err="1" smtClean="0">
                <a:solidFill>
                  <a:schemeClr val="tx1"/>
                </a:solidFill>
                <a:latin typeface="+mn-lt"/>
                <a:ea typeface="+mn-ea"/>
                <a:cs typeface="+mn-cs"/>
              </a:rPr>
              <a:t>Ŷᵢ </a:t>
            </a:r>
            <a:r>
              <a:rPr lang="ru-RU" sz="1200" b="0" i="0" kern="1200" dirty="0" smtClean="0">
                <a:solidFill>
                  <a:schemeClr val="tx1"/>
                </a:solidFill>
                <a:latin typeface="+mn-lt"/>
                <a:ea typeface="+mn-ea"/>
                <a:cs typeface="+mn-cs"/>
              </a:rPr>
              <a:t>к 0, тем меньше штраф.</a:t>
            </a:r>
          </a:p>
          <a:p>
            <a:endParaRPr lang="ru-RU" sz="1200" b="1"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Почему именно </a:t>
            </a:r>
            <a:r>
              <a:rPr lang="ru-RU" sz="1200" b="1" kern="1200" dirty="0" err="1" smtClean="0">
                <a:solidFill>
                  <a:schemeClr val="tx1"/>
                </a:solidFill>
                <a:latin typeface="+mn-lt"/>
                <a:ea typeface="+mn-ea"/>
                <a:cs typeface="+mn-cs"/>
              </a:rPr>
              <a:t>log</a:t>
            </a:r>
            <a:endParaRPr lang="ru-RU" sz="1200" b="1"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Логарифм обладает двумя важными свойствами:</a:t>
            </a:r>
          </a:p>
          <a:p>
            <a:r>
              <a:rPr lang="ru-RU" sz="1200" b="1" i="0" kern="1200" dirty="0" smtClean="0">
                <a:solidFill>
                  <a:schemeClr val="tx1"/>
                </a:solidFill>
                <a:latin typeface="+mn-lt"/>
                <a:ea typeface="+mn-ea"/>
                <a:cs typeface="+mn-cs"/>
              </a:rPr>
              <a:t>1. При </a:t>
            </a:r>
            <a:r>
              <a:rPr lang="ru-RU" sz="1200" b="1" i="0" kern="1200" dirty="0" err="1" smtClean="0">
                <a:solidFill>
                  <a:schemeClr val="tx1"/>
                </a:solidFill>
                <a:latin typeface="+mn-lt"/>
                <a:ea typeface="+mn-ea"/>
                <a:cs typeface="+mn-cs"/>
              </a:rPr>
              <a:t>x</a:t>
            </a:r>
            <a:r>
              <a:rPr lang="ru-RU" sz="1200" b="1" i="0" kern="1200" dirty="0" smtClean="0">
                <a:solidFill>
                  <a:schemeClr val="tx1"/>
                </a:solidFill>
                <a:latin typeface="+mn-lt"/>
                <a:ea typeface="+mn-ea"/>
                <a:cs typeface="+mn-cs"/>
              </a:rPr>
              <a:t> = 1 даёт 0:</a:t>
            </a:r>
            <a:endParaRPr lang="ru-RU" sz="1200" b="0" i="0" kern="1200" dirty="0" smtClean="0">
              <a:solidFill>
                <a:schemeClr val="tx1"/>
              </a:solidFill>
              <a:latin typeface="+mn-lt"/>
              <a:ea typeface="+mn-ea"/>
              <a:cs typeface="+mn-cs"/>
            </a:endParaRPr>
          </a:p>
          <a:p>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(1) = 0</a:t>
            </a:r>
          </a:p>
          <a:p>
            <a:r>
              <a:rPr lang="ru-RU" sz="1200" b="0" i="0" kern="1200" dirty="0" smtClean="0">
                <a:solidFill>
                  <a:schemeClr val="tx1"/>
                </a:solidFill>
                <a:latin typeface="+mn-lt"/>
                <a:ea typeface="+mn-ea"/>
                <a:cs typeface="+mn-cs"/>
              </a:rPr>
              <a:t>Идеальное предсказание → нулевой штраф. Логично.</a:t>
            </a:r>
          </a:p>
          <a:p>
            <a:r>
              <a:rPr lang="ru-RU" sz="1200" b="1" i="0" kern="1200" dirty="0" smtClean="0">
                <a:solidFill>
                  <a:schemeClr val="tx1"/>
                </a:solidFill>
                <a:latin typeface="+mn-lt"/>
                <a:ea typeface="+mn-ea"/>
                <a:cs typeface="+mn-cs"/>
              </a:rPr>
              <a:t>2. При </a:t>
            </a:r>
            <a:r>
              <a:rPr lang="ru-RU" sz="1200" b="1" i="0" kern="1200" dirty="0" err="1" smtClean="0">
                <a:solidFill>
                  <a:schemeClr val="tx1"/>
                </a:solidFill>
                <a:latin typeface="+mn-lt"/>
                <a:ea typeface="+mn-ea"/>
                <a:cs typeface="+mn-cs"/>
              </a:rPr>
              <a:t>x</a:t>
            </a:r>
            <a:r>
              <a:rPr lang="ru-RU" sz="1200" b="1" i="0" kern="1200" dirty="0" smtClean="0">
                <a:solidFill>
                  <a:schemeClr val="tx1"/>
                </a:solidFill>
                <a:latin typeface="+mn-lt"/>
                <a:ea typeface="+mn-ea"/>
                <a:cs typeface="+mn-cs"/>
              </a:rPr>
              <a:t> → 0 уходит в -∞:</a:t>
            </a:r>
            <a:endParaRPr lang="ru-RU" sz="1200" b="0" i="0" kern="1200" dirty="0" smtClean="0">
              <a:solidFill>
                <a:schemeClr val="tx1"/>
              </a:solidFill>
              <a:latin typeface="+mn-lt"/>
              <a:ea typeface="+mn-ea"/>
              <a:cs typeface="+mn-cs"/>
            </a:endParaRPr>
          </a:p>
          <a:p>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(0) → -∞</a:t>
            </a:r>
          </a:p>
          <a:p>
            <a:r>
              <a:rPr lang="ru-RU" sz="1200" b="0" i="0" kern="1200" dirty="0" smtClean="0">
                <a:solidFill>
                  <a:schemeClr val="tx1"/>
                </a:solidFill>
                <a:latin typeface="+mn-lt"/>
                <a:ea typeface="+mn-ea"/>
                <a:cs typeface="+mn-cs"/>
              </a:rPr>
              <a:t>Уверенно неправильное предсказание → огромный штраф. Модель быстро учится </a:t>
            </a:r>
            <a:r>
              <a:rPr lang="ru-RU" sz="1200" b="1" i="0" kern="1200" dirty="0" smtClean="0">
                <a:solidFill>
                  <a:schemeClr val="tx1"/>
                </a:solidFill>
                <a:latin typeface="+mn-lt"/>
                <a:ea typeface="+mn-ea"/>
                <a:cs typeface="+mn-cs"/>
              </a:rPr>
              <a:t>не быть уверенной в неправильном</a:t>
            </a:r>
            <a:r>
              <a:rPr lang="ru-RU" sz="1200" b="0" i="0" kern="1200" dirty="0" smtClean="0">
                <a:solidFill>
                  <a:schemeClr val="tx1"/>
                </a:solidFill>
                <a:latin typeface="+mn-lt"/>
                <a:ea typeface="+mn-ea"/>
                <a:cs typeface="+mn-cs"/>
              </a:rPr>
              <a:t>.</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Знак минус</a:t>
            </a:r>
          </a:p>
          <a:p>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 от числа меньше 1 всегда отрицательный. Минус перед суммой делает штраф положительным. Это чисто техническая деталь: чтобы </a:t>
            </a:r>
            <a:r>
              <a:rPr lang="ru-RU" sz="1200" b="0" i="0" kern="1200" dirty="0" err="1" smtClean="0">
                <a:solidFill>
                  <a:schemeClr val="tx1"/>
                </a:solidFill>
                <a:latin typeface="+mn-lt"/>
                <a:ea typeface="+mn-ea"/>
                <a:cs typeface="+mn-cs"/>
              </a:rPr>
              <a:t>loss</a:t>
            </a:r>
            <a:r>
              <a:rPr lang="ru-RU" sz="1200" b="0" i="0" kern="1200" dirty="0" smtClean="0">
                <a:solidFill>
                  <a:schemeClr val="tx1"/>
                </a:solidFill>
                <a:latin typeface="+mn-lt"/>
                <a:ea typeface="+mn-ea"/>
                <a:cs typeface="+mn-cs"/>
              </a:rPr>
              <a:t> был ≥ 0 и его можно было минимизировать.</a:t>
            </a:r>
          </a:p>
          <a:p>
            <a:endParaRPr lang="ru-RU" sz="1200" b="1"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Как это работает на примерах</a:t>
            </a:r>
          </a:p>
          <a:p>
            <a:r>
              <a:rPr lang="ru-RU" sz="1200" b="0" kern="1200" dirty="0" smtClean="0">
                <a:solidFill>
                  <a:schemeClr val="tx1"/>
                </a:solidFill>
                <a:latin typeface="+mn-lt"/>
                <a:ea typeface="+mn-ea"/>
                <a:cs typeface="+mn-cs"/>
              </a:rPr>
              <a:t>Пример 1: реально класс 1, модель уверена и права</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Y = 1, Ŷ = 0.95</a:t>
            </a:r>
          </a:p>
          <a:p>
            <a:r>
              <a:rPr lang="ru-RU" sz="1200" b="0" i="0" kern="1200" dirty="0" smtClean="0">
                <a:solidFill>
                  <a:schemeClr val="tx1"/>
                </a:solidFill>
                <a:latin typeface="+mn-lt"/>
                <a:ea typeface="+mn-ea"/>
                <a:cs typeface="+mn-cs"/>
              </a:rPr>
              <a:t> L =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(0.95) = 0.051</a:t>
            </a:r>
          </a:p>
          <a:p>
            <a:r>
              <a:rPr lang="ru-RU" sz="1200" b="0" i="0" kern="1200" dirty="0" smtClean="0">
                <a:solidFill>
                  <a:schemeClr val="tx1"/>
                </a:solidFill>
                <a:latin typeface="+mn-lt"/>
                <a:ea typeface="+mn-ea"/>
                <a:cs typeface="+mn-cs"/>
              </a:rPr>
              <a:t>Штраф маленький. Молодец, модель.</a:t>
            </a:r>
          </a:p>
          <a:p>
            <a:endParaRPr lang="ru-RU" sz="1200" b="0" i="0" kern="1200" dirty="0" smtClean="0">
              <a:solidFill>
                <a:schemeClr val="tx1"/>
              </a:solidFill>
              <a:latin typeface="+mn-lt"/>
              <a:ea typeface="+mn-ea"/>
              <a:cs typeface="+mn-cs"/>
            </a:endParaRPr>
          </a:p>
          <a:p>
            <a:r>
              <a:rPr lang="ru-RU" sz="1200" b="0" kern="1200" dirty="0" smtClean="0">
                <a:solidFill>
                  <a:schemeClr val="tx1"/>
                </a:solidFill>
                <a:latin typeface="+mn-lt"/>
                <a:ea typeface="+mn-ea"/>
                <a:cs typeface="+mn-cs"/>
              </a:rPr>
              <a:t>Пример 2: реально класс 1, модель не уверена</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Y = 1, Ŷ = 0.5</a:t>
            </a:r>
          </a:p>
          <a:p>
            <a:r>
              <a:rPr lang="ru-RU" sz="1200" b="0" i="0" kern="1200" dirty="0" smtClean="0">
                <a:solidFill>
                  <a:schemeClr val="tx1"/>
                </a:solidFill>
                <a:latin typeface="+mn-lt"/>
                <a:ea typeface="+mn-ea"/>
                <a:cs typeface="+mn-cs"/>
              </a:rPr>
              <a:t> L =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(0.5) = 0.693</a:t>
            </a:r>
          </a:p>
          <a:p>
            <a:r>
              <a:rPr lang="ru-RU" sz="1200" b="0" i="0" kern="1200" dirty="0" smtClean="0">
                <a:solidFill>
                  <a:schemeClr val="tx1"/>
                </a:solidFill>
                <a:latin typeface="+mn-lt"/>
                <a:ea typeface="+mn-ea"/>
                <a:cs typeface="+mn-cs"/>
              </a:rPr>
              <a:t>Средний штраф. Модель «сомневается» — нужно больше уверенности.</a:t>
            </a:r>
          </a:p>
          <a:p>
            <a:endParaRPr lang="ru-RU" sz="1200" b="0" i="0" kern="1200" dirty="0" smtClean="0">
              <a:solidFill>
                <a:schemeClr val="tx1"/>
              </a:solidFill>
              <a:latin typeface="+mn-lt"/>
              <a:ea typeface="+mn-ea"/>
              <a:cs typeface="+mn-cs"/>
            </a:endParaRPr>
          </a:p>
          <a:p>
            <a:r>
              <a:rPr lang="ru-RU" sz="1200" b="0" kern="1200" dirty="0" smtClean="0">
                <a:solidFill>
                  <a:schemeClr val="tx1"/>
                </a:solidFill>
                <a:latin typeface="+mn-lt"/>
                <a:ea typeface="+mn-ea"/>
                <a:cs typeface="+mn-cs"/>
              </a:rPr>
              <a:t>Пример 3: реально класс 1, модель уверена и неправа</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Y = 1, Ŷ = 0.05</a:t>
            </a:r>
          </a:p>
          <a:p>
            <a:r>
              <a:rPr lang="ru-RU" sz="1200" b="0" i="0" kern="1200" dirty="0" smtClean="0">
                <a:solidFill>
                  <a:schemeClr val="tx1"/>
                </a:solidFill>
                <a:latin typeface="+mn-lt"/>
                <a:ea typeface="+mn-ea"/>
                <a:cs typeface="+mn-cs"/>
              </a:rPr>
              <a:t> L =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(0.05) = 2.996</a:t>
            </a:r>
          </a:p>
          <a:p>
            <a:r>
              <a:rPr lang="ru-RU" sz="1200" b="0" i="0" kern="1200" dirty="0" smtClean="0">
                <a:solidFill>
                  <a:schemeClr val="tx1"/>
                </a:solidFill>
                <a:latin typeface="+mn-lt"/>
                <a:ea typeface="+mn-ea"/>
                <a:cs typeface="+mn-cs"/>
              </a:rPr>
              <a:t>Большой штраф. Модель уверена в неправильном ответе — это плохо.</a:t>
            </a:r>
          </a:p>
          <a:p>
            <a:endParaRPr lang="ru-RU" sz="1200" b="0" i="0" kern="1200" dirty="0" smtClean="0">
              <a:solidFill>
                <a:schemeClr val="tx1"/>
              </a:solidFill>
              <a:latin typeface="+mn-lt"/>
              <a:ea typeface="+mn-ea"/>
              <a:cs typeface="+mn-cs"/>
            </a:endParaRPr>
          </a:p>
          <a:p>
            <a:r>
              <a:rPr lang="ru-RU" sz="1200" b="0" kern="1200" dirty="0" smtClean="0">
                <a:solidFill>
                  <a:schemeClr val="tx1"/>
                </a:solidFill>
                <a:latin typeface="+mn-lt"/>
                <a:ea typeface="+mn-ea"/>
                <a:cs typeface="+mn-cs"/>
              </a:rPr>
              <a:t>Пример 4: реально класс 0, модель уверена и права</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Y = 0, Ŷ = 0.1</a:t>
            </a:r>
          </a:p>
          <a:p>
            <a:r>
              <a:rPr lang="ru-RU" sz="1200" b="0" i="0" kern="1200" dirty="0" smtClean="0">
                <a:solidFill>
                  <a:schemeClr val="tx1"/>
                </a:solidFill>
                <a:latin typeface="+mn-lt"/>
                <a:ea typeface="+mn-ea"/>
                <a:cs typeface="+mn-cs"/>
              </a:rPr>
              <a:t> L =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(1 - 0.1) =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(0.9) = 0.105</a:t>
            </a:r>
          </a:p>
          <a:p>
            <a:r>
              <a:rPr lang="ru-RU" sz="1200" b="0" i="0" kern="1200" dirty="0" smtClean="0">
                <a:solidFill>
                  <a:schemeClr val="tx1"/>
                </a:solidFill>
                <a:latin typeface="+mn-lt"/>
                <a:ea typeface="+mn-ea"/>
                <a:cs typeface="+mn-cs"/>
              </a:rPr>
              <a:t>Маленький штраф. Всё хорошо.</a:t>
            </a:r>
          </a:p>
          <a:p>
            <a:endParaRPr lang="ru-RU" sz="1200" b="0" i="0" kern="1200" dirty="0" smtClean="0">
              <a:solidFill>
                <a:schemeClr val="tx1"/>
              </a:solidFill>
              <a:latin typeface="+mn-lt"/>
              <a:ea typeface="+mn-ea"/>
              <a:cs typeface="+mn-cs"/>
            </a:endParaRPr>
          </a:p>
          <a:p>
            <a:r>
              <a:rPr lang="ru-RU" sz="1200" b="0" kern="1200" dirty="0" smtClean="0">
                <a:solidFill>
                  <a:schemeClr val="tx1"/>
                </a:solidFill>
                <a:latin typeface="+mn-lt"/>
                <a:ea typeface="+mn-ea"/>
                <a:cs typeface="+mn-cs"/>
              </a:rPr>
              <a:t>Пример 5: реально класс 0, модель уверена и неправа</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Y = 0, Ŷ = 0.9</a:t>
            </a:r>
          </a:p>
          <a:p>
            <a:r>
              <a:rPr lang="ru-RU" sz="1200" b="0" i="0" kern="1200" dirty="0" smtClean="0">
                <a:solidFill>
                  <a:schemeClr val="tx1"/>
                </a:solidFill>
                <a:latin typeface="+mn-lt"/>
                <a:ea typeface="+mn-ea"/>
                <a:cs typeface="+mn-cs"/>
              </a:rPr>
              <a:t> L =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(1 - 0.9) = -</a:t>
            </a:r>
            <a:r>
              <a:rPr lang="ru-RU" sz="1200" b="0" i="0" kern="1200" dirty="0" err="1" smtClean="0">
                <a:solidFill>
                  <a:schemeClr val="tx1"/>
                </a:solidFill>
                <a:latin typeface="+mn-lt"/>
                <a:ea typeface="+mn-ea"/>
                <a:cs typeface="+mn-cs"/>
              </a:rPr>
              <a:t>log</a:t>
            </a:r>
            <a:r>
              <a:rPr lang="ru-RU" sz="1200" b="0" i="0" kern="1200" dirty="0" smtClean="0">
                <a:solidFill>
                  <a:schemeClr val="tx1"/>
                </a:solidFill>
                <a:latin typeface="+mn-lt"/>
                <a:ea typeface="+mn-ea"/>
                <a:cs typeface="+mn-cs"/>
              </a:rPr>
              <a:t>(0.1) = 2.303</a:t>
            </a:r>
          </a:p>
          <a:p>
            <a:r>
              <a:rPr lang="ru-RU" sz="1200" b="0" i="0" kern="1200" dirty="0" smtClean="0">
                <a:solidFill>
                  <a:schemeClr val="tx1"/>
                </a:solidFill>
                <a:latin typeface="+mn-lt"/>
                <a:ea typeface="+mn-ea"/>
                <a:cs typeface="+mn-cs"/>
              </a:rPr>
              <a:t>Большой штраф. Модель сильно ошибается и при этом уверена.</a:t>
            </a:r>
          </a:p>
          <a:p>
            <a:r>
              <a:rPr lang="ru-RU" sz="1200" b="0" i="0" kern="1200" dirty="0" smtClean="0">
                <a:solidFill>
                  <a:schemeClr val="tx1"/>
                </a:solidFill>
                <a:latin typeface="+mn-lt"/>
                <a:ea typeface="+mn-ea"/>
                <a:cs typeface="+mn-cs"/>
              </a:rPr>
              <a:t>Вывод: BCE особенно сильно наказывает модель за уверенные неправильные предсказания. Именно это делает её идеальной для классификации.</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Особенности</a:t>
            </a:r>
          </a:p>
          <a:p>
            <a:r>
              <a:rPr lang="ru-RU" sz="1200" b="0" i="0" kern="1200" dirty="0" smtClean="0">
                <a:solidFill>
                  <a:schemeClr val="tx1"/>
                </a:solidFill>
                <a:latin typeface="+mn-lt"/>
                <a:ea typeface="+mn-ea"/>
                <a:cs typeface="+mn-cs"/>
              </a:rPr>
              <a:t>Работает только с вероятностями — выход модели должен быть в диапазоне [0, 1]. Обычно это достигается через </a:t>
            </a:r>
            <a:r>
              <a:rPr lang="ru-RU" sz="1200" b="0" i="0" kern="1200" dirty="0" err="1" smtClean="0">
                <a:solidFill>
                  <a:schemeClr val="tx1"/>
                </a:solidFill>
                <a:latin typeface="+mn-lt"/>
                <a:ea typeface="+mn-ea"/>
                <a:cs typeface="+mn-cs"/>
              </a:rPr>
              <a:t>sigmoid</a:t>
            </a:r>
            <a:r>
              <a:rPr lang="ru-RU" sz="1200" b="0" i="0" kern="1200" dirty="0" smtClean="0">
                <a:solidFill>
                  <a:schemeClr val="tx1"/>
                </a:solidFill>
                <a:latin typeface="+mn-lt"/>
                <a:ea typeface="+mn-ea"/>
                <a:cs typeface="+mn-cs"/>
              </a:rPr>
              <a:t> на выходном слое.</a:t>
            </a:r>
          </a:p>
          <a:p>
            <a:r>
              <a:rPr lang="ru-RU" sz="1200" b="0" i="0" kern="1200" dirty="0" smtClean="0">
                <a:solidFill>
                  <a:schemeClr val="tx1"/>
                </a:solidFill>
                <a:latin typeface="+mn-lt"/>
                <a:ea typeface="+mn-ea"/>
                <a:cs typeface="+mn-cs"/>
              </a:rPr>
              <a:t>Реальный класс должен быть 0 или 1 — не промежуточное значение.</a:t>
            </a:r>
          </a:p>
          <a:p>
            <a:r>
              <a:rPr lang="ru-RU" sz="1200" b="0" i="0" kern="1200" dirty="0" smtClean="0">
                <a:solidFill>
                  <a:schemeClr val="tx1"/>
                </a:solidFill>
                <a:latin typeface="+mn-lt"/>
                <a:ea typeface="+mn-ea"/>
                <a:cs typeface="+mn-cs"/>
              </a:rPr>
              <a:t>Функция гладкая и дифференцируемая — отлично подходит для GD.</a:t>
            </a:r>
          </a:p>
          <a:p>
            <a:r>
              <a:rPr lang="ru-RU" sz="1200" b="0" i="0" kern="1200" dirty="0" smtClean="0">
                <a:solidFill>
                  <a:schemeClr val="tx1"/>
                </a:solidFill>
                <a:latin typeface="+mn-lt"/>
                <a:ea typeface="+mn-ea"/>
                <a:cs typeface="+mn-cs"/>
              </a:rPr>
              <a:t>Симметрична: штраф за «уверенно неправильно в классе 1» такой же, как за «уверенно неправильно в классе 0».</a:t>
            </a:r>
          </a:p>
          <a:p>
            <a:r>
              <a:rPr lang="ru-RU" sz="1200" b="0" i="0" kern="1200" dirty="0" smtClean="0">
                <a:solidFill>
                  <a:schemeClr val="tx1"/>
                </a:solidFill>
                <a:latin typeface="+mn-lt"/>
                <a:ea typeface="+mn-ea"/>
                <a:cs typeface="+mn-cs"/>
              </a:rPr>
              <a:t>Единицы измерения —</a:t>
            </a:r>
            <a:r>
              <a:rPr lang="ru-RU" sz="1200" b="0" i="0" kern="1200" baseline="0" dirty="0" smtClean="0">
                <a:solidFill>
                  <a:schemeClr val="tx1"/>
                </a:solidFill>
                <a:latin typeface="+mn-lt"/>
                <a:ea typeface="+mn-ea"/>
                <a:cs typeface="+mn-cs"/>
              </a:rPr>
              <a:t> </a:t>
            </a:r>
            <a:r>
              <a:rPr lang="ru-RU" sz="1200" b="0" i="0" kern="1200" dirty="0" smtClean="0">
                <a:solidFill>
                  <a:schemeClr val="tx1"/>
                </a:solidFill>
                <a:latin typeface="+mn-lt"/>
                <a:ea typeface="+mn-ea"/>
                <a:cs typeface="+mn-cs"/>
              </a:rPr>
              <a:t>безразмерные. Не связаны с исходными данными.</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Плюсы</a:t>
            </a:r>
          </a:p>
          <a:p>
            <a:r>
              <a:rPr lang="ru-RU" sz="1200" b="0" i="0" kern="1200" dirty="0" smtClean="0">
                <a:solidFill>
                  <a:schemeClr val="tx1"/>
                </a:solidFill>
                <a:latin typeface="+mn-lt"/>
                <a:ea typeface="+mn-ea"/>
                <a:cs typeface="+mn-cs"/>
              </a:rPr>
              <a:t>Штрафует уверенные неправильные предсказания - Модель учится быть осторожной</a:t>
            </a:r>
          </a:p>
          <a:p>
            <a:r>
              <a:rPr lang="ru-RU" sz="1200" b="0" i="0" kern="1200" dirty="0" smtClean="0">
                <a:solidFill>
                  <a:schemeClr val="tx1"/>
                </a:solidFill>
                <a:latin typeface="+mn-lt"/>
                <a:ea typeface="+mn-ea"/>
                <a:cs typeface="+mn-cs"/>
              </a:rPr>
              <a:t>Гладкая и дифференцируемая - GD работает стабильно</a:t>
            </a:r>
          </a:p>
          <a:p>
            <a:endParaRPr lang="ru-RU" sz="1200" b="1"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Минусы</a:t>
            </a:r>
          </a:p>
          <a:p>
            <a:r>
              <a:rPr lang="ru-RU" sz="1200" b="0" i="0" kern="1200" dirty="0" smtClean="0">
                <a:solidFill>
                  <a:schemeClr val="tx1"/>
                </a:solidFill>
                <a:latin typeface="+mn-lt"/>
                <a:ea typeface="+mn-ea"/>
                <a:cs typeface="+mn-cs"/>
              </a:rPr>
              <a:t>Только для двух классов - Для многих классов нужна </a:t>
            </a:r>
            <a:r>
              <a:rPr lang="ru-RU" sz="1200" b="0" i="0" kern="1200" dirty="0" err="1" smtClean="0">
                <a:solidFill>
                  <a:schemeClr val="tx1"/>
                </a:solidFill>
                <a:latin typeface="+mn-lt"/>
                <a:ea typeface="+mn-ea"/>
                <a:cs typeface="+mn-cs"/>
              </a:rPr>
              <a:t>categorical_crossentropy</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Чувствительна к меткам - Метки должны быть строго 0 или 1, не 0.</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Когда применять</a:t>
            </a:r>
          </a:p>
          <a:p>
            <a:r>
              <a:rPr lang="ru-RU" sz="1200" b="0" i="0" kern="1200" dirty="0" smtClean="0">
                <a:solidFill>
                  <a:schemeClr val="tx1"/>
                </a:solidFill>
                <a:latin typeface="+mn-lt"/>
                <a:ea typeface="+mn-ea"/>
                <a:cs typeface="+mn-cs"/>
              </a:rPr>
              <a:t>Бинарная классификация — два класса.</a:t>
            </a:r>
          </a:p>
          <a:p>
            <a:r>
              <a:rPr lang="ru-RU" sz="1200" b="0" i="0" kern="1200" dirty="0" smtClean="0">
                <a:solidFill>
                  <a:schemeClr val="tx1"/>
                </a:solidFill>
                <a:latin typeface="+mn-lt"/>
                <a:ea typeface="+mn-ea"/>
                <a:cs typeface="+mn-cs"/>
              </a:rPr>
              <a:t>Модель выдаёт вероятность (обычно через </a:t>
            </a:r>
            <a:r>
              <a:rPr lang="ru-RU" sz="1200" b="0" i="0" kern="1200" dirty="0" err="1" smtClean="0">
                <a:solidFill>
                  <a:schemeClr val="tx1"/>
                </a:solidFill>
                <a:latin typeface="+mn-lt"/>
                <a:ea typeface="+mn-ea"/>
                <a:cs typeface="+mn-cs"/>
              </a:rPr>
              <a:t>sigmoid</a:t>
            </a:r>
            <a:r>
              <a:rPr lang="ru-RU" sz="1200" b="0" i="0" kern="1200" dirty="0" smtClean="0">
                <a:solidFill>
                  <a:schemeClr val="tx1"/>
                </a:solidFill>
                <a:latin typeface="+mn-lt"/>
                <a:ea typeface="+mn-ea"/>
                <a:cs typeface="+mn-cs"/>
              </a:rPr>
              <a:t>).</a:t>
            </a:r>
          </a:p>
          <a:p>
            <a:r>
              <a:rPr lang="ru-RU" sz="1200" b="0" i="0" kern="1200" dirty="0" smtClean="0">
                <a:solidFill>
                  <a:schemeClr val="tx1"/>
                </a:solidFill>
                <a:latin typeface="+mn-lt"/>
                <a:ea typeface="+mn-ea"/>
                <a:cs typeface="+mn-cs"/>
              </a:rPr>
              <a:t>Задачи, где важно не просто угадать класс, а оценить уверенность: медицина, кредитный </a:t>
            </a:r>
            <a:r>
              <a:rPr lang="ru-RU" sz="1200" b="0" i="0" kern="1200" dirty="0" err="1" smtClean="0">
                <a:solidFill>
                  <a:schemeClr val="tx1"/>
                </a:solidFill>
                <a:latin typeface="+mn-lt"/>
                <a:ea typeface="+mn-ea"/>
                <a:cs typeface="+mn-cs"/>
              </a:rPr>
              <a:t>скоринг</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детекция</a:t>
            </a:r>
            <a:r>
              <a:rPr lang="ru-RU" sz="1200" b="0" i="0" kern="1200" dirty="0" smtClean="0">
                <a:solidFill>
                  <a:schemeClr val="tx1"/>
                </a:solidFill>
                <a:latin typeface="+mn-lt"/>
                <a:ea typeface="+mn-ea"/>
                <a:cs typeface="+mn-cs"/>
              </a:rPr>
              <a:t> аномалий.</a:t>
            </a:r>
          </a:p>
          <a:p>
            <a:r>
              <a:rPr lang="ru-RU" dirty="0" smtClean="0"/>
              <a:t/>
            </a:r>
            <a:br>
              <a:rPr lang="ru-RU" dirty="0" smtClean="0"/>
            </a:br>
            <a:endParaRPr lang="ru-RU" sz="1200" b="0" i="0" kern="1200" dirty="0" smtClean="0">
              <a:solidFill>
                <a:schemeClr val="tx1"/>
              </a:solidFill>
              <a:latin typeface="+mn-lt"/>
              <a:ea typeface="+mn-ea"/>
              <a:cs typeface="+mn-cs"/>
            </a:endParaRPr>
          </a:p>
          <a:p>
            <a:endParaRPr lang="ru-RU" sz="1200" b="0" i="0" kern="1200" dirty="0" smtClean="0">
              <a:solidFill>
                <a:schemeClr val="tx1"/>
              </a:solidFill>
              <a:latin typeface="+mn-lt"/>
              <a:ea typeface="+mn-ea"/>
              <a:cs typeface="+mn-cs"/>
            </a:endParaRPr>
          </a:p>
          <a:p>
            <a:endParaRPr lang="ru-RU" baseline="0" dirty="0" smtClean="0"/>
          </a:p>
          <a:p>
            <a:endParaRPr lang="ru-RU" baseline="0" dirty="0" smtClean="0"/>
          </a:p>
          <a:p>
            <a:endParaRPr lang="ru-RU" dirty="0"/>
          </a:p>
        </p:txBody>
      </p:sp>
      <p:sp>
        <p:nvSpPr>
          <p:cNvPr id="4" name="Номер слайда 3"/>
          <p:cNvSpPr>
            <a:spLocks noGrp="1"/>
          </p:cNvSpPr>
          <p:nvPr>
            <p:ph type="sldNum" sz="quarter" idx="10"/>
          </p:nvPr>
        </p:nvSpPr>
        <p:spPr/>
        <p:txBody>
          <a:bodyPr/>
          <a:lstStyle/>
          <a:p>
            <a:fld id="{CEBF9C1A-0A84-4F0C-9C04-72BCEF6B8C2A}" type="slidenum">
              <a:rPr lang="ru-RU" smtClean="0"/>
              <a:pPr/>
              <a:t>8</a:t>
            </a:fld>
            <a:endParaRPr lang="ru-R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lnSpcReduction="10000"/>
          </a:bodyPr>
          <a:lstStyle/>
          <a:p>
            <a:r>
              <a:rPr lang="ru-RU" dirty="0" smtClean="0"/>
              <a:t>Наконец</a:t>
            </a:r>
            <a:r>
              <a:rPr lang="ru-RU" baseline="0" dirty="0" smtClean="0"/>
              <a:t> то! Вот мы и добрались до святая святых. </a:t>
            </a:r>
            <a:r>
              <a:rPr lang="ru-RU" baseline="0" dirty="0" err="1" smtClean="0"/>
              <a:t>Посвят</a:t>
            </a:r>
            <a:r>
              <a:rPr lang="ru-RU" baseline="0" dirty="0" smtClean="0"/>
              <a:t>. КАК компьютер подбирает веса? </a:t>
            </a:r>
          </a:p>
          <a:p>
            <a:endParaRPr lang="ru-RU" baseline="0" dirty="0" smtClean="0"/>
          </a:p>
          <a:p>
            <a:r>
              <a:rPr lang="ru-RU" sz="1200" b="0" i="0" kern="1200" dirty="0" smtClean="0">
                <a:solidFill>
                  <a:schemeClr val="tx1"/>
                </a:solidFill>
                <a:latin typeface="+mn-lt"/>
                <a:ea typeface="+mn-ea"/>
                <a:cs typeface="+mn-cs"/>
              </a:rPr>
              <a:t>Разберём это по шагам.</a:t>
            </a:r>
          </a:p>
          <a:p>
            <a:r>
              <a:rPr lang="ru-RU" sz="1200" b="0" kern="1200" dirty="0" smtClean="0">
                <a:solidFill>
                  <a:schemeClr val="tx1"/>
                </a:solidFill>
                <a:latin typeface="+mn-lt"/>
                <a:ea typeface="+mn-ea"/>
                <a:cs typeface="+mn-cs"/>
              </a:rPr>
              <a:t>Шаг 1. Инициализация</a:t>
            </a:r>
          </a:p>
          <a:p>
            <a:r>
              <a:rPr lang="ru-RU" sz="1200" b="0" i="0" kern="1200" dirty="0" smtClean="0">
                <a:solidFill>
                  <a:schemeClr val="tx1"/>
                </a:solidFill>
                <a:latin typeface="+mn-lt"/>
                <a:ea typeface="+mn-ea"/>
                <a:cs typeface="+mn-cs"/>
              </a:rPr>
              <a:t>Все веса и смещения модели инициализируются случайными значениями. Мы ещё ничего не знаем о данных — просто начинаем с какого-то случайного места.</a:t>
            </a:r>
          </a:p>
          <a:p>
            <a:r>
              <a:rPr lang="ru-RU" sz="1200" b="0" kern="1200" dirty="0" smtClean="0">
                <a:solidFill>
                  <a:schemeClr val="tx1"/>
                </a:solidFill>
                <a:latin typeface="+mn-lt"/>
                <a:ea typeface="+mn-ea"/>
                <a:cs typeface="+mn-cs"/>
              </a:rPr>
              <a:t>Шаг 2. Прямой проход (</a:t>
            </a:r>
            <a:r>
              <a:rPr lang="ru-RU" sz="1200" b="0" kern="1200" dirty="0" err="1" smtClean="0">
                <a:solidFill>
                  <a:schemeClr val="tx1"/>
                </a:solidFill>
                <a:latin typeface="+mn-lt"/>
                <a:ea typeface="+mn-ea"/>
                <a:cs typeface="+mn-cs"/>
              </a:rPr>
              <a:t>forward</a:t>
            </a:r>
            <a:r>
              <a:rPr lang="ru-RU" sz="1200" b="0" kern="1200" dirty="0" smtClean="0">
                <a:solidFill>
                  <a:schemeClr val="tx1"/>
                </a:solidFill>
                <a:latin typeface="+mn-lt"/>
                <a:ea typeface="+mn-ea"/>
                <a:cs typeface="+mn-cs"/>
              </a:rPr>
              <a:t>)</a:t>
            </a:r>
          </a:p>
          <a:p>
            <a:r>
              <a:rPr lang="ru-RU" sz="1200" b="0" i="0" kern="1200" dirty="0" smtClean="0">
                <a:solidFill>
                  <a:schemeClr val="tx1"/>
                </a:solidFill>
                <a:latin typeface="+mn-lt"/>
                <a:ea typeface="+mn-ea"/>
                <a:cs typeface="+mn-cs"/>
              </a:rPr>
              <a:t>Берём несколько объектов из </a:t>
            </a:r>
            <a:r>
              <a:rPr lang="ru-RU" sz="1200" b="0" i="0" kern="1200" dirty="0" err="1" smtClean="0">
                <a:solidFill>
                  <a:schemeClr val="tx1"/>
                </a:solidFill>
                <a:latin typeface="+mn-lt"/>
                <a:ea typeface="+mn-ea"/>
                <a:cs typeface="+mn-cs"/>
              </a:rPr>
              <a:t>датасета</a:t>
            </a:r>
            <a:r>
              <a:rPr lang="ru-RU" sz="1200" b="0" i="0" kern="1200" dirty="0" smtClean="0">
                <a:solidFill>
                  <a:schemeClr val="tx1"/>
                </a:solidFill>
                <a:latin typeface="+mn-lt"/>
                <a:ea typeface="+mn-ea"/>
                <a:cs typeface="+mn-cs"/>
              </a:rPr>
              <a:t> — </a:t>
            </a:r>
            <a:r>
              <a:rPr lang="ru-RU" sz="1200" b="0" i="0" kern="1200" dirty="0" err="1" smtClean="0">
                <a:solidFill>
                  <a:schemeClr val="tx1"/>
                </a:solidFill>
                <a:latin typeface="+mn-lt"/>
                <a:ea typeface="+mn-ea"/>
                <a:cs typeface="+mn-cs"/>
              </a:rPr>
              <a:t>n</a:t>
            </a:r>
            <a:r>
              <a:rPr lang="ru-RU" sz="1200" b="0" i="0" kern="1200" dirty="0" smtClean="0">
                <a:solidFill>
                  <a:schemeClr val="tx1"/>
                </a:solidFill>
                <a:latin typeface="+mn-lt"/>
                <a:ea typeface="+mn-ea"/>
                <a:cs typeface="+mn-cs"/>
              </a:rPr>
              <a:t> штук. Прогоняем их через модель с текущими (пока случайными) весами и получаем предсказания. Какие-то ответы — неважно, что пока неточные.</a:t>
            </a:r>
          </a:p>
          <a:p>
            <a:r>
              <a:rPr lang="ru-RU" sz="1200" b="0" kern="1200" dirty="0" smtClean="0">
                <a:solidFill>
                  <a:schemeClr val="tx1"/>
                </a:solidFill>
                <a:latin typeface="+mn-lt"/>
                <a:ea typeface="+mn-ea"/>
                <a:cs typeface="+mn-cs"/>
              </a:rPr>
              <a:t>Шаг 3. Считаем ошибку</a:t>
            </a:r>
          </a:p>
          <a:p>
            <a:r>
              <a:rPr lang="ru-RU" sz="1200" b="0" i="0" kern="1200" dirty="0" smtClean="0">
                <a:solidFill>
                  <a:schemeClr val="tx1"/>
                </a:solidFill>
                <a:latin typeface="+mn-lt"/>
                <a:ea typeface="+mn-ea"/>
                <a:cs typeface="+mn-cs"/>
              </a:rPr>
              <a:t>Для этих </a:t>
            </a:r>
            <a:r>
              <a:rPr lang="ru-RU" sz="1200" b="0" i="0" kern="1200" dirty="0" err="1" smtClean="0">
                <a:solidFill>
                  <a:schemeClr val="tx1"/>
                </a:solidFill>
                <a:latin typeface="+mn-lt"/>
                <a:ea typeface="+mn-ea"/>
                <a:cs typeface="+mn-cs"/>
              </a:rPr>
              <a:t>n</a:t>
            </a:r>
            <a:r>
              <a:rPr lang="ru-RU" sz="1200" b="0" i="0" kern="1200" dirty="0" smtClean="0">
                <a:solidFill>
                  <a:schemeClr val="tx1"/>
                </a:solidFill>
                <a:latin typeface="+mn-lt"/>
                <a:ea typeface="+mn-ea"/>
                <a:cs typeface="+mn-cs"/>
              </a:rPr>
              <a:t> объектов считаем функцию потерь. Она показывает, насколько наши текущие ответы далеки от правильных.</a:t>
            </a:r>
          </a:p>
          <a:p>
            <a:r>
              <a:rPr lang="ru-RU" sz="1200" b="0" kern="1200" dirty="0" smtClean="0">
                <a:solidFill>
                  <a:schemeClr val="tx1"/>
                </a:solidFill>
                <a:latin typeface="+mn-lt"/>
                <a:ea typeface="+mn-ea"/>
                <a:cs typeface="+mn-cs"/>
              </a:rPr>
              <a:t>Шаг 4. Главный вопрос</a:t>
            </a:r>
          </a:p>
          <a:p>
            <a:r>
              <a:rPr lang="ru-RU" sz="1200" b="0" i="0" kern="1200" dirty="0" smtClean="0">
                <a:solidFill>
                  <a:schemeClr val="tx1"/>
                </a:solidFill>
                <a:latin typeface="+mn-lt"/>
                <a:ea typeface="+mn-ea"/>
                <a:cs typeface="+mn-cs"/>
              </a:rPr>
              <a:t>А теперь — самое важное. Как по значению функции потерь понять, в какую сторону менять веса?</a:t>
            </a:r>
          </a:p>
          <a:p>
            <a:r>
              <a:rPr lang="ru-RU" sz="1200" b="0" i="0" kern="1200" dirty="0" smtClean="0">
                <a:solidFill>
                  <a:schemeClr val="tx1"/>
                </a:solidFill>
                <a:latin typeface="+mn-lt"/>
                <a:ea typeface="+mn-ea"/>
                <a:cs typeface="+mn-cs"/>
              </a:rPr>
              <a:t>Здесь на сцену выходят производные.( Вот</a:t>
            </a:r>
            <a:r>
              <a:rPr lang="ru-RU" sz="1200" b="0" i="0" kern="1200" baseline="0" dirty="0" smtClean="0">
                <a:solidFill>
                  <a:schemeClr val="tx1"/>
                </a:solidFill>
                <a:latin typeface="+mn-lt"/>
                <a:ea typeface="+mn-ea"/>
                <a:cs typeface="+mn-cs"/>
              </a:rPr>
              <a:t> котенок не учил их, теперь сидит и плачет, не может спуститься с горы.)</a:t>
            </a:r>
          </a:p>
          <a:p>
            <a:endParaRPr lang="ru-RU" sz="1200" b="0" i="0" kern="1200" baseline="0" dirty="0" smtClean="0">
              <a:solidFill>
                <a:schemeClr val="tx1"/>
              </a:solidFill>
              <a:latin typeface="+mn-lt"/>
              <a:ea typeface="+mn-ea"/>
              <a:cs typeface="+mn-cs"/>
            </a:endParaRPr>
          </a:p>
          <a:p>
            <a:r>
              <a:rPr lang="ru-RU" sz="1200" b="0" i="0" kern="1200" baseline="0" dirty="0" smtClean="0">
                <a:solidFill>
                  <a:schemeClr val="tx1"/>
                </a:solidFill>
                <a:latin typeface="+mn-lt"/>
                <a:ea typeface="+mn-ea"/>
                <a:cs typeface="+mn-cs"/>
              </a:rPr>
              <a:t>Сначала идейно: представьте, что вы с котенком на горе, высокой. Хотите спуститься и побыстрее, а вокруг туман – всю дорогу вам не видно. </a:t>
            </a:r>
            <a:r>
              <a:rPr lang="ru-RU" sz="1200" b="0" i="0" kern="1200" dirty="0" smtClean="0">
                <a:solidFill>
                  <a:schemeClr val="tx1"/>
                </a:solidFill>
                <a:latin typeface="+mn-lt"/>
                <a:ea typeface="+mn-ea"/>
                <a:cs typeface="+mn-cs"/>
              </a:rPr>
              <a:t>Что делать? Вы оглядываетесь вокруг и оцениваете, где в данный момент склон наиболее крутой. И делаете шаг туда.</a:t>
            </a:r>
          </a:p>
          <a:p>
            <a:r>
              <a:rPr lang="ru-RU" sz="1200" b="0" i="0" kern="1200" dirty="0" smtClean="0">
                <a:solidFill>
                  <a:schemeClr val="tx1"/>
                </a:solidFill>
                <a:latin typeface="+mn-lt"/>
                <a:ea typeface="+mn-ea"/>
                <a:cs typeface="+mn-cs"/>
              </a:rPr>
              <a:t>ШАГ! Маленький — вы же не хотите сделать один шаг и навернуться с горы.</a:t>
            </a:r>
          </a:p>
          <a:p>
            <a:r>
              <a:rPr lang="ru-RU" sz="1200" b="0" i="0" kern="1200" dirty="0" smtClean="0">
                <a:solidFill>
                  <a:schemeClr val="tx1"/>
                </a:solidFill>
                <a:latin typeface="+mn-lt"/>
                <a:ea typeface="+mn-ea"/>
                <a:cs typeface="+mn-cs"/>
              </a:rPr>
              <a:t>Ступив на новую точку, вы снова оглядываетесь и снова оцениваете, куда идти. И так — шаг за шагом, пока не спуститесь.</a:t>
            </a:r>
          </a:p>
          <a:p>
            <a:r>
              <a:rPr lang="ru-RU" sz="1200" b="0" i="0" kern="1200" dirty="0" smtClean="0">
                <a:solidFill>
                  <a:schemeClr val="tx1"/>
                </a:solidFill>
                <a:latin typeface="+mn-lt"/>
                <a:ea typeface="+mn-ea"/>
                <a:cs typeface="+mn-cs"/>
              </a:rPr>
              <a:t>Градиентный спуск работает точно так же. Только вместо горы — функция потерь, вместо высоты — её значение, а вместо шагов — обновления весов.</a:t>
            </a:r>
          </a:p>
          <a:p>
            <a:endParaRPr lang="ru-RU" sz="1200" b="0" i="0" kern="1200" dirty="0" smtClean="0">
              <a:solidFill>
                <a:schemeClr val="tx1"/>
              </a:solidFill>
              <a:latin typeface="+mn-lt"/>
              <a:ea typeface="+mn-ea"/>
              <a:cs typeface="+mn-cs"/>
            </a:endParaRPr>
          </a:p>
          <a:p>
            <a:r>
              <a:rPr lang="ru-RU" sz="1200" b="0" kern="1200" dirty="0" smtClean="0">
                <a:solidFill>
                  <a:schemeClr val="tx1"/>
                </a:solidFill>
                <a:latin typeface="+mn-lt"/>
                <a:ea typeface="+mn-ea"/>
                <a:cs typeface="+mn-cs"/>
              </a:rPr>
              <a:t>Высота горы - Значение функции потерь</a:t>
            </a:r>
          </a:p>
          <a:p>
            <a:r>
              <a:rPr lang="ru-RU" sz="1200" b="0" kern="1200" dirty="0" smtClean="0">
                <a:solidFill>
                  <a:schemeClr val="tx1"/>
                </a:solidFill>
                <a:latin typeface="+mn-lt"/>
                <a:ea typeface="+mn-ea"/>
                <a:cs typeface="+mn-cs"/>
              </a:rPr>
              <a:t>Ваше положение - Текущие значения весов</a:t>
            </a:r>
          </a:p>
          <a:p>
            <a:r>
              <a:rPr lang="ru-RU" sz="1200" b="0" kern="1200" dirty="0" smtClean="0">
                <a:solidFill>
                  <a:schemeClr val="tx1"/>
                </a:solidFill>
                <a:latin typeface="+mn-lt"/>
                <a:ea typeface="+mn-ea"/>
                <a:cs typeface="+mn-cs"/>
              </a:rPr>
              <a:t>Туман - Мы не видим всю функцию целиком</a:t>
            </a:r>
          </a:p>
          <a:p>
            <a:r>
              <a:rPr lang="ru-RU" sz="1200" b="0" kern="1200" dirty="0" smtClean="0">
                <a:solidFill>
                  <a:schemeClr val="tx1"/>
                </a:solidFill>
                <a:latin typeface="+mn-lt"/>
                <a:ea typeface="+mn-ea"/>
                <a:cs typeface="+mn-cs"/>
              </a:rPr>
              <a:t>Оценка склона - Вычисление градиента</a:t>
            </a:r>
          </a:p>
          <a:p>
            <a:r>
              <a:rPr lang="ru-RU" sz="1200" b="0" kern="1200" dirty="0" smtClean="0">
                <a:solidFill>
                  <a:schemeClr val="tx1"/>
                </a:solidFill>
                <a:latin typeface="+mn-lt"/>
                <a:ea typeface="+mn-ea"/>
                <a:cs typeface="+mn-cs"/>
              </a:rPr>
              <a:t>Маленький шаг - </a:t>
            </a:r>
            <a:r>
              <a:rPr lang="ru-RU" sz="1200" b="1" kern="1200" dirty="0" err="1" smtClean="0">
                <a:solidFill>
                  <a:schemeClr val="tx1"/>
                </a:solidFill>
                <a:latin typeface="+mn-lt"/>
                <a:ea typeface="+mn-ea"/>
                <a:cs typeface="+mn-cs"/>
              </a:rPr>
              <a:t>Learning</a:t>
            </a:r>
            <a:r>
              <a:rPr lang="ru-RU" sz="1200" b="1" kern="1200" dirty="0" smtClean="0">
                <a:solidFill>
                  <a:schemeClr val="tx1"/>
                </a:solidFill>
                <a:latin typeface="+mn-lt"/>
                <a:ea typeface="+mn-ea"/>
                <a:cs typeface="+mn-cs"/>
              </a:rPr>
              <a:t> </a:t>
            </a:r>
            <a:r>
              <a:rPr lang="ru-RU" sz="1200" b="1" kern="1200" dirty="0" err="1" smtClean="0">
                <a:solidFill>
                  <a:schemeClr val="tx1"/>
                </a:solidFill>
                <a:latin typeface="+mn-lt"/>
                <a:ea typeface="+mn-ea"/>
                <a:cs typeface="+mn-cs"/>
              </a:rPr>
              <a:t>rate</a:t>
            </a:r>
            <a:r>
              <a:rPr lang="ru-RU" sz="1200" b="1" kern="1200" dirty="0" smtClean="0">
                <a:solidFill>
                  <a:schemeClr val="tx1"/>
                </a:solidFill>
                <a:latin typeface="+mn-lt"/>
                <a:ea typeface="+mn-ea"/>
                <a:cs typeface="+mn-cs"/>
              </a:rPr>
              <a:t> (</a:t>
            </a:r>
            <a:r>
              <a:rPr lang="ru-RU" sz="1200" b="1" kern="1200" dirty="0" err="1" smtClean="0">
                <a:solidFill>
                  <a:schemeClr val="tx1"/>
                </a:solidFill>
                <a:latin typeface="+mn-lt"/>
                <a:ea typeface="+mn-ea"/>
                <a:cs typeface="+mn-cs"/>
              </a:rPr>
              <a:t>шаг</a:t>
            </a:r>
            <a:r>
              <a:rPr lang="ru-RU" sz="1200" b="1" kern="1200" dirty="0" smtClean="0">
                <a:solidFill>
                  <a:schemeClr val="tx1"/>
                </a:solidFill>
                <a:latin typeface="+mn-lt"/>
                <a:ea typeface="+mn-ea"/>
                <a:cs typeface="+mn-cs"/>
              </a:rPr>
              <a:t> обучения)</a:t>
            </a:r>
          </a:p>
          <a:p>
            <a:r>
              <a:rPr lang="ru-RU" sz="1200" b="0" kern="1200" dirty="0" smtClean="0">
                <a:solidFill>
                  <a:schemeClr val="tx1"/>
                </a:solidFill>
                <a:latin typeface="+mn-lt"/>
                <a:ea typeface="+mn-ea"/>
                <a:cs typeface="+mn-cs"/>
              </a:rPr>
              <a:t>Спуск к подножию - Минимизация функции потерь</a:t>
            </a:r>
            <a:endParaRPr lang="ru-RU" sz="1200" b="0" i="0" kern="1200" dirty="0" smtClean="0">
              <a:solidFill>
                <a:schemeClr val="tx1"/>
              </a:solidFill>
              <a:latin typeface="+mn-lt"/>
              <a:ea typeface="+mn-ea"/>
              <a:cs typeface="+mn-cs"/>
            </a:endParaRPr>
          </a:p>
          <a:p>
            <a:endParaRPr lang="ru-RU" baseline="0" dirty="0" smtClean="0"/>
          </a:p>
          <a:p>
            <a:r>
              <a:rPr lang="ru-RU" sz="1200" b="0" i="0" kern="1200" dirty="0" smtClean="0">
                <a:solidFill>
                  <a:schemeClr val="tx1"/>
                </a:solidFill>
                <a:latin typeface="+mn-lt"/>
                <a:ea typeface="+mn-ea"/>
                <a:cs typeface="+mn-cs"/>
              </a:rPr>
              <a:t>Производная по своему смыслу показывает, как функция реагирует на изменение аргумента: насколько изменится значение функции при небольшом изменении аргумента.</a:t>
            </a:r>
          </a:p>
          <a:p>
            <a:r>
              <a:rPr lang="ru-RU" sz="1200" b="0" i="0" kern="1200" dirty="0" smtClean="0">
                <a:solidFill>
                  <a:schemeClr val="tx1"/>
                </a:solidFill>
                <a:latin typeface="+mn-lt"/>
                <a:ea typeface="+mn-ea"/>
                <a:cs typeface="+mn-cs"/>
              </a:rPr>
              <a:t>А если мы знаем, как функция реагирует на изменение аргумента, мы можем предположить, как изменить аргумент, чтобы функция изменилась </a:t>
            </a:r>
            <a:r>
              <a:rPr lang="ru-RU" baseline="0" dirty="0" smtClean="0"/>
              <a:t>угодным </a:t>
            </a:r>
            <a:r>
              <a:rPr lang="ru-RU" sz="1200" b="0" i="0" kern="1200" dirty="0" smtClean="0">
                <a:solidFill>
                  <a:schemeClr val="tx1"/>
                </a:solidFill>
                <a:latin typeface="+mn-lt"/>
                <a:ea typeface="+mn-ea"/>
                <a:cs typeface="+mn-cs"/>
              </a:rPr>
              <a:t>нам образом.</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Именно это и нужно: понять, в какую сторону и насколько сдвинуть веса, чтобы функция потерь уменьшилась.</a:t>
            </a:r>
            <a:r>
              <a:rPr lang="ru-RU" dirty="0" smtClean="0"/>
              <a:t/>
            </a:r>
            <a:br>
              <a:rPr lang="ru-RU" dirty="0" smtClean="0"/>
            </a:br>
            <a:endParaRPr lang="ru-RU" baseline="0" dirty="0" smtClean="0"/>
          </a:p>
          <a:p>
            <a:r>
              <a:rPr lang="ru-RU" baseline="0" dirty="0" smtClean="0"/>
              <a:t>Функция потерь зависит от насчитанного ответа. А это насчитанное нечто зависит от весов. Следовательно, функция потерь зависит от весов и смещений.</a:t>
            </a:r>
          </a:p>
          <a:p>
            <a:r>
              <a:rPr lang="ru-RU" baseline="0" dirty="0" smtClean="0"/>
              <a:t>Но мы же видели, как много параметров у модели: как отследить как и что менять?</a:t>
            </a:r>
            <a:br>
              <a:rPr lang="ru-RU" baseline="0" dirty="0" smtClean="0"/>
            </a:br>
            <a:r>
              <a:rPr lang="ru-RU" sz="1200" b="0" i="0" kern="1200" dirty="0" smtClean="0">
                <a:solidFill>
                  <a:schemeClr val="tx1"/>
                </a:solidFill>
                <a:latin typeface="+mn-lt"/>
                <a:ea typeface="+mn-ea"/>
                <a:cs typeface="+mn-cs"/>
              </a:rPr>
              <a:t>Выберем один вес и мысленно заморозим все остальные. Меняя только этот вес, мы можем смотреть, как реагирует функция потерь, и понять вклад именно этого веса.</a:t>
            </a:r>
          </a:p>
          <a:p>
            <a:r>
              <a:rPr lang="ru-RU" sz="1200" b="0" i="0" kern="1200" dirty="0" smtClean="0">
                <a:solidFill>
                  <a:schemeClr val="tx1"/>
                </a:solidFill>
                <a:latin typeface="+mn-lt"/>
                <a:ea typeface="+mn-ea"/>
                <a:cs typeface="+mn-cs"/>
              </a:rPr>
              <a:t>Так мы приходим к частным производным — </a:t>
            </a:r>
            <a:r>
              <a:rPr lang="ru-RU" sz="1200" b="0" i="0" kern="1200" dirty="0" err="1" smtClean="0">
                <a:solidFill>
                  <a:schemeClr val="tx1"/>
                </a:solidFill>
                <a:latin typeface="+mn-lt"/>
                <a:ea typeface="+mn-ea"/>
                <a:cs typeface="+mn-cs"/>
              </a:rPr>
              <a:t>производным</a:t>
            </a:r>
            <a:r>
              <a:rPr lang="ru-RU" sz="1200" b="0" i="0" kern="1200" dirty="0" smtClean="0">
                <a:solidFill>
                  <a:schemeClr val="tx1"/>
                </a:solidFill>
                <a:latin typeface="+mn-lt"/>
                <a:ea typeface="+mn-ea"/>
                <a:cs typeface="+mn-cs"/>
              </a:rPr>
              <a:t> по одному параметру при фиксированных остальных.</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Все частные производные, собранные в один вектор, — это градиент.</a:t>
            </a:r>
          </a:p>
          <a:p>
            <a:r>
              <a:rPr lang="ru-RU" sz="1200" b="0" i="0" kern="1200" dirty="0" smtClean="0">
                <a:solidFill>
                  <a:schemeClr val="tx1"/>
                </a:solidFill>
                <a:latin typeface="+mn-lt"/>
                <a:ea typeface="+mn-ea"/>
                <a:cs typeface="+mn-cs"/>
              </a:rPr>
              <a:t>Геометрически градиент показывает направление наискорейшего возрастания функции.</a:t>
            </a:r>
          </a:p>
          <a:p>
            <a:r>
              <a:rPr lang="ru-RU" sz="1200" b="0" i="0" kern="1200" dirty="0" smtClean="0">
                <a:solidFill>
                  <a:schemeClr val="tx1"/>
                </a:solidFill>
                <a:latin typeface="+mn-lt"/>
                <a:ea typeface="+mn-ea"/>
                <a:cs typeface="+mn-cs"/>
              </a:rPr>
              <a:t>А направление, обратное градиенту, — это направление наискорейшего спуска.</a:t>
            </a:r>
          </a:p>
          <a:p>
            <a:r>
              <a:rPr lang="ru-RU" sz="1200" b="0" i="0" kern="1200" dirty="0" smtClean="0">
                <a:solidFill>
                  <a:schemeClr val="tx1"/>
                </a:solidFill>
                <a:latin typeface="+mn-lt"/>
                <a:ea typeface="+mn-ea"/>
                <a:cs typeface="+mn-cs"/>
              </a:rPr>
              <a:t>Наша цель — минимизация функции потерь. Значит, идём против градиента.</a:t>
            </a:r>
          </a:p>
          <a:p>
            <a:endParaRPr lang="ru-RU" baseline="0" dirty="0" smtClean="0"/>
          </a:p>
          <a:p>
            <a:r>
              <a:rPr lang="ru-RU" sz="1200" b="1" kern="1200" dirty="0" smtClean="0">
                <a:solidFill>
                  <a:schemeClr val="tx1"/>
                </a:solidFill>
                <a:latin typeface="+mn-lt"/>
                <a:ea typeface="+mn-ea"/>
                <a:cs typeface="+mn-cs"/>
              </a:rPr>
              <a:t>Как это работает на практике</a:t>
            </a:r>
          </a:p>
          <a:p>
            <a:r>
              <a:rPr lang="ru-RU" sz="1200" b="0" i="0" kern="1200" dirty="0" smtClean="0">
                <a:solidFill>
                  <a:schemeClr val="tx1"/>
                </a:solidFill>
                <a:latin typeface="+mn-lt"/>
                <a:ea typeface="+mn-ea"/>
                <a:cs typeface="+mn-cs"/>
              </a:rPr>
              <a:t>Считаем частные производные функции потерь по каждому параметру.</a:t>
            </a:r>
          </a:p>
          <a:p>
            <a:r>
              <a:rPr lang="ru-RU" sz="1200" b="0" i="0" kern="1200" dirty="0" smtClean="0">
                <a:solidFill>
                  <a:schemeClr val="tx1"/>
                </a:solidFill>
                <a:latin typeface="+mn-lt"/>
                <a:ea typeface="+mn-ea"/>
                <a:cs typeface="+mn-cs"/>
              </a:rPr>
              <a:t>Понимаем, как функция потерь реагирует на малые изменения каждого веса.</a:t>
            </a:r>
          </a:p>
          <a:p>
            <a:r>
              <a:rPr lang="ru-RU" sz="1200" b="0" i="0" kern="1200" dirty="0" smtClean="0">
                <a:solidFill>
                  <a:schemeClr val="tx1"/>
                </a:solidFill>
                <a:latin typeface="+mn-lt"/>
                <a:ea typeface="+mn-ea"/>
                <a:cs typeface="+mn-cs"/>
              </a:rPr>
              <a:t>Каждый вес меняем на небольшую величину так, чтобы функция потерь уменьшилась.</a:t>
            </a:r>
          </a:p>
          <a:p>
            <a:r>
              <a:rPr lang="ru-RU" sz="1200" b="0" i="0" kern="1200" dirty="0" smtClean="0">
                <a:solidFill>
                  <a:schemeClr val="tx1"/>
                </a:solidFill>
                <a:latin typeface="+mn-lt"/>
                <a:ea typeface="+mn-ea"/>
                <a:cs typeface="+mn-cs"/>
              </a:rPr>
              <a:t>Это и есть градиентный спуск: шаг за шагом, эпоха за эпохой, мы спускаемся к минимуму функции потерь — как котёнок, который шаг за шагом спускается с горы.</a:t>
            </a:r>
            <a:endParaRPr lang="ru-RU" sz="1200" b="0" i="0" kern="1200" dirty="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CEBF9C1A-0A84-4F0C-9C04-72BCEF6B8C2A}" type="slidenum">
              <a:rPr lang="ru-RU" smtClean="0"/>
              <a:pPr/>
              <a:t>9</a:t>
            </a:fld>
            <a:endParaRPr lang="ru-R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85000" lnSpcReduction="20000"/>
          </a:bodyPr>
          <a:lstStyle/>
          <a:p>
            <a:r>
              <a:rPr lang="en-US" sz="1200" b="1" kern="1200" dirty="0" err="1" smtClean="0">
                <a:solidFill>
                  <a:schemeClr val="tx1"/>
                </a:solidFill>
                <a:latin typeface="+mn-lt"/>
                <a:ea typeface="+mn-ea"/>
                <a:cs typeface="+mn-cs"/>
              </a:rPr>
              <a:t>NumPy</a:t>
            </a:r>
            <a:r>
              <a:rPr lang="ru-RU" sz="1200" b="1" kern="1200" dirty="0" smtClean="0">
                <a:solidFill>
                  <a:schemeClr val="tx1"/>
                </a:solidFill>
                <a:latin typeface="+mn-lt"/>
                <a:ea typeface="+mn-ea"/>
                <a:cs typeface="+mn-cs"/>
              </a:rPr>
              <a:t> (</a:t>
            </a:r>
            <a:r>
              <a:rPr lang="en-US" sz="1200" b="0" kern="1200" dirty="0" err="1" smtClean="0">
                <a:solidFill>
                  <a:schemeClr val="tx1"/>
                </a:solidFill>
                <a:latin typeface="+mn-lt"/>
                <a:ea typeface="+mn-ea"/>
                <a:cs typeface="+mn-cs"/>
              </a:rPr>
              <a:t>np</a:t>
            </a:r>
            <a:r>
              <a:rPr lang="ru-RU" sz="1200" b="0" kern="1200" dirty="0" smtClean="0">
                <a:solidFill>
                  <a:schemeClr val="tx1"/>
                </a:solidFill>
                <a:latin typeface="+mn-lt"/>
                <a:ea typeface="+mn-ea"/>
                <a:cs typeface="+mn-cs"/>
              </a:rPr>
              <a:t>) - Работа с массивами и матрицами</a:t>
            </a:r>
          </a:p>
          <a:p>
            <a:endParaRPr lang="ru-RU" sz="1200" b="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Pandas</a:t>
            </a:r>
            <a:r>
              <a:rPr lang="ru-RU" sz="1200" b="1" kern="1200" dirty="0" smtClean="0">
                <a:solidFill>
                  <a:schemeClr val="tx1"/>
                </a:solidFill>
                <a:latin typeface="+mn-lt"/>
                <a:ea typeface="+mn-ea"/>
                <a:cs typeface="+mn-cs"/>
              </a:rPr>
              <a:t> (</a:t>
            </a:r>
            <a:r>
              <a:rPr lang="en-US" sz="1200" b="0" kern="1200" dirty="0" smtClean="0">
                <a:solidFill>
                  <a:schemeClr val="tx1"/>
                </a:solidFill>
                <a:latin typeface="+mn-lt"/>
                <a:ea typeface="+mn-ea"/>
                <a:cs typeface="+mn-cs"/>
              </a:rPr>
              <a:t>pd</a:t>
            </a:r>
            <a:r>
              <a:rPr lang="ru-RU" sz="1200" b="0" kern="1200" dirty="0" smtClean="0">
                <a:solidFill>
                  <a:schemeClr val="tx1"/>
                </a:solidFill>
                <a:latin typeface="+mn-lt"/>
                <a:ea typeface="+mn-ea"/>
                <a:cs typeface="+mn-cs"/>
              </a:rPr>
              <a:t>)</a:t>
            </a:r>
            <a:r>
              <a:rPr lang="ru-RU" sz="1200" b="0" kern="1200" baseline="0" dirty="0" smtClean="0">
                <a:solidFill>
                  <a:schemeClr val="tx1"/>
                </a:solidFill>
                <a:latin typeface="+mn-lt"/>
                <a:ea typeface="+mn-ea"/>
                <a:cs typeface="+mn-cs"/>
              </a:rPr>
              <a:t>  - </a:t>
            </a:r>
            <a:r>
              <a:rPr lang="ru-RU" sz="1200" b="0" kern="1200" dirty="0" smtClean="0">
                <a:solidFill>
                  <a:schemeClr val="tx1"/>
                </a:solidFill>
                <a:latin typeface="+mn-lt"/>
                <a:ea typeface="+mn-ea"/>
                <a:cs typeface="+mn-cs"/>
              </a:rPr>
              <a:t>Работа с таблицами (</a:t>
            </a:r>
            <a:r>
              <a:rPr lang="en-US" sz="1200" b="0" kern="1200" dirty="0" err="1" smtClean="0">
                <a:solidFill>
                  <a:schemeClr val="tx1"/>
                </a:solidFill>
                <a:latin typeface="+mn-lt"/>
                <a:ea typeface="+mn-ea"/>
                <a:cs typeface="+mn-cs"/>
              </a:rPr>
              <a:t>DataFrame</a:t>
            </a:r>
            <a:r>
              <a:rPr lang="en-US" sz="1200" b="0" kern="1200" dirty="0" smtClean="0">
                <a:solidFill>
                  <a:schemeClr val="tx1"/>
                </a:solidFill>
                <a:latin typeface="+mn-lt"/>
                <a:ea typeface="+mn-ea"/>
                <a:cs typeface="+mn-cs"/>
              </a:rPr>
              <a:t>)</a:t>
            </a:r>
            <a:endParaRPr lang="ru-RU" sz="1200" b="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Главный объект — </a:t>
            </a:r>
            <a:r>
              <a:rPr lang="ru-RU" sz="1200" b="0" i="0" kern="1200" dirty="0" err="1" smtClean="0">
                <a:solidFill>
                  <a:schemeClr val="tx1"/>
                </a:solidFill>
                <a:latin typeface="+mn-lt"/>
                <a:ea typeface="+mn-ea"/>
                <a:cs typeface="+mn-cs"/>
              </a:rPr>
              <a:t>DataFrame</a:t>
            </a:r>
            <a:r>
              <a:rPr lang="ru-RU" sz="1200" b="0" i="0" kern="1200" dirty="0" smtClean="0">
                <a:solidFill>
                  <a:schemeClr val="tx1"/>
                </a:solidFill>
                <a:latin typeface="+mn-lt"/>
                <a:ea typeface="+mn-ea"/>
                <a:cs typeface="+mn-cs"/>
              </a:rPr>
              <a:t>: таблица с именованными столбцами и индексами строк.</a:t>
            </a:r>
          </a:p>
          <a:p>
            <a:r>
              <a:rPr lang="ru-RU" sz="1200" b="1" i="0" kern="1200" dirty="0" smtClean="0">
                <a:solidFill>
                  <a:schemeClr val="tx1"/>
                </a:solidFill>
                <a:latin typeface="+mn-lt"/>
                <a:ea typeface="+mn-ea"/>
                <a:cs typeface="+mn-cs"/>
              </a:rPr>
              <a:t>Зачем нам:</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датасет</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California</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Housing</a:t>
            </a:r>
            <a:r>
              <a:rPr lang="ru-RU" sz="1200" b="0" i="0" kern="1200" dirty="0" smtClean="0">
                <a:solidFill>
                  <a:schemeClr val="tx1"/>
                </a:solidFill>
                <a:latin typeface="+mn-lt"/>
                <a:ea typeface="+mn-ea"/>
                <a:cs typeface="+mn-cs"/>
              </a:rPr>
              <a:t> приходит в виде таблицы. </a:t>
            </a:r>
            <a:r>
              <a:rPr lang="ru-RU" sz="1200" b="0" i="0" kern="1200" dirty="0" err="1" smtClean="0">
                <a:solidFill>
                  <a:schemeClr val="tx1"/>
                </a:solidFill>
                <a:latin typeface="+mn-lt"/>
                <a:ea typeface="+mn-ea"/>
                <a:cs typeface="+mn-cs"/>
              </a:rPr>
              <a:t>Pandas</a:t>
            </a:r>
            <a:r>
              <a:rPr lang="ru-RU" sz="1200" b="0" i="0" kern="1200" dirty="0" smtClean="0">
                <a:solidFill>
                  <a:schemeClr val="tx1"/>
                </a:solidFill>
                <a:latin typeface="+mn-lt"/>
                <a:ea typeface="+mn-ea"/>
                <a:cs typeface="+mn-cs"/>
              </a:rPr>
              <a:t> позволяет:</a:t>
            </a:r>
          </a:p>
          <a:p>
            <a:r>
              <a:rPr lang="ru-RU" sz="1200" b="0" i="0" kern="1200" dirty="0" smtClean="0">
                <a:solidFill>
                  <a:schemeClr val="tx1"/>
                </a:solidFill>
                <a:latin typeface="+mn-lt"/>
                <a:ea typeface="+mn-ea"/>
                <a:cs typeface="+mn-cs"/>
              </a:rPr>
              <a:t>посмотреть первые строки: </a:t>
            </a:r>
            <a:r>
              <a:rPr lang="ru-RU" sz="1200" b="0" i="0" kern="1200" dirty="0" err="1" smtClean="0">
                <a:solidFill>
                  <a:schemeClr val="tx1"/>
                </a:solidFill>
                <a:latin typeface="+mn-lt"/>
                <a:ea typeface="+mn-ea"/>
                <a:cs typeface="+mn-cs"/>
              </a:rPr>
              <a:t>df.head</a:t>
            </a:r>
            <a:r>
              <a:rPr lang="ru-RU" sz="1200" b="0" i="0" kern="1200" dirty="0" smtClean="0">
                <a:solidFill>
                  <a:schemeClr val="tx1"/>
                </a:solidFill>
                <a:latin typeface="+mn-lt"/>
                <a:ea typeface="+mn-ea"/>
                <a:cs typeface="+mn-cs"/>
              </a:rPr>
              <a:t>();</a:t>
            </a:r>
          </a:p>
          <a:p>
            <a:r>
              <a:rPr lang="ru-RU" sz="1200" b="0" i="0" kern="1200" dirty="0" smtClean="0">
                <a:solidFill>
                  <a:schemeClr val="tx1"/>
                </a:solidFill>
                <a:latin typeface="+mn-lt"/>
                <a:ea typeface="+mn-ea"/>
                <a:cs typeface="+mn-cs"/>
              </a:rPr>
              <a:t>получить статистику по столбцам: </a:t>
            </a:r>
            <a:r>
              <a:rPr lang="ru-RU" sz="1200" b="0" i="0" kern="1200" dirty="0" err="1" smtClean="0">
                <a:solidFill>
                  <a:schemeClr val="tx1"/>
                </a:solidFill>
                <a:latin typeface="+mn-lt"/>
                <a:ea typeface="+mn-ea"/>
                <a:cs typeface="+mn-cs"/>
              </a:rPr>
              <a:t>df.describe</a:t>
            </a:r>
            <a:r>
              <a:rPr lang="ru-RU" sz="1200" b="0" i="0" kern="1200" dirty="0" smtClean="0">
                <a:solidFill>
                  <a:schemeClr val="tx1"/>
                </a:solidFill>
                <a:latin typeface="+mn-lt"/>
                <a:ea typeface="+mn-ea"/>
                <a:cs typeface="+mn-cs"/>
              </a:rPr>
              <a:t>();</a:t>
            </a:r>
          </a:p>
          <a:p>
            <a:r>
              <a:rPr lang="ru-RU" sz="1200" b="0" i="0" kern="1200" dirty="0" smtClean="0">
                <a:solidFill>
                  <a:schemeClr val="tx1"/>
                </a:solidFill>
                <a:latin typeface="+mn-lt"/>
                <a:ea typeface="+mn-ea"/>
                <a:cs typeface="+mn-cs"/>
              </a:rPr>
              <a:t>обратиться к столбцу по имени: </a:t>
            </a:r>
            <a:r>
              <a:rPr lang="ru-RU" sz="1200" b="0" i="0" kern="1200" dirty="0" err="1" smtClean="0">
                <a:solidFill>
                  <a:schemeClr val="tx1"/>
                </a:solidFill>
                <a:latin typeface="+mn-lt"/>
                <a:ea typeface="+mn-ea"/>
                <a:cs typeface="+mn-cs"/>
              </a:rPr>
              <a:t>df</a:t>
            </a:r>
            <a:r>
              <a:rPr lang="ru-RU" sz="1200" b="0" i="0" kern="1200" dirty="0" smtClean="0">
                <a:solidFill>
                  <a:schemeClr val="tx1"/>
                </a:solidFill>
                <a:latin typeface="+mn-lt"/>
                <a:ea typeface="+mn-ea"/>
                <a:cs typeface="+mn-cs"/>
              </a:rPr>
              <a:t>['</a:t>
            </a:r>
            <a:r>
              <a:rPr lang="ru-RU" sz="1200" b="0" i="0" kern="1200" dirty="0" err="1" smtClean="0">
                <a:solidFill>
                  <a:schemeClr val="tx1"/>
                </a:solidFill>
                <a:latin typeface="+mn-lt"/>
                <a:ea typeface="+mn-ea"/>
                <a:cs typeface="+mn-cs"/>
              </a:rPr>
              <a:t>MedInc</a:t>
            </a:r>
            <a:r>
              <a:rPr lang="ru-RU" sz="1200" b="0" i="0" kern="1200" dirty="0" smtClean="0">
                <a:solidFill>
                  <a:schemeClr val="tx1"/>
                </a:solidFill>
                <a:latin typeface="+mn-lt"/>
                <a:ea typeface="+mn-ea"/>
                <a:cs typeface="+mn-cs"/>
              </a:rPr>
              <a:t>']; и </a:t>
            </a:r>
            <a:r>
              <a:rPr lang="ru-RU" sz="1200" b="0" i="0" kern="1200" dirty="0" err="1" smtClean="0">
                <a:solidFill>
                  <a:schemeClr val="tx1"/>
                </a:solidFill>
                <a:latin typeface="+mn-lt"/>
                <a:ea typeface="+mn-ea"/>
                <a:cs typeface="+mn-cs"/>
              </a:rPr>
              <a:t>тд</a:t>
            </a:r>
            <a:endParaRPr lang="ru-RU" sz="1200" b="0" i="0" kern="1200" dirty="0" smtClean="0">
              <a:solidFill>
                <a:schemeClr val="tx1"/>
              </a:solidFill>
              <a:latin typeface="+mn-lt"/>
              <a:ea typeface="+mn-ea"/>
              <a:cs typeface="+mn-cs"/>
            </a:endParaRPr>
          </a:p>
          <a:p>
            <a:r>
              <a:rPr lang="ru-RU" sz="1200" b="0" i="0" kern="1200" dirty="0" err="1" smtClean="0">
                <a:solidFill>
                  <a:schemeClr val="tx1"/>
                </a:solidFill>
                <a:latin typeface="+mn-lt"/>
                <a:ea typeface="+mn-ea"/>
                <a:cs typeface="+mn-cs"/>
              </a:rPr>
              <a:t>NumPy</a:t>
            </a:r>
            <a:r>
              <a:rPr lang="ru-RU" sz="1200" b="0" i="0" kern="1200" dirty="0" smtClean="0">
                <a:solidFill>
                  <a:schemeClr val="tx1"/>
                </a:solidFill>
                <a:latin typeface="+mn-lt"/>
                <a:ea typeface="+mn-ea"/>
                <a:cs typeface="+mn-cs"/>
              </a:rPr>
              <a:t> хранит только числа без имён столбцов. </a:t>
            </a:r>
            <a:r>
              <a:rPr lang="ru-RU" sz="1200" b="0" i="0" kern="1200" dirty="0" err="1" smtClean="0">
                <a:solidFill>
                  <a:schemeClr val="tx1"/>
                </a:solidFill>
                <a:latin typeface="+mn-lt"/>
                <a:ea typeface="+mn-ea"/>
                <a:cs typeface="+mn-cs"/>
              </a:rPr>
              <a:t>Pandas</a:t>
            </a:r>
            <a:r>
              <a:rPr lang="ru-RU" sz="1200" b="0" i="0" kern="1200" dirty="0" smtClean="0">
                <a:solidFill>
                  <a:schemeClr val="tx1"/>
                </a:solidFill>
                <a:latin typeface="+mn-lt"/>
                <a:ea typeface="+mn-ea"/>
                <a:cs typeface="+mn-cs"/>
              </a:rPr>
              <a:t> хранит числа и метаданные: как называется каждый столбец, какой у него тип, есть ли пропуски. Это критично для работы с реальными </a:t>
            </a:r>
            <a:r>
              <a:rPr lang="ru-RU" sz="1200" b="0" i="0" kern="1200" dirty="0" err="1" smtClean="0">
                <a:solidFill>
                  <a:schemeClr val="tx1"/>
                </a:solidFill>
                <a:latin typeface="+mn-lt"/>
                <a:ea typeface="+mn-ea"/>
                <a:cs typeface="+mn-cs"/>
              </a:rPr>
              <a:t>датасетами</a:t>
            </a:r>
            <a:r>
              <a:rPr lang="ru-RU" sz="1200" b="0" i="0" kern="1200" dirty="0" smtClean="0">
                <a:solidFill>
                  <a:schemeClr val="tx1"/>
                </a:solidFill>
                <a:latin typeface="+mn-lt"/>
                <a:ea typeface="+mn-ea"/>
                <a:cs typeface="+mn-cs"/>
              </a:rPr>
              <a:t>.</a:t>
            </a:r>
          </a:p>
          <a:p>
            <a:endParaRPr lang="ru-RU" sz="1200" b="0" kern="1200" dirty="0" smtClean="0">
              <a:solidFill>
                <a:schemeClr val="tx1"/>
              </a:solidFill>
              <a:latin typeface="+mn-lt"/>
              <a:ea typeface="+mn-ea"/>
              <a:cs typeface="+mn-cs"/>
            </a:endParaRPr>
          </a:p>
          <a:p>
            <a:r>
              <a:rPr lang="en-US" sz="1200" b="1" kern="1200" dirty="0" err="1" smtClean="0">
                <a:solidFill>
                  <a:schemeClr val="tx1"/>
                </a:solidFill>
                <a:latin typeface="+mn-lt"/>
                <a:ea typeface="+mn-ea"/>
                <a:cs typeface="+mn-cs"/>
              </a:rPr>
              <a:t>Matplotlib</a:t>
            </a:r>
            <a:r>
              <a:rPr lang="ru-RU" sz="1200" b="1" kern="1200" dirty="0" smtClean="0">
                <a:solidFill>
                  <a:schemeClr val="tx1"/>
                </a:solidFill>
                <a:latin typeface="+mn-lt"/>
                <a:ea typeface="+mn-ea"/>
                <a:cs typeface="+mn-cs"/>
              </a:rPr>
              <a:t> (</a:t>
            </a:r>
            <a:r>
              <a:rPr lang="en-US" sz="1200" b="0" kern="1200" dirty="0" err="1" smtClean="0">
                <a:solidFill>
                  <a:schemeClr val="tx1"/>
                </a:solidFill>
                <a:latin typeface="+mn-lt"/>
                <a:ea typeface="+mn-ea"/>
                <a:cs typeface="+mn-cs"/>
              </a:rPr>
              <a:t>plt</a:t>
            </a:r>
            <a:r>
              <a:rPr lang="ru-RU" sz="1200" b="0" kern="1200" dirty="0" smtClean="0">
                <a:solidFill>
                  <a:schemeClr val="tx1"/>
                </a:solidFill>
                <a:latin typeface="+mn-lt"/>
                <a:ea typeface="+mn-ea"/>
                <a:cs typeface="+mn-cs"/>
              </a:rPr>
              <a:t>) - Построение графиков</a:t>
            </a:r>
          </a:p>
          <a:p>
            <a:endParaRPr lang="ru-RU" sz="1200" b="0" kern="1200" dirty="0" smtClean="0">
              <a:solidFill>
                <a:schemeClr val="tx1"/>
              </a:solidFill>
              <a:latin typeface="+mn-lt"/>
              <a:ea typeface="+mn-ea"/>
              <a:cs typeface="+mn-cs"/>
            </a:endParaRPr>
          </a:p>
          <a:p>
            <a:r>
              <a:rPr lang="en-US" sz="1200" b="1" kern="1200" dirty="0" err="1" smtClean="0">
                <a:solidFill>
                  <a:schemeClr val="tx1"/>
                </a:solidFill>
                <a:latin typeface="+mn-lt"/>
                <a:ea typeface="+mn-ea"/>
                <a:cs typeface="+mn-cs"/>
              </a:rPr>
              <a:t>TensorFlow</a:t>
            </a:r>
            <a:r>
              <a:rPr lang="ru-RU" sz="1200" b="1" kern="1200" dirty="0" smtClean="0">
                <a:solidFill>
                  <a:schemeClr val="tx1"/>
                </a:solidFill>
                <a:latin typeface="+mn-lt"/>
                <a:ea typeface="+mn-ea"/>
                <a:cs typeface="+mn-cs"/>
              </a:rPr>
              <a:t> (</a:t>
            </a:r>
            <a:r>
              <a:rPr lang="en-US" sz="1200" b="0" kern="1200" dirty="0" err="1" smtClean="0">
                <a:solidFill>
                  <a:schemeClr val="tx1"/>
                </a:solidFill>
                <a:latin typeface="+mn-lt"/>
                <a:ea typeface="+mn-ea"/>
                <a:cs typeface="+mn-cs"/>
              </a:rPr>
              <a:t>tf</a:t>
            </a:r>
            <a:r>
              <a:rPr lang="ru-RU" sz="1200" b="0" kern="1200" dirty="0" smtClean="0">
                <a:solidFill>
                  <a:schemeClr val="tx1"/>
                </a:solidFill>
                <a:latin typeface="+mn-lt"/>
                <a:ea typeface="+mn-ea"/>
                <a:cs typeface="+mn-cs"/>
              </a:rPr>
              <a:t>) - </a:t>
            </a:r>
            <a:r>
              <a:rPr lang="ru-RU" sz="1200" b="0" kern="1200" dirty="0" err="1" smtClean="0">
                <a:solidFill>
                  <a:schemeClr val="tx1"/>
                </a:solidFill>
                <a:latin typeface="+mn-lt"/>
                <a:ea typeface="+mn-ea"/>
                <a:cs typeface="+mn-cs"/>
              </a:rPr>
              <a:t>Нейросети</a:t>
            </a:r>
            <a:r>
              <a:rPr lang="ru-RU" sz="1200" b="0" kern="1200" dirty="0" smtClean="0">
                <a:solidFill>
                  <a:schemeClr val="tx1"/>
                </a:solidFill>
                <a:latin typeface="+mn-lt"/>
                <a:ea typeface="+mn-ea"/>
                <a:cs typeface="+mn-cs"/>
              </a:rPr>
              <a:t>, обучение моделей</a:t>
            </a:r>
          </a:p>
          <a:p>
            <a:r>
              <a:rPr lang="en-US" sz="1200" b="0" i="0" kern="1200" dirty="0" err="1" smtClean="0">
                <a:solidFill>
                  <a:schemeClr val="tx1"/>
                </a:solidFill>
                <a:latin typeface="+mn-lt"/>
                <a:ea typeface="+mn-ea"/>
                <a:cs typeface="+mn-cs"/>
              </a:rPr>
              <a:t>TensorFlow</a:t>
            </a:r>
            <a:r>
              <a:rPr lang="en-US" sz="1200" b="0" i="0" kern="1200" dirty="0" smtClean="0">
                <a:solidFill>
                  <a:schemeClr val="tx1"/>
                </a:solidFill>
                <a:latin typeface="+mn-lt"/>
                <a:ea typeface="+mn-ea"/>
                <a:cs typeface="+mn-cs"/>
              </a:rPr>
              <a:t> — </a:t>
            </a:r>
            <a:r>
              <a:rPr lang="ru-RU" sz="1200" b="0" i="0" kern="1200" dirty="0" smtClean="0">
                <a:solidFill>
                  <a:schemeClr val="tx1"/>
                </a:solidFill>
                <a:latin typeface="+mn-lt"/>
                <a:ea typeface="+mn-ea"/>
                <a:cs typeface="+mn-cs"/>
              </a:rPr>
              <a:t>библиотека для </a:t>
            </a:r>
            <a:r>
              <a:rPr lang="ru-RU" sz="1200" b="1" i="0" kern="1200" dirty="0" err="1" smtClean="0">
                <a:solidFill>
                  <a:schemeClr val="tx1"/>
                </a:solidFill>
                <a:latin typeface="+mn-lt"/>
                <a:ea typeface="+mn-ea"/>
                <a:cs typeface="+mn-cs"/>
              </a:rPr>
              <a:t>нейросетей</a:t>
            </a:r>
            <a:r>
              <a:rPr lang="ru-RU" sz="1200" b="0" i="0" kern="1200" dirty="0" smtClean="0">
                <a:solidFill>
                  <a:schemeClr val="tx1"/>
                </a:solidFill>
                <a:latin typeface="+mn-lt"/>
                <a:ea typeface="+mn-ea"/>
                <a:cs typeface="+mn-cs"/>
              </a:rPr>
              <a:t>. </a:t>
            </a:r>
            <a:r>
              <a:rPr lang="en-US" sz="1200" b="0" i="0" kern="1200" dirty="0" err="1" smtClean="0">
                <a:solidFill>
                  <a:schemeClr val="tx1"/>
                </a:solidFill>
                <a:latin typeface="+mn-lt"/>
                <a:ea typeface="+mn-ea"/>
                <a:cs typeface="+mn-cs"/>
              </a:rPr>
              <a:t>Keras</a:t>
            </a:r>
            <a:r>
              <a:rPr lang="en-US" sz="1200" b="0" i="0" kern="1200" dirty="0" smtClean="0">
                <a:solidFill>
                  <a:schemeClr val="tx1"/>
                </a:solidFill>
                <a:latin typeface="+mn-lt"/>
                <a:ea typeface="+mn-ea"/>
                <a:cs typeface="+mn-cs"/>
              </a:rPr>
              <a:t> </a:t>
            </a:r>
            <a:r>
              <a:rPr lang="ru-RU" sz="1200" b="0" i="0" kern="1200" dirty="0" smtClean="0">
                <a:solidFill>
                  <a:schemeClr val="tx1"/>
                </a:solidFill>
                <a:latin typeface="+mn-lt"/>
                <a:ea typeface="+mn-ea"/>
                <a:cs typeface="+mn-cs"/>
              </a:rPr>
              <a:t>встроена в него как высокоуровневый </a:t>
            </a:r>
            <a:r>
              <a:rPr lang="en-US" sz="1200" b="0" i="0" kern="1200" dirty="0" smtClean="0">
                <a:solidFill>
                  <a:schemeClr val="tx1"/>
                </a:solidFill>
                <a:latin typeface="+mn-lt"/>
                <a:ea typeface="+mn-ea"/>
                <a:cs typeface="+mn-cs"/>
              </a:rPr>
              <a:t>API.</a:t>
            </a:r>
          </a:p>
          <a:p>
            <a:r>
              <a:rPr lang="ru-RU" sz="1200" b="1" i="0" kern="1200" dirty="0" smtClean="0">
                <a:solidFill>
                  <a:schemeClr val="tx1"/>
                </a:solidFill>
                <a:latin typeface="+mn-lt"/>
                <a:ea typeface="+mn-ea"/>
                <a:cs typeface="+mn-cs"/>
              </a:rPr>
              <a:t>Зачем нам:</a:t>
            </a:r>
            <a:r>
              <a:rPr lang="ru-RU" sz="1200" b="0" i="0" kern="1200" dirty="0" smtClean="0">
                <a:solidFill>
                  <a:schemeClr val="tx1"/>
                </a:solidFill>
                <a:latin typeface="+mn-lt"/>
                <a:ea typeface="+mn-ea"/>
                <a:cs typeface="+mn-cs"/>
              </a:rPr>
              <a:t> через </a:t>
            </a:r>
            <a:r>
              <a:rPr lang="en-US" sz="1200" b="0" i="0" kern="1200" dirty="0" err="1" smtClean="0">
                <a:solidFill>
                  <a:schemeClr val="tx1"/>
                </a:solidFill>
                <a:latin typeface="+mn-lt"/>
                <a:ea typeface="+mn-ea"/>
                <a:cs typeface="+mn-cs"/>
              </a:rPr>
              <a:t>TensorFlow</a:t>
            </a:r>
            <a:r>
              <a:rPr lang="en-US" sz="1200" b="0" i="0" kern="1200" dirty="0" smtClean="0">
                <a:solidFill>
                  <a:schemeClr val="tx1"/>
                </a:solidFill>
                <a:latin typeface="+mn-lt"/>
                <a:ea typeface="+mn-ea"/>
                <a:cs typeface="+mn-cs"/>
              </a:rPr>
              <a:t> </a:t>
            </a:r>
            <a:r>
              <a:rPr lang="ru-RU" sz="1200" b="0" i="0" kern="1200" dirty="0" smtClean="0">
                <a:solidFill>
                  <a:schemeClr val="tx1"/>
                </a:solidFill>
                <a:latin typeface="+mn-lt"/>
                <a:ea typeface="+mn-ea"/>
                <a:cs typeface="+mn-cs"/>
              </a:rPr>
              <a:t>мы строим и обучаем </a:t>
            </a:r>
            <a:r>
              <a:rPr lang="ru-RU" sz="1200" b="0" i="0" kern="1200" dirty="0" err="1" smtClean="0">
                <a:solidFill>
                  <a:schemeClr val="tx1"/>
                </a:solidFill>
                <a:latin typeface="+mn-lt"/>
                <a:ea typeface="+mn-ea"/>
                <a:cs typeface="+mn-cs"/>
              </a:rPr>
              <a:t>нейросеть</a:t>
            </a:r>
            <a:r>
              <a:rPr lang="ru-RU" sz="1200" b="0" i="0" kern="1200" dirty="0" smtClean="0">
                <a:solidFill>
                  <a:schemeClr val="tx1"/>
                </a:solidFill>
                <a:latin typeface="+mn-lt"/>
                <a:ea typeface="+mn-ea"/>
                <a:cs typeface="+mn-cs"/>
              </a:rPr>
              <a:t>: </a:t>
            </a:r>
            <a:r>
              <a:rPr lang="en-US" sz="1200" b="0" i="0" kern="1200" dirty="0" smtClean="0">
                <a:solidFill>
                  <a:schemeClr val="tx1"/>
                </a:solidFill>
                <a:latin typeface="+mn-lt"/>
                <a:ea typeface="+mn-ea"/>
                <a:cs typeface="+mn-cs"/>
              </a:rPr>
              <a:t>Sequential, Dense, compile, fit, predict.</a:t>
            </a:r>
            <a:endParaRPr lang="ru-RU" sz="1200" b="0" i="0" kern="1200" dirty="0" smtClean="0">
              <a:solidFill>
                <a:schemeClr val="tx1"/>
              </a:solidFill>
              <a:latin typeface="+mn-lt"/>
              <a:ea typeface="+mn-ea"/>
              <a:cs typeface="+mn-cs"/>
            </a:endParaRPr>
          </a:p>
          <a:p>
            <a:endParaRPr lang="ru-RU" sz="1200" b="0" i="0" kern="1200" dirty="0" smtClean="0">
              <a:solidFill>
                <a:schemeClr val="tx1"/>
              </a:solidFill>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CEBF9C1A-0A84-4F0C-9C04-72BCEF6B8C2A}" type="slidenum">
              <a:rPr lang="ru-RU" smtClean="0"/>
              <a:pPr/>
              <a:t>11</a:t>
            </a:fld>
            <a:endParaRPr lang="ru-R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ru-RU" sz="1200" b="0" i="0" kern="1200" dirty="0" smtClean="0">
                <a:solidFill>
                  <a:schemeClr val="tx1"/>
                </a:solidFill>
                <a:latin typeface="+mn-lt"/>
                <a:ea typeface="+mn-ea"/>
                <a:cs typeface="+mn-cs"/>
              </a:rPr>
              <a:t>R² показывает, какую долю «разброса» целевой переменной объяснила наша модель.</a:t>
            </a:r>
          </a:p>
          <a:p>
            <a:r>
              <a:rPr lang="ru-RU" sz="1200" b="0" i="0" kern="1200" dirty="0" smtClean="0">
                <a:solidFill>
                  <a:schemeClr val="tx1"/>
                </a:solidFill>
                <a:latin typeface="+mn-lt"/>
                <a:ea typeface="+mn-ea"/>
                <a:cs typeface="+mn-cs"/>
              </a:rPr>
              <a:t>Или ещё проще: насколько наша модель лучше, чем просто предсказывать среднее значение для всех объектов.</a:t>
            </a:r>
          </a:p>
          <a:p>
            <a:r>
              <a:rPr lang="ru-RU" b="0" dirty="0" smtClean="0"/>
              <a:t/>
            </a:r>
            <a:br>
              <a:rPr lang="ru-RU" b="0" dirty="0" smtClean="0"/>
            </a:br>
            <a:endParaRPr lang="ru-RU" b="0" dirty="0"/>
          </a:p>
        </p:txBody>
      </p:sp>
      <p:sp>
        <p:nvSpPr>
          <p:cNvPr id="4" name="Номер слайда 3"/>
          <p:cNvSpPr>
            <a:spLocks noGrp="1"/>
          </p:cNvSpPr>
          <p:nvPr>
            <p:ph type="sldNum" sz="quarter" idx="10"/>
          </p:nvPr>
        </p:nvSpPr>
        <p:spPr/>
        <p:txBody>
          <a:bodyPr/>
          <a:lstStyle/>
          <a:p>
            <a:fld id="{CEBF9C1A-0A84-4F0C-9C04-72BCEF6B8C2A}" type="slidenum">
              <a:rPr lang="ru-RU" smtClean="0"/>
              <a:pPr/>
              <a:t>12</a:t>
            </a:fld>
            <a:endParaRPr lang="ru-R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lnSpcReduction="10000"/>
          </a:bodyPr>
          <a:lstStyle/>
          <a:p>
            <a:r>
              <a:rPr lang="ru-RU" sz="1200" b="0" i="0" kern="1200" dirty="0" smtClean="0">
                <a:solidFill>
                  <a:schemeClr val="tx1"/>
                </a:solidFill>
                <a:latin typeface="+mn-lt"/>
                <a:ea typeface="+mn-ea"/>
                <a:cs typeface="+mn-cs"/>
              </a:rPr>
              <a:t>Ранее мы говорили, что для обновления весов мы берём некоторое число </a:t>
            </a:r>
            <a:r>
              <a:rPr lang="ru-RU" sz="1200" b="0" i="0" kern="1200" dirty="0" err="1" smtClean="0">
                <a:solidFill>
                  <a:schemeClr val="tx1"/>
                </a:solidFill>
                <a:latin typeface="+mn-lt"/>
                <a:ea typeface="+mn-ea"/>
                <a:cs typeface="+mn-cs"/>
              </a:rPr>
              <a:t>n</a:t>
            </a:r>
            <a:r>
              <a:rPr lang="ru-RU" sz="1200" b="0" i="0" kern="1200" dirty="0" smtClean="0">
                <a:solidFill>
                  <a:schemeClr val="tx1"/>
                </a:solidFill>
                <a:latin typeface="+mn-lt"/>
                <a:ea typeface="+mn-ea"/>
                <a:cs typeface="+mn-cs"/>
              </a:rPr>
              <a:t> образцов, считаем для них предсказания с текущими весами, потом считаем функцию потерь и на её основе корректируем веса.</a:t>
            </a:r>
          </a:p>
          <a:p>
            <a:r>
              <a:rPr lang="ru-RU" sz="1200" b="0" i="0" kern="1200" dirty="0" smtClean="0">
                <a:solidFill>
                  <a:schemeClr val="tx1"/>
                </a:solidFill>
                <a:latin typeface="+mn-lt"/>
                <a:ea typeface="+mn-ea"/>
                <a:cs typeface="+mn-cs"/>
              </a:rPr>
              <a:t>Но сколько именно образцов брать за один шаг — это отдельный вопрос. От него зависит скорость обучения, стабильность и требования к памяти.</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Именно по этому признаку градиентные спуски делятся на три вида:</a:t>
            </a:r>
          </a:p>
          <a:p>
            <a:r>
              <a:rPr lang="ru-RU" sz="1200" b="0" i="0" kern="1200" dirty="0" err="1" smtClean="0">
                <a:solidFill>
                  <a:schemeClr val="tx1"/>
                </a:solidFill>
                <a:latin typeface="+mn-lt"/>
                <a:ea typeface="+mn-ea"/>
                <a:cs typeface="+mn-cs"/>
              </a:rPr>
              <a:t>Batch</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Gradient</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Descent</a:t>
            </a:r>
            <a:r>
              <a:rPr lang="ru-RU" sz="1200" b="0" i="0" kern="1200" dirty="0" smtClean="0">
                <a:solidFill>
                  <a:schemeClr val="tx1"/>
                </a:solidFill>
                <a:latin typeface="+mn-lt"/>
                <a:ea typeface="+mn-ea"/>
                <a:cs typeface="+mn-cs"/>
              </a:rPr>
              <a:t> — </a:t>
            </a:r>
            <a:r>
              <a:rPr lang="ru-RU" sz="1200" b="0" i="0" kern="1200" dirty="0" err="1" smtClean="0">
                <a:solidFill>
                  <a:schemeClr val="tx1"/>
                </a:solidFill>
                <a:latin typeface="+mn-lt"/>
                <a:ea typeface="+mn-ea"/>
                <a:cs typeface="+mn-cs"/>
              </a:rPr>
              <a:t>n</a:t>
            </a:r>
            <a:r>
              <a:rPr lang="ru-RU" sz="1200" b="0" i="0" kern="1200" dirty="0" smtClean="0">
                <a:solidFill>
                  <a:schemeClr val="tx1"/>
                </a:solidFill>
                <a:latin typeface="+mn-lt"/>
                <a:ea typeface="+mn-ea"/>
                <a:cs typeface="+mn-cs"/>
              </a:rPr>
              <a:t> = все данные.</a:t>
            </a:r>
          </a:p>
          <a:p>
            <a:r>
              <a:rPr lang="ru-RU" sz="1200" b="0" i="0" kern="1200" dirty="0" err="1" smtClean="0">
                <a:solidFill>
                  <a:schemeClr val="tx1"/>
                </a:solidFill>
                <a:latin typeface="+mn-lt"/>
                <a:ea typeface="+mn-ea"/>
                <a:cs typeface="+mn-cs"/>
              </a:rPr>
              <a:t>Stochastic</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Gradient</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Descent</a:t>
            </a:r>
            <a:r>
              <a:rPr lang="ru-RU" sz="1200" b="0" i="0" kern="1200" dirty="0" smtClean="0">
                <a:solidFill>
                  <a:schemeClr val="tx1"/>
                </a:solidFill>
                <a:latin typeface="+mn-lt"/>
                <a:ea typeface="+mn-ea"/>
                <a:cs typeface="+mn-cs"/>
              </a:rPr>
              <a:t> — </a:t>
            </a:r>
            <a:r>
              <a:rPr lang="ru-RU" sz="1200" b="0" i="0" kern="1200" dirty="0" err="1" smtClean="0">
                <a:solidFill>
                  <a:schemeClr val="tx1"/>
                </a:solidFill>
                <a:latin typeface="+mn-lt"/>
                <a:ea typeface="+mn-ea"/>
                <a:cs typeface="+mn-cs"/>
              </a:rPr>
              <a:t>n</a:t>
            </a:r>
            <a:r>
              <a:rPr lang="ru-RU" sz="1200" b="0" i="0" kern="1200" dirty="0" smtClean="0">
                <a:solidFill>
                  <a:schemeClr val="tx1"/>
                </a:solidFill>
                <a:latin typeface="+mn-lt"/>
                <a:ea typeface="+mn-ea"/>
                <a:cs typeface="+mn-cs"/>
              </a:rPr>
              <a:t> = 1.</a:t>
            </a:r>
          </a:p>
          <a:p>
            <a:r>
              <a:rPr lang="ru-RU" sz="1200" b="0" i="0" kern="1200" dirty="0" err="1" smtClean="0">
                <a:solidFill>
                  <a:schemeClr val="tx1"/>
                </a:solidFill>
                <a:latin typeface="+mn-lt"/>
                <a:ea typeface="+mn-ea"/>
                <a:cs typeface="+mn-cs"/>
              </a:rPr>
              <a:t>Mini-batch</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Gradient</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Descent</a:t>
            </a:r>
            <a:r>
              <a:rPr lang="ru-RU" sz="1200" b="0" i="0" kern="1200" dirty="0" smtClean="0">
                <a:solidFill>
                  <a:schemeClr val="tx1"/>
                </a:solidFill>
                <a:latin typeface="+mn-lt"/>
                <a:ea typeface="+mn-ea"/>
                <a:cs typeface="+mn-cs"/>
              </a:rPr>
              <a:t> — </a:t>
            </a:r>
            <a:r>
              <a:rPr lang="ru-RU" sz="1200" b="0" i="0" kern="1200" dirty="0" err="1" smtClean="0">
                <a:solidFill>
                  <a:schemeClr val="tx1"/>
                </a:solidFill>
                <a:latin typeface="+mn-lt"/>
                <a:ea typeface="+mn-ea"/>
                <a:cs typeface="+mn-cs"/>
              </a:rPr>
              <a:t>n</a:t>
            </a:r>
            <a:r>
              <a:rPr lang="ru-RU" sz="1200" b="0" i="0" kern="1200" dirty="0" smtClean="0">
                <a:solidFill>
                  <a:schemeClr val="tx1"/>
                </a:solidFill>
                <a:latin typeface="+mn-lt"/>
                <a:ea typeface="+mn-ea"/>
                <a:cs typeface="+mn-cs"/>
              </a:rPr>
              <a:t> = небольшая порция (16–256).</a:t>
            </a:r>
          </a:p>
          <a:p>
            <a:r>
              <a:rPr lang="ru-RU" sz="1200" b="0" i="0" kern="1200" dirty="0" smtClean="0">
                <a:solidFill>
                  <a:schemeClr val="tx1"/>
                </a:solidFill>
                <a:latin typeface="+mn-lt"/>
                <a:ea typeface="+mn-ea"/>
                <a:cs typeface="+mn-cs"/>
              </a:rPr>
              <a:t>Разберём каждый.</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1. </a:t>
            </a:r>
            <a:r>
              <a:rPr lang="ru-RU" sz="1200" b="1" kern="1200" dirty="0" err="1" smtClean="0">
                <a:solidFill>
                  <a:schemeClr val="tx1"/>
                </a:solidFill>
                <a:latin typeface="+mn-lt"/>
                <a:ea typeface="+mn-ea"/>
                <a:cs typeface="+mn-cs"/>
              </a:rPr>
              <a:t>Batch</a:t>
            </a:r>
            <a:r>
              <a:rPr lang="ru-RU" sz="1200" b="1" kern="1200" dirty="0" smtClean="0">
                <a:solidFill>
                  <a:schemeClr val="tx1"/>
                </a:solidFill>
                <a:latin typeface="+mn-lt"/>
                <a:ea typeface="+mn-ea"/>
                <a:cs typeface="+mn-cs"/>
              </a:rPr>
              <a:t> </a:t>
            </a:r>
            <a:r>
              <a:rPr lang="ru-RU" sz="1200" b="1" kern="1200" dirty="0" err="1" smtClean="0">
                <a:solidFill>
                  <a:schemeClr val="tx1"/>
                </a:solidFill>
                <a:latin typeface="+mn-lt"/>
                <a:ea typeface="+mn-ea"/>
                <a:cs typeface="+mn-cs"/>
              </a:rPr>
              <a:t>Gradient</a:t>
            </a:r>
            <a:r>
              <a:rPr lang="ru-RU" sz="1200" b="1" kern="1200" dirty="0" smtClean="0">
                <a:solidFill>
                  <a:schemeClr val="tx1"/>
                </a:solidFill>
                <a:latin typeface="+mn-lt"/>
                <a:ea typeface="+mn-ea"/>
                <a:cs typeface="+mn-cs"/>
              </a:rPr>
              <a:t> </a:t>
            </a:r>
            <a:r>
              <a:rPr lang="ru-RU" sz="1200" b="1" kern="1200" dirty="0" err="1" smtClean="0">
                <a:solidFill>
                  <a:schemeClr val="tx1"/>
                </a:solidFill>
                <a:latin typeface="+mn-lt"/>
                <a:ea typeface="+mn-ea"/>
                <a:cs typeface="+mn-cs"/>
              </a:rPr>
              <a:t>Descent</a:t>
            </a:r>
            <a:r>
              <a:rPr lang="ru-RU" sz="1200" b="1" kern="1200" dirty="0" smtClean="0">
                <a:solidFill>
                  <a:schemeClr val="tx1"/>
                </a:solidFill>
                <a:latin typeface="+mn-lt"/>
                <a:ea typeface="+mn-ea"/>
                <a:cs typeface="+mn-cs"/>
              </a:rPr>
              <a:t> (пакетный)</a:t>
            </a:r>
          </a:p>
          <a:p>
            <a:r>
              <a:rPr lang="ru-RU" sz="1200" b="1" kern="1200" dirty="0" smtClean="0">
                <a:solidFill>
                  <a:schemeClr val="tx1"/>
                </a:solidFill>
                <a:latin typeface="+mn-lt"/>
                <a:ea typeface="+mn-ea"/>
                <a:cs typeface="+mn-cs"/>
              </a:rPr>
              <a:t>Суть</a:t>
            </a:r>
          </a:p>
          <a:p>
            <a:r>
              <a:rPr lang="ru-RU" sz="1200" b="0" i="0" kern="1200" dirty="0" smtClean="0">
                <a:solidFill>
                  <a:schemeClr val="tx1"/>
                </a:solidFill>
                <a:latin typeface="+mn-lt"/>
                <a:ea typeface="+mn-ea"/>
                <a:cs typeface="+mn-cs"/>
              </a:rPr>
              <a:t>В качестве «пакета» выступает весь набор данных, которым мы располагаем.</a:t>
            </a:r>
          </a:p>
          <a:p>
            <a:r>
              <a:rPr lang="ru-RU" sz="1200" b="0" i="0" kern="1200" dirty="0" smtClean="0">
                <a:solidFill>
                  <a:schemeClr val="tx1"/>
                </a:solidFill>
                <a:latin typeface="+mn-lt"/>
                <a:ea typeface="+mn-ea"/>
                <a:cs typeface="+mn-cs"/>
              </a:rPr>
              <a:t>На каждом шаге мы:</a:t>
            </a:r>
          </a:p>
          <a:p>
            <a:r>
              <a:rPr lang="ru-RU" sz="1200" b="0" i="0" kern="1200" dirty="0" smtClean="0">
                <a:solidFill>
                  <a:schemeClr val="tx1"/>
                </a:solidFill>
                <a:latin typeface="+mn-lt"/>
                <a:ea typeface="+mn-ea"/>
                <a:cs typeface="+mn-cs"/>
              </a:rPr>
              <a:t>Прогоняем все объекты через модель с текущими весами.</a:t>
            </a:r>
          </a:p>
          <a:p>
            <a:r>
              <a:rPr lang="ru-RU" sz="1200" b="0" i="0" kern="1200" dirty="0" smtClean="0">
                <a:solidFill>
                  <a:schemeClr val="tx1"/>
                </a:solidFill>
                <a:latin typeface="+mn-lt"/>
                <a:ea typeface="+mn-ea"/>
                <a:cs typeface="+mn-cs"/>
              </a:rPr>
              <a:t>Считаем функцию потерь по всем объектам.</a:t>
            </a:r>
          </a:p>
          <a:p>
            <a:r>
              <a:rPr lang="ru-RU" sz="1200" b="0" i="0" kern="1200" dirty="0" smtClean="0">
                <a:solidFill>
                  <a:schemeClr val="tx1"/>
                </a:solidFill>
                <a:latin typeface="+mn-lt"/>
                <a:ea typeface="+mn-ea"/>
                <a:cs typeface="+mn-cs"/>
              </a:rPr>
              <a:t>Вычисляем градиент по всем объектам.</a:t>
            </a:r>
          </a:p>
          <a:p>
            <a:r>
              <a:rPr lang="ru-RU" sz="1200" b="0" i="0" kern="1200" dirty="0" smtClean="0">
                <a:solidFill>
                  <a:schemeClr val="tx1"/>
                </a:solidFill>
                <a:latin typeface="+mn-lt"/>
                <a:ea typeface="+mn-ea"/>
                <a:cs typeface="+mn-cs"/>
              </a:rPr>
              <a:t>Делаем один шаг обновления весов.</a:t>
            </a:r>
          </a:p>
          <a:p>
            <a:r>
              <a:rPr lang="ru-RU" sz="1200" b="0" kern="1200" dirty="0" smtClean="0">
                <a:solidFill>
                  <a:schemeClr val="tx1"/>
                </a:solidFill>
                <a:latin typeface="+mn-lt"/>
                <a:ea typeface="+mn-ea"/>
                <a:cs typeface="+mn-cs"/>
              </a:rPr>
              <a:t>Пример</a:t>
            </a:r>
          </a:p>
          <a:p>
            <a:r>
              <a:rPr lang="ru-RU" sz="1200" b="0" i="0" kern="1200" dirty="0" smtClean="0">
                <a:solidFill>
                  <a:schemeClr val="tx1"/>
                </a:solidFill>
                <a:latin typeface="+mn-lt"/>
                <a:ea typeface="+mn-ea"/>
                <a:cs typeface="+mn-cs"/>
              </a:rPr>
              <a:t>У нас 10 000 объектов. Обучение на 100 эпох означает:</a:t>
            </a:r>
          </a:p>
          <a:p>
            <a:r>
              <a:rPr lang="ru-RU" sz="1200" b="0" i="0" kern="1200" dirty="0" smtClean="0">
                <a:solidFill>
                  <a:schemeClr val="tx1"/>
                </a:solidFill>
                <a:latin typeface="+mn-lt"/>
                <a:ea typeface="+mn-ea"/>
                <a:cs typeface="+mn-cs"/>
              </a:rPr>
              <a:t>100 шагов обновления весов;</a:t>
            </a:r>
          </a:p>
          <a:p>
            <a:r>
              <a:rPr lang="ru-RU" sz="1200" b="0" i="0" kern="1200" dirty="0" smtClean="0">
                <a:solidFill>
                  <a:schemeClr val="tx1"/>
                </a:solidFill>
                <a:latin typeface="+mn-lt"/>
                <a:ea typeface="+mn-ea"/>
                <a:cs typeface="+mn-cs"/>
              </a:rPr>
              <a:t>каждый шаг использует все 10 000 объектов.</a:t>
            </a:r>
            <a:endParaRPr lang="ru-RU" sz="1200" b="0" i="0" kern="1200" dirty="0">
              <a:solidFill>
                <a:schemeClr val="tx1"/>
              </a:solidFill>
              <a:latin typeface="+mn-lt"/>
              <a:ea typeface="+mn-ea"/>
              <a:cs typeface="+mn-cs"/>
            </a:endParaRPr>
          </a:p>
          <a:p>
            <a:endParaRPr lang="ru-RU" sz="1200" b="0" i="0" kern="1200" dirty="0">
              <a:solidFill>
                <a:schemeClr val="tx1"/>
              </a:solidFill>
              <a:latin typeface="+mn-lt"/>
              <a:ea typeface="+mn-ea"/>
              <a:cs typeface="+mn-cs"/>
            </a:endParaRPr>
          </a:p>
          <a:p>
            <a:r>
              <a:rPr lang="ru-RU" sz="1200" b="1" kern="1200" dirty="0" smtClean="0">
                <a:solidFill>
                  <a:schemeClr val="tx1"/>
                </a:solidFill>
                <a:latin typeface="+mn-lt"/>
                <a:ea typeface="+mn-ea"/>
                <a:cs typeface="+mn-cs"/>
              </a:rPr>
              <a:t>Плюсы</a:t>
            </a:r>
          </a:p>
          <a:p>
            <a:r>
              <a:rPr lang="ru-RU" sz="1200" b="0" i="0" kern="1200" dirty="0" smtClean="0">
                <a:solidFill>
                  <a:schemeClr val="tx1"/>
                </a:solidFill>
                <a:latin typeface="+mn-lt"/>
                <a:ea typeface="+mn-ea"/>
                <a:cs typeface="+mn-cs"/>
              </a:rPr>
              <a:t>Точный градиент -</a:t>
            </a:r>
            <a:r>
              <a:rPr lang="ru-RU" sz="1200" b="0" i="0" kern="1200" baseline="0" dirty="0" smtClean="0">
                <a:solidFill>
                  <a:schemeClr val="tx1"/>
                </a:solidFill>
                <a:latin typeface="+mn-lt"/>
                <a:ea typeface="+mn-ea"/>
                <a:cs typeface="+mn-cs"/>
              </a:rPr>
              <a:t> </a:t>
            </a:r>
            <a:r>
              <a:rPr lang="ru-RU" sz="1200" b="0" i="0" kern="1200" dirty="0" smtClean="0">
                <a:solidFill>
                  <a:schemeClr val="tx1"/>
                </a:solidFill>
                <a:latin typeface="+mn-lt"/>
                <a:ea typeface="+mn-ea"/>
                <a:cs typeface="+mn-cs"/>
              </a:rPr>
              <a:t>Без шума — направление шага оптимальное</a:t>
            </a:r>
          </a:p>
          <a:p>
            <a:r>
              <a:rPr lang="ru-RU" sz="1200" b="0" i="0" kern="1200" dirty="0" smtClean="0">
                <a:solidFill>
                  <a:schemeClr val="tx1"/>
                </a:solidFill>
                <a:latin typeface="+mn-lt"/>
                <a:ea typeface="+mn-ea"/>
                <a:cs typeface="+mn-cs"/>
              </a:rPr>
              <a:t>Стабильность - Кривая </a:t>
            </a:r>
            <a:r>
              <a:rPr lang="ru-RU" sz="1200" b="0" i="0" kern="1200" dirty="0" err="1" smtClean="0">
                <a:solidFill>
                  <a:schemeClr val="tx1"/>
                </a:solidFill>
                <a:latin typeface="+mn-lt"/>
                <a:ea typeface="+mn-ea"/>
                <a:cs typeface="+mn-cs"/>
              </a:rPr>
              <a:t>loss</a:t>
            </a:r>
            <a:r>
              <a:rPr lang="ru-RU" sz="1200" b="0" i="0" kern="1200" dirty="0" smtClean="0">
                <a:solidFill>
                  <a:schemeClr val="tx1"/>
                </a:solidFill>
                <a:latin typeface="+mn-lt"/>
                <a:ea typeface="+mn-ea"/>
                <a:cs typeface="+mn-cs"/>
              </a:rPr>
              <a:t> гладкая, монотонно убывает</a:t>
            </a:r>
          </a:p>
          <a:p>
            <a:r>
              <a:rPr lang="ru-RU" sz="1200" b="0" i="0" kern="1200" dirty="0" smtClean="0">
                <a:solidFill>
                  <a:schemeClr val="tx1"/>
                </a:solidFill>
                <a:latin typeface="+mn-lt"/>
                <a:ea typeface="+mn-ea"/>
                <a:cs typeface="+mn-cs"/>
              </a:rPr>
              <a:t>Простота - Легко понять и отладить</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Минусы</a:t>
            </a:r>
          </a:p>
          <a:p>
            <a:r>
              <a:rPr lang="ru-RU" sz="1200" b="0" i="0" kern="1200" dirty="0" smtClean="0">
                <a:solidFill>
                  <a:schemeClr val="tx1"/>
                </a:solidFill>
                <a:latin typeface="+mn-lt"/>
                <a:ea typeface="+mn-ea"/>
                <a:cs typeface="+mn-cs"/>
              </a:rPr>
              <a:t>Медленно - Один шаг = проход по всем данным</a:t>
            </a:r>
          </a:p>
          <a:p>
            <a:r>
              <a:rPr lang="ru-RU" sz="1200" b="0" i="0" kern="1200" dirty="0" smtClean="0">
                <a:solidFill>
                  <a:schemeClr val="tx1"/>
                </a:solidFill>
                <a:latin typeface="+mn-lt"/>
                <a:ea typeface="+mn-ea"/>
                <a:cs typeface="+mn-cs"/>
              </a:rPr>
              <a:t>Много памяти - Нужно держать всю выборку в памяти</a:t>
            </a:r>
          </a:p>
          <a:p>
            <a:r>
              <a:rPr lang="ru-RU" sz="1200" b="0" i="0" kern="1200" dirty="0" smtClean="0">
                <a:solidFill>
                  <a:schemeClr val="tx1"/>
                </a:solidFill>
                <a:latin typeface="+mn-lt"/>
                <a:ea typeface="+mn-ea"/>
                <a:cs typeface="+mn-cs"/>
              </a:rPr>
              <a:t>Мало обновлений - За эпоху — только один шаг</a:t>
            </a:r>
          </a:p>
          <a:p>
            <a:r>
              <a:rPr lang="ru-RU" sz="1200" b="0" i="0" kern="1200" dirty="0" smtClean="0">
                <a:solidFill>
                  <a:schemeClr val="tx1"/>
                </a:solidFill>
                <a:latin typeface="+mn-lt"/>
                <a:ea typeface="+mn-ea"/>
                <a:cs typeface="+mn-cs"/>
              </a:rPr>
              <a:t>Плохо масштабируется -</a:t>
            </a:r>
            <a:r>
              <a:rPr lang="ru-RU" sz="1200" b="0" i="0" kern="1200" baseline="0" dirty="0" smtClean="0">
                <a:solidFill>
                  <a:schemeClr val="tx1"/>
                </a:solidFill>
                <a:latin typeface="+mn-lt"/>
                <a:ea typeface="+mn-ea"/>
                <a:cs typeface="+mn-cs"/>
              </a:rPr>
              <a:t> </a:t>
            </a:r>
            <a:r>
              <a:rPr lang="ru-RU" sz="1200" b="0" i="0" kern="1200" dirty="0" smtClean="0">
                <a:solidFill>
                  <a:schemeClr val="tx1"/>
                </a:solidFill>
                <a:latin typeface="+mn-lt"/>
                <a:ea typeface="+mn-ea"/>
                <a:cs typeface="+mn-cs"/>
              </a:rPr>
              <a:t>На миллионах объектов становится непрактичным</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Когда использовать</a:t>
            </a:r>
          </a:p>
          <a:p>
            <a:r>
              <a:rPr lang="ru-RU" sz="1200" b="0" i="0" kern="1200" dirty="0" smtClean="0">
                <a:solidFill>
                  <a:schemeClr val="tx1"/>
                </a:solidFill>
                <a:latin typeface="+mn-lt"/>
                <a:ea typeface="+mn-ea"/>
                <a:cs typeface="+mn-cs"/>
              </a:rPr>
              <a:t>Маленькие </a:t>
            </a:r>
            <a:r>
              <a:rPr lang="ru-RU" sz="1200" b="0" i="0" kern="1200" dirty="0" err="1" smtClean="0">
                <a:solidFill>
                  <a:schemeClr val="tx1"/>
                </a:solidFill>
                <a:latin typeface="+mn-lt"/>
                <a:ea typeface="+mn-ea"/>
                <a:cs typeface="+mn-cs"/>
              </a:rPr>
              <a:t>датасеты</a:t>
            </a:r>
            <a:r>
              <a:rPr lang="ru-RU" sz="1200" b="0" i="0" kern="1200" dirty="0" smtClean="0">
                <a:solidFill>
                  <a:schemeClr val="tx1"/>
                </a:solidFill>
                <a:latin typeface="+mn-lt"/>
                <a:ea typeface="+mn-ea"/>
                <a:cs typeface="+mn-cs"/>
              </a:rPr>
              <a:t> — до нескольких тысяч объектов.</a:t>
            </a:r>
          </a:p>
          <a:p>
            <a:r>
              <a:rPr lang="ru-RU" sz="1200" b="0" i="0" kern="1200" dirty="0" smtClean="0">
                <a:solidFill>
                  <a:schemeClr val="tx1"/>
                </a:solidFill>
                <a:latin typeface="+mn-lt"/>
                <a:ea typeface="+mn-ea"/>
                <a:cs typeface="+mn-cs"/>
              </a:rPr>
              <a:t>Когда важна стабильность и точность шага.</a:t>
            </a:r>
          </a:p>
          <a:p>
            <a:r>
              <a:rPr lang="ru-RU" sz="1200" b="0" i="0" kern="1200" dirty="0" smtClean="0">
                <a:solidFill>
                  <a:schemeClr val="tx1"/>
                </a:solidFill>
                <a:latin typeface="+mn-lt"/>
                <a:ea typeface="+mn-ea"/>
                <a:cs typeface="+mn-cs"/>
              </a:rPr>
              <a:t>В учебных примерах — чтобы показать механику GD без шума.</a:t>
            </a:r>
          </a:p>
          <a:p>
            <a:endParaRPr lang="ru-RU" sz="1200" b="0" i="0" kern="120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CEBF9C1A-0A84-4F0C-9C04-72BCEF6B8C2A}" type="slidenum">
              <a:rPr lang="ru-RU" smtClean="0"/>
              <a:pPr/>
              <a:t>22</a:t>
            </a:fld>
            <a:endParaRPr lang="ru-R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lnSpcReduction="20000"/>
          </a:bodyPr>
          <a:lstStyle/>
          <a:p>
            <a:r>
              <a:rPr lang="ru-RU" sz="1200" b="1" kern="1200" dirty="0" err="1" smtClean="0">
                <a:solidFill>
                  <a:schemeClr val="tx1"/>
                </a:solidFill>
                <a:latin typeface="+mn-lt"/>
                <a:ea typeface="+mn-ea"/>
                <a:cs typeface="+mn-cs"/>
              </a:rPr>
              <a:t>Stochastic</a:t>
            </a:r>
            <a:r>
              <a:rPr lang="ru-RU" sz="1200" b="1" kern="1200" dirty="0" smtClean="0">
                <a:solidFill>
                  <a:schemeClr val="tx1"/>
                </a:solidFill>
                <a:latin typeface="+mn-lt"/>
                <a:ea typeface="+mn-ea"/>
                <a:cs typeface="+mn-cs"/>
              </a:rPr>
              <a:t> </a:t>
            </a:r>
            <a:r>
              <a:rPr lang="ru-RU" sz="1200" b="1" kern="1200" dirty="0" err="1" smtClean="0">
                <a:solidFill>
                  <a:schemeClr val="tx1"/>
                </a:solidFill>
                <a:latin typeface="+mn-lt"/>
                <a:ea typeface="+mn-ea"/>
                <a:cs typeface="+mn-cs"/>
              </a:rPr>
              <a:t>Gradient</a:t>
            </a:r>
            <a:r>
              <a:rPr lang="ru-RU" sz="1200" b="1" kern="1200" dirty="0" smtClean="0">
                <a:solidFill>
                  <a:schemeClr val="tx1"/>
                </a:solidFill>
                <a:latin typeface="+mn-lt"/>
                <a:ea typeface="+mn-ea"/>
                <a:cs typeface="+mn-cs"/>
              </a:rPr>
              <a:t> </a:t>
            </a:r>
            <a:r>
              <a:rPr lang="ru-RU" sz="1200" b="1" kern="1200" dirty="0" err="1" smtClean="0">
                <a:solidFill>
                  <a:schemeClr val="tx1"/>
                </a:solidFill>
                <a:latin typeface="+mn-lt"/>
                <a:ea typeface="+mn-ea"/>
                <a:cs typeface="+mn-cs"/>
              </a:rPr>
              <a:t>Descent</a:t>
            </a:r>
            <a:r>
              <a:rPr lang="ru-RU" sz="1200" b="1" kern="1200" dirty="0" smtClean="0">
                <a:solidFill>
                  <a:schemeClr val="tx1"/>
                </a:solidFill>
                <a:latin typeface="+mn-lt"/>
                <a:ea typeface="+mn-ea"/>
                <a:cs typeface="+mn-cs"/>
              </a:rPr>
              <a:t> (SGD, стохастический)</a:t>
            </a:r>
          </a:p>
          <a:p>
            <a:r>
              <a:rPr lang="ru-RU" sz="1200" b="1" kern="1200" dirty="0" smtClean="0">
                <a:solidFill>
                  <a:schemeClr val="tx1"/>
                </a:solidFill>
                <a:latin typeface="+mn-lt"/>
                <a:ea typeface="+mn-ea"/>
                <a:cs typeface="+mn-cs"/>
              </a:rPr>
              <a:t>Суть</a:t>
            </a:r>
          </a:p>
          <a:p>
            <a:r>
              <a:rPr lang="ru-RU" sz="1200" b="0" i="0" kern="1200" dirty="0" err="1" smtClean="0">
                <a:solidFill>
                  <a:schemeClr val="tx1"/>
                </a:solidFill>
                <a:latin typeface="+mn-lt"/>
                <a:ea typeface="+mn-ea"/>
                <a:cs typeface="+mn-cs"/>
              </a:rPr>
              <a:t>Stochastic</a:t>
            </a:r>
            <a:r>
              <a:rPr lang="ru-RU" sz="1200" b="0" i="0" kern="1200" dirty="0" smtClean="0">
                <a:solidFill>
                  <a:schemeClr val="tx1"/>
                </a:solidFill>
                <a:latin typeface="+mn-lt"/>
                <a:ea typeface="+mn-ea"/>
                <a:cs typeface="+mn-cs"/>
              </a:rPr>
              <a:t> переводится как «случайный». И это ключевая идея метода.</a:t>
            </a:r>
          </a:p>
          <a:p>
            <a:r>
              <a:rPr lang="ru-RU" sz="1200" b="0" i="0" kern="1200" dirty="0" smtClean="0">
                <a:solidFill>
                  <a:schemeClr val="tx1"/>
                </a:solidFill>
                <a:latin typeface="+mn-lt"/>
                <a:ea typeface="+mn-ea"/>
                <a:cs typeface="+mn-cs"/>
              </a:rPr>
              <a:t>На каждом шаге мы берём один случайный объект из </a:t>
            </a:r>
            <a:r>
              <a:rPr lang="ru-RU" sz="1200" b="0" i="0" kern="1200" dirty="0" err="1" smtClean="0">
                <a:solidFill>
                  <a:schemeClr val="tx1"/>
                </a:solidFill>
                <a:latin typeface="+mn-lt"/>
                <a:ea typeface="+mn-ea"/>
                <a:cs typeface="+mn-cs"/>
              </a:rPr>
              <a:t>датасета</a:t>
            </a:r>
            <a:r>
              <a:rPr lang="ru-RU" sz="1200" b="0" i="0" kern="1200" dirty="0" smtClean="0">
                <a:solidFill>
                  <a:schemeClr val="tx1"/>
                </a:solidFill>
                <a:latin typeface="+mn-lt"/>
                <a:ea typeface="+mn-ea"/>
                <a:cs typeface="+mn-cs"/>
              </a:rPr>
              <a:t>:</a:t>
            </a:r>
          </a:p>
          <a:p>
            <a:r>
              <a:rPr lang="ru-RU" sz="1200" b="0" i="0" kern="1200" dirty="0" smtClean="0">
                <a:solidFill>
                  <a:schemeClr val="tx1"/>
                </a:solidFill>
                <a:latin typeface="+mn-lt"/>
                <a:ea typeface="+mn-ea"/>
                <a:cs typeface="+mn-cs"/>
              </a:rPr>
              <a:t>Прогоняем его через модель с текущими весами.</a:t>
            </a:r>
          </a:p>
          <a:p>
            <a:r>
              <a:rPr lang="ru-RU" sz="1200" b="0" i="0" kern="1200" dirty="0" smtClean="0">
                <a:solidFill>
                  <a:schemeClr val="tx1"/>
                </a:solidFill>
                <a:latin typeface="+mn-lt"/>
                <a:ea typeface="+mn-ea"/>
                <a:cs typeface="+mn-cs"/>
              </a:rPr>
              <a:t>Считаем функцию потерь по одному этому объекту.</a:t>
            </a:r>
          </a:p>
          <a:p>
            <a:r>
              <a:rPr lang="ru-RU" sz="1200" b="0" i="0" kern="1200" dirty="0" smtClean="0">
                <a:solidFill>
                  <a:schemeClr val="tx1"/>
                </a:solidFill>
                <a:latin typeface="+mn-lt"/>
                <a:ea typeface="+mn-ea"/>
                <a:cs typeface="+mn-cs"/>
              </a:rPr>
              <a:t>Вычисляем градиент по этому объекту.</a:t>
            </a:r>
          </a:p>
          <a:p>
            <a:r>
              <a:rPr lang="ru-RU" sz="1200" b="0" i="0" kern="1200" dirty="0" smtClean="0">
                <a:solidFill>
                  <a:schemeClr val="tx1"/>
                </a:solidFill>
                <a:latin typeface="+mn-lt"/>
                <a:ea typeface="+mn-ea"/>
                <a:cs typeface="+mn-cs"/>
              </a:rPr>
              <a:t>Сразу делаем шаг обновления весов.</a:t>
            </a:r>
          </a:p>
          <a:p>
            <a:r>
              <a:rPr lang="ru-RU" sz="1200" b="0" i="0" kern="1200" dirty="0" smtClean="0">
                <a:solidFill>
                  <a:schemeClr val="tx1"/>
                </a:solidFill>
                <a:latin typeface="+mn-lt"/>
                <a:ea typeface="+mn-ea"/>
                <a:cs typeface="+mn-cs"/>
              </a:rPr>
              <a:t>То есть: один объект → один шаг. Не ждём, пока прогоним все данные — обновляем веса после каждого примера.</a:t>
            </a:r>
          </a:p>
          <a:p>
            <a:r>
              <a:rPr lang="ru-RU" sz="1200" b="0" kern="1200" dirty="0" smtClean="0">
                <a:solidFill>
                  <a:schemeClr val="tx1"/>
                </a:solidFill>
                <a:latin typeface="+mn-lt"/>
                <a:ea typeface="+mn-ea"/>
                <a:cs typeface="+mn-cs"/>
              </a:rPr>
              <a:t>Пример</a:t>
            </a:r>
          </a:p>
          <a:p>
            <a:r>
              <a:rPr lang="ru-RU" sz="1200" b="0" i="0" kern="1200" dirty="0" smtClean="0">
                <a:solidFill>
                  <a:schemeClr val="tx1"/>
                </a:solidFill>
                <a:latin typeface="+mn-lt"/>
                <a:ea typeface="+mn-ea"/>
                <a:cs typeface="+mn-cs"/>
              </a:rPr>
              <a:t>У нас 10 000 объектов. Обучение на 100 эпох означает:</a:t>
            </a:r>
          </a:p>
          <a:p>
            <a:r>
              <a:rPr lang="ru-RU" sz="1200" b="0" i="0" kern="1200" dirty="0" smtClean="0">
                <a:solidFill>
                  <a:schemeClr val="tx1"/>
                </a:solidFill>
                <a:latin typeface="+mn-lt"/>
                <a:ea typeface="+mn-ea"/>
                <a:cs typeface="+mn-cs"/>
              </a:rPr>
              <a:t>10 000 × 100 = 1 000 000 шагов обновления весов;</a:t>
            </a:r>
          </a:p>
          <a:p>
            <a:r>
              <a:rPr lang="ru-RU" sz="1200" b="0" i="0" kern="1200" dirty="0" smtClean="0">
                <a:solidFill>
                  <a:schemeClr val="tx1"/>
                </a:solidFill>
                <a:latin typeface="+mn-lt"/>
                <a:ea typeface="+mn-ea"/>
                <a:cs typeface="+mn-cs"/>
              </a:rPr>
              <a:t>каждый шаг использует один случайный объект.</a:t>
            </a:r>
          </a:p>
          <a:p>
            <a:r>
              <a:rPr lang="ru-RU" sz="1200" b="0" i="0" kern="1200" dirty="0" smtClean="0">
                <a:solidFill>
                  <a:schemeClr val="tx1"/>
                </a:solidFill>
                <a:latin typeface="+mn-lt"/>
                <a:ea typeface="+mn-ea"/>
                <a:cs typeface="+mn-cs"/>
              </a:rPr>
              <a:t>Одна эпоха = 10 000 шагов, потому что в эпоху входит 10 000 объектов, и после каждого мы обновляем веса.</a:t>
            </a:r>
          </a:p>
          <a:p>
            <a:endParaRPr lang="ru-RU" b="0" dirty="0" smtClean="0"/>
          </a:p>
          <a:p>
            <a:r>
              <a:rPr lang="ru-RU" sz="1200" b="1" kern="1200" dirty="0" smtClean="0">
                <a:solidFill>
                  <a:schemeClr val="tx1"/>
                </a:solidFill>
                <a:latin typeface="+mn-lt"/>
                <a:ea typeface="+mn-ea"/>
                <a:cs typeface="+mn-cs"/>
              </a:rPr>
              <a:t>Плюсы</a:t>
            </a:r>
          </a:p>
          <a:p>
            <a:r>
              <a:rPr lang="ru-RU" sz="1200" b="0" i="0" kern="1200" dirty="0" smtClean="0">
                <a:solidFill>
                  <a:schemeClr val="tx1"/>
                </a:solidFill>
                <a:latin typeface="+mn-lt"/>
                <a:ea typeface="+mn-ea"/>
                <a:cs typeface="+mn-cs"/>
              </a:rPr>
              <a:t>Очень быстро на больших данных - Не нужно ждать полного прохода</a:t>
            </a:r>
          </a:p>
          <a:p>
            <a:r>
              <a:rPr lang="ru-RU" sz="1200" b="0" i="0" kern="1200" dirty="0" smtClean="0">
                <a:solidFill>
                  <a:schemeClr val="tx1"/>
                </a:solidFill>
                <a:latin typeface="+mn-lt"/>
                <a:ea typeface="+mn-ea"/>
                <a:cs typeface="+mn-cs"/>
              </a:rPr>
              <a:t>Мало памяти - Держим только один объект в работе</a:t>
            </a:r>
          </a:p>
          <a:p>
            <a:r>
              <a:rPr lang="ru-RU" sz="1200" b="0" i="0" kern="1200" dirty="0" smtClean="0">
                <a:solidFill>
                  <a:schemeClr val="tx1"/>
                </a:solidFill>
                <a:latin typeface="+mn-lt"/>
                <a:ea typeface="+mn-ea"/>
                <a:cs typeface="+mn-cs"/>
              </a:rPr>
              <a:t>Много обновлений - 10 000 шагов за эпоху вместо 1</a:t>
            </a:r>
          </a:p>
          <a:p>
            <a:r>
              <a:rPr lang="ru-RU" sz="1200" b="0" i="0" kern="1200" dirty="0" smtClean="0">
                <a:solidFill>
                  <a:schemeClr val="tx1"/>
                </a:solidFill>
                <a:latin typeface="+mn-lt"/>
                <a:ea typeface="+mn-ea"/>
                <a:cs typeface="+mn-cs"/>
              </a:rPr>
              <a:t>Шум помогает исследовать - Может «выпрыгнуть» из локального минимума</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Минусы</a:t>
            </a:r>
          </a:p>
          <a:p>
            <a:r>
              <a:rPr lang="ru-RU" sz="1200" b="0" i="0" kern="1200" dirty="0" smtClean="0">
                <a:solidFill>
                  <a:schemeClr val="tx1"/>
                </a:solidFill>
                <a:latin typeface="+mn-lt"/>
                <a:ea typeface="+mn-ea"/>
                <a:cs typeface="+mn-cs"/>
              </a:rPr>
              <a:t>Очень шумный градиент - </a:t>
            </a:r>
            <a:r>
              <a:rPr lang="ru-RU" sz="1200" b="0" i="0" kern="1200" dirty="0" err="1" smtClean="0">
                <a:solidFill>
                  <a:schemeClr val="tx1"/>
                </a:solidFill>
                <a:latin typeface="+mn-lt"/>
                <a:ea typeface="+mn-ea"/>
                <a:cs typeface="+mn-cs"/>
              </a:rPr>
              <a:t>Loss</a:t>
            </a:r>
            <a:r>
              <a:rPr lang="ru-RU" sz="1200" b="0" i="0" kern="1200" dirty="0" smtClean="0">
                <a:solidFill>
                  <a:schemeClr val="tx1"/>
                </a:solidFill>
                <a:latin typeface="+mn-lt"/>
                <a:ea typeface="+mn-ea"/>
                <a:cs typeface="+mn-cs"/>
              </a:rPr>
              <a:t> «дёргается»</a:t>
            </a:r>
          </a:p>
          <a:p>
            <a:r>
              <a:rPr lang="ru-RU" sz="1200" b="0" i="0" kern="1200" dirty="0" smtClean="0">
                <a:solidFill>
                  <a:schemeClr val="tx1"/>
                </a:solidFill>
                <a:latin typeface="+mn-lt"/>
                <a:ea typeface="+mn-ea"/>
                <a:cs typeface="+mn-cs"/>
              </a:rPr>
              <a:t>Нестабильность - Направление шага каждый раз разное</a:t>
            </a:r>
          </a:p>
          <a:p>
            <a:r>
              <a:rPr lang="ru-RU" sz="1200" b="0" i="0" kern="1200" dirty="0" smtClean="0">
                <a:solidFill>
                  <a:schemeClr val="tx1"/>
                </a:solidFill>
                <a:latin typeface="+mn-lt"/>
                <a:ea typeface="+mn-ea"/>
                <a:cs typeface="+mn-cs"/>
              </a:rPr>
              <a:t>Не гарантирует минимум - Может «болтаться» вокруг оптимума</a:t>
            </a:r>
          </a:p>
          <a:p>
            <a:r>
              <a:rPr lang="ru-RU" sz="1200" b="0" i="0" kern="1200" dirty="0" smtClean="0">
                <a:solidFill>
                  <a:schemeClr val="tx1"/>
                </a:solidFill>
                <a:latin typeface="+mn-lt"/>
                <a:ea typeface="+mn-ea"/>
                <a:cs typeface="+mn-cs"/>
              </a:rPr>
              <a:t>Нужен маленький </a:t>
            </a:r>
            <a:r>
              <a:rPr lang="ru-RU" sz="1200" b="0" i="0" kern="1200" dirty="0" err="1" smtClean="0">
                <a:solidFill>
                  <a:schemeClr val="tx1"/>
                </a:solidFill>
                <a:latin typeface="+mn-lt"/>
                <a:ea typeface="+mn-ea"/>
                <a:cs typeface="+mn-cs"/>
              </a:rPr>
              <a:t>lr</a:t>
            </a:r>
            <a:r>
              <a:rPr lang="ru-RU" sz="1200" b="0" i="0" kern="1200" dirty="0" smtClean="0">
                <a:solidFill>
                  <a:schemeClr val="tx1"/>
                </a:solidFill>
                <a:latin typeface="+mn-lt"/>
                <a:ea typeface="+mn-ea"/>
                <a:cs typeface="+mn-cs"/>
              </a:rPr>
              <a:t> - Иначе разброс слишком большой</a:t>
            </a:r>
          </a:p>
          <a:p>
            <a:endParaRPr lang="ru-RU" b="0" dirty="0" smtClean="0"/>
          </a:p>
          <a:p>
            <a:r>
              <a:rPr lang="ru-RU" sz="1200" b="1" kern="1200" dirty="0" smtClean="0">
                <a:solidFill>
                  <a:schemeClr val="tx1"/>
                </a:solidFill>
                <a:latin typeface="+mn-lt"/>
                <a:ea typeface="+mn-ea"/>
                <a:cs typeface="+mn-cs"/>
              </a:rPr>
              <a:t>Когда использовать</a:t>
            </a:r>
          </a:p>
          <a:p>
            <a:r>
              <a:rPr lang="ru-RU" sz="1200" b="0" i="0" kern="1200" dirty="0" smtClean="0">
                <a:solidFill>
                  <a:schemeClr val="tx1"/>
                </a:solidFill>
                <a:latin typeface="+mn-lt"/>
                <a:ea typeface="+mn-ea"/>
                <a:cs typeface="+mn-cs"/>
              </a:rPr>
              <a:t>Очень большие </a:t>
            </a:r>
            <a:r>
              <a:rPr lang="ru-RU" sz="1200" b="0" i="0" kern="1200" dirty="0" err="1" smtClean="0">
                <a:solidFill>
                  <a:schemeClr val="tx1"/>
                </a:solidFill>
                <a:latin typeface="+mn-lt"/>
                <a:ea typeface="+mn-ea"/>
                <a:cs typeface="+mn-cs"/>
              </a:rPr>
              <a:t>датасеты</a:t>
            </a:r>
            <a:r>
              <a:rPr lang="ru-RU" sz="1200" b="0" i="0" kern="1200" dirty="0" smtClean="0">
                <a:solidFill>
                  <a:schemeClr val="tx1"/>
                </a:solidFill>
                <a:latin typeface="+mn-lt"/>
                <a:ea typeface="+mn-ea"/>
                <a:cs typeface="+mn-cs"/>
              </a:rPr>
              <a:t>, где </a:t>
            </a:r>
            <a:r>
              <a:rPr lang="ru-RU" sz="1200" b="0" i="0" kern="1200" dirty="0" err="1" smtClean="0">
                <a:solidFill>
                  <a:schemeClr val="tx1"/>
                </a:solidFill>
                <a:latin typeface="+mn-lt"/>
                <a:ea typeface="+mn-ea"/>
                <a:cs typeface="+mn-cs"/>
              </a:rPr>
              <a:t>Batch</a:t>
            </a:r>
            <a:r>
              <a:rPr lang="ru-RU" sz="1200" b="0" i="0" kern="1200" dirty="0" smtClean="0">
                <a:solidFill>
                  <a:schemeClr val="tx1"/>
                </a:solidFill>
                <a:latin typeface="+mn-lt"/>
                <a:ea typeface="+mn-ea"/>
                <a:cs typeface="+mn-cs"/>
              </a:rPr>
              <a:t> GD не помещается в память.</a:t>
            </a:r>
          </a:p>
          <a:p>
            <a:r>
              <a:rPr lang="ru-RU" sz="1200" b="0" i="0" kern="1200" dirty="0" err="1" smtClean="0">
                <a:solidFill>
                  <a:schemeClr val="tx1"/>
                </a:solidFill>
                <a:latin typeface="+mn-lt"/>
                <a:ea typeface="+mn-ea"/>
                <a:cs typeface="+mn-cs"/>
              </a:rPr>
              <a:t>Онлайн-обучение</a:t>
            </a:r>
            <a:r>
              <a:rPr lang="ru-RU" sz="1200" b="0" i="0" kern="1200" dirty="0" smtClean="0">
                <a:solidFill>
                  <a:schemeClr val="tx1"/>
                </a:solidFill>
                <a:latin typeface="+mn-lt"/>
                <a:ea typeface="+mn-ea"/>
                <a:cs typeface="+mn-cs"/>
              </a:rPr>
              <a:t> — данные поступают по одному, модель обновляется на лету.</a:t>
            </a:r>
          </a:p>
          <a:p>
            <a:r>
              <a:rPr lang="ru-RU" sz="1200" b="0" i="0" kern="1200" dirty="0" smtClean="0">
                <a:solidFill>
                  <a:schemeClr val="tx1"/>
                </a:solidFill>
                <a:latin typeface="+mn-lt"/>
                <a:ea typeface="+mn-ea"/>
                <a:cs typeface="+mn-cs"/>
              </a:rPr>
              <a:t>Когда важна скорость первых улучшений, а не точность финального минимума.</a:t>
            </a:r>
          </a:p>
          <a:p>
            <a:r>
              <a:rPr lang="ru-RU" sz="1200" b="0" i="0" kern="1200" dirty="0" smtClean="0">
                <a:solidFill>
                  <a:schemeClr val="tx1"/>
                </a:solidFill>
                <a:latin typeface="+mn-lt"/>
                <a:ea typeface="+mn-ea"/>
                <a:cs typeface="+mn-cs"/>
              </a:rPr>
              <a:t>В сочетании с </a:t>
            </a:r>
            <a:r>
              <a:rPr lang="ru-RU" sz="1200" b="0" i="0" kern="1200" dirty="0" err="1" smtClean="0">
                <a:solidFill>
                  <a:schemeClr val="tx1"/>
                </a:solidFill>
                <a:latin typeface="+mn-lt"/>
                <a:ea typeface="+mn-ea"/>
                <a:cs typeface="+mn-cs"/>
              </a:rPr>
              <a:t>learning</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rate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decay</a:t>
            </a:r>
            <a:r>
              <a:rPr lang="ru-RU" sz="1200" b="0" i="0" kern="1200" dirty="0" smtClean="0">
                <a:solidFill>
                  <a:schemeClr val="tx1"/>
                </a:solidFill>
                <a:latin typeface="+mn-lt"/>
                <a:ea typeface="+mn-ea"/>
                <a:cs typeface="+mn-cs"/>
              </a:rPr>
              <a:t> — постепенно уменьшать </a:t>
            </a:r>
            <a:r>
              <a:rPr lang="ru-RU" sz="1200" b="0" i="0" kern="1200" dirty="0" err="1" smtClean="0">
                <a:solidFill>
                  <a:schemeClr val="tx1"/>
                </a:solidFill>
                <a:latin typeface="+mn-lt"/>
                <a:ea typeface="+mn-ea"/>
                <a:cs typeface="+mn-cs"/>
              </a:rPr>
              <a:t>lr</a:t>
            </a:r>
            <a:r>
              <a:rPr lang="ru-RU" sz="1200" b="0" i="0" kern="1200" dirty="0" smtClean="0">
                <a:solidFill>
                  <a:schemeClr val="tx1"/>
                </a:solidFill>
                <a:latin typeface="+mn-lt"/>
                <a:ea typeface="+mn-ea"/>
                <a:cs typeface="+mn-cs"/>
              </a:rPr>
              <a:t>, чтобы в конце «успокоиться» у минимума.</a:t>
            </a:r>
          </a:p>
          <a:p>
            <a:endParaRPr lang="ru-RU" b="0" dirty="0" smtClean="0"/>
          </a:p>
          <a:p>
            <a:endParaRPr lang="ru-RU" b="0" dirty="0" smtClean="0"/>
          </a:p>
          <a:p>
            <a:r>
              <a:rPr lang="en-US" b="0" dirty="0" smtClean="0"/>
              <a:t>S</a:t>
            </a:r>
            <a:r>
              <a:rPr lang="ru-RU" b="0" dirty="0" smtClean="0"/>
              <a:t>GD — это противоположность </a:t>
            </a:r>
            <a:r>
              <a:rPr lang="ru-RU" b="0" dirty="0" err="1" smtClean="0"/>
              <a:t>Batch</a:t>
            </a:r>
            <a:r>
              <a:rPr lang="ru-RU" b="0" dirty="0" smtClean="0"/>
              <a:t> GD. </a:t>
            </a:r>
            <a:r>
              <a:rPr lang="ru-RU" b="0" dirty="0" err="1" smtClean="0"/>
              <a:t>Batch</a:t>
            </a:r>
            <a:r>
              <a:rPr lang="ru-RU" b="0" dirty="0" smtClean="0"/>
              <a:t> использует все объекты за один шаг, SGD — только один. Зато обновлений за эпоху у SGD не одно, а 10 000. Шумно, но быстро. Представьте, что вы спускаетесь с горы, делая крошечные шаги и постоянно оглядываясь: иногда шаг в сторону, но в среднем — вниз. Вблизи подножия SGD не останавливается, а продолжает блуждать вокруг минимума, поэтому </a:t>
            </a:r>
            <a:r>
              <a:rPr lang="ru-RU" b="0" dirty="0" err="1" smtClean="0"/>
              <a:t>learning</a:t>
            </a:r>
            <a:r>
              <a:rPr lang="ru-RU" b="0" dirty="0" smtClean="0"/>
              <a:t> </a:t>
            </a:r>
            <a:r>
              <a:rPr lang="ru-RU" b="0" dirty="0" err="1" smtClean="0"/>
              <a:t>rate</a:t>
            </a:r>
            <a:r>
              <a:rPr lang="ru-RU" b="0" dirty="0" smtClean="0"/>
              <a:t> со временем уменьшают. На практике чистый SGD используют редко — чаще берут его улучшенную версию: </a:t>
            </a:r>
            <a:r>
              <a:rPr lang="ru-RU" b="0" dirty="0" err="1" smtClean="0"/>
              <a:t>mini-batch</a:t>
            </a:r>
            <a:r>
              <a:rPr lang="ru-RU" b="0" dirty="0" smtClean="0"/>
              <a:t> GD, где шаг делается не по одному объекту, а по небольшой порции».</a:t>
            </a:r>
          </a:p>
          <a:p>
            <a:endParaRPr lang="ru-RU" b="0" dirty="0"/>
          </a:p>
        </p:txBody>
      </p:sp>
      <p:sp>
        <p:nvSpPr>
          <p:cNvPr id="4" name="Номер слайда 3"/>
          <p:cNvSpPr>
            <a:spLocks noGrp="1"/>
          </p:cNvSpPr>
          <p:nvPr>
            <p:ph type="sldNum" sz="quarter" idx="10"/>
          </p:nvPr>
        </p:nvSpPr>
        <p:spPr/>
        <p:txBody>
          <a:bodyPr/>
          <a:lstStyle/>
          <a:p>
            <a:fld id="{CEBF9C1A-0A84-4F0C-9C04-72BCEF6B8C2A}" type="slidenum">
              <a:rPr lang="ru-RU" smtClean="0"/>
              <a:pPr/>
              <a:t>23</a:t>
            </a:fld>
            <a:endParaRPr lang="ru-R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40000" lnSpcReduction="20000"/>
          </a:bodyPr>
          <a:lstStyle/>
          <a:p>
            <a:r>
              <a:rPr lang="ru-RU" sz="1200" b="1" i="0" kern="1200" dirty="0" err="1" smtClean="0">
                <a:solidFill>
                  <a:schemeClr val="tx1"/>
                </a:solidFill>
                <a:latin typeface="+mn-lt"/>
                <a:ea typeface="+mn-ea"/>
                <a:cs typeface="+mn-cs"/>
              </a:rPr>
              <a:t>Mini-batch</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Gradient</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Descent</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мини-пакетный</a:t>
            </a:r>
            <a:r>
              <a:rPr lang="ru-RU" sz="1200" b="1" i="0" kern="1200" dirty="0" smtClean="0">
                <a:solidFill>
                  <a:schemeClr val="tx1"/>
                </a:solidFill>
                <a:latin typeface="+mn-lt"/>
                <a:ea typeface="+mn-ea"/>
                <a:cs typeface="+mn-cs"/>
              </a:rPr>
              <a:t>)</a:t>
            </a:r>
          </a:p>
          <a:p>
            <a:r>
              <a:rPr lang="ru-RU" sz="1200" b="1" i="0" kern="1200" dirty="0" smtClean="0">
                <a:solidFill>
                  <a:schemeClr val="tx1"/>
                </a:solidFill>
                <a:latin typeface="+mn-lt"/>
                <a:ea typeface="+mn-ea"/>
                <a:cs typeface="+mn-cs"/>
              </a:rPr>
              <a:t>Суть</a:t>
            </a:r>
          </a:p>
          <a:p>
            <a:r>
              <a:rPr lang="ru-RU" sz="1200" b="0" i="0" kern="1200" dirty="0" err="1" smtClean="0">
                <a:solidFill>
                  <a:schemeClr val="tx1"/>
                </a:solidFill>
                <a:latin typeface="+mn-lt"/>
                <a:ea typeface="+mn-ea"/>
                <a:cs typeface="+mn-cs"/>
              </a:rPr>
              <a:t>Mini-batch</a:t>
            </a:r>
            <a:r>
              <a:rPr lang="ru-RU" sz="1200" b="0" i="0" kern="1200" dirty="0" smtClean="0">
                <a:solidFill>
                  <a:schemeClr val="tx1"/>
                </a:solidFill>
                <a:latin typeface="+mn-lt"/>
                <a:ea typeface="+mn-ea"/>
                <a:cs typeface="+mn-cs"/>
              </a:rPr>
              <a:t> — это компромисс между </a:t>
            </a:r>
            <a:r>
              <a:rPr lang="ru-RU" sz="1200" b="0" i="0" kern="1200" dirty="0" err="1" smtClean="0">
                <a:solidFill>
                  <a:schemeClr val="tx1"/>
                </a:solidFill>
                <a:latin typeface="+mn-lt"/>
                <a:ea typeface="+mn-ea"/>
                <a:cs typeface="+mn-cs"/>
              </a:rPr>
              <a:t>Batch</a:t>
            </a:r>
            <a:r>
              <a:rPr lang="ru-RU" sz="1200" b="0" i="0" kern="1200" dirty="0" smtClean="0">
                <a:solidFill>
                  <a:schemeClr val="tx1"/>
                </a:solidFill>
                <a:latin typeface="+mn-lt"/>
                <a:ea typeface="+mn-ea"/>
                <a:cs typeface="+mn-cs"/>
              </a:rPr>
              <a:t> GD и SGD.</a:t>
            </a:r>
          </a:p>
          <a:p>
            <a:r>
              <a:rPr lang="ru-RU" sz="1200" b="0" i="0" kern="1200" dirty="0" smtClean="0">
                <a:solidFill>
                  <a:schemeClr val="tx1"/>
                </a:solidFill>
                <a:latin typeface="+mn-lt"/>
                <a:ea typeface="+mn-ea"/>
                <a:cs typeface="+mn-cs"/>
              </a:rPr>
              <a:t>На каждом шаге мы берём небольшую порцию объектов (обычно 16–256) — это и есть мини-пакет, или просто </a:t>
            </a:r>
            <a:r>
              <a:rPr lang="ru-RU" sz="1200" b="0" i="0" kern="1200" dirty="0" err="1" smtClean="0">
                <a:solidFill>
                  <a:schemeClr val="tx1"/>
                </a:solidFill>
                <a:latin typeface="+mn-lt"/>
                <a:ea typeface="+mn-ea"/>
                <a:cs typeface="+mn-cs"/>
              </a:rPr>
              <a:t>батч</a:t>
            </a:r>
            <a:r>
              <a:rPr lang="ru-RU" sz="1200" b="0" i="0" kern="1200" dirty="0" smtClean="0">
                <a:solidFill>
                  <a:schemeClr val="tx1"/>
                </a:solidFill>
                <a:latin typeface="+mn-lt"/>
                <a:ea typeface="+mn-ea"/>
                <a:cs typeface="+mn-cs"/>
              </a:rPr>
              <a:t>. Прогоняем его через модель, считаем функцию потерь по этому </a:t>
            </a:r>
            <a:r>
              <a:rPr lang="ru-RU" sz="1200" b="0" i="0" kern="1200" dirty="0" err="1" smtClean="0">
                <a:solidFill>
                  <a:schemeClr val="tx1"/>
                </a:solidFill>
                <a:latin typeface="+mn-lt"/>
                <a:ea typeface="+mn-ea"/>
                <a:cs typeface="+mn-cs"/>
              </a:rPr>
              <a:t>батчу</a:t>
            </a:r>
            <a:r>
              <a:rPr lang="ru-RU" sz="1200" b="0" i="0" kern="1200" dirty="0" smtClean="0">
                <a:solidFill>
                  <a:schemeClr val="tx1"/>
                </a:solidFill>
                <a:latin typeface="+mn-lt"/>
                <a:ea typeface="+mn-ea"/>
                <a:cs typeface="+mn-cs"/>
              </a:rPr>
              <a:t>, вычисляем градиент и обновляем веса. Затем берём следующий </a:t>
            </a:r>
            <a:r>
              <a:rPr lang="ru-RU" sz="1200" b="0" i="0" kern="1200" dirty="0" err="1" smtClean="0">
                <a:solidFill>
                  <a:schemeClr val="tx1"/>
                </a:solidFill>
                <a:latin typeface="+mn-lt"/>
                <a:ea typeface="+mn-ea"/>
                <a:cs typeface="+mn-cs"/>
              </a:rPr>
              <a:t>батч</a:t>
            </a:r>
            <a:r>
              <a:rPr lang="ru-RU" sz="1200" b="0" i="0" kern="1200" dirty="0" smtClean="0">
                <a:solidFill>
                  <a:schemeClr val="tx1"/>
                </a:solidFill>
                <a:latin typeface="+mn-lt"/>
                <a:ea typeface="+mn-ea"/>
                <a:cs typeface="+mn-cs"/>
              </a:rPr>
              <a:t> — и так до конца эпохи.</a:t>
            </a:r>
          </a:p>
          <a:p>
            <a:r>
              <a:rPr lang="ru-RU" sz="1200" b="0" i="0" kern="1200" dirty="0" smtClean="0">
                <a:solidFill>
                  <a:schemeClr val="tx1"/>
                </a:solidFill>
                <a:latin typeface="+mn-lt"/>
                <a:ea typeface="+mn-ea"/>
                <a:cs typeface="+mn-cs"/>
              </a:rPr>
              <a:t>То есть: </a:t>
            </a:r>
            <a:r>
              <a:rPr lang="ru-RU" sz="1200" b="0" i="0" kern="1200" dirty="0" err="1" smtClean="0">
                <a:solidFill>
                  <a:schemeClr val="tx1"/>
                </a:solidFill>
                <a:latin typeface="+mn-lt"/>
                <a:ea typeface="+mn-ea"/>
                <a:cs typeface="+mn-cs"/>
              </a:rPr>
              <a:t>батч</a:t>
            </a:r>
            <a:r>
              <a:rPr lang="ru-RU" sz="1200" b="0" i="0" kern="1200" dirty="0" smtClean="0">
                <a:solidFill>
                  <a:schemeClr val="tx1"/>
                </a:solidFill>
                <a:latin typeface="+mn-lt"/>
                <a:ea typeface="+mn-ea"/>
                <a:cs typeface="+mn-cs"/>
              </a:rPr>
              <a:t> → один шаг. Не все данные, как в </a:t>
            </a:r>
            <a:r>
              <a:rPr lang="ru-RU" sz="1200" b="0" i="0" kern="1200" dirty="0" err="1" smtClean="0">
                <a:solidFill>
                  <a:schemeClr val="tx1"/>
                </a:solidFill>
                <a:latin typeface="+mn-lt"/>
                <a:ea typeface="+mn-ea"/>
                <a:cs typeface="+mn-cs"/>
              </a:rPr>
              <a:t>Batch</a:t>
            </a:r>
            <a:r>
              <a:rPr lang="ru-RU" sz="1200" b="0" i="0" kern="1200" dirty="0" smtClean="0">
                <a:solidFill>
                  <a:schemeClr val="tx1"/>
                </a:solidFill>
                <a:latin typeface="+mn-lt"/>
                <a:ea typeface="+mn-ea"/>
                <a:cs typeface="+mn-cs"/>
              </a:rPr>
              <a:t> GD, и не один объект, как в SGD, а «золотая середина».</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Пример</a:t>
            </a:r>
          </a:p>
          <a:p>
            <a:r>
              <a:rPr lang="ru-RU" sz="1200" b="0" i="0" kern="1200" dirty="0" smtClean="0">
                <a:solidFill>
                  <a:schemeClr val="tx1"/>
                </a:solidFill>
                <a:latin typeface="+mn-lt"/>
                <a:ea typeface="+mn-ea"/>
                <a:cs typeface="+mn-cs"/>
              </a:rPr>
              <a:t>У нас 10 000 объектов, </a:t>
            </a:r>
            <a:r>
              <a:rPr lang="ru-RU" sz="1200" b="0" i="0" kern="1200" dirty="0" err="1" smtClean="0">
                <a:solidFill>
                  <a:schemeClr val="tx1"/>
                </a:solidFill>
                <a:latin typeface="+mn-lt"/>
                <a:ea typeface="+mn-ea"/>
                <a:cs typeface="+mn-cs"/>
              </a:rPr>
              <a:t>batch_size</a:t>
            </a:r>
            <a:r>
              <a:rPr lang="ru-RU" sz="1200" b="0" i="0" kern="1200" dirty="0" smtClean="0">
                <a:solidFill>
                  <a:schemeClr val="tx1"/>
                </a:solidFill>
                <a:latin typeface="+mn-lt"/>
                <a:ea typeface="+mn-ea"/>
                <a:cs typeface="+mn-cs"/>
              </a:rPr>
              <a:t> = 32. Обучение на 100 эпох означает:</a:t>
            </a:r>
          </a:p>
          <a:p>
            <a:r>
              <a:rPr lang="ru-RU" sz="1200" b="0" i="0" kern="1200" dirty="0" smtClean="0">
                <a:solidFill>
                  <a:schemeClr val="tx1"/>
                </a:solidFill>
                <a:latin typeface="+mn-lt"/>
                <a:ea typeface="+mn-ea"/>
                <a:cs typeface="+mn-cs"/>
              </a:rPr>
              <a:t>за одну эпоху: 10 000 / 32 ≈ 313 шагов обновления весов;</a:t>
            </a:r>
          </a:p>
          <a:p>
            <a:r>
              <a:rPr lang="ru-RU" sz="1200" b="0" i="0" kern="1200" dirty="0" smtClean="0">
                <a:solidFill>
                  <a:schemeClr val="tx1"/>
                </a:solidFill>
                <a:latin typeface="+mn-lt"/>
                <a:ea typeface="+mn-ea"/>
                <a:cs typeface="+mn-cs"/>
              </a:rPr>
              <a:t>за 100 эпох: 313 × 100 ≈ 31 300 обновлений;</a:t>
            </a:r>
          </a:p>
          <a:p>
            <a:r>
              <a:rPr lang="ru-RU" sz="1200" b="0" i="0" kern="1200" dirty="0" smtClean="0">
                <a:solidFill>
                  <a:schemeClr val="tx1"/>
                </a:solidFill>
                <a:latin typeface="+mn-lt"/>
                <a:ea typeface="+mn-ea"/>
                <a:cs typeface="+mn-cs"/>
              </a:rPr>
              <a:t>на каждом шаге используется 32 объекта.</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Для сравнения:</a:t>
            </a:r>
          </a:p>
          <a:p>
            <a:r>
              <a:rPr lang="ru-RU" sz="1200" b="0" i="0" kern="1200" dirty="0" err="1" smtClean="0">
                <a:solidFill>
                  <a:schemeClr val="tx1"/>
                </a:solidFill>
                <a:latin typeface="+mn-lt"/>
                <a:ea typeface="+mn-ea"/>
                <a:cs typeface="+mn-cs"/>
              </a:rPr>
              <a:t>Batch</a:t>
            </a:r>
            <a:r>
              <a:rPr lang="ru-RU" sz="1200" b="0" i="0" kern="1200" dirty="0" smtClean="0">
                <a:solidFill>
                  <a:schemeClr val="tx1"/>
                </a:solidFill>
                <a:latin typeface="+mn-lt"/>
                <a:ea typeface="+mn-ea"/>
                <a:cs typeface="+mn-cs"/>
              </a:rPr>
              <a:t> GD за 100 эпох — всего 100 обновлений;</a:t>
            </a:r>
          </a:p>
          <a:p>
            <a:r>
              <a:rPr lang="ru-RU" sz="1200" b="0" i="0" kern="1200" dirty="0" smtClean="0">
                <a:solidFill>
                  <a:schemeClr val="tx1"/>
                </a:solidFill>
                <a:latin typeface="+mn-lt"/>
                <a:ea typeface="+mn-ea"/>
                <a:cs typeface="+mn-cs"/>
              </a:rPr>
              <a:t>SGD за 100 эпох — 1 000 000 обновлений;</a:t>
            </a:r>
          </a:p>
          <a:p>
            <a:r>
              <a:rPr lang="ru-RU" sz="1200" b="0" i="0" kern="1200" dirty="0" err="1" smtClean="0">
                <a:solidFill>
                  <a:schemeClr val="tx1"/>
                </a:solidFill>
                <a:latin typeface="+mn-lt"/>
                <a:ea typeface="+mn-ea"/>
                <a:cs typeface="+mn-cs"/>
              </a:rPr>
              <a:t>Mini-batch</a:t>
            </a:r>
            <a:r>
              <a:rPr lang="ru-RU" sz="1200" b="0" i="0" kern="1200" dirty="0" smtClean="0">
                <a:solidFill>
                  <a:schemeClr val="tx1"/>
                </a:solidFill>
                <a:latin typeface="+mn-lt"/>
                <a:ea typeface="+mn-ea"/>
                <a:cs typeface="+mn-cs"/>
              </a:rPr>
              <a:t> — 31 300 обновлений. Разумный баланс.</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Плюсы</a:t>
            </a:r>
          </a:p>
          <a:p>
            <a:r>
              <a:rPr lang="ru-RU" sz="1200" b="0" i="0" kern="1200" dirty="0" smtClean="0">
                <a:solidFill>
                  <a:schemeClr val="tx1"/>
                </a:solidFill>
                <a:latin typeface="+mn-lt"/>
                <a:ea typeface="+mn-ea"/>
                <a:cs typeface="+mn-cs"/>
              </a:rPr>
              <a:t>Баланс скорости и стабильности - Не так шумно, как SGD, и не так медленно, как </a:t>
            </a:r>
            <a:r>
              <a:rPr lang="ru-RU" sz="1200" b="0" i="0" kern="1200" dirty="0" err="1" smtClean="0">
                <a:solidFill>
                  <a:schemeClr val="tx1"/>
                </a:solidFill>
                <a:latin typeface="+mn-lt"/>
                <a:ea typeface="+mn-ea"/>
                <a:cs typeface="+mn-cs"/>
              </a:rPr>
              <a:t>Batch</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Векторизация - Матричные операции работают быстро, особенно на GPU</a:t>
            </a:r>
          </a:p>
          <a:p>
            <a:r>
              <a:rPr lang="ru-RU" sz="1200" b="0" i="0" kern="1200" dirty="0" smtClean="0">
                <a:solidFill>
                  <a:schemeClr val="tx1"/>
                </a:solidFill>
                <a:latin typeface="+mn-lt"/>
                <a:ea typeface="+mn-ea"/>
                <a:cs typeface="+mn-cs"/>
              </a:rPr>
              <a:t>Много обновлений за эпоху - 313 шагов вместо 1 — модель сходится быстрее</a:t>
            </a:r>
          </a:p>
          <a:p>
            <a:r>
              <a:rPr lang="ru-RU" sz="1200" b="0" i="0" kern="1200" dirty="0" smtClean="0">
                <a:solidFill>
                  <a:schemeClr val="tx1"/>
                </a:solidFill>
                <a:latin typeface="+mn-lt"/>
                <a:ea typeface="+mn-ea"/>
                <a:cs typeface="+mn-cs"/>
              </a:rPr>
              <a:t>Умеренные требования к памяти - Не нужен весь </a:t>
            </a:r>
            <a:r>
              <a:rPr lang="ru-RU" sz="1200" b="0" i="0" kern="1200" dirty="0" err="1" smtClean="0">
                <a:solidFill>
                  <a:schemeClr val="tx1"/>
                </a:solidFill>
                <a:latin typeface="+mn-lt"/>
                <a:ea typeface="+mn-ea"/>
                <a:cs typeface="+mn-cs"/>
              </a:rPr>
              <a:t>датасет</a:t>
            </a:r>
            <a:r>
              <a:rPr lang="ru-RU" sz="1200" b="0" i="0" kern="1200" dirty="0" smtClean="0">
                <a:solidFill>
                  <a:schemeClr val="tx1"/>
                </a:solidFill>
                <a:latin typeface="+mn-lt"/>
                <a:ea typeface="+mn-ea"/>
                <a:cs typeface="+mn-cs"/>
              </a:rPr>
              <a:t>, хватит одного </a:t>
            </a:r>
            <a:r>
              <a:rPr lang="ru-RU" sz="1200" b="0" i="0" kern="1200" dirty="0" err="1" smtClean="0">
                <a:solidFill>
                  <a:schemeClr val="tx1"/>
                </a:solidFill>
                <a:latin typeface="+mn-lt"/>
                <a:ea typeface="+mn-ea"/>
                <a:cs typeface="+mn-cs"/>
              </a:rPr>
              <a:t>батча</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Шум на пользу - Небольшой шум помогает выходить из локальных минимумов</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Минусы</a:t>
            </a:r>
          </a:p>
          <a:p>
            <a:r>
              <a:rPr lang="ru-RU" sz="1200" b="0" i="0" kern="1200" dirty="0" smtClean="0">
                <a:solidFill>
                  <a:schemeClr val="tx1"/>
                </a:solidFill>
                <a:latin typeface="+mn-lt"/>
                <a:ea typeface="+mn-ea"/>
                <a:cs typeface="+mn-cs"/>
              </a:rPr>
              <a:t>Нужно подбирать </a:t>
            </a:r>
            <a:r>
              <a:rPr lang="ru-RU" sz="1200" b="0" i="0" kern="1200" dirty="0" err="1" smtClean="0">
                <a:solidFill>
                  <a:schemeClr val="tx1"/>
                </a:solidFill>
                <a:latin typeface="+mn-lt"/>
                <a:ea typeface="+mn-ea"/>
                <a:cs typeface="+mn-cs"/>
              </a:rPr>
              <a:t>batch_size</a:t>
            </a:r>
            <a:r>
              <a:rPr lang="ru-RU" sz="1200" b="0" i="0" kern="1200" dirty="0" smtClean="0">
                <a:solidFill>
                  <a:schemeClr val="tx1"/>
                </a:solidFill>
                <a:latin typeface="+mn-lt"/>
                <a:ea typeface="+mn-ea"/>
                <a:cs typeface="+mn-cs"/>
              </a:rPr>
              <a:t> - Маленький → шумно, большой → медленно</a:t>
            </a:r>
          </a:p>
          <a:p>
            <a:r>
              <a:rPr lang="ru-RU" sz="1200" b="0" i="0" kern="1200" dirty="0" smtClean="0">
                <a:solidFill>
                  <a:schemeClr val="tx1"/>
                </a:solidFill>
                <a:latin typeface="+mn-lt"/>
                <a:ea typeface="+mn-ea"/>
                <a:cs typeface="+mn-cs"/>
              </a:rPr>
              <a:t>Не гарантирует идеальный минимум - Но обычно останавливается достаточно близко </a:t>
            </a:r>
          </a:p>
          <a:p>
            <a:r>
              <a:rPr lang="ru-RU" sz="1200" b="0" i="0" kern="1200" dirty="0" smtClean="0">
                <a:solidFill>
                  <a:schemeClr val="tx1"/>
                </a:solidFill>
                <a:latin typeface="+mn-lt"/>
                <a:ea typeface="+mn-ea"/>
                <a:cs typeface="+mn-cs"/>
              </a:rPr>
              <a:t>Требует больше кода - Нужно формировать </a:t>
            </a:r>
            <a:r>
              <a:rPr lang="ru-RU" sz="1200" b="0" i="0" kern="1200" dirty="0" err="1" smtClean="0">
                <a:solidFill>
                  <a:schemeClr val="tx1"/>
                </a:solidFill>
                <a:latin typeface="+mn-lt"/>
                <a:ea typeface="+mn-ea"/>
                <a:cs typeface="+mn-cs"/>
              </a:rPr>
              <a:t>батчи</a:t>
            </a:r>
            <a:r>
              <a:rPr lang="ru-RU" sz="1200" b="0" i="0" kern="1200" dirty="0" smtClean="0">
                <a:solidFill>
                  <a:schemeClr val="tx1"/>
                </a:solidFill>
                <a:latin typeface="+mn-lt"/>
                <a:ea typeface="+mn-ea"/>
                <a:cs typeface="+mn-cs"/>
              </a:rPr>
              <a:t>, перемешивать их каждую эпоху</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Как выбрать </a:t>
            </a:r>
            <a:r>
              <a:rPr lang="ru-RU" sz="1200" b="0" i="0" kern="1200" dirty="0" err="1" smtClean="0">
                <a:solidFill>
                  <a:schemeClr val="tx1"/>
                </a:solidFill>
                <a:latin typeface="+mn-lt"/>
                <a:ea typeface="+mn-ea"/>
                <a:cs typeface="+mn-cs"/>
              </a:rPr>
              <a:t>batch_size</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1 - Это уже SGD — шумно, быстро</a:t>
            </a:r>
          </a:p>
          <a:p>
            <a:r>
              <a:rPr lang="ru-RU" sz="1200" b="0" i="0" kern="1200" dirty="0" smtClean="0">
                <a:solidFill>
                  <a:schemeClr val="tx1"/>
                </a:solidFill>
                <a:latin typeface="+mn-lt"/>
                <a:ea typeface="+mn-ea"/>
                <a:cs typeface="+mn-cs"/>
              </a:rPr>
              <a:t>16–32 Хорошо для маленьких моделей, шумно, но быстро</a:t>
            </a:r>
          </a:p>
          <a:p>
            <a:r>
              <a:rPr lang="ru-RU" sz="1200" b="0" i="0" kern="1200" dirty="0" smtClean="0">
                <a:solidFill>
                  <a:schemeClr val="tx1"/>
                </a:solidFill>
                <a:latin typeface="+mn-lt"/>
                <a:ea typeface="+mn-ea"/>
                <a:cs typeface="+mn-cs"/>
              </a:rPr>
              <a:t>64–128 Часто используется на практике</a:t>
            </a:r>
          </a:p>
          <a:p>
            <a:r>
              <a:rPr lang="ru-RU" sz="1200" b="0" i="0" kern="1200" dirty="0" smtClean="0">
                <a:solidFill>
                  <a:schemeClr val="tx1"/>
                </a:solidFill>
                <a:latin typeface="+mn-lt"/>
                <a:ea typeface="+mn-ea"/>
                <a:cs typeface="+mn-cs"/>
              </a:rPr>
              <a:t>256–512 Стабильнее, но медленнее на шаг</a:t>
            </a:r>
          </a:p>
          <a:p>
            <a:r>
              <a:rPr lang="ru-RU" sz="1200" b="0" i="0" kern="1200" dirty="0" smtClean="0">
                <a:solidFill>
                  <a:schemeClr val="tx1"/>
                </a:solidFill>
                <a:latin typeface="+mn-lt"/>
                <a:ea typeface="+mn-ea"/>
                <a:cs typeface="+mn-cs"/>
              </a:rPr>
              <a:t>= весь </a:t>
            </a:r>
            <a:r>
              <a:rPr lang="ru-RU" sz="1200" b="0" i="0" kern="1200" dirty="0" err="1" smtClean="0">
                <a:solidFill>
                  <a:schemeClr val="tx1"/>
                </a:solidFill>
                <a:latin typeface="+mn-lt"/>
                <a:ea typeface="+mn-ea"/>
                <a:cs typeface="+mn-cs"/>
              </a:rPr>
              <a:t>датасет</a:t>
            </a:r>
            <a:r>
              <a:rPr lang="ru-RU" sz="1200" b="0" i="0" kern="1200" dirty="0" smtClean="0">
                <a:solidFill>
                  <a:schemeClr val="tx1"/>
                </a:solidFill>
                <a:latin typeface="+mn-lt"/>
                <a:ea typeface="+mn-ea"/>
                <a:cs typeface="+mn-cs"/>
              </a:rPr>
              <a:t> Это уже </a:t>
            </a:r>
            <a:r>
              <a:rPr lang="ru-RU" sz="1200" b="0" i="0" kern="1200" dirty="0" err="1" smtClean="0">
                <a:solidFill>
                  <a:schemeClr val="tx1"/>
                </a:solidFill>
                <a:latin typeface="+mn-lt"/>
                <a:ea typeface="+mn-ea"/>
                <a:cs typeface="+mn-cs"/>
              </a:rPr>
              <a:t>Batch</a:t>
            </a:r>
            <a:r>
              <a:rPr lang="ru-RU" sz="1200" b="0" i="0" kern="1200" dirty="0" smtClean="0">
                <a:solidFill>
                  <a:schemeClr val="tx1"/>
                </a:solidFill>
                <a:latin typeface="+mn-lt"/>
                <a:ea typeface="+mn-ea"/>
                <a:cs typeface="+mn-cs"/>
              </a:rPr>
              <a:t> GD</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«Правило»: начать с 32 или 64 и посмотреть на кривую </a:t>
            </a:r>
            <a:r>
              <a:rPr lang="ru-RU" sz="1200" b="0" i="0" kern="1200" dirty="0" err="1" smtClean="0">
                <a:solidFill>
                  <a:schemeClr val="tx1"/>
                </a:solidFill>
                <a:latin typeface="+mn-lt"/>
                <a:ea typeface="+mn-ea"/>
                <a:cs typeface="+mn-cs"/>
              </a:rPr>
              <a:t>loss</a:t>
            </a:r>
            <a:r>
              <a:rPr lang="ru-RU" sz="1200" b="0" i="0" kern="1200" dirty="0" smtClean="0">
                <a:solidFill>
                  <a:schemeClr val="tx1"/>
                </a:solidFill>
                <a:latin typeface="+mn-lt"/>
                <a:ea typeface="+mn-ea"/>
                <a:cs typeface="+mn-cs"/>
              </a:rPr>
              <a:t>. Если шумно — увеличить. Если медленно — уменьшить.</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Когда использовать</a:t>
            </a:r>
          </a:p>
          <a:p>
            <a:r>
              <a:rPr lang="ru-RU" sz="1200" b="0" i="0" kern="1200" dirty="0" smtClean="0">
                <a:solidFill>
                  <a:schemeClr val="tx1"/>
                </a:solidFill>
                <a:latin typeface="+mn-lt"/>
                <a:ea typeface="+mn-ea"/>
                <a:cs typeface="+mn-cs"/>
              </a:rPr>
              <a:t>Практически всегда — это стандарт индустрии.</a:t>
            </a:r>
          </a:p>
          <a:p>
            <a:r>
              <a:rPr lang="ru-RU" sz="1200" b="0" i="0" kern="1200" dirty="0" smtClean="0">
                <a:solidFill>
                  <a:schemeClr val="tx1"/>
                </a:solidFill>
                <a:latin typeface="+mn-lt"/>
                <a:ea typeface="+mn-ea"/>
                <a:cs typeface="+mn-cs"/>
              </a:rPr>
              <a:t>В </a:t>
            </a:r>
            <a:r>
              <a:rPr lang="ru-RU" sz="1200" b="0" i="0" kern="1200" dirty="0" err="1" smtClean="0">
                <a:solidFill>
                  <a:schemeClr val="tx1"/>
                </a:solidFill>
                <a:latin typeface="+mn-lt"/>
                <a:ea typeface="+mn-ea"/>
                <a:cs typeface="+mn-cs"/>
              </a:rPr>
              <a:t>Keras</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PyTorch</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TensorFlow</a:t>
            </a:r>
            <a:r>
              <a:rPr lang="ru-RU" sz="1200" b="0" i="0" kern="1200" dirty="0" smtClean="0">
                <a:solidFill>
                  <a:schemeClr val="tx1"/>
                </a:solidFill>
                <a:latin typeface="+mn-lt"/>
                <a:ea typeface="+mn-ea"/>
                <a:cs typeface="+mn-cs"/>
              </a:rPr>
              <a:t> — это метод по умолчанию, вы просто пишете batch_size=32.</a:t>
            </a:r>
          </a:p>
          <a:p>
            <a:endParaRPr lang="ru-RU" sz="1200" b="0" i="0" kern="1200" dirty="0" smtClean="0">
              <a:solidFill>
                <a:schemeClr val="tx1"/>
              </a:solidFill>
              <a:latin typeface="+mn-lt"/>
              <a:ea typeface="+mn-ea"/>
              <a:cs typeface="+mn-cs"/>
            </a:endParaRPr>
          </a:p>
          <a:p>
            <a:r>
              <a:rPr lang="ru-RU" sz="1200" b="0" i="0" kern="1200" dirty="0" err="1" smtClean="0">
                <a:solidFill>
                  <a:schemeClr val="tx1"/>
                </a:solidFill>
                <a:latin typeface="+mn-lt"/>
                <a:ea typeface="+mn-ea"/>
                <a:cs typeface="+mn-cs"/>
              </a:rPr>
              <a:t>Mini-batch</a:t>
            </a:r>
            <a:r>
              <a:rPr lang="ru-RU" sz="1200" b="0" i="0" kern="1200" dirty="0" smtClean="0">
                <a:solidFill>
                  <a:schemeClr val="tx1"/>
                </a:solidFill>
                <a:latin typeface="+mn-lt"/>
                <a:ea typeface="+mn-ea"/>
                <a:cs typeface="+mn-cs"/>
              </a:rPr>
              <a:t> — это золотая середина. Он берёт лучшее от </a:t>
            </a:r>
            <a:r>
              <a:rPr lang="ru-RU" sz="1200" b="0" i="0" kern="1200" dirty="0" err="1" smtClean="0">
                <a:solidFill>
                  <a:schemeClr val="tx1"/>
                </a:solidFill>
                <a:latin typeface="+mn-lt"/>
                <a:ea typeface="+mn-ea"/>
                <a:cs typeface="+mn-cs"/>
              </a:rPr>
              <a:t>Batch</a:t>
            </a:r>
            <a:r>
              <a:rPr lang="ru-RU" sz="1200" b="0" i="0" kern="1200" dirty="0" smtClean="0">
                <a:solidFill>
                  <a:schemeClr val="tx1"/>
                </a:solidFill>
                <a:latin typeface="+mn-lt"/>
                <a:ea typeface="+mn-ea"/>
                <a:cs typeface="+mn-cs"/>
              </a:rPr>
              <a:t> GD (стабильность) и от SGD (скорость и количество обновлений). Вы не ждёте, пока прогоните весь </a:t>
            </a:r>
            <a:r>
              <a:rPr lang="ru-RU" sz="1200" b="0" i="0" kern="1200" dirty="0" err="1" smtClean="0">
                <a:solidFill>
                  <a:schemeClr val="tx1"/>
                </a:solidFill>
                <a:latin typeface="+mn-lt"/>
                <a:ea typeface="+mn-ea"/>
                <a:cs typeface="+mn-cs"/>
              </a:rPr>
              <a:t>датасет</a:t>
            </a:r>
            <a:r>
              <a:rPr lang="ru-RU" sz="1200" b="0" i="0" kern="1200" dirty="0" smtClean="0">
                <a:solidFill>
                  <a:schemeClr val="tx1"/>
                </a:solidFill>
                <a:latin typeface="+mn-lt"/>
                <a:ea typeface="+mn-ea"/>
                <a:cs typeface="+mn-cs"/>
              </a:rPr>
              <a:t>, но и не обновляете веса на каждом отдельном объекте. Вместо этого берёте порцию из 32–128 объектов, обновляете веса, берёте следующую — и так до конца эпохи. Итог: сотни обновлений за эпоху, приемлемая стабильность.</a:t>
            </a:r>
          </a:p>
          <a:p>
            <a:endParaRPr lang="ru-RU" sz="1200" b="0" i="0" kern="1200" dirty="0" smtClean="0">
              <a:solidFill>
                <a:schemeClr val="tx1"/>
              </a:solidFill>
              <a:latin typeface="+mn-lt"/>
              <a:ea typeface="+mn-ea"/>
              <a:cs typeface="+mn-cs"/>
            </a:endParaRPr>
          </a:p>
          <a:p>
            <a:r>
              <a:rPr lang="ru-RU" b="0" dirty="0" smtClean="0"/>
              <a:t/>
            </a:r>
            <a:br>
              <a:rPr lang="ru-RU" b="0" dirty="0" smtClean="0"/>
            </a:br>
            <a:endParaRPr lang="ru-RU" b="0" dirty="0"/>
          </a:p>
        </p:txBody>
      </p:sp>
      <p:sp>
        <p:nvSpPr>
          <p:cNvPr id="4" name="Номер слайда 3"/>
          <p:cNvSpPr>
            <a:spLocks noGrp="1"/>
          </p:cNvSpPr>
          <p:nvPr>
            <p:ph type="sldNum" sz="quarter" idx="10"/>
          </p:nvPr>
        </p:nvSpPr>
        <p:spPr/>
        <p:txBody>
          <a:bodyPr/>
          <a:lstStyle/>
          <a:p>
            <a:fld id="{CEBF9C1A-0A84-4F0C-9C04-72BCEF6B8C2A}" type="slidenum">
              <a:rPr lang="ru-RU" smtClean="0"/>
              <a:pPr/>
              <a:t>24</a:t>
            </a:fld>
            <a:endParaRPr lang="ru-RU"/>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lnSpcReduction="10000"/>
          </a:bodyPr>
          <a:lstStyle/>
          <a:p>
            <a:r>
              <a:rPr lang="ru-RU" sz="1200" b="0" i="0" kern="1200" dirty="0" err="1" smtClean="0">
                <a:solidFill>
                  <a:schemeClr val="tx1"/>
                </a:solidFill>
                <a:latin typeface="+mn-lt"/>
                <a:ea typeface="+mn-ea"/>
                <a:cs typeface="+mn-cs"/>
              </a:rPr>
              <a:t>Adam</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Adaptive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Moment</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Estimation</a:t>
            </a:r>
            <a:r>
              <a:rPr lang="ru-RU" sz="1200" b="0" i="0" kern="1200" dirty="0" smtClean="0">
                <a:solidFill>
                  <a:schemeClr val="tx1"/>
                </a:solidFill>
                <a:latin typeface="+mn-lt"/>
                <a:ea typeface="+mn-ea"/>
                <a:cs typeface="+mn-cs"/>
              </a:rPr>
              <a:t>) — оптимизатор, который на каждом шаге сам решает, насколько сильно обновлять каждый вес отдельно.</a:t>
            </a:r>
          </a:p>
          <a:p>
            <a:r>
              <a:rPr lang="ru-RU" sz="1200" b="0" i="0" kern="1200" dirty="0" smtClean="0">
                <a:solidFill>
                  <a:schemeClr val="tx1"/>
                </a:solidFill>
                <a:latin typeface="+mn-lt"/>
                <a:ea typeface="+mn-ea"/>
                <a:cs typeface="+mn-cs"/>
              </a:rPr>
              <a:t>Не один общий </a:t>
            </a:r>
            <a:r>
              <a:rPr lang="ru-RU" sz="1200" b="0" i="0" kern="1200" dirty="0" err="1" smtClean="0">
                <a:solidFill>
                  <a:schemeClr val="tx1"/>
                </a:solidFill>
                <a:latin typeface="+mn-lt"/>
                <a:ea typeface="+mn-ea"/>
                <a:cs typeface="+mn-cs"/>
              </a:rPr>
              <a:t>learning</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rate</a:t>
            </a:r>
            <a:r>
              <a:rPr lang="ru-RU" sz="1200" b="0" i="0" kern="1200" dirty="0" smtClean="0">
                <a:solidFill>
                  <a:schemeClr val="tx1"/>
                </a:solidFill>
                <a:latin typeface="+mn-lt"/>
                <a:ea typeface="+mn-ea"/>
                <a:cs typeface="+mn-cs"/>
              </a:rPr>
              <a:t> для всех весов, а свой эффективный шаг для каждого.</a:t>
            </a:r>
          </a:p>
          <a:p>
            <a:r>
              <a:rPr lang="ru-RU" sz="1200" b="0" i="0" kern="1200" dirty="0" smtClean="0">
                <a:solidFill>
                  <a:schemeClr val="tx1"/>
                </a:solidFill>
                <a:latin typeface="+mn-lt"/>
                <a:ea typeface="+mn-ea"/>
                <a:cs typeface="+mn-cs"/>
              </a:rPr>
              <a:t>Название расшифровывается как </a:t>
            </a:r>
            <a:r>
              <a:rPr lang="ru-RU" sz="1200" b="0" i="0" kern="1200" dirty="0" err="1" smtClean="0">
                <a:solidFill>
                  <a:schemeClr val="tx1"/>
                </a:solidFill>
                <a:latin typeface="+mn-lt"/>
                <a:ea typeface="+mn-ea"/>
                <a:cs typeface="+mn-cs"/>
              </a:rPr>
              <a:t>Adaptive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Moment</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Estimation</a:t>
            </a:r>
            <a:r>
              <a:rPr lang="ru-RU" sz="1200" b="0" i="0" kern="1200" dirty="0" smtClean="0">
                <a:solidFill>
                  <a:schemeClr val="tx1"/>
                </a:solidFill>
                <a:latin typeface="+mn-lt"/>
                <a:ea typeface="+mn-ea"/>
                <a:cs typeface="+mn-cs"/>
              </a:rPr>
              <a:t> — «адаптивная оценка моментов». Слово «моменты» здесь не случайно: </a:t>
            </a:r>
            <a:r>
              <a:rPr lang="ru-RU" sz="1200" b="0" i="0" kern="1200" dirty="0" err="1" smtClean="0">
                <a:solidFill>
                  <a:schemeClr val="tx1"/>
                </a:solidFill>
                <a:latin typeface="+mn-lt"/>
                <a:ea typeface="+mn-ea"/>
                <a:cs typeface="+mn-cs"/>
              </a:rPr>
              <a:t>Adam</a:t>
            </a:r>
            <a:r>
              <a:rPr lang="ru-RU" sz="1200" b="0" i="0" kern="1200" dirty="0" smtClean="0">
                <a:solidFill>
                  <a:schemeClr val="tx1"/>
                </a:solidFill>
                <a:latin typeface="+mn-lt"/>
                <a:ea typeface="+mn-ea"/>
                <a:cs typeface="+mn-cs"/>
              </a:rPr>
              <a:t> хранит две статистики о градиентах, которые называются первым и вторым моментом.</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Для каждого веса </a:t>
            </a:r>
            <a:r>
              <a:rPr lang="ru-RU" sz="1200" b="0" i="0" kern="1200" dirty="0" err="1" smtClean="0">
                <a:solidFill>
                  <a:schemeClr val="tx1"/>
                </a:solidFill>
                <a:latin typeface="+mn-lt"/>
                <a:ea typeface="+mn-ea"/>
                <a:cs typeface="+mn-cs"/>
              </a:rPr>
              <a:t>Adam</a:t>
            </a:r>
            <a:r>
              <a:rPr lang="ru-RU" sz="1200" b="0" i="0" kern="1200" dirty="0" smtClean="0">
                <a:solidFill>
                  <a:schemeClr val="tx1"/>
                </a:solidFill>
                <a:latin typeface="+mn-lt"/>
                <a:ea typeface="+mn-ea"/>
                <a:cs typeface="+mn-cs"/>
              </a:rPr>
              <a:t> ведёт две накопительные величины:</a:t>
            </a:r>
          </a:p>
          <a:p>
            <a:pPr marL="228600" indent="-228600">
              <a:buAutoNum type="arabicPeriod"/>
            </a:pPr>
            <a:r>
              <a:rPr lang="ru-RU" sz="1200" b="0" kern="1200" dirty="0" smtClean="0">
                <a:solidFill>
                  <a:schemeClr val="tx1"/>
                </a:solidFill>
                <a:latin typeface="+mn-lt"/>
                <a:ea typeface="+mn-ea"/>
                <a:cs typeface="+mn-cs"/>
              </a:rPr>
              <a:t>Первый момент — </a:t>
            </a:r>
            <a:r>
              <a:rPr lang="ru-RU" sz="1200" b="0" kern="1200" dirty="0" err="1" smtClean="0">
                <a:solidFill>
                  <a:schemeClr val="tx1"/>
                </a:solidFill>
                <a:latin typeface="+mn-lt"/>
                <a:ea typeface="+mn-ea"/>
                <a:cs typeface="+mn-cs"/>
              </a:rPr>
              <a:t>m</a:t>
            </a:r>
            <a:r>
              <a:rPr lang="ru-RU" sz="1200" b="0" kern="1200" dirty="0" smtClean="0">
                <a:solidFill>
                  <a:schemeClr val="tx1"/>
                </a:solidFill>
                <a:latin typeface="+mn-lt"/>
                <a:ea typeface="+mn-ea"/>
                <a:cs typeface="+mn-cs"/>
              </a:rPr>
              <a:t> (направление, «импульс»)</a:t>
            </a:r>
          </a:p>
          <a:p>
            <a:r>
              <a:rPr lang="ru-RU" sz="1200" b="0" i="0" kern="1200" dirty="0" smtClean="0">
                <a:solidFill>
                  <a:schemeClr val="tx1"/>
                </a:solidFill>
                <a:latin typeface="+mn-lt"/>
                <a:ea typeface="+mn-ea"/>
                <a:cs typeface="+mn-cs"/>
              </a:rPr>
              <a:t>Показывает: «куда в среднем указывает градиент этого веса».</a:t>
            </a:r>
          </a:p>
          <a:p>
            <a:r>
              <a:rPr lang="ru-RU" sz="1200" b="0" i="0" kern="1200" dirty="0" smtClean="0">
                <a:solidFill>
                  <a:schemeClr val="tx1"/>
                </a:solidFill>
                <a:latin typeface="+mn-lt"/>
                <a:ea typeface="+mn-ea"/>
                <a:cs typeface="+mn-cs"/>
              </a:rPr>
              <a:t>Новый градиент обычно добавляется к </a:t>
            </a:r>
            <a:r>
              <a:rPr lang="ru-RU" sz="1200" b="0" i="0" kern="1200" dirty="0" err="1" smtClean="0">
                <a:solidFill>
                  <a:schemeClr val="tx1"/>
                </a:solidFill>
                <a:latin typeface="+mn-lt"/>
                <a:ea typeface="+mn-ea"/>
                <a:cs typeface="+mn-cs"/>
              </a:rPr>
              <a:t>m</a:t>
            </a:r>
            <a:r>
              <a:rPr lang="ru-RU" sz="1200" b="0" i="0" kern="1200" dirty="0" smtClean="0">
                <a:solidFill>
                  <a:schemeClr val="tx1"/>
                </a:solidFill>
                <a:latin typeface="+mn-lt"/>
                <a:ea typeface="+mn-ea"/>
                <a:cs typeface="+mn-cs"/>
              </a:rPr>
              <a:t> с весом 10%, а старое значение сохраняется на 90%.</a:t>
            </a:r>
          </a:p>
          <a:p>
            <a:r>
              <a:rPr lang="ru-RU" sz="1200" b="0" i="0" kern="1200" dirty="0" smtClean="0">
                <a:solidFill>
                  <a:schemeClr val="tx1"/>
                </a:solidFill>
                <a:latin typeface="+mn-lt"/>
                <a:ea typeface="+mn-ea"/>
                <a:cs typeface="+mn-cs"/>
              </a:rPr>
              <a:t>Именно это называется идеей импульса (</a:t>
            </a:r>
            <a:r>
              <a:rPr lang="ru-RU" sz="1200" b="0" i="0" kern="1200" dirty="0" err="1" smtClean="0">
                <a:solidFill>
                  <a:schemeClr val="tx1"/>
                </a:solidFill>
                <a:latin typeface="+mn-lt"/>
                <a:ea typeface="+mn-ea"/>
                <a:cs typeface="+mn-cs"/>
              </a:rPr>
              <a:t>momentum</a:t>
            </a:r>
            <a:r>
              <a:rPr lang="ru-RU" sz="1200" b="0" i="0" kern="1200" dirty="0" smtClean="0">
                <a:solidFill>
                  <a:schemeClr val="tx1"/>
                </a:solidFill>
                <a:latin typeface="+mn-lt"/>
                <a:ea typeface="+mn-ea"/>
                <a:cs typeface="+mn-cs"/>
              </a:rPr>
              <a:t>). Если градиенты несколько шагов подряд указывали в одну сторону — </a:t>
            </a:r>
            <a:r>
              <a:rPr lang="ru-RU" sz="1200" b="0" i="0" kern="1200" dirty="0" err="1" smtClean="0">
                <a:solidFill>
                  <a:schemeClr val="tx1"/>
                </a:solidFill>
                <a:latin typeface="+mn-lt"/>
                <a:ea typeface="+mn-ea"/>
                <a:cs typeface="+mn-cs"/>
              </a:rPr>
              <a:t>m</a:t>
            </a:r>
            <a:r>
              <a:rPr lang="ru-RU" sz="1200" b="0" i="0" kern="1200" dirty="0" smtClean="0">
                <a:solidFill>
                  <a:schemeClr val="tx1"/>
                </a:solidFill>
                <a:latin typeface="+mn-lt"/>
                <a:ea typeface="+mn-ea"/>
                <a:cs typeface="+mn-cs"/>
              </a:rPr>
              <a:t> накапливается, и мы ускоряемся. Если направление меняется — </a:t>
            </a:r>
            <a:r>
              <a:rPr lang="ru-RU" sz="1200" b="0" i="0" kern="1200" dirty="0" err="1" smtClean="0">
                <a:solidFill>
                  <a:schemeClr val="tx1"/>
                </a:solidFill>
                <a:latin typeface="+mn-lt"/>
                <a:ea typeface="+mn-ea"/>
                <a:cs typeface="+mn-cs"/>
              </a:rPr>
              <a:t>m</a:t>
            </a:r>
            <a:r>
              <a:rPr lang="ru-RU" sz="1200" b="0" i="0" kern="1200" dirty="0" smtClean="0">
                <a:solidFill>
                  <a:schemeClr val="tx1"/>
                </a:solidFill>
                <a:latin typeface="+mn-lt"/>
                <a:ea typeface="+mn-ea"/>
                <a:cs typeface="+mn-cs"/>
              </a:rPr>
              <a:t> сглаживает колебания.</a:t>
            </a:r>
          </a:p>
          <a:p>
            <a:r>
              <a:rPr lang="ru-RU" sz="1200" b="0" kern="1200" dirty="0" smtClean="0">
                <a:solidFill>
                  <a:schemeClr val="tx1"/>
                </a:solidFill>
                <a:latin typeface="+mn-lt"/>
                <a:ea typeface="+mn-ea"/>
                <a:cs typeface="+mn-cs"/>
              </a:rPr>
              <a:t>2. Второй момент — </a:t>
            </a:r>
            <a:r>
              <a:rPr lang="ru-RU" sz="1200" b="0" kern="1200" dirty="0" err="1" smtClean="0">
                <a:solidFill>
                  <a:schemeClr val="tx1"/>
                </a:solidFill>
                <a:latin typeface="+mn-lt"/>
                <a:ea typeface="+mn-ea"/>
                <a:cs typeface="+mn-cs"/>
              </a:rPr>
              <a:t>v</a:t>
            </a:r>
            <a:r>
              <a:rPr lang="ru-RU" sz="1200" b="0" kern="1200" dirty="0" smtClean="0">
                <a:solidFill>
                  <a:schemeClr val="tx1"/>
                </a:solidFill>
                <a:latin typeface="+mn-lt"/>
                <a:ea typeface="+mn-ea"/>
                <a:cs typeface="+mn-cs"/>
              </a:rPr>
              <a:t> (масштаб, «адаптивность»)</a:t>
            </a:r>
          </a:p>
          <a:p>
            <a:r>
              <a:rPr lang="ru-RU" sz="1200" b="0" i="0" kern="1200" dirty="0" smtClean="0">
                <a:solidFill>
                  <a:schemeClr val="tx1"/>
                </a:solidFill>
                <a:latin typeface="+mn-lt"/>
                <a:ea typeface="+mn-ea"/>
                <a:cs typeface="+mn-cs"/>
              </a:rPr>
              <a:t>Показывает: «насколько большим и шумным был градиент этого веса».</a:t>
            </a:r>
          </a:p>
          <a:p>
            <a:r>
              <a:rPr lang="ru-RU" sz="1200" b="0" i="0" kern="1200" dirty="0" smtClean="0">
                <a:solidFill>
                  <a:schemeClr val="tx1"/>
                </a:solidFill>
                <a:latin typeface="+mn-lt"/>
                <a:ea typeface="+mn-ea"/>
                <a:cs typeface="+mn-cs"/>
              </a:rPr>
              <a:t>Это</a:t>
            </a:r>
            <a:r>
              <a:rPr lang="ru-RU" sz="1200" b="0" i="0" kern="1200" baseline="0" dirty="0" smtClean="0">
                <a:solidFill>
                  <a:schemeClr val="tx1"/>
                </a:solidFill>
                <a:latin typeface="+mn-lt"/>
                <a:ea typeface="+mn-ea"/>
                <a:cs typeface="+mn-cs"/>
              </a:rPr>
              <a:t> д</a:t>
            </a:r>
            <a:r>
              <a:rPr lang="ru-RU" sz="1200" b="0" i="0" kern="1200" dirty="0" smtClean="0">
                <a:solidFill>
                  <a:schemeClr val="tx1"/>
                </a:solidFill>
                <a:latin typeface="+mn-lt"/>
                <a:ea typeface="+mn-ea"/>
                <a:cs typeface="+mn-cs"/>
              </a:rPr>
              <a:t>аёт адаптивность. Если градиент по весу был большим, </a:t>
            </a:r>
            <a:r>
              <a:rPr lang="ru-RU" sz="1200" b="0" i="0" kern="1200" dirty="0" err="1" smtClean="0">
                <a:solidFill>
                  <a:schemeClr val="tx1"/>
                </a:solidFill>
                <a:latin typeface="+mn-lt"/>
                <a:ea typeface="+mn-ea"/>
                <a:cs typeface="+mn-cs"/>
              </a:rPr>
              <a:t>v</a:t>
            </a:r>
            <a:r>
              <a:rPr lang="ru-RU" sz="1200" b="0" i="0" kern="1200" dirty="0" smtClean="0">
                <a:solidFill>
                  <a:schemeClr val="tx1"/>
                </a:solidFill>
                <a:latin typeface="+mn-lt"/>
                <a:ea typeface="+mn-ea"/>
                <a:cs typeface="+mn-cs"/>
              </a:rPr>
              <a:t> растёт. Если маленьким — </a:t>
            </a:r>
            <a:r>
              <a:rPr lang="ru-RU" sz="1200" b="0" i="0" kern="1200" dirty="0" err="1" smtClean="0">
                <a:solidFill>
                  <a:schemeClr val="tx1"/>
                </a:solidFill>
                <a:latin typeface="+mn-lt"/>
                <a:ea typeface="+mn-ea"/>
                <a:cs typeface="+mn-cs"/>
              </a:rPr>
              <a:t>v</a:t>
            </a:r>
            <a:r>
              <a:rPr lang="ru-RU" sz="1200" b="0" i="0" kern="1200" dirty="0" smtClean="0">
                <a:solidFill>
                  <a:schemeClr val="tx1"/>
                </a:solidFill>
                <a:latin typeface="+mn-lt"/>
                <a:ea typeface="+mn-ea"/>
                <a:cs typeface="+mn-cs"/>
              </a:rPr>
              <a:t> остаётся маленьким.</a:t>
            </a:r>
          </a:p>
          <a:p>
            <a:endParaRPr lang="ru-RU" b="0" dirty="0" smtClean="0"/>
          </a:p>
          <a:p>
            <a:r>
              <a:rPr lang="ru-RU" sz="1200" b="0" kern="1200" dirty="0" smtClean="0">
                <a:solidFill>
                  <a:schemeClr val="tx1"/>
                </a:solidFill>
                <a:latin typeface="+mn-lt"/>
                <a:ea typeface="+mn-ea"/>
                <a:cs typeface="+mn-cs"/>
              </a:rPr>
              <a:t>Идея импульса (</a:t>
            </a:r>
            <a:r>
              <a:rPr lang="ru-RU" sz="1200" b="0" kern="1200" dirty="0" err="1" smtClean="0">
                <a:solidFill>
                  <a:schemeClr val="tx1"/>
                </a:solidFill>
                <a:latin typeface="+mn-lt"/>
                <a:ea typeface="+mn-ea"/>
                <a:cs typeface="+mn-cs"/>
              </a:rPr>
              <a:t>momentum</a:t>
            </a:r>
            <a:r>
              <a:rPr lang="ru-RU" sz="1200" b="0" kern="1200" dirty="0" smtClean="0">
                <a:solidFill>
                  <a:schemeClr val="tx1"/>
                </a:solidFill>
                <a:latin typeface="+mn-lt"/>
                <a:ea typeface="+mn-ea"/>
                <a:cs typeface="+mn-cs"/>
              </a:rPr>
              <a:t>) подробнее</a:t>
            </a:r>
          </a:p>
          <a:p>
            <a:r>
              <a:rPr lang="ru-RU" sz="1200" b="0" i="0" kern="1200" dirty="0" smtClean="0">
                <a:solidFill>
                  <a:schemeClr val="tx1"/>
                </a:solidFill>
                <a:latin typeface="+mn-lt"/>
                <a:ea typeface="+mn-ea"/>
                <a:cs typeface="+mn-cs"/>
              </a:rPr>
              <a:t>Импульс — это аналогия с шаром, катящимся с горы.</a:t>
            </a:r>
          </a:p>
          <a:p>
            <a:r>
              <a:rPr lang="ru-RU" sz="1200" b="0" i="0" kern="1200" dirty="0" smtClean="0">
                <a:solidFill>
                  <a:schemeClr val="tx1"/>
                </a:solidFill>
                <a:latin typeface="+mn-lt"/>
                <a:ea typeface="+mn-ea"/>
                <a:cs typeface="+mn-cs"/>
              </a:rPr>
              <a:t>Без импульса: шар останавливается на каждом шаге и ждёт, куда указал градиент. Если градиент шумный — шар дёргается в разные стороны.</a:t>
            </a:r>
          </a:p>
          <a:p>
            <a:r>
              <a:rPr lang="ru-RU" sz="1200" b="0" i="0" kern="1200" dirty="0" smtClean="0">
                <a:solidFill>
                  <a:schemeClr val="tx1"/>
                </a:solidFill>
                <a:latin typeface="+mn-lt"/>
                <a:ea typeface="+mn-ea"/>
                <a:cs typeface="+mn-cs"/>
              </a:rPr>
              <a:t>С импульсом: шар набирает скорость. Если несколько шагов подряд направление совпадает — он ускоряется. Если направление меняется — инерция сглаживает рывок.</a:t>
            </a:r>
          </a:p>
          <a:p>
            <a:endParaRPr lang="ru-RU" b="0" dirty="0"/>
          </a:p>
        </p:txBody>
      </p:sp>
      <p:sp>
        <p:nvSpPr>
          <p:cNvPr id="4" name="Номер слайда 3"/>
          <p:cNvSpPr>
            <a:spLocks noGrp="1"/>
          </p:cNvSpPr>
          <p:nvPr>
            <p:ph type="sldNum" sz="quarter" idx="10"/>
          </p:nvPr>
        </p:nvSpPr>
        <p:spPr/>
        <p:txBody>
          <a:bodyPr/>
          <a:lstStyle/>
          <a:p>
            <a:fld id="{CEBF9C1A-0A84-4F0C-9C04-72BCEF6B8C2A}" type="slidenum">
              <a:rPr lang="ru-RU" smtClean="0"/>
              <a:pPr/>
              <a:t>27</a:t>
            </a:fld>
            <a:endParaRPr lang="ru-R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40000" lnSpcReduction="20000"/>
          </a:bodyPr>
          <a:lstStyle/>
          <a:p>
            <a:r>
              <a:rPr lang="ru-RU" sz="1200" b="1" kern="1200" dirty="0" smtClean="0">
                <a:solidFill>
                  <a:schemeClr val="tx1"/>
                </a:solidFill>
                <a:latin typeface="+mn-lt"/>
                <a:ea typeface="+mn-ea"/>
                <a:cs typeface="+mn-cs"/>
              </a:rPr>
              <a:t>Две главные задачи машинного обучения</a:t>
            </a:r>
          </a:p>
          <a:p>
            <a:r>
              <a:rPr lang="ru-RU" sz="1200" b="0" i="0" kern="1200" dirty="0" smtClean="0">
                <a:solidFill>
                  <a:schemeClr val="tx1"/>
                </a:solidFill>
                <a:latin typeface="+mn-lt"/>
                <a:ea typeface="+mn-ea"/>
                <a:cs typeface="+mn-cs"/>
              </a:rPr>
              <a:t>На слайде — две картинки, два графика. Они выглядят похоже: на обоих есть точки данных и линия модели. Но задачи принципиально разные.</a:t>
            </a:r>
          </a:p>
          <a:p>
            <a:r>
              <a:rPr lang="ru-RU" sz="1200" b="0" i="0" kern="1200" dirty="0" smtClean="0">
                <a:solidFill>
                  <a:schemeClr val="tx1"/>
                </a:solidFill>
                <a:latin typeface="+mn-lt"/>
                <a:ea typeface="+mn-ea"/>
                <a:cs typeface="+mn-cs"/>
              </a:rPr>
              <a:t>Слева — классификация. Справа — регрессия.</a:t>
            </a:r>
          </a:p>
          <a:p>
            <a:r>
              <a:rPr lang="ru-RU" sz="1200" b="1" kern="1200" dirty="0" smtClean="0">
                <a:solidFill>
                  <a:schemeClr val="tx1"/>
                </a:solidFill>
                <a:latin typeface="+mn-lt"/>
                <a:ea typeface="+mn-ea"/>
                <a:cs typeface="+mn-cs"/>
              </a:rPr>
              <a:t>Регрессия (правая картинка)</a:t>
            </a:r>
          </a:p>
          <a:p>
            <a:r>
              <a:rPr lang="ru-RU" sz="1200" b="0" i="0" kern="1200" dirty="0" smtClean="0">
                <a:solidFill>
                  <a:schemeClr val="tx1"/>
                </a:solidFill>
                <a:latin typeface="+mn-lt"/>
                <a:ea typeface="+mn-ea"/>
                <a:cs typeface="+mn-cs"/>
              </a:rPr>
              <a:t>Красные точки, через которые проведена прямая линия. По оси X — какой-то признак, по оси Y — целевое значение. Точки лежат примерно вдоль прямой, но с разбросом.</a:t>
            </a:r>
          </a:p>
          <a:p>
            <a:r>
              <a:rPr lang="ru-RU" sz="1200" b="0" i="0" kern="1200" dirty="0" smtClean="0">
                <a:solidFill>
                  <a:schemeClr val="tx1"/>
                </a:solidFill>
                <a:latin typeface="+mn-lt"/>
                <a:ea typeface="+mn-ea"/>
                <a:cs typeface="+mn-cs"/>
              </a:rPr>
              <a:t>Регрессия — это когда мы предсказываем число.</a:t>
            </a:r>
          </a:p>
          <a:p>
            <a:r>
              <a:rPr lang="ru-RU" sz="1200" b="0" i="0" kern="1200" dirty="0" smtClean="0">
                <a:solidFill>
                  <a:schemeClr val="tx1"/>
                </a:solidFill>
                <a:latin typeface="+mn-lt"/>
                <a:ea typeface="+mn-ea"/>
                <a:cs typeface="+mn-cs"/>
              </a:rPr>
              <a:t>Модель ищет прямую (или гиперплоскость), которая лучше всего описывает зависимость между признаками и целевой переменной. То есть отвечает на вопрос: «сколько?»</a:t>
            </a:r>
          </a:p>
          <a:p>
            <a:r>
              <a:rPr lang="ru-RU" sz="1200" b="1" kern="1200" dirty="0" smtClean="0">
                <a:solidFill>
                  <a:schemeClr val="tx1"/>
                </a:solidFill>
                <a:latin typeface="+mn-lt"/>
                <a:ea typeface="+mn-ea"/>
                <a:cs typeface="+mn-cs"/>
              </a:rPr>
              <a:t>Примеры</a:t>
            </a:r>
          </a:p>
          <a:p>
            <a:r>
              <a:rPr lang="ru-RU" sz="1200" b="0" i="0" kern="1200" dirty="0" smtClean="0">
                <a:solidFill>
                  <a:schemeClr val="tx1"/>
                </a:solidFill>
                <a:latin typeface="+mn-lt"/>
                <a:ea typeface="+mn-ea"/>
                <a:cs typeface="+mn-cs"/>
              </a:rPr>
              <a:t>Предсказать цену дома по его характеристикам;</a:t>
            </a:r>
          </a:p>
          <a:p>
            <a:r>
              <a:rPr lang="ru-RU" sz="1200" b="0" i="0" kern="1200" dirty="0" smtClean="0">
                <a:solidFill>
                  <a:schemeClr val="tx1"/>
                </a:solidFill>
                <a:latin typeface="+mn-lt"/>
                <a:ea typeface="+mn-ea"/>
                <a:cs typeface="+mn-cs"/>
              </a:rPr>
              <a:t>Предсказать температуру завтра;</a:t>
            </a:r>
          </a:p>
          <a:p>
            <a:r>
              <a:rPr lang="ru-RU" sz="1200" b="0" i="0" kern="1200" dirty="0" smtClean="0">
                <a:solidFill>
                  <a:schemeClr val="tx1"/>
                </a:solidFill>
                <a:latin typeface="+mn-lt"/>
                <a:ea typeface="+mn-ea"/>
                <a:cs typeface="+mn-cs"/>
              </a:rPr>
              <a:t>Предсказать глубину сцены по яркости пикселя.</a:t>
            </a:r>
          </a:p>
          <a:p>
            <a:endParaRPr lang="ru-RU" sz="1200" b="0" i="0" kern="1200" dirty="0" smtClean="0">
              <a:solidFill>
                <a:schemeClr val="tx1"/>
              </a:solidFill>
              <a:latin typeface="+mn-lt"/>
              <a:ea typeface="+mn-ea"/>
              <a:cs typeface="+mn-cs"/>
            </a:endParaRPr>
          </a:p>
          <a:p>
            <a:r>
              <a:rPr lang="ru-RU" sz="1200" b="0" kern="1200" dirty="0" smtClean="0">
                <a:solidFill>
                  <a:schemeClr val="tx1"/>
                </a:solidFill>
                <a:latin typeface="+mn-lt"/>
                <a:ea typeface="+mn-ea"/>
                <a:cs typeface="+mn-cs"/>
              </a:rPr>
              <a:t>Что на выходе</a:t>
            </a:r>
            <a:r>
              <a:rPr lang="ru-RU" sz="1200" b="0" kern="1200" baseline="0" dirty="0" smtClean="0">
                <a:solidFill>
                  <a:schemeClr val="tx1"/>
                </a:solidFill>
                <a:latin typeface="+mn-lt"/>
                <a:ea typeface="+mn-ea"/>
                <a:cs typeface="+mn-cs"/>
              </a:rPr>
              <a:t> - </a:t>
            </a:r>
            <a:r>
              <a:rPr lang="ru-RU" sz="1200" b="0" i="0" kern="1200" dirty="0" smtClean="0">
                <a:solidFill>
                  <a:schemeClr val="tx1"/>
                </a:solidFill>
                <a:latin typeface="+mn-lt"/>
                <a:ea typeface="+mn-ea"/>
                <a:cs typeface="+mn-cs"/>
              </a:rPr>
              <a:t>Одно число. Модель выдаёт 2.5, 47.3, 0.8 — любое вещественное значение.</a:t>
            </a:r>
          </a:p>
          <a:p>
            <a:r>
              <a:rPr lang="ru-RU" sz="1200" b="0" kern="1200" dirty="0" smtClean="0">
                <a:solidFill>
                  <a:schemeClr val="tx1"/>
                </a:solidFill>
                <a:latin typeface="+mn-lt"/>
                <a:ea typeface="+mn-ea"/>
                <a:cs typeface="+mn-cs"/>
              </a:rPr>
              <a:t>Выходной слой</a:t>
            </a:r>
            <a:r>
              <a:rPr lang="ru-RU" sz="1200" b="0" kern="1200" baseline="0" dirty="0" smtClean="0">
                <a:solidFill>
                  <a:schemeClr val="tx1"/>
                </a:solidFill>
                <a:latin typeface="+mn-lt"/>
                <a:ea typeface="+mn-ea"/>
                <a:cs typeface="+mn-cs"/>
              </a:rPr>
              <a:t> - </a:t>
            </a:r>
            <a:r>
              <a:rPr lang="ru-RU" sz="1200" b="0" i="0" kern="1200" dirty="0" smtClean="0">
                <a:solidFill>
                  <a:schemeClr val="tx1"/>
                </a:solidFill>
                <a:latin typeface="+mn-lt"/>
                <a:ea typeface="+mn-ea"/>
                <a:cs typeface="+mn-cs"/>
              </a:rPr>
              <a:t>Один нейрон с линейной активацией:</a:t>
            </a:r>
            <a:r>
              <a:rPr lang="ru-RU" sz="1200" b="0" i="0" kern="1200" baseline="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Dense</a:t>
            </a:r>
            <a:r>
              <a:rPr lang="ru-RU" sz="1200" b="0" i="0" kern="1200" dirty="0" smtClean="0">
                <a:solidFill>
                  <a:schemeClr val="tx1"/>
                </a:solidFill>
                <a:latin typeface="+mn-lt"/>
                <a:ea typeface="+mn-ea"/>
                <a:cs typeface="+mn-cs"/>
              </a:rPr>
              <a:t>(1, </a:t>
            </a:r>
            <a:r>
              <a:rPr lang="ru-RU" sz="1200" b="0" i="0" kern="1200" dirty="0" err="1" smtClean="0">
                <a:solidFill>
                  <a:schemeClr val="tx1"/>
                </a:solidFill>
                <a:latin typeface="+mn-lt"/>
                <a:ea typeface="+mn-ea"/>
                <a:cs typeface="+mn-cs"/>
              </a:rPr>
              <a:t>activation='linear</a:t>
            </a:r>
            <a:r>
              <a:rPr lang="ru-RU" sz="1200" b="0" i="0" kern="1200" dirty="0" smtClean="0">
                <a:solidFill>
                  <a:schemeClr val="tx1"/>
                </a:solidFill>
                <a:latin typeface="+mn-lt"/>
                <a:ea typeface="+mn-ea"/>
                <a:cs typeface="+mn-cs"/>
              </a:rPr>
              <a:t>')</a:t>
            </a:r>
          </a:p>
          <a:p>
            <a:r>
              <a:rPr lang="ru-RU" sz="1200" b="0" i="0" kern="1200" dirty="0" smtClean="0">
                <a:solidFill>
                  <a:schemeClr val="tx1"/>
                </a:solidFill>
                <a:latin typeface="+mn-lt"/>
                <a:ea typeface="+mn-ea"/>
                <a:cs typeface="+mn-cs"/>
              </a:rPr>
              <a:t>Линейная активация ничего не меняет, поэтому нейрон просто считает </a:t>
            </a:r>
            <a:r>
              <a:rPr lang="ru-RU" sz="1200" b="0" i="0" kern="1200" dirty="0" err="1" smtClean="0">
                <a:solidFill>
                  <a:schemeClr val="tx1"/>
                </a:solidFill>
                <a:latin typeface="+mn-lt"/>
                <a:ea typeface="+mn-ea"/>
                <a:cs typeface="+mn-cs"/>
              </a:rPr>
              <a:t>wx</a:t>
            </a:r>
            <a:r>
              <a:rPr lang="ru-RU" sz="1200" b="0" i="0" kern="1200" dirty="0" smtClean="0">
                <a:solidFill>
                  <a:schemeClr val="tx1"/>
                </a:solidFill>
                <a:latin typeface="+mn-lt"/>
                <a:ea typeface="+mn-ea"/>
                <a:cs typeface="+mn-cs"/>
              </a:rPr>
              <a:t> + </a:t>
            </a:r>
            <a:r>
              <a:rPr lang="ru-RU" sz="1200" b="0" i="0" kern="1200" dirty="0" err="1" smtClean="0">
                <a:solidFill>
                  <a:schemeClr val="tx1"/>
                </a:solidFill>
                <a:latin typeface="+mn-lt"/>
                <a:ea typeface="+mn-ea"/>
                <a:cs typeface="+mn-cs"/>
              </a:rPr>
              <a:t>b</a:t>
            </a:r>
            <a:r>
              <a:rPr lang="ru-RU" sz="1200" b="0" i="0" kern="1200" dirty="0" smtClean="0">
                <a:solidFill>
                  <a:schemeClr val="tx1"/>
                </a:solidFill>
                <a:latin typeface="+mn-lt"/>
                <a:ea typeface="+mn-ea"/>
                <a:cs typeface="+mn-cs"/>
              </a:rPr>
              <a:t> — как в обычной линейной регрессии.</a:t>
            </a:r>
          </a:p>
          <a:p>
            <a:r>
              <a:rPr lang="ru-RU" sz="1200" b="0" kern="1200" dirty="0" smtClean="0">
                <a:solidFill>
                  <a:schemeClr val="tx1"/>
                </a:solidFill>
                <a:latin typeface="+mn-lt"/>
                <a:ea typeface="+mn-ea"/>
                <a:cs typeface="+mn-cs"/>
              </a:rPr>
              <a:t>Функция потерь</a:t>
            </a:r>
            <a:r>
              <a:rPr lang="ru-RU" sz="1200" b="0" kern="1200" baseline="0" dirty="0" smtClean="0">
                <a:solidFill>
                  <a:schemeClr val="tx1"/>
                </a:solidFill>
                <a:latin typeface="+mn-lt"/>
                <a:ea typeface="+mn-ea"/>
                <a:cs typeface="+mn-cs"/>
              </a:rPr>
              <a:t> - </a:t>
            </a:r>
            <a:r>
              <a:rPr lang="ru-RU" sz="1200" b="0" i="0" kern="1200" dirty="0" smtClean="0">
                <a:solidFill>
                  <a:schemeClr val="tx1"/>
                </a:solidFill>
                <a:latin typeface="+mn-lt"/>
                <a:ea typeface="+mn-ea"/>
                <a:cs typeface="+mn-cs"/>
              </a:rPr>
              <a:t>MSE или MAE — измеряют, насколько предсказанное число отличается от реального.</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Классификация (левая картинка)</a:t>
            </a:r>
          </a:p>
          <a:p>
            <a:r>
              <a:rPr lang="ru-RU" sz="1200" b="0" i="0" kern="1200" dirty="0" smtClean="0">
                <a:solidFill>
                  <a:schemeClr val="tx1"/>
                </a:solidFill>
                <a:latin typeface="+mn-lt"/>
                <a:ea typeface="+mn-ea"/>
                <a:cs typeface="+mn-cs"/>
              </a:rPr>
              <a:t>Зелёные и </a:t>
            </a:r>
            <a:r>
              <a:rPr lang="ru-RU" sz="1200" b="0" i="0" kern="1200" dirty="0" err="1" smtClean="0">
                <a:solidFill>
                  <a:schemeClr val="tx1"/>
                </a:solidFill>
                <a:latin typeface="+mn-lt"/>
                <a:ea typeface="+mn-ea"/>
                <a:cs typeface="+mn-cs"/>
              </a:rPr>
              <a:t>голубые</a:t>
            </a:r>
            <a:r>
              <a:rPr lang="ru-RU" sz="1200" b="0" i="0" kern="1200" dirty="0" smtClean="0">
                <a:solidFill>
                  <a:schemeClr val="tx1"/>
                </a:solidFill>
                <a:latin typeface="+mn-lt"/>
                <a:ea typeface="+mn-ea"/>
                <a:cs typeface="+mn-cs"/>
              </a:rPr>
              <a:t> точки, разделённые изогнутой кривой. Кривая —граница решения: она отделяет один класс от другого.</a:t>
            </a:r>
          </a:p>
          <a:p>
            <a:r>
              <a:rPr lang="ru-RU" sz="1200" b="0" i="0" kern="1200" dirty="0" smtClean="0">
                <a:solidFill>
                  <a:schemeClr val="tx1"/>
                </a:solidFill>
                <a:latin typeface="+mn-lt"/>
                <a:ea typeface="+mn-ea"/>
                <a:cs typeface="+mn-cs"/>
              </a:rPr>
              <a:t>Классификация — это когда мы предсказываем класс (категорию), а не число.</a:t>
            </a:r>
          </a:p>
          <a:p>
            <a:r>
              <a:rPr lang="ru-RU" sz="1200" b="0" i="0" kern="1200" dirty="0" smtClean="0">
                <a:solidFill>
                  <a:schemeClr val="tx1"/>
                </a:solidFill>
                <a:latin typeface="+mn-lt"/>
                <a:ea typeface="+mn-ea"/>
                <a:cs typeface="+mn-cs"/>
              </a:rPr>
              <a:t>Модель ищет границу, которая разделяет объекты разных классов. То есть отвечает на вопрос: «к какому классу относится объект?»</a:t>
            </a:r>
          </a:p>
          <a:p>
            <a:r>
              <a:rPr lang="ru-RU" sz="1200" b="0" kern="1200" dirty="0" smtClean="0">
                <a:solidFill>
                  <a:schemeClr val="tx1"/>
                </a:solidFill>
                <a:latin typeface="+mn-lt"/>
                <a:ea typeface="+mn-ea"/>
                <a:cs typeface="+mn-cs"/>
              </a:rPr>
              <a:t>Примеры</a:t>
            </a:r>
          </a:p>
          <a:p>
            <a:r>
              <a:rPr lang="ru-RU" sz="1200" b="0" i="0" kern="1200" dirty="0" smtClean="0">
                <a:solidFill>
                  <a:schemeClr val="tx1"/>
                </a:solidFill>
                <a:latin typeface="+mn-lt"/>
                <a:ea typeface="+mn-ea"/>
                <a:cs typeface="+mn-cs"/>
              </a:rPr>
              <a:t>Кот или собака на фото;</a:t>
            </a:r>
          </a:p>
          <a:p>
            <a:r>
              <a:rPr lang="ru-RU" sz="1200" b="0" i="0" kern="1200" dirty="0" smtClean="0">
                <a:solidFill>
                  <a:schemeClr val="tx1"/>
                </a:solidFill>
                <a:latin typeface="+mn-lt"/>
                <a:ea typeface="+mn-ea"/>
                <a:cs typeface="+mn-cs"/>
              </a:rPr>
              <a:t>Спам или не спам в письме;</a:t>
            </a:r>
          </a:p>
          <a:p>
            <a:r>
              <a:rPr lang="ru-RU" sz="1200" b="0" i="0" kern="1200" dirty="0" smtClean="0">
                <a:solidFill>
                  <a:schemeClr val="tx1"/>
                </a:solidFill>
                <a:latin typeface="+mn-lt"/>
                <a:ea typeface="+mn-ea"/>
                <a:cs typeface="+mn-cs"/>
              </a:rPr>
              <a:t>Милый зверёк или нет)</a:t>
            </a:r>
          </a:p>
          <a:p>
            <a:r>
              <a:rPr lang="ru-RU" sz="1200" b="0" kern="1200" dirty="0" smtClean="0">
                <a:solidFill>
                  <a:schemeClr val="tx1"/>
                </a:solidFill>
                <a:latin typeface="+mn-lt"/>
                <a:ea typeface="+mn-ea"/>
                <a:cs typeface="+mn-cs"/>
              </a:rPr>
              <a:t>Что на выходе</a:t>
            </a:r>
            <a:r>
              <a:rPr lang="ru-RU" sz="1200" b="0" kern="1200" baseline="0" dirty="0" smtClean="0">
                <a:solidFill>
                  <a:schemeClr val="tx1"/>
                </a:solidFill>
                <a:latin typeface="+mn-lt"/>
                <a:ea typeface="+mn-ea"/>
                <a:cs typeface="+mn-cs"/>
              </a:rPr>
              <a:t> - </a:t>
            </a:r>
            <a:r>
              <a:rPr lang="ru-RU" sz="1200" b="0" i="0" kern="1200" dirty="0" smtClean="0">
                <a:solidFill>
                  <a:schemeClr val="tx1"/>
                </a:solidFill>
                <a:latin typeface="+mn-lt"/>
                <a:ea typeface="+mn-ea"/>
                <a:cs typeface="+mn-cs"/>
              </a:rPr>
              <a:t>Вероятность принадлежности к классу — число от 0 до 1.</a:t>
            </a:r>
          </a:p>
          <a:p>
            <a:r>
              <a:rPr lang="ru-RU" sz="1200" b="0" i="0" kern="1200" dirty="0" smtClean="0">
                <a:solidFill>
                  <a:schemeClr val="tx1"/>
                </a:solidFill>
                <a:latin typeface="+mn-lt"/>
                <a:ea typeface="+mn-ea"/>
                <a:cs typeface="+mn-cs"/>
              </a:rPr>
              <a:t>Для бинарной классификации (два класса) — одна вероятность: 0.87 значит «на 87% это класс 1».</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Для </a:t>
            </a:r>
            <a:r>
              <a:rPr lang="ru-RU" sz="1200" b="0" i="0" kern="1200" dirty="0" err="1" smtClean="0">
                <a:solidFill>
                  <a:schemeClr val="tx1"/>
                </a:solidFill>
                <a:latin typeface="+mn-lt"/>
                <a:ea typeface="+mn-ea"/>
                <a:cs typeface="+mn-cs"/>
              </a:rPr>
              <a:t>многоклассовой</a:t>
            </a:r>
            <a:r>
              <a:rPr lang="ru-RU" sz="1200" b="0" i="0" kern="1200" dirty="0" smtClean="0">
                <a:solidFill>
                  <a:schemeClr val="tx1"/>
                </a:solidFill>
                <a:latin typeface="+mn-lt"/>
                <a:ea typeface="+mn-ea"/>
                <a:cs typeface="+mn-cs"/>
              </a:rPr>
              <a:t> (K классов) — вектор из K вероятностей: [0.1, 0.7, 0.2].</a:t>
            </a:r>
          </a:p>
          <a:p>
            <a:r>
              <a:rPr lang="ru-RU" sz="1200" b="0" kern="1200" dirty="0" smtClean="0">
                <a:solidFill>
                  <a:schemeClr val="tx1"/>
                </a:solidFill>
                <a:latin typeface="+mn-lt"/>
                <a:ea typeface="+mn-ea"/>
                <a:cs typeface="+mn-cs"/>
              </a:rPr>
              <a:t>Выходной слой</a:t>
            </a:r>
            <a:r>
              <a:rPr lang="ru-RU" sz="1200" b="0" kern="1200" baseline="0" dirty="0" smtClean="0">
                <a:solidFill>
                  <a:schemeClr val="tx1"/>
                </a:solidFill>
                <a:latin typeface="+mn-lt"/>
                <a:ea typeface="+mn-ea"/>
                <a:cs typeface="+mn-cs"/>
              </a:rPr>
              <a:t> - </a:t>
            </a:r>
            <a:r>
              <a:rPr lang="ru-RU" sz="1200" b="0" i="0" kern="1200" dirty="0" smtClean="0">
                <a:solidFill>
                  <a:schemeClr val="tx1"/>
                </a:solidFill>
                <a:latin typeface="+mn-lt"/>
                <a:ea typeface="+mn-ea"/>
                <a:cs typeface="+mn-cs"/>
              </a:rPr>
              <a:t>Для двух классов — один нейрон с </a:t>
            </a:r>
            <a:r>
              <a:rPr lang="ru-RU" sz="1200" b="0" i="0" kern="1200" dirty="0" err="1" smtClean="0">
                <a:solidFill>
                  <a:schemeClr val="tx1"/>
                </a:solidFill>
                <a:latin typeface="+mn-lt"/>
                <a:ea typeface="+mn-ea"/>
                <a:cs typeface="+mn-cs"/>
              </a:rPr>
              <a:t>sigmoid</a:t>
            </a:r>
            <a:r>
              <a:rPr lang="ru-RU" sz="1200" b="0" i="0" kern="1200" dirty="0" smtClean="0">
                <a:solidFill>
                  <a:schemeClr val="tx1"/>
                </a:solidFill>
                <a:latin typeface="+mn-lt"/>
                <a:ea typeface="+mn-ea"/>
                <a:cs typeface="+mn-cs"/>
              </a:rPr>
              <a:t>:</a:t>
            </a:r>
            <a:r>
              <a:rPr lang="ru-RU" sz="1200" b="0" i="0" kern="1200" baseline="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Dense</a:t>
            </a:r>
            <a:r>
              <a:rPr lang="ru-RU" sz="1200" b="0" i="0" kern="1200" dirty="0" smtClean="0">
                <a:solidFill>
                  <a:schemeClr val="tx1"/>
                </a:solidFill>
                <a:latin typeface="+mn-lt"/>
                <a:ea typeface="+mn-ea"/>
                <a:cs typeface="+mn-cs"/>
              </a:rPr>
              <a:t>(1, </a:t>
            </a:r>
            <a:r>
              <a:rPr lang="ru-RU" sz="1200" b="0" i="0" kern="1200" dirty="0" err="1" smtClean="0">
                <a:solidFill>
                  <a:schemeClr val="tx1"/>
                </a:solidFill>
                <a:latin typeface="+mn-lt"/>
                <a:ea typeface="+mn-ea"/>
                <a:cs typeface="+mn-cs"/>
              </a:rPr>
              <a:t>activation='sigmoid</a:t>
            </a:r>
            <a:r>
              <a:rPr lang="ru-RU" sz="1200" b="0" i="0" kern="1200" dirty="0" smtClean="0">
                <a:solidFill>
                  <a:schemeClr val="tx1"/>
                </a:solidFill>
                <a:latin typeface="+mn-lt"/>
                <a:ea typeface="+mn-ea"/>
                <a:cs typeface="+mn-cs"/>
              </a:rPr>
              <a:t>')</a:t>
            </a:r>
          </a:p>
          <a:p>
            <a:r>
              <a:rPr lang="ru-RU" sz="1200" b="0" i="0" kern="1200" dirty="0" err="1" smtClean="0">
                <a:solidFill>
                  <a:schemeClr val="tx1"/>
                </a:solidFill>
                <a:latin typeface="+mn-lt"/>
                <a:ea typeface="+mn-ea"/>
                <a:cs typeface="+mn-cs"/>
              </a:rPr>
              <a:t>Sigmoid</a:t>
            </a:r>
            <a:r>
              <a:rPr lang="ru-RU" sz="1200" b="0" i="0" kern="1200" dirty="0" smtClean="0">
                <a:solidFill>
                  <a:schemeClr val="tx1"/>
                </a:solidFill>
                <a:latin typeface="+mn-lt"/>
                <a:ea typeface="+mn-ea"/>
                <a:cs typeface="+mn-cs"/>
              </a:rPr>
              <a:t> сжимает любое число в диапазон [0, 1] — то есть в вероятность.</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Для K классов — K нейронов с </a:t>
            </a:r>
            <a:r>
              <a:rPr lang="ru-RU" sz="1200" b="0" i="0" kern="1200" dirty="0" err="1" smtClean="0">
                <a:solidFill>
                  <a:schemeClr val="tx1"/>
                </a:solidFill>
                <a:latin typeface="+mn-lt"/>
                <a:ea typeface="+mn-ea"/>
                <a:cs typeface="+mn-cs"/>
              </a:rPr>
              <a:t>softmax</a:t>
            </a:r>
            <a:r>
              <a:rPr lang="ru-RU" sz="1200" b="0" i="0" kern="1200" dirty="0" smtClean="0">
                <a:solidFill>
                  <a:schemeClr val="tx1"/>
                </a:solidFill>
                <a:latin typeface="+mn-lt"/>
                <a:ea typeface="+mn-ea"/>
                <a:cs typeface="+mn-cs"/>
              </a:rPr>
              <a:t>:</a:t>
            </a:r>
            <a:r>
              <a:rPr lang="ru-RU" sz="1200" b="0" i="0" kern="1200" baseline="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Dense</a:t>
            </a:r>
            <a:r>
              <a:rPr lang="ru-RU" sz="1200" b="0" i="0" kern="1200" dirty="0" smtClean="0">
                <a:solidFill>
                  <a:schemeClr val="tx1"/>
                </a:solidFill>
                <a:latin typeface="+mn-lt"/>
                <a:ea typeface="+mn-ea"/>
                <a:cs typeface="+mn-cs"/>
              </a:rPr>
              <a:t>(K, </a:t>
            </a:r>
            <a:r>
              <a:rPr lang="ru-RU" sz="1200" b="0" i="0" kern="1200" dirty="0" err="1" smtClean="0">
                <a:solidFill>
                  <a:schemeClr val="tx1"/>
                </a:solidFill>
                <a:latin typeface="+mn-lt"/>
                <a:ea typeface="+mn-ea"/>
                <a:cs typeface="+mn-cs"/>
              </a:rPr>
              <a:t>activation='softmax</a:t>
            </a:r>
            <a:r>
              <a:rPr lang="ru-RU" sz="1200" b="0" i="0" kern="1200" dirty="0" smtClean="0">
                <a:solidFill>
                  <a:schemeClr val="tx1"/>
                </a:solidFill>
                <a:latin typeface="+mn-lt"/>
                <a:ea typeface="+mn-ea"/>
                <a:cs typeface="+mn-cs"/>
              </a:rPr>
              <a:t>')</a:t>
            </a:r>
          </a:p>
          <a:p>
            <a:r>
              <a:rPr lang="ru-RU" sz="1200" b="0" i="0" kern="1200" dirty="0" err="1" smtClean="0">
                <a:solidFill>
                  <a:schemeClr val="tx1"/>
                </a:solidFill>
                <a:latin typeface="+mn-lt"/>
                <a:ea typeface="+mn-ea"/>
                <a:cs typeface="+mn-cs"/>
              </a:rPr>
              <a:t>Softmax</a:t>
            </a:r>
            <a:r>
              <a:rPr lang="ru-RU" sz="1200" b="0" i="0" kern="1200" dirty="0" smtClean="0">
                <a:solidFill>
                  <a:schemeClr val="tx1"/>
                </a:solidFill>
                <a:latin typeface="+mn-lt"/>
                <a:ea typeface="+mn-ea"/>
                <a:cs typeface="+mn-cs"/>
              </a:rPr>
              <a:t> превращает вектор чисел в вектор вероятностей, которые в сумме дают 1.</a:t>
            </a:r>
          </a:p>
          <a:p>
            <a:r>
              <a:rPr lang="ru-RU" sz="1200" b="0" kern="1200" dirty="0" smtClean="0">
                <a:solidFill>
                  <a:schemeClr val="tx1"/>
                </a:solidFill>
                <a:latin typeface="+mn-lt"/>
                <a:ea typeface="+mn-ea"/>
                <a:cs typeface="+mn-cs"/>
              </a:rPr>
              <a:t>Функция потерь</a:t>
            </a:r>
            <a:r>
              <a:rPr lang="ru-RU" sz="1200" b="0" kern="1200" baseline="0" dirty="0" smtClean="0">
                <a:solidFill>
                  <a:schemeClr val="tx1"/>
                </a:solidFill>
                <a:latin typeface="+mn-lt"/>
                <a:ea typeface="+mn-ea"/>
                <a:cs typeface="+mn-cs"/>
              </a:rPr>
              <a:t> - </a:t>
            </a:r>
            <a:r>
              <a:rPr lang="ru-RU" sz="1200" b="0" i="0" kern="1200" dirty="0" err="1" smtClean="0">
                <a:solidFill>
                  <a:schemeClr val="tx1"/>
                </a:solidFill>
                <a:latin typeface="+mn-lt"/>
                <a:ea typeface="+mn-ea"/>
                <a:cs typeface="+mn-cs"/>
              </a:rPr>
              <a:t>Cross-entropy</a:t>
            </a:r>
            <a:r>
              <a:rPr lang="ru-RU" sz="1200" b="0" i="0" kern="1200" dirty="0" smtClean="0">
                <a:solidFill>
                  <a:schemeClr val="tx1"/>
                </a:solidFill>
                <a:latin typeface="+mn-lt"/>
                <a:ea typeface="+mn-ea"/>
                <a:cs typeface="+mn-cs"/>
              </a:rPr>
              <a:t> — измеряет, насколько предсказанные вероятности не совпадают с реальными классами. Штрафует уверенные неправильные предсказания особенно сильно.</a:t>
            </a:r>
          </a:p>
          <a:p>
            <a:endParaRPr lang="ru-RU" b="0" dirty="0" smtClean="0"/>
          </a:p>
          <a:p>
            <a:r>
              <a:rPr lang="ru-RU" b="0" dirty="0" smtClean="0"/>
              <a:t>ИТОГ</a:t>
            </a:r>
            <a:r>
              <a:rPr lang="ru-RU" b="0" baseline="0" dirty="0" smtClean="0"/>
              <a:t>: </a:t>
            </a:r>
            <a:r>
              <a:rPr lang="ru-RU" b="0" dirty="0" smtClean="0"/>
              <a:t>Слева — классификация: модель ищет границу, которая разделяет два класса. Справа — регрессия: модель ищет линию, которая проходит через точки. </a:t>
            </a:r>
          </a:p>
          <a:p>
            <a:endParaRPr lang="ru-RU" b="0" dirty="0"/>
          </a:p>
        </p:txBody>
      </p:sp>
      <p:sp>
        <p:nvSpPr>
          <p:cNvPr id="4" name="Номер слайда 3"/>
          <p:cNvSpPr>
            <a:spLocks noGrp="1"/>
          </p:cNvSpPr>
          <p:nvPr>
            <p:ph type="sldNum" sz="quarter" idx="10"/>
          </p:nvPr>
        </p:nvSpPr>
        <p:spPr/>
        <p:txBody>
          <a:bodyPr/>
          <a:lstStyle/>
          <a:p>
            <a:fld id="{CEBF9C1A-0A84-4F0C-9C04-72BCEF6B8C2A}" type="slidenum">
              <a:rPr lang="ru-RU" smtClean="0"/>
              <a:pPr/>
              <a:t>28</a:t>
            </a:fld>
            <a:endParaRPr lang="ru-R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EAF463A-BC7C-46EE-9F1E-7F377CCA4891}"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AF463A-BC7C-46EE-9F1E-7F377CCA4891}"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EAF463A-BC7C-46EE-9F1E-7F377CCA4891}"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EAF463A-BC7C-46EE-9F1E-7F377CCA4891}"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EAF463A-BC7C-46EE-9F1E-7F377CCA4891}" type="datetimeFigureOut">
              <a:rPr lang="en-US" smtClean="0"/>
              <a:pPr/>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EAF463A-BC7C-46EE-9F1E-7F377CCA4891}" type="datetimeFigureOut">
              <a:rPr lang="en-US" smtClean="0"/>
              <a:pPr/>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AF463A-BC7C-46EE-9F1E-7F377CCA4891}" type="datetimeFigureOut">
              <a:rPr lang="en-US" smtClean="0"/>
              <a:pPr/>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AF463A-BC7C-46EE-9F1E-7F377CCA4891}"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AF463A-BC7C-46EE-9F1E-7F377CCA4891}"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AF463A-BC7C-46EE-9F1E-7F377CCA4891}"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add title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AF463A-BC7C-46EE-9F1E-7F377CCA4891}"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AF463A-BC7C-46EE-9F1E-7F377CCA4891}" type="datetimeFigureOut">
              <a:rPr lang="en-US" smtClean="0"/>
              <a:pPr/>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83448D-3A78-4528-A469-B745A65DA4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latinLnBrk="0">
        <a:spcBef>
          <a:spcPct val="0"/>
        </a:spcBef>
        <a:buNone/>
        <a:defRPr sz="4400" kern="1200">
          <a:solidFill>
            <a:schemeClr val="tx1"/>
          </a:solidFill>
          <a:latin typeface="+mj-lt"/>
          <a:ea typeface="+mj-ea"/>
          <a:cs typeface="+mj-cs"/>
        </a:defRPr>
      </a:lvl1pPr>
    </p:titleStyle>
    <p:bodyStyle>
      <a:lvl1pPr marL="342900" indent="-342900" algn="l" defTabSz="914400" rtl="0" latinLnBrk="0">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latinLnBrk="0">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latinLnBrk="0">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latinLnBrk="0">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latinLnBrk="0">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latinLnBrk="0">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latinLnBrk="0">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latinLnBrk="0">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latinLnBrk="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371600" y="1295400"/>
            <a:ext cx="8077200" cy="1600199"/>
          </a:xfrm>
        </p:spPr>
        <p:txBody>
          <a:bodyPr>
            <a:normAutofit fontScale="90000"/>
          </a:bodyPr>
          <a:lstStyle/>
          <a:p>
            <a:r>
              <a:rPr lang="ru-RU" dirty="0" smtClean="0">
                <a:latin typeface="Cascadia Code SemiLight" pitchFamily="49" charset="0"/>
                <a:cs typeface="Cascadia Code SemiLight" pitchFamily="49" charset="0"/>
              </a:rPr>
              <a:t>Занятие </a:t>
            </a:r>
            <a:r>
              <a:rPr lang="en-US" dirty="0" smtClean="0">
                <a:latin typeface="Cascadia Code SemiLight" pitchFamily="49" charset="0"/>
                <a:cs typeface="Cascadia Code SemiLight" pitchFamily="49" charset="0"/>
              </a:rPr>
              <a:t>2</a:t>
            </a:r>
            <a:r>
              <a:rPr lang="ru-RU" dirty="0" smtClean="0">
                <a:latin typeface="Cascadia Code SemiLight" pitchFamily="49" charset="0"/>
                <a:cs typeface="Cascadia Code SemiLight" pitchFamily="49" charset="0"/>
              </a:rPr>
              <a:t>.</a:t>
            </a:r>
            <a:br>
              <a:rPr lang="ru-RU" dirty="0" smtClean="0">
                <a:latin typeface="Cascadia Code SemiLight" pitchFamily="49" charset="0"/>
                <a:cs typeface="Cascadia Code SemiLight" pitchFamily="49" charset="0"/>
              </a:rPr>
            </a:br>
            <a:r>
              <a:rPr lang="ru-RU" b="1" dirty="0" smtClean="0">
                <a:latin typeface="Cascadia Code SemiLight" pitchFamily="49" charset="0"/>
                <a:cs typeface="Cascadia Code SemiLight" pitchFamily="49" charset="0"/>
              </a:rPr>
              <a:t>Основы основ</a:t>
            </a:r>
            <a:br>
              <a:rPr lang="ru-RU" b="1" dirty="0" smtClean="0">
                <a:latin typeface="Cascadia Code SemiLight" pitchFamily="49" charset="0"/>
                <a:cs typeface="Cascadia Code SemiLight" pitchFamily="49" charset="0"/>
              </a:rPr>
            </a:br>
            <a:r>
              <a:rPr lang="ru-RU" b="1" dirty="0" smtClean="0">
                <a:latin typeface="Cascadia Code SemiLight" pitchFamily="49" charset="0"/>
                <a:cs typeface="Cascadia Code SemiLight" pitchFamily="49" charset="0"/>
              </a:rPr>
              <a:t>Посвящение в </a:t>
            </a:r>
            <a:r>
              <a:rPr lang="en-US" b="1" dirty="0" smtClean="0">
                <a:latin typeface="Cascadia Code SemiLight" pitchFamily="49" charset="0"/>
                <a:cs typeface="Cascadia Code SemiLight" pitchFamily="49" charset="0"/>
              </a:rPr>
              <a:t>ML</a:t>
            </a:r>
            <a:r>
              <a:rPr lang="ru-RU" b="1" dirty="0" smtClean="0">
                <a:latin typeface="Cascadia Code SemiLight" pitchFamily="49" charset="0"/>
                <a:cs typeface="Cascadia Code SemiLight" pitchFamily="49" charset="0"/>
              </a:rPr>
              <a:t/>
            </a:r>
            <a:br>
              <a:rPr lang="ru-RU" b="1" dirty="0" smtClean="0">
                <a:latin typeface="Cascadia Code SemiLight" pitchFamily="49" charset="0"/>
                <a:cs typeface="Cascadia Code SemiLight" pitchFamily="49" charset="0"/>
              </a:rPr>
            </a:br>
            <a:r>
              <a:rPr lang="en-US" b="1" dirty="0" smtClean="0">
                <a:latin typeface="Cascadia Code SemiLight" pitchFamily="49" charset="0"/>
                <a:cs typeface="Cascadia Code SemiLight" pitchFamily="49" charset="0"/>
              </a:rPr>
              <a:t/>
            </a:r>
            <a:br>
              <a:rPr lang="en-US" b="1" dirty="0" smtClean="0">
                <a:latin typeface="Cascadia Code SemiLight" pitchFamily="49" charset="0"/>
                <a:cs typeface="Cascadia Code SemiLight" pitchFamily="49" charset="0"/>
              </a:rPr>
            </a:br>
            <a:endParaRPr lang="ru-RU" dirty="0">
              <a:latin typeface="Cascadia Code SemiLight" pitchFamily="49" charset="0"/>
              <a:cs typeface="Cascadia Code SemiLight" pitchFamily="49" charset="0"/>
            </a:endParaRPr>
          </a:p>
        </p:txBody>
      </p:sp>
      <p:sp>
        <p:nvSpPr>
          <p:cNvPr id="3" name="Подзаголовок 2"/>
          <p:cNvSpPr>
            <a:spLocks noGrp="1"/>
          </p:cNvSpPr>
          <p:nvPr>
            <p:ph type="subTitle" idx="1"/>
          </p:nvPr>
        </p:nvSpPr>
        <p:spPr>
          <a:xfrm>
            <a:off x="4953000" y="5334000"/>
            <a:ext cx="4191000" cy="1524000"/>
          </a:xfrm>
        </p:spPr>
        <p:txBody>
          <a:bodyPr>
            <a:normAutofit fontScale="62500" lnSpcReduction="20000"/>
          </a:bodyPr>
          <a:lstStyle/>
          <a:p>
            <a:r>
              <a:rPr lang="ru-RU" dirty="0" smtClean="0">
                <a:latin typeface="Cascadia Code SemiLight" pitchFamily="49" charset="0"/>
                <a:cs typeface="Cascadia Code SemiLight" pitchFamily="49" charset="0"/>
              </a:rPr>
              <a:t>Мастерские МИЦ. 10 сезон</a:t>
            </a:r>
          </a:p>
          <a:p>
            <a:r>
              <a:rPr lang="ru-RU" dirty="0" smtClean="0">
                <a:latin typeface="Cascadia Code SemiLight" pitchFamily="49" charset="0"/>
                <a:cs typeface="Cascadia Code SemiLight" pitchFamily="49" charset="0"/>
              </a:rPr>
              <a:t>Основы машинного обучения</a:t>
            </a:r>
          </a:p>
          <a:p>
            <a:r>
              <a:rPr lang="ru-RU" dirty="0" smtClean="0">
                <a:latin typeface="Cascadia Code SemiLight" pitchFamily="49" charset="0"/>
                <a:cs typeface="Cascadia Code SemiLight" pitchFamily="49" charset="0"/>
              </a:rPr>
              <a:t>Занятие </a:t>
            </a:r>
            <a:r>
              <a:rPr lang="en-US" dirty="0" smtClean="0">
                <a:latin typeface="Cascadia Code SemiLight" pitchFamily="49" charset="0"/>
                <a:cs typeface="Cascadia Code SemiLight" pitchFamily="49" charset="0"/>
              </a:rPr>
              <a:t>2</a:t>
            </a:r>
            <a:endParaRPr lang="ru-RU" dirty="0" smtClean="0">
              <a:latin typeface="Cascadia Code SemiLight" pitchFamily="49" charset="0"/>
              <a:cs typeface="Cascadia Code SemiLight" pitchFamily="49" charset="0"/>
            </a:endParaRPr>
          </a:p>
          <a:p>
            <a:r>
              <a:rPr lang="ru-RU" dirty="0" smtClean="0">
                <a:latin typeface="Cascadia Code SemiLight" pitchFamily="49" charset="0"/>
                <a:cs typeface="Cascadia Code SemiLight" pitchFamily="49" charset="0"/>
              </a:rPr>
              <a:t>Пономаренко Вера</a:t>
            </a:r>
          </a:p>
          <a:p>
            <a:endParaRPr lang="ru-RU" dirty="0" smtClean="0"/>
          </a:p>
          <a:p>
            <a:endParaRPr lang="ru-RU" dirty="0"/>
          </a:p>
        </p:txBody>
      </p:sp>
      <p:pic>
        <p:nvPicPr>
          <p:cNvPr id="24578" name="Picture 2" descr="https://sun9-68.vkuserphoto.ru/s/v1/ig2/XqN5CgQlP5rHz6TeLnS-ziHG9NIr-ONppcLfbfkted78sxneCsTH-x15S1ukMhrJ4gHPC3C7R5SBjQa5ASZIwmCL.jpg?quality=95&amp;as=32x32,48x48,72x72,108x107,160x159,240x239,360x358,480x477,540x537,640x637,720x716,735x731&amp;from=bu&amp;u=oPdBnw-I1bTVoWfsVLu4mxdoaxX7OdDyYUbqeQ63AsA&amp;cs=735x0"/>
          <p:cNvPicPr>
            <a:picLocks noChangeAspect="1" noChangeArrowheads="1"/>
          </p:cNvPicPr>
          <p:nvPr/>
        </p:nvPicPr>
        <p:blipFill>
          <a:blip r:embed="rId2" cstate="print"/>
          <a:srcRect/>
          <a:stretch>
            <a:fillRect/>
          </a:stretch>
        </p:blipFill>
        <p:spPr bwMode="auto">
          <a:xfrm>
            <a:off x="381000" y="2590800"/>
            <a:ext cx="3830848" cy="3810000"/>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План занятия</a:t>
            </a:r>
            <a:endParaRPr lang="ru-RU" dirty="0"/>
          </a:p>
        </p:txBody>
      </p:sp>
      <p:sp>
        <p:nvSpPr>
          <p:cNvPr id="3" name="Содержимое 2"/>
          <p:cNvSpPr>
            <a:spLocks noGrp="1"/>
          </p:cNvSpPr>
          <p:nvPr>
            <p:ph idx="1"/>
          </p:nvPr>
        </p:nvSpPr>
        <p:spPr>
          <a:xfrm>
            <a:off x="457200" y="1600201"/>
            <a:ext cx="7162800" cy="2362199"/>
          </a:xfrm>
        </p:spPr>
        <p:txBody>
          <a:bodyPr>
            <a:normAutofit fontScale="77500" lnSpcReduction="20000"/>
          </a:bodyPr>
          <a:lstStyle/>
          <a:p>
            <a:r>
              <a:rPr lang="ru-RU" dirty="0" smtClean="0">
                <a:latin typeface="Cascadia Code SemiLight" pitchFamily="49" charset="0"/>
                <a:cs typeface="Cascadia Code SemiLight" pitchFamily="49" charset="0"/>
              </a:rPr>
              <a:t>1. </a:t>
            </a:r>
            <a:r>
              <a:rPr lang="ru-RU" dirty="0" err="1" smtClean="0">
                <a:latin typeface="Cascadia Code SemiLight" pitchFamily="49" charset="0"/>
                <a:cs typeface="Cascadia Code SemiLight" pitchFamily="49" charset="0"/>
              </a:rPr>
              <a:t>Датасет</a:t>
            </a:r>
            <a:r>
              <a:rPr lang="ru-RU" dirty="0" smtClean="0">
                <a:latin typeface="Cascadia Code SemiLight" pitchFamily="49" charset="0"/>
                <a:cs typeface="Cascadia Code SemiLight" pitchFamily="49" charset="0"/>
              </a:rPr>
              <a:t> и признаки</a:t>
            </a:r>
          </a:p>
          <a:p>
            <a:r>
              <a:rPr lang="ru-RU" dirty="0" smtClean="0">
                <a:latin typeface="Cascadia Code SemiLight" pitchFamily="49" charset="0"/>
                <a:cs typeface="Cascadia Code SemiLight" pitchFamily="49" charset="0"/>
              </a:rPr>
              <a:t>2. </a:t>
            </a:r>
            <a:r>
              <a:rPr lang="ru-RU" dirty="0" err="1" smtClean="0">
                <a:latin typeface="Cascadia Code SemiLight" pitchFamily="49" charset="0"/>
                <a:cs typeface="Cascadia Code SemiLight" pitchFamily="49" charset="0"/>
              </a:rPr>
              <a:t>Нейросеть</a:t>
            </a:r>
            <a:r>
              <a:rPr lang="ru-RU" dirty="0" smtClean="0">
                <a:latin typeface="Cascadia Code SemiLight" pitchFamily="49" charset="0"/>
                <a:cs typeface="Cascadia Code SemiLight" pitchFamily="49" charset="0"/>
              </a:rPr>
              <a:t> и слои</a:t>
            </a:r>
          </a:p>
          <a:p>
            <a:r>
              <a:rPr lang="ru-RU" dirty="0" smtClean="0">
                <a:latin typeface="Cascadia Code SemiLight" pitchFamily="49" charset="0"/>
                <a:cs typeface="Cascadia Code SemiLight" pitchFamily="49" charset="0"/>
              </a:rPr>
              <a:t>3. Функция потерь и градиентный спуск</a:t>
            </a:r>
          </a:p>
          <a:p>
            <a:r>
              <a:rPr lang="ru-RU" dirty="0" smtClean="0">
                <a:latin typeface="Cascadia Code SemiLight" pitchFamily="49" charset="0"/>
                <a:cs typeface="Cascadia Code SemiLight" pitchFamily="49" charset="0"/>
              </a:rPr>
              <a:t>4. Регрессия </a:t>
            </a:r>
            <a:r>
              <a:rPr lang="en-US" dirty="0" err="1" smtClean="0">
                <a:latin typeface="Cascadia Code SemiLight" pitchFamily="49" charset="0"/>
                <a:cs typeface="Cascadia Code SemiLight" pitchFamily="49" charset="0"/>
              </a:rPr>
              <a:t>vs</a:t>
            </a:r>
            <a:r>
              <a:rPr lang="en-US" dirty="0" smtClean="0">
                <a:latin typeface="Cascadia Code SemiLight" pitchFamily="49" charset="0"/>
                <a:cs typeface="Cascadia Code SemiLight" pitchFamily="49" charset="0"/>
              </a:rPr>
              <a:t> </a:t>
            </a:r>
            <a:r>
              <a:rPr lang="ru-RU" dirty="0" smtClean="0">
                <a:latin typeface="Cascadia Code SemiLight" pitchFamily="49" charset="0"/>
                <a:cs typeface="Cascadia Code SemiLight" pitchFamily="49" charset="0"/>
              </a:rPr>
              <a:t>классификация</a:t>
            </a:r>
          </a:p>
          <a:p>
            <a:r>
              <a:rPr lang="ru-RU" dirty="0" smtClean="0">
                <a:latin typeface="Cascadia Code SemiLight" pitchFamily="49" charset="0"/>
                <a:cs typeface="Cascadia Code SemiLight" pitchFamily="49" charset="0"/>
              </a:rPr>
              <a:t>5. </a:t>
            </a:r>
            <a:r>
              <a:rPr lang="en-US" dirty="0" smtClean="0">
                <a:latin typeface="Cascadia Code SemiLight" pitchFamily="49" charset="0"/>
                <a:cs typeface="Cascadia Code SemiLight" pitchFamily="49" charset="0"/>
              </a:rPr>
              <a:t>California Housing</a:t>
            </a:r>
            <a:endParaRPr lang="ru-RU" dirty="0">
              <a:latin typeface="Cascadia Code SemiLight" pitchFamily="49" charset="0"/>
              <a:cs typeface="Cascadia Code SemiLight" pitchFamily="49" charset="0"/>
            </a:endParaRPr>
          </a:p>
        </p:txBody>
      </p:sp>
      <p:pic>
        <p:nvPicPr>
          <p:cNvPr id="22530" name="Picture 2" descr="https://sun9-74.vkuserphoto.ru/s/v1/ig2/3HTopDgdh8C1Ukew1dO9uXyEC7LA8ulbrdDQKu1jMCqFvsaETl4FZh19fTk4OYxbEZPfCwp_EiAJhMUEqwWoevWG.jpg?quality=95&amp;as=32x32,48x48,72x72,108x108,160x160,240x240,360x360,480x480,540x540,640x640,720x720,736x736&amp;from=bu&amp;cs=736x0"/>
          <p:cNvPicPr>
            <a:picLocks noChangeAspect="1" noChangeArrowheads="1"/>
          </p:cNvPicPr>
          <p:nvPr/>
        </p:nvPicPr>
        <p:blipFill>
          <a:blip r:embed="rId2" cstate="print"/>
          <a:srcRect/>
          <a:stretch>
            <a:fillRect/>
          </a:stretch>
        </p:blipFill>
        <p:spPr bwMode="auto">
          <a:xfrm>
            <a:off x="4800600" y="3581400"/>
            <a:ext cx="4038600" cy="4038601"/>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smtClean="0">
                <a:latin typeface="Cascadia Code SemiLight" pitchFamily="49" charset="0"/>
                <a:cs typeface="Cascadia Code SemiLight" pitchFamily="49" charset="0"/>
              </a:rPr>
              <a:t>Датасет</a:t>
            </a:r>
            <a:r>
              <a:rPr lang="ru-RU" dirty="0" smtClean="0">
                <a:latin typeface="Cascadia Code SemiLight" pitchFamily="49" charset="0"/>
                <a:cs typeface="Cascadia Code SemiLight" pitchFamily="49" charset="0"/>
              </a:rPr>
              <a:t> и все вытекающее </a:t>
            </a:r>
            <a:endParaRPr lang="ru-RU" dirty="0">
              <a:latin typeface="Cascadia Code SemiLight" pitchFamily="49" charset="0"/>
              <a:cs typeface="Cascadia Code SemiLight" pitchFamily="49" charset="0"/>
            </a:endParaRPr>
          </a:p>
        </p:txBody>
      </p:sp>
      <p:sp>
        <p:nvSpPr>
          <p:cNvPr id="3" name="Содержимое 2"/>
          <p:cNvSpPr>
            <a:spLocks noGrp="1"/>
          </p:cNvSpPr>
          <p:nvPr>
            <p:ph idx="1"/>
          </p:nvPr>
        </p:nvSpPr>
        <p:spPr/>
        <p:txBody>
          <a:bodyPr>
            <a:normAutofit/>
          </a:bodyPr>
          <a:lstStyle/>
          <a:p>
            <a:endParaRPr lang="ru-RU" dirty="0" smtClean="0">
              <a:latin typeface="Cascadia Code SemiLight" pitchFamily="49" charset="0"/>
              <a:cs typeface="Cascadia Code SemiLight" pitchFamily="49" charset="0"/>
            </a:endParaRPr>
          </a:p>
        </p:txBody>
      </p:sp>
      <p:pic>
        <p:nvPicPr>
          <p:cNvPr id="21505" name="Picture 1"/>
          <p:cNvPicPr>
            <a:picLocks noChangeAspect="1" noChangeArrowheads="1"/>
          </p:cNvPicPr>
          <p:nvPr/>
        </p:nvPicPr>
        <p:blipFill>
          <a:blip r:embed="rId3" cstate="print"/>
          <a:srcRect/>
          <a:stretch>
            <a:fillRect/>
          </a:stretch>
        </p:blipFill>
        <p:spPr bwMode="auto">
          <a:xfrm>
            <a:off x="1143000" y="1295400"/>
            <a:ext cx="6193941" cy="3581400"/>
          </a:xfrm>
          <a:prstGeom prst="rect">
            <a:avLst/>
          </a:prstGeom>
          <a:noFill/>
          <a:ln w="9525">
            <a:noFill/>
            <a:miter lim="800000"/>
            <a:headEnd/>
            <a:tailEnd/>
          </a:ln>
          <a:effectLst/>
        </p:spPr>
      </p:pic>
      <p:pic>
        <p:nvPicPr>
          <p:cNvPr id="21506" name="Picture 2"/>
          <p:cNvPicPr>
            <a:picLocks noChangeAspect="1" noChangeArrowheads="1"/>
          </p:cNvPicPr>
          <p:nvPr/>
        </p:nvPicPr>
        <p:blipFill>
          <a:blip r:embed="rId4" cstate="print"/>
          <a:srcRect/>
          <a:stretch>
            <a:fillRect/>
          </a:stretch>
        </p:blipFill>
        <p:spPr bwMode="auto">
          <a:xfrm>
            <a:off x="1295400" y="4800600"/>
            <a:ext cx="5778500" cy="169300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76200"/>
            <a:ext cx="8229600" cy="1143000"/>
          </a:xfrm>
        </p:spPr>
        <p:txBody>
          <a:bodyPr>
            <a:normAutofit/>
          </a:bodyPr>
          <a:lstStyle/>
          <a:p>
            <a:r>
              <a:rPr lang="ru-RU" dirty="0" err="1" smtClean="0">
                <a:latin typeface="Cascadia Code SemiLight" pitchFamily="49" charset="0"/>
                <a:cs typeface="Cascadia Code SemiLight" pitchFamily="49" charset="0"/>
              </a:rPr>
              <a:t>Нейросеть</a:t>
            </a:r>
            <a:r>
              <a:rPr lang="ru-RU" dirty="0" smtClean="0">
                <a:latin typeface="Cascadia Code SemiLight" pitchFamily="49" charset="0"/>
                <a:cs typeface="Cascadia Code SemiLight" pitchFamily="49" charset="0"/>
              </a:rPr>
              <a:t> и слои</a:t>
            </a:r>
            <a:endParaRPr lang="ru-RU" dirty="0">
              <a:latin typeface="Cascadia Code SemiLight" pitchFamily="49" charset="0"/>
              <a:cs typeface="Cascadia Code SemiLight" pitchFamily="49" charset="0"/>
            </a:endParaRPr>
          </a:p>
        </p:txBody>
      </p:sp>
      <p:sp>
        <p:nvSpPr>
          <p:cNvPr id="3" name="Содержимое 2"/>
          <p:cNvSpPr>
            <a:spLocks noGrp="1"/>
          </p:cNvSpPr>
          <p:nvPr>
            <p:ph idx="1"/>
          </p:nvPr>
        </p:nvSpPr>
        <p:spPr>
          <a:xfrm>
            <a:off x="457200" y="4800600"/>
            <a:ext cx="8305800" cy="1401763"/>
          </a:xfrm>
        </p:spPr>
        <p:txBody>
          <a:bodyPr>
            <a:noAutofit/>
          </a:bodyPr>
          <a:lstStyle/>
          <a:p>
            <a:r>
              <a:rPr lang="ru-RU" sz="1600" dirty="0" smtClean="0">
                <a:latin typeface="Cascadia Code SemiLight" pitchFamily="49" charset="0"/>
                <a:cs typeface="Cascadia Code SemiLight" pitchFamily="49" charset="0"/>
              </a:rPr>
              <a:t>Слой — набор нейронов, обрабатывающих вход и передающих выход дальше. </a:t>
            </a:r>
          </a:p>
          <a:p>
            <a:r>
              <a:rPr lang="ru-RU" sz="1600" dirty="0" err="1" smtClean="0">
                <a:latin typeface="Cascadia Code SemiLight" pitchFamily="49" charset="0"/>
                <a:cs typeface="Cascadia Code SemiLight" pitchFamily="49" charset="0"/>
              </a:rPr>
              <a:t>Dense</a:t>
            </a:r>
            <a:r>
              <a:rPr lang="ru-RU" sz="1600" dirty="0" smtClean="0">
                <a:latin typeface="Cascadia Code SemiLight" pitchFamily="49" charset="0"/>
                <a:cs typeface="Cascadia Code SemiLight" pitchFamily="49" charset="0"/>
              </a:rPr>
              <a:t> – </a:t>
            </a:r>
            <a:r>
              <a:rPr lang="ru-RU" sz="1600" dirty="0" err="1" smtClean="0">
                <a:latin typeface="Cascadia Code SemiLight" pitchFamily="49" charset="0"/>
                <a:cs typeface="Cascadia Code SemiLight" pitchFamily="49" charset="0"/>
              </a:rPr>
              <a:t>полносвязный</a:t>
            </a:r>
            <a:r>
              <a:rPr lang="ru-RU" sz="1600" dirty="0" smtClean="0">
                <a:latin typeface="Cascadia Code SemiLight" pitchFamily="49" charset="0"/>
                <a:cs typeface="Cascadia Code SemiLight" pitchFamily="49" charset="0"/>
              </a:rPr>
              <a:t> слой</a:t>
            </a:r>
          </a:p>
          <a:p>
            <a:pPr marL="342900" lvl="1" indent="-342900">
              <a:buFont typeface="Arial" pitchFamily="34" charset="0"/>
              <a:buChar char="•"/>
            </a:pPr>
            <a:r>
              <a:rPr lang="ru-RU" sz="1600" dirty="0" smtClean="0">
                <a:latin typeface="Cascadia Code SemiLight" pitchFamily="49" charset="0"/>
                <a:cs typeface="Cascadia Code SemiLight" pitchFamily="49" charset="0"/>
              </a:rPr>
              <a:t>Скрытые слои + нелинейная активация → сложные закономерности;</a:t>
            </a:r>
          </a:p>
          <a:p>
            <a:pPr marL="342900" lvl="1" indent="-342900">
              <a:buFont typeface="Arial" pitchFamily="34" charset="0"/>
              <a:buChar char="•"/>
            </a:pPr>
            <a:r>
              <a:rPr lang="ru-RU" sz="1600" dirty="0" smtClean="0">
                <a:latin typeface="Cascadia Code SemiLight" pitchFamily="49" charset="0"/>
                <a:cs typeface="Cascadia Code SemiLight" pitchFamily="49" charset="0"/>
              </a:rPr>
              <a:t>Глубина → более абстрактные, сложные признаки</a:t>
            </a:r>
          </a:p>
          <a:p>
            <a:pPr marL="342900" lvl="1" indent="-342900">
              <a:buFont typeface="Arial" pitchFamily="34" charset="0"/>
              <a:buChar char="•"/>
            </a:pPr>
            <a:r>
              <a:rPr lang="ru-RU" sz="1600" dirty="0" smtClean="0">
                <a:latin typeface="Cascadia Code SemiLight" pitchFamily="49" charset="0"/>
                <a:cs typeface="Cascadia Code SemiLight" pitchFamily="49" charset="0"/>
              </a:rPr>
              <a:t>Важно: без нелинейности вся сеть </a:t>
            </a:r>
            <a:r>
              <a:rPr lang="ru-RU" sz="1600" dirty="0" err="1" smtClean="0">
                <a:latin typeface="Cascadia Code SemiLight" pitchFamily="49" charset="0"/>
                <a:cs typeface="Cascadia Code SemiLight" pitchFamily="49" charset="0"/>
              </a:rPr>
              <a:t>схлопнется</a:t>
            </a:r>
            <a:r>
              <a:rPr lang="ru-RU" sz="1600" dirty="0" smtClean="0">
                <a:latin typeface="Cascadia Code SemiLight" pitchFamily="49" charset="0"/>
                <a:cs typeface="Cascadia Code SemiLight" pitchFamily="49" charset="0"/>
              </a:rPr>
              <a:t> в одну линейную функцию.</a:t>
            </a:r>
          </a:p>
          <a:p>
            <a:endParaRPr lang="ru-RU" sz="1600" dirty="0">
              <a:latin typeface="Cascadia Code SemiLight" pitchFamily="49" charset="0"/>
              <a:cs typeface="Cascadia Code SemiLight" pitchFamily="49" charset="0"/>
            </a:endParaRPr>
          </a:p>
        </p:txBody>
      </p:sp>
      <p:pic>
        <p:nvPicPr>
          <p:cNvPr id="5" name="Picture 2" descr="https://sun9-14.userapi.com/s/v1/ig2/tVHu_ddbW-sfGbCa0SAr8-pdNeRI8a5ehmypVxRFq0GPWU879PX3vy24FywLgrLYz6OFuh9mUS1C7pfTWnh0awAk.jpg?quality=95&amp;as=32x22,48x32,72x49,108x73,160x108,240x162,360x244,480x325,540x365,640x433,720x487,1080x731,1280x866,1440x974,1933x1308&amp;from=bu&amp;u=Qib1uoRtiy12xjpY_n6F2dXJSF_zcQOFugKzu1HudhU&amp;cs=1933x0"/>
          <p:cNvPicPr>
            <a:picLocks noChangeAspect="1" noChangeArrowheads="1"/>
          </p:cNvPicPr>
          <p:nvPr/>
        </p:nvPicPr>
        <p:blipFill>
          <a:blip r:embed="rId3" cstate="print"/>
          <a:srcRect/>
          <a:stretch>
            <a:fillRect/>
          </a:stretch>
        </p:blipFill>
        <p:spPr bwMode="auto">
          <a:xfrm>
            <a:off x="2133600" y="1219200"/>
            <a:ext cx="4954862" cy="3352799"/>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152400"/>
            <a:ext cx="8991600" cy="914400"/>
          </a:xfrm>
        </p:spPr>
        <p:txBody>
          <a:bodyPr>
            <a:noAutofit/>
          </a:bodyPr>
          <a:lstStyle/>
          <a:p>
            <a:r>
              <a:rPr lang="ru-RU" sz="2800" dirty="0" smtClean="0">
                <a:latin typeface="Cascadia Code SemiLight" pitchFamily="49" charset="0"/>
                <a:cs typeface="Cascadia Code SemiLight" pitchFamily="49" charset="0"/>
              </a:rPr>
              <a:t>Рассмотрим менее страшное более подробно </a:t>
            </a:r>
            <a:endParaRPr lang="ru-RU" sz="2800" dirty="0">
              <a:latin typeface="Cascadia Code SemiLight" pitchFamily="49" charset="0"/>
              <a:cs typeface="Cascadia Code SemiLight" pitchFamily="49" charset="0"/>
            </a:endParaRPr>
          </a:p>
        </p:txBody>
      </p:sp>
      <p:sp>
        <p:nvSpPr>
          <p:cNvPr id="3" name="Содержимое 2"/>
          <p:cNvSpPr>
            <a:spLocks noGrp="1"/>
          </p:cNvSpPr>
          <p:nvPr>
            <p:ph idx="1"/>
          </p:nvPr>
        </p:nvSpPr>
        <p:spPr/>
        <p:txBody>
          <a:bodyPr/>
          <a:lstStyle/>
          <a:p>
            <a:endParaRPr lang="ru-RU" dirty="0"/>
          </a:p>
        </p:txBody>
      </p:sp>
      <p:pic>
        <p:nvPicPr>
          <p:cNvPr id="19457" name="Picture 1"/>
          <p:cNvPicPr>
            <a:picLocks noChangeAspect="1" noChangeArrowheads="1"/>
          </p:cNvPicPr>
          <p:nvPr/>
        </p:nvPicPr>
        <p:blipFill>
          <a:blip r:embed="rId3" cstate="print"/>
          <a:srcRect/>
          <a:stretch>
            <a:fillRect/>
          </a:stretch>
        </p:blipFill>
        <p:spPr bwMode="auto">
          <a:xfrm>
            <a:off x="304800" y="1066800"/>
            <a:ext cx="4757389" cy="5367338"/>
          </a:xfrm>
          <a:prstGeom prst="rect">
            <a:avLst/>
          </a:prstGeom>
          <a:noFill/>
          <a:ln w="9525">
            <a:noFill/>
            <a:miter lim="800000"/>
            <a:headEnd/>
            <a:tailEnd/>
          </a:ln>
          <a:effectLst/>
        </p:spPr>
      </p:pic>
      <p:pic>
        <p:nvPicPr>
          <p:cNvPr id="4" name="Picture 2"/>
          <p:cNvPicPr>
            <a:picLocks noChangeAspect="1" noChangeArrowheads="1"/>
          </p:cNvPicPr>
          <p:nvPr/>
        </p:nvPicPr>
        <p:blipFill>
          <a:blip r:embed="rId4" cstate="print"/>
          <a:srcRect/>
          <a:stretch>
            <a:fillRect/>
          </a:stretch>
        </p:blipFill>
        <p:spPr bwMode="auto">
          <a:xfrm>
            <a:off x="4191000" y="5334000"/>
            <a:ext cx="4733291" cy="1066800"/>
          </a:xfrm>
          <a:prstGeom prst="rect">
            <a:avLst/>
          </a:prstGeom>
          <a:noFill/>
          <a:ln w="9525">
            <a:noFill/>
            <a:miter lim="800000"/>
            <a:headEnd/>
            <a:tailEnd/>
          </a:ln>
          <a:effectLst/>
        </p:spPr>
      </p:pic>
      <p:pic>
        <p:nvPicPr>
          <p:cNvPr id="19459" name="Picture 3" descr="https://sun9-38.vkuserphoto.ru/s/v1/ig2/yXxAqs872LcqVyX-0JZLVNw9LVOoSEM_cfWpZHIR9WAsA9vhYBePOIzDHmO9OzvQx7ppNM4Fjsqx7561PHBbbubC.jpg?quality=95&amp;as=32x36,48x55,72x82,108x123,160x182,240x274,360x410,480x547,540x616,640x730,720x821,735x838&amp;from=bu&amp;cs=735x0"/>
          <p:cNvPicPr>
            <a:picLocks noChangeAspect="1" noChangeArrowheads="1"/>
          </p:cNvPicPr>
          <p:nvPr/>
        </p:nvPicPr>
        <p:blipFill>
          <a:blip r:embed="rId5" cstate="print"/>
          <a:srcRect/>
          <a:stretch>
            <a:fillRect/>
          </a:stretch>
        </p:blipFill>
        <p:spPr bwMode="auto">
          <a:xfrm>
            <a:off x="5029200" y="1219200"/>
            <a:ext cx="3498545" cy="3988818"/>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latin typeface="Cascadia Code SemiLight" pitchFamily="49" charset="0"/>
                <a:cs typeface="Cascadia Code SemiLight" pitchFamily="49" charset="0"/>
              </a:rPr>
              <a:t>Функция потерь</a:t>
            </a:r>
            <a:endParaRPr lang="ru-RU" dirty="0">
              <a:latin typeface="Cascadia Code SemiLight" pitchFamily="49" charset="0"/>
              <a:cs typeface="Cascadia Code SemiLight" pitchFamily="49" charset="0"/>
            </a:endParaRPr>
          </a:p>
        </p:txBody>
      </p:sp>
      <p:sp>
        <p:nvSpPr>
          <p:cNvPr id="3" name="Содержимое 2"/>
          <p:cNvSpPr>
            <a:spLocks noGrp="1"/>
          </p:cNvSpPr>
          <p:nvPr>
            <p:ph idx="1"/>
          </p:nvPr>
        </p:nvSpPr>
        <p:spPr>
          <a:xfrm>
            <a:off x="457200" y="1371600"/>
            <a:ext cx="8229600" cy="3992563"/>
          </a:xfrm>
        </p:spPr>
        <p:txBody>
          <a:bodyPr>
            <a:normAutofit/>
          </a:bodyPr>
          <a:lstStyle/>
          <a:p>
            <a:r>
              <a:rPr lang="ru-RU" dirty="0" smtClean="0">
                <a:latin typeface="Cascadia Code SemiLight" pitchFamily="49" charset="0"/>
                <a:cs typeface="Cascadia Code SemiLight" pitchFamily="49" charset="0"/>
              </a:rPr>
              <a:t>Регрессия: </a:t>
            </a:r>
            <a:endParaRPr lang="en-US" dirty="0" smtClean="0">
              <a:latin typeface="Cascadia Code SemiLight" pitchFamily="49" charset="0"/>
              <a:cs typeface="Cascadia Code SemiLight" pitchFamily="49" charset="0"/>
            </a:endParaRPr>
          </a:p>
          <a:p>
            <a:r>
              <a:rPr lang="ru-RU" dirty="0" smtClean="0">
                <a:latin typeface="Cascadia Code SemiLight" pitchFamily="49" charset="0"/>
                <a:cs typeface="Cascadia Code SemiLight" pitchFamily="49" charset="0"/>
              </a:rPr>
              <a:t>MS</a:t>
            </a:r>
            <a:r>
              <a:rPr lang="en-US" dirty="0" smtClean="0">
                <a:latin typeface="Cascadia Code SemiLight" pitchFamily="49" charset="0"/>
                <a:cs typeface="Cascadia Code SemiLight" pitchFamily="49" charset="0"/>
              </a:rPr>
              <a:t>E – (Mean Squared Error, </a:t>
            </a:r>
            <a:r>
              <a:rPr lang="ru-RU" dirty="0" smtClean="0">
                <a:latin typeface="Cascadia Code SemiLight" pitchFamily="49" charset="0"/>
                <a:cs typeface="Cascadia Code SemiLight" pitchFamily="49" charset="0"/>
              </a:rPr>
              <a:t>средняя квадратичная ошибка)</a:t>
            </a:r>
            <a:endParaRPr lang="en-US" dirty="0" smtClean="0">
              <a:latin typeface="Cascadia Code SemiLight" pitchFamily="49" charset="0"/>
              <a:cs typeface="Cascadia Code SemiLight" pitchFamily="49" charset="0"/>
            </a:endParaRPr>
          </a:p>
          <a:p>
            <a:endParaRPr lang="en-US" dirty="0" smtClean="0">
              <a:latin typeface="Cascadia Code SemiLight" pitchFamily="49" charset="0"/>
              <a:cs typeface="Cascadia Code SemiLight" pitchFamily="49" charset="0"/>
            </a:endParaRPr>
          </a:p>
          <a:p>
            <a:endParaRPr lang="en-US" dirty="0" smtClean="0">
              <a:latin typeface="Cascadia Code SemiLight" pitchFamily="49" charset="0"/>
              <a:cs typeface="Cascadia Code SemiLight" pitchFamily="49" charset="0"/>
            </a:endParaRPr>
          </a:p>
          <a:p>
            <a:endParaRPr lang="en-US" dirty="0" smtClean="0">
              <a:latin typeface="Cascadia Code SemiLight" pitchFamily="49" charset="0"/>
              <a:cs typeface="Cascadia Code SemiLight" pitchFamily="49" charset="0"/>
            </a:endParaRPr>
          </a:p>
        </p:txBody>
      </p:sp>
      <p:pic>
        <p:nvPicPr>
          <p:cNvPr id="1029" name="Picture 5"/>
          <p:cNvPicPr>
            <a:picLocks noChangeAspect="1" noChangeArrowheads="1"/>
          </p:cNvPicPr>
          <p:nvPr/>
        </p:nvPicPr>
        <p:blipFill>
          <a:blip r:embed="rId3" cstate="print"/>
          <a:srcRect/>
          <a:stretch>
            <a:fillRect/>
          </a:stretch>
        </p:blipFill>
        <p:spPr bwMode="auto">
          <a:xfrm>
            <a:off x="5410200" y="3124200"/>
            <a:ext cx="3260214" cy="1219200"/>
          </a:xfrm>
          <a:prstGeom prst="rect">
            <a:avLst/>
          </a:prstGeom>
          <a:noFill/>
          <a:ln w="9525">
            <a:noFill/>
            <a:miter lim="800000"/>
            <a:headEnd/>
            <a:tailEnd/>
          </a:ln>
          <a:effectLst/>
        </p:spPr>
      </p:pic>
      <p:pic>
        <p:nvPicPr>
          <p:cNvPr id="1033" name="Picture 9" descr="https://sun9-19.vkuserphoto.ru/s/v1/ig2/bhYdtXaxcRy7lOUbDUKcXmaaZ1fPvY36bQkFPfITnJiofnVcEeH-DXD6iqbM6eaovlv37Mi8hPR5wW6uiKXaYJ6e.jpg?quality=95&amp;as=32x27,48x41,72x62,108x92,160x137,240x205,360x308,480x411,540x462,563x482&amp;from=bu&amp;u=G9L2vYDSu1nKo8hY--rPeY-QvySz1AYvTPSa0ibP8gk&amp;cs=563x0"/>
          <p:cNvPicPr>
            <a:picLocks noChangeAspect="1" noChangeArrowheads="1"/>
          </p:cNvPicPr>
          <p:nvPr/>
        </p:nvPicPr>
        <p:blipFill>
          <a:blip r:embed="rId4" cstate="print"/>
          <a:srcRect/>
          <a:stretch>
            <a:fillRect/>
          </a:stretch>
        </p:blipFill>
        <p:spPr bwMode="auto">
          <a:xfrm>
            <a:off x="990600" y="3124200"/>
            <a:ext cx="3738226" cy="320040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p:txBody>
          <a:bodyPr/>
          <a:lstStyle/>
          <a:p>
            <a:r>
              <a:rPr lang="ru-RU" dirty="0" smtClean="0">
                <a:latin typeface="Cascadia Code SemiLight" pitchFamily="49" charset="0"/>
                <a:cs typeface="Cascadia Code SemiLight" pitchFamily="49" charset="0"/>
              </a:rPr>
              <a:t>MAE </a:t>
            </a:r>
            <a:r>
              <a:rPr lang="en-US" dirty="0" smtClean="0">
                <a:latin typeface="Cascadia Code SemiLight" pitchFamily="49" charset="0"/>
                <a:cs typeface="Cascadia Code SemiLight" pitchFamily="49" charset="0"/>
              </a:rPr>
              <a:t>(</a:t>
            </a:r>
            <a:r>
              <a:rPr lang="ru-RU" dirty="0" err="1" smtClean="0">
                <a:latin typeface="Cascadia Code SemiLight" pitchFamily="49" charset="0"/>
                <a:cs typeface="Cascadia Code SemiLight" pitchFamily="49" charset="0"/>
              </a:rPr>
              <a:t>Mean</a:t>
            </a:r>
            <a:r>
              <a:rPr lang="ru-RU" dirty="0" smtClean="0">
                <a:latin typeface="Cascadia Code SemiLight" pitchFamily="49" charset="0"/>
                <a:cs typeface="Cascadia Code SemiLight" pitchFamily="49" charset="0"/>
              </a:rPr>
              <a:t> </a:t>
            </a:r>
            <a:r>
              <a:rPr lang="ru-RU" dirty="0" err="1" smtClean="0">
                <a:latin typeface="Cascadia Code SemiLight" pitchFamily="49" charset="0"/>
                <a:cs typeface="Cascadia Code SemiLight" pitchFamily="49" charset="0"/>
              </a:rPr>
              <a:t>Absolute</a:t>
            </a:r>
            <a:r>
              <a:rPr lang="ru-RU" dirty="0" smtClean="0">
                <a:latin typeface="Cascadia Code SemiLight" pitchFamily="49" charset="0"/>
                <a:cs typeface="Cascadia Code SemiLight" pitchFamily="49" charset="0"/>
              </a:rPr>
              <a:t> </a:t>
            </a:r>
            <a:r>
              <a:rPr lang="ru-RU" dirty="0" err="1" smtClean="0">
                <a:latin typeface="Cascadia Code SemiLight" pitchFamily="49" charset="0"/>
                <a:cs typeface="Cascadia Code SemiLight" pitchFamily="49" charset="0"/>
              </a:rPr>
              <a:t>Error</a:t>
            </a:r>
            <a:r>
              <a:rPr lang="ru-RU" dirty="0" smtClean="0">
                <a:latin typeface="Cascadia Code SemiLight" pitchFamily="49" charset="0"/>
                <a:cs typeface="Cascadia Code SemiLight" pitchFamily="49" charset="0"/>
              </a:rPr>
              <a:t>, средняя абсолютная ошибка</a:t>
            </a:r>
            <a:r>
              <a:rPr lang="en-US" dirty="0" smtClean="0">
                <a:latin typeface="Cascadia Code SemiLight" pitchFamily="49" charset="0"/>
                <a:cs typeface="Cascadia Code SemiLight" pitchFamily="49" charset="0"/>
              </a:rPr>
              <a:t>)</a:t>
            </a:r>
            <a:r>
              <a:rPr lang="ru-RU" dirty="0" smtClean="0">
                <a:latin typeface="Cascadia Code SemiLight" pitchFamily="49" charset="0"/>
                <a:cs typeface="Cascadia Code SemiLight" pitchFamily="49" charset="0"/>
              </a:rPr>
              <a:t> MAE </a:t>
            </a:r>
            <a:r>
              <a:rPr lang="ru-RU" b="1" dirty="0" smtClean="0">
                <a:latin typeface="Cascadia Code SemiLight" pitchFamily="49" charset="0"/>
                <a:cs typeface="Cascadia Code SemiLight" pitchFamily="49" charset="0"/>
              </a:rPr>
              <a:t>не усиливает</a:t>
            </a:r>
            <a:r>
              <a:rPr lang="ru-RU" dirty="0" smtClean="0">
                <a:latin typeface="Cascadia Code SemiLight" pitchFamily="49" charset="0"/>
                <a:cs typeface="Cascadia Code SemiLight" pitchFamily="49" charset="0"/>
              </a:rPr>
              <a:t> большие ошибки. Ошибка 10 даёт вклад 10, а не 100. Это значит: модель не будет «паниковать» из-за выбросов.</a:t>
            </a:r>
            <a:endParaRPr lang="en-US" dirty="0" smtClean="0">
              <a:latin typeface="Cascadia Code SemiLight" pitchFamily="49" charset="0"/>
              <a:cs typeface="Cascadia Code SemiLight" pitchFamily="49" charset="0"/>
            </a:endParaRPr>
          </a:p>
          <a:p>
            <a:endParaRPr lang="ru-RU" dirty="0"/>
          </a:p>
        </p:txBody>
      </p:sp>
      <p:pic>
        <p:nvPicPr>
          <p:cNvPr id="4" name="Picture 3"/>
          <p:cNvPicPr>
            <a:picLocks noChangeAspect="1" noChangeArrowheads="1"/>
          </p:cNvPicPr>
          <p:nvPr/>
        </p:nvPicPr>
        <p:blipFill>
          <a:blip r:embed="rId3" cstate="print"/>
          <a:srcRect/>
          <a:stretch>
            <a:fillRect/>
          </a:stretch>
        </p:blipFill>
        <p:spPr bwMode="auto">
          <a:xfrm>
            <a:off x="2514600" y="4953000"/>
            <a:ext cx="4143375" cy="139729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533400" y="609601"/>
            <a:ext cx="8153400" cy="2514600"/>
          </a:xfrm>
        </p:spPr>
        <p:txBody>
          <a:bodyPr>
            <a:normAutofit/>
          </a:bodyPr>
          <a:lstStyle/>
          <a:p>
            <a:r>
              <a:rPr lang="ru-RU" sz="2800" dirty="0" smtClean="0">
                <a:latin typeface="Cascadia Code SemiLight" pitchFamily="49" charset="0"/>
                <a:cs typeface="Cascadia Code SemiLight" pitchFamily="49" charset="0"/>
              </a:rPr>
              <a:t>Классификация: </a:t>
            </a:r>
            <a:r>
              <a:rPr lang="ru-RU" sz="2800" dirty="0" err="1" smtClean="0">
                <a:latin typeface="Cascadia Code SemiLight" pitchFamily="49" charset="0"/>
                <a:cs typeface="Cascadia Code SemiLight" pitchFamily="49" charset="0"/>
              </a:rPr>
              <a:t>cross-entropy</a:t>
            </a:r>
            <a:r>
              <a:rPr lang="ru-RU" sz="2800" dirty="0" smtClean="0">
                <a:latin typeface="Cascadia Code SemiLight" pitchFamily="49" charset="0"/>
                <a:cs typeface="Cascadia Code SemiLight" pitchFamily="49" charset="0"/>
              </a:rPr>
              <a:t> - перекрёстной энтропии</a:t>
            </a:r>
          </a:p>
        </p:txBody>
      </p:sp>
      <p:sp>
        <p:nvSpPr>
          <p:cNvPr id="2061" name="Rectangle 13"/>
          <p:cNvSpPr>
            <a:spLocks noChangeArrowheads="1"/>
          </p:cNvSpPr>
          <p:nvPr/>
        </p:nvSpPr>
        <p:spPr bwMode="auto">
          <a:xfrm>
            <a:off x="0" y="5355193"/>
            <a:ext cx="65" cy="414814"/>
          </a:xfrm>
          <a:prstGeom prst="rect">
            <a:avLst/>
          </a:prstGeom>
          <a:solidFill>
            <a:srgbClr val="EBEEF2"/>
          </a:solidFill>
          <a:ln w="9525">
            <a:noFill/>
            <a:miter lim="800000"/>
            <a:headEnd/>
            <a:tailEnd/>
          </a:ln>
          <a:effectLst/>
        </p:spPr>
        <p:txBody>
          <a:bodyPr vert="horz" wrap="none" lIns="0" tIns="68241" rIns="0" bIns="6824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sz="1800" b="0" i="0" u="none" strike="noStrike" cap="none" normalizeH="0" baseline="0" dirty="0" smtClean="0">
              <a:ln>
                <a:noFill/>
              </a:ln>
              <a:solidFill>
                <a:schemeClr val="tx1"/>
              </a:solidFill>
              <a:effectLst/>
              <a:latin typeface="Cascadia Code SemiLight" pitchFamily="49" charset="0"/>
              <a:cs typeface="Cascadia Code SemiLight" pitchFamily="49" charset="0"/>
            </a:endParaRPr>
          </a:p>
        </p:txBody>
      </p:sp>
      <p:sp>
        <p:nvSpPr>
          <p:cNvPr id="16" name="Прямоугольник 15"/>
          <p:cNvSpPr/>
          <p:nvPr/>
        </p:nvSpPr>
        <p:spPr>
          <a:xfrm>
            <a:off x="228600" y="3352800"/>
            <a:ext cx="8839200" cy="3231654"/>
          </a:xfrm>
          <a:prstGeom prst="rect">
            <a:avLst/>
          </a:prstGeom>
        </p:spPr>
        <p:txBody>
          <a:bodyPr wrap="square">
            <a:spAutoFit/>
          </a:bodyPr>
          <a:lstStyle/>
          <a:p>
            <a:r>
              <a:rPr lang="ru-RU" sz="1600" dirty="0" smtClean="0">
                <a:latin typeface="Cascadia Code SemiLight" pitchFamily="49" charset="0"/>
                <a:cs typeface="Cascadia Code SemiLight" pitchFamily="49" charset="0"/>
              </a:rPr>
              <a:t>Ключевая идея: формула состоит из двух частей, и в каждой конкретной ситуации работает только одна:</a:t>
            </a:r>
          </a:p>
          <a:p>
            <a:r>
              <a:rPr lang="ru-RU" sz="1600" dirty="0" smtClean="0">
                <a:latin typeface="Cascadia Code SemiLight" pitchFamily="49" charset="0"/>
                <a:cs typeface="Cascadia Code SemiLight" pitchFamily="49" charset="0"/>
              </a:rPr>
              <a:t>Если </a:t>
            </a:r>
            <a:r>
              <a:rPr lang="ru-RU" sz="1600" dirty="0" err="1" smtClean="0">
                <a:latin typeface="Cascadia Code SemiLight" pitchFamily="49" charset="0"/>
                <a:cs typeface="Cascadia Code SemiLight" pitchFamily="49" charset="0"/>
              </a:rPr>
              <a:t>yᵢ </a:t>
            </a:r>
            <a:r>
              <a:rPr lang="ru-RU" sz="1600" dirty="0" smtClean="0">
                <a:latin typeface="Cascadia Code SemiLight" pitchFamily="49" charset="0"/>
                <a:cs typeface="Cascadia Code SemiLight" pitchFamily="49" charset="0"/>
              </a:rPr>
              <a:t>= 1, то (1 - </a:t>
            </a:r>
            <a:r>
              <a:rPr lang="ru-RU" sz="1600" dirty="0" err="1" smtClean="0">
                <a:latin typeface="Cascadia Code SemiLight" pitchFamily="49" charset="0"/>
                <a:cs typeface="Cascadia Code SemiLight" pitchFamily="49" charset="0"/>
              </a:rPr>
              <a:t>yᵢ</a:t>
            </a:r>
            <a:r>
              <a:rPr lang="ru-RU" sz="1600" dirty="0" smtClean="0">
                <a:latin typeface="Cascadia Code SemiLight" pitchFamily="49" charset="0"/>
                <a:cs typeface="Cascadia Code SemiLight" pitchFamily="49" charset="0"/>
              </a:rPr>
              <a:t>) = 0, и вторая часть обнуляется. Остаётся -</a:t>
            </a:r>
            <a:r>
              <a:rPr lang="ru-RU" sz="1600" dirty="0" err="1" smtClean="0">
                <a:latin typeface="Cascadia Code SemiLight" pitchFamily="49" charset="0"/>
                <a:cs typeface="Cascadia Code SemiLight" pitchFamily="49" charset="0"/>
              </a:rPr>
              <a:t>log(ŷᵢ</a:t>
            </a:r>
            <a:r>
              <a:rPr lang="ru-RU" sz="1600" dirty="0" smtClean="0">
                <a:latin typeface="Cascadia Code SemiLight" pitchFamily="49" charset="0"/>
                <a:cs typeface="Cascadia Code SemiLight" pitchFamily="49" charset="0"/>
              </a:rPr>
              <a:t>).</a:t>
            </a:r>
          </a:p>
          <a:p>
            <a:r>
              <a:rPr lang="ru-RU" sz="1600" dirty="0" smtClean="0">
                <a:latin typeface="Cascadia Code SemiLight" pitchFamily="49" charset="0"/>
                <a:cs typeface="Cascadia Code SemiLight" pitchFamily="49" charset="0"/>
              </a:rPr>
              <a:t>Если </a:t>
            </a:r>
            <a:r>
              <a:rPr lang="ru-RU" sz="1600" dirty="0" err="1" smtClean="0">
                <a:latin typeface="Cascadia Code SemiLight" pitchFamily="49" charset="0"/>
                <a:cs typeface="Cascadia Code SemiLight" pitchFamily="49" charset="0"/>
              </a:rPr>
              <a:t>yᵢ </a:t>
            </a:r>
            <a:r>
              <a:rPr lang="ru-RU" sz="1600" dirty="0" smtClean="0">
                <a:latin typeface="Cascadia Code SemiLight" pitchFamily="49" charset="0"/>
                <a:cs typeface="Cascadia Code SemiLight" pitchFamily="49" charset="0"/>
              </a:rPr>
              <a:t>= 0, то </a:t>
            </a:r>
            <a:r>
              <a:rPr lang="ru-RU" sz="1600" dirty="0" err="1" smtClean="0">
                <a:latin typeface="Cascadia Code SemiLight" pitchFamily="49" charset="0"/>
                <a:cs typeface="Cascadia Code SemiLight" pitchFamily="49" charset="0"/>
              </a:rPr>
              <a:t>yᵢ </a:t>
            </a:r>
            <a:r>
              <a:rPr lang="ru-RU" sz="1600" dirty="0" smtClean="0">
                <a:latin typeface="Cascadia Code SemiLight" pitchFamily="49" charset="0"/>
                <a:cs typeface="Cascadia Code SemiLight" pitchFamily="49" charset="0"/>
              </a:rPr>
              <a:t>= 0, и первая часть обнуляется. Остаётся -</a:t>
            </a:r>
            <a:r>
              <a:rPr lang="ru-RU" sz="1600" dirty="0" err="1" smtClean="0">
                <a:latin typeface="Cascadia Code SemiLight" pitchFamily="49" charset="0"/>
                <a:cs typeface="Cascadia Code SemiLight" pitchFamily="49" charset="0"/>
              </a:rPr>
              <a:t>log</a:t>
            </a:r>
            <a:r>
              <a:rPr lang="ru-RU" sz="1600" dirty="0" smtClean="0">
                <a:latin typeface="Cascadia Code SemiLight" pitchFamily="49" charset="0"/>
                <a:cs typeface="Cascadia Code SemiLight" pitchFamily="49" charset="0"/>
              </a:rPr>
              <a:t>(1 - </a:t>
            </a:r>
            <a:r>
              <a:rPr lang="ru-RU" sz="1600" dirty="0" err="1" smtClean="0">
                <a:latin typeface="Cascadia Code SemiLight" pitchFamily="49" charset="0"/>
                <a:cs typeface="Cascadia Code SemiLight" pitchFamily="49" charset="0"/>
              </a:rPr>
              <a:t>ŷᵢ</a:t>
            </a:r>
            <a:r>
              <a:rPr lang="ru-RU" sz="1600" dirty="0" smtClean="0">
                <a:latin typeface="Cascadia Code SemiLight" pitchFamily="49" charset="0"/>
                <a:cs typeface="Cascadia Code SemiLight" pitchFamily="49" charset="0"/>
              </a:rPr>
              <a:t>).</a:t>
            </a:r>
          </a:p>
          <a:p>
            <a:endParaRPr lang="ru-RU" sz="1600" dirty="0" smtClean="0">
              <a:latin typeface="Cascadia Code SemiLight" pitchFamily="49" charset="0"/>
              <a:cs typeface="Cascadia Code SemiLight" pitchFamily="49" charset="0"/>
            </a:endParaRPr>
          </a:p>
          <a:p>
            <a:r>
              <a:rPr lang="ru-RU" sz="1600" dirty="0" smtClean="0">
                <a:latin typeface="Cascadia Code SemiLight" pitchFamily="49" charset="0"/>
                <a:cs typeface="Cascadia Code SemiLight" pitchFamily="49" charset="0"/>
              </a:rPr>
              <a:t>Почему </a:t>
            </a:r>
            <a:r>
              <a:rPr lang="ru-RU" sz="1600" dirty="0" err="1" smtClean="0">
                <a:latin typeface="Cascadia Code SemiLight" pitchFamily="49" charset="0"/>
                <a:cs typeface="Cascadia Code SemiLight" pitchFamily="49" charset="0"/>
              </a:rPr>
              <a:t>log</a:t>
            </a:r>
            <a:r>
              <a:rPr lang="ru-RU" sz="1600" dirty="0" smtClean="0">
                <a:latin typeface="Cascadia Code SemiLight" pitchFamily="49" charset="0"/>
                <a:cs typeface="Cascadia Code SemiLight" pitchFamily="49" charset="0"/>
              </a:rPr>
              <a:t>?</a:t>
            </a:r>
          </a:p>
          <a:p>
            <a:r>
              <a:rPr lang="ru-RU" sz="1600" dirty="0" err="1" smtClean="0">
                <a:latin typeface="Cascadia Code SemiLight" pitchFamily="49" charset="0"/>
                <a:cs typeface="Cascadia Code SemiLight" pitchFamily="49" charset="0"/>
              </a:rPr>
              <a:t>log</a:t>
            </a:r>
            <a:r>
              <a:rPr lang="ru-RU" sz="1600" dirty="0" smtClean="0">
                <a:latin typeface="Cascadia Code SemiLight" pitchFamily="49" charset="0"/>
                <a:cs typeface="Cascadia Code SemiLight" pitchFamily="49" charset="0"/>
              </a:rPr>
              <a:t> — это функция, которая:</a:t>
            </a:r>
          </a:p>
          <a:p>
            <a:r>
              <a:rPr lang="ru-RU" sz="1600" dirty="0" smtClean="0">
                <a:latin typeface="Cascadia Code SemiLight" pitchFamily="49" charset="0"/>
                <a:cs typeface="Cascadia Code SemiLight" pitchFamily="49" charset="0"/>
              </a:rPr>
              <a:t>при </a:t>
            </a:r>
            <a:r>
              <a:rPr lang="ru-RU" sz="1600" dirty="0" err="1" smtClean="0">
                <a:latin typeface="Cascadia Code SemiLight" pitchFamily="49" charset="0"/>
                <a:cs typeface="Cascadia Code SemiLight" pitchFamily="49" charset="0"/>
              </a:rPr>
              <a:t>x</a:t>
            </a:r>
            <a:r>
              <a:rPr lang="ru-RU" sz="1600" dirty="0" smtClean="0">
                <a:latin typeface="Cascadia Code SemiLight" pitchFamily="49" charset="0"/>
                <a:cs typeface="Cascadia Code SemiLight" pitchFamily="49" charset="0"/>
              </a:rPr>
              <a:t> = 1 даёт 0 (идеальное предсказание → нулевой штраф);</a:t>
            </a:r>
          </a:p>
          <a:p>
            <a:r>
              <a:rPr lang="ru-RU" sz="1600" dirty="0" smtClean="0">
                <a:latin typeface="Cascadia Code SemiLight" pitchFamily="49" charset="0"/>
                <a:cs typeface="Cascadia Code SemiLight" pitchFamily="49" charset="0"/>
              </a:rPr>
              <a:t>при </a:t>
            </a:r>
            <a:r>
              <a:rPr lang="ru-RU" sz="1600" dirty="0" err="1" smtClean="0">
                <a:latin typeface="Cascadia Code SemiLight" pitchFamily="49" charset="0"/>
                <a:cs typeface="Cascadia Code SemiLight" pitchFamily="49" charset="0"/>
              </a:rPr>
              <a:t>x</a:t>
            </a:r>
            <a:r>
              <a:rPr lang="ru-RU" sz="1600" dirty="0" smtClean="0">
                <a:latin typeface="Cascadia Code SemiLight" pitchFamily="49" charset="0"/>
                <a:cs typeface="Cascadia Code SemiLight" pitchFamily="49" charset="0"/>
              </a:rPr>
              <a:t> → 0 уходит в -∞ (уверенно неправильное предсказание → огромный штраф).</a:t>
            </a:r>
          </a:p>
          <a:p>
            <a:endParaRPr lang="ru-RU" sz="1200" dirty="0">
              <a:latin typeface="Cascadia Code SemiLight" pitchFamily="49" charset="0"/>
              <a:cs typeface="Cascadia Code SemiLight" pitchFamily="49" charset="0"/>
            </a:endParaRPr>
          </a:p>
        </p:txBody>
      </p:sp>
      <p:pic>
        <p:nvPicPr>
          <p:cNvPr id="2064" name="Picture 16"/>
          <p:cNvPicPr>
            <a:picLocks noChangeAspect="1" noChangeArrowheads="1"/>
          </p:cNvPicPr>
          <p:nvPr/>
        </p:nvPicPr>
        <p:blipFill>
          <a:blip r:embed="rId3" cstate="print"/>
          <a:srcRect/>
          <a:stretch>
            <a:fillRect/>
          </a:stretch>
        </p:blipFill>
        <p:spPr bwMode="auto">
          <a:xfrm>
            <a:off x="1752600" y="1752600"/>
            <a:ext cx="5411788" cy="136646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latin typeface="Cascadia Code SemiLight" pitchFamily="49" charset="0"/>
                <a:cs typeface="Cascadia Code SemiLight" pitchFamily="49" charset="0"/>
              </a:rPr>
              <a:t>Градиентный спуск. Смысл</a:t>
            </a:r>
            <a:endParaRPr lang="ru-RU" dirty="0"/>
          </a:p>
        </p:txBody>
      </p:sp>
      <p:sp>
        <p:nvSpPr>
          <p:cNvPr id="3" name="Содержимое 2"/>
          <p:cNvSpPr>
            <a:spLocks noGrp="1"/>
          </p:cNvSpPr>
          <p:nvPr>
            <p:ph idx="1"/>
          </p:nvPr>
        </p:nvSpPr>
        <p:spPr>
          <a:xfrm>
            <a:off x="533400" y="1447800"/>
            <a:ext cx="7620000" cy="2316163"/>
          </a:xfrm>
        </p:spPr>
        <p:txBody>
          <a:bodyPr>
            <a:normAutofit fontScale="55000" lnSpcReduction="20000"/>
          </a:bodyPr>
          <a:lstStyle/>
          <a:p>
            <a:endParaRPr lang="ru-RU" dirty="0" smtClean="0">
              <a:latin typeface="Cascadia Code SemiLight" pitchFamily="49" charset="0"/>
              <a:cs typeface="Cascadia Code SemiLight" pitchFamily="49" charset="0"/>
            </a:endParaRPr>
          </a:p>
          <a:p>
            <a:r>
              <a:rPr lang="ru-RU" dirty="0" smtClean="0">
                <a:latin typeface="Cascadia Code SemiLight" pitchFamily="49" charset="0"/>
                <a:cs typeface="Cascadia Code SemiLight" pitchFamily="49" charset="0"/>
              </a:rPr>
              <a:t>Шаги в градиентном спуске</a:t>
            </a:r>
          </a:p>
          <a:p>
            <a:r>
              <a:rPr lang="ru-RU" dirty="0" smtClean="0">
                <a:latin typeface="Cascadia Code SemiLight" pitchFamily="49" charset="0"/>
                <a:cs typeface="Cascadia Code SemiLight" pitchFamily="49" charset="0"/>
              </a:rPr>
              <a:t>1) Инициализация весов и смещений случайными значениями</a:t>
            </a:r>
          </a:p>
          <a:p>
            <a:r>
              <a:rPr lang="ru-RU" dirty="0" smtClean="0">
                <a:latin typeface="Cascadia Code SemiLight" pitchFamily="49" charset="0"/>
                <a:cs typeface="Cascadia Code SemiLight" pitchFamily="49" charset="0"/>
              </a:rPr>
              <a:t>2) Вычисление целевой переменной с текущими весами</a:t>
            </a:r>
          </a:p>
          <a:p>
            <a:r>
              <a:rPr lang="ru-RU" dirty="0" smtClean="0">
                <a:latin typeface="Cascadia Code SemiLight" pitchFamily="49" charset="0"/>
                <a:cs typeface="Cascadia Code SemiLight" pitchFamily="49" charset="0"/>
              </a:rPr>
              <a:t>3) Анализ расхождения полученного от действительного</a:t>
            </a:r>
          </a:p>
          <a:p>
            <a:r>
              <a:rPr lang="ru-RU" dirty="0" smtClean="0">
                <a:latin typeface="Cascadia Code SemiLight" pitchFamily="49" charset="0"/>
                <a:cs typeface="Cascadia Code SemiLight" pitchFamily="49" charset="0"/>
              </a:rPr>
              <a:t>4) Корректировка весов </a:t>
            </a:r>
          </a:p>
          <a:p>
            <a:r>
              <a:rPr lang="ru-RU" dirty="0" smtClean="0">
                <a:latin typeface="Cascadia Code SemiLight" pitchFamily="49" charset="0"/>
                <a:cs typeface="Cascadia Code SemiLight" pitchFamily="49" charset="0"/>
              </a:rPr>
              <a:t>5) Возврат к шагу 2 </a:t>
            </a:r>
          </a:p>
          <a:p>
            <a:endParaRPr lang="ru-RU" dirty="0" smtClean="0">
              <a:latin typeface="Cascadia Code SemiLight" pitchFamily="49" charset="0"/>
              <a:cs typeface="Cascadia Code SemiLight" pitchFamily="49" charset="0"/>
            </a:endParaRPr>
          </a:p>
          <a:p>
            <a:endParaRPr lang="ru-RU" dirty="0" smtClean="0">
              <a:latin typeface="Cascadia Code SemiLight" pitchFamily="49" charset="0"/>
              <a:cs typeface="Cascadia Code SemiLight" pitchFamily="49" charset="0"/>
            </a:endParaRPr>
          </a:p>
          <a:p>
            <a:endParaRPr lang="ru-RU" dirty="0"/>
          </a:p>
        </p:txBody>
      </p:sp>
      <p:pic>
        <p:nvPicPr>
          <p:cNvPr id="3073" name="Picture 1"/>
          <p:cNvPicPr>
            <a:picLocks noChangeAspect="1" noChangeArrowheads="1"/>
          </p:cNvPicPr>
          <p:nvPr/>
        </p:nvPicPr>
        <p:blipFill>
          <a:blip r:embed="rId3" cstate="print"/>
          <a:srcRect/>
          <a:stretch>
            <a:fillRect/>
          </a:stretch>
        </p:blipFill>
        <p:spPr bwMode="auto">
          <a:xfrm>
            <a:off x="4267200" y="3200400"/>
            <a:ext cx="3664183" cy="3505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smtClean="0">
                <a:latin typeface="Cascadia Code Light" pitchFamily="49" charset="0"/>
                <a:cs typeface="Cascadia Code Light" pitchFamily="49" charset="0"/>
              </a:rPr>
              <a:t>Кодим</a:t>
            </a:r>
            <a:r>
              <a:rPr lang="ru-RU" dirty="0" smtClean="0">
                <a:latin typeface="Cascadia Code Light" pitchFamily="49" charset="0"/>
                <a:cs typeface="Cascadia Code Light" pitchFamily="49" charset="0"/>
              </a:rPr>
              <a:t>!</a:t>
            </a:r>
            <a:endParaRPr lang="ru-RU" dirty="0">
              <a:latin typeface="Cascadia Code Light" pitchFamily="49" charset="0"/>
              <a:cs typeface="Cascadia Code Light" pitchFamily="49" charset="0"/>
            </a:endParaRPr>
          </a:p>
        </p:txBody>
      </p:sp>
      <p:sp>
        <p:nvSpPr>
          <p:cNvPr id="3" name="Содержимое 2"/>
          <p:cNvSpPr>
            <a:spLocks noGrp="1"/>
          </p:cNvSpPr>
          <p:nvPr>
            <p:ph idx="1"/>
          </p:nvPr>
        </p:nvSpPr>
        <p:spPr/>
        <p:txBody>
          <a:bodyPr/>
          <a:lstStyle/>
          <a:p>
            <a:endParaRPr lang="ru-RU" dirty="0"/>
          </a:p>
        </p:txBody>
      </p:sp>
      <p:pic>
        <p:nvPicPr>
          <p:cNvPr id="4" name="Picture 4" descr="https://sun9-7.vkuserphoto.ru/s/v1/ig2/F12vTNaqTxIlaxEYVcQ1ZBdDDLZIX03lVUZrXpVvUloeIgyHPfeSQaoXFhwokkVxsGIW6a8y-bAOHVeB6oj5BsBv.jpg?quality=95&amp;as=32x18,48x27,72x40,108x61,160x90,240x135,360x202,480x270,540x303,640x360,720x405,735x413&amp;from=bu&amp;u=ORBkjUEmLezGjWPLju169HMGWEyRAs4Me9bnuBeUJQ0&amp;cs=735x0"/>
          <p:cNvPicPr>
            <a:picLocks noChangeAspect="1" noChangeArrowheads="1"/>
          </p:cNvPicPr>
          <p:nvPr/>
        </p:nvPicPr>
        <p:blipFill>
          <a:blip r:embed="rId2" cstate="print"/>
          <a:srcRect/>
          <a:stretch>
            <a:fillRect/>
          </a:stretch>
        </p:blipFill>
        <p:spPr bwMode="auto">
          <a:xfrm>
            <a:off x="533400" y="1371600"/>
            <a:ext cx="8001000" cy="4495802"/>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latin typeface="Cascadia Code Light" pitchFamily="49" charset="0"/>
                <a:cs typeface="Cascadia Code Light" pitchFamily="49" charset="0"/>
              </a:rPr>
              <a:t>Шаг 0. Импорты нужных библиотек</a:t>
            </a:r>
            <a:endParaRPr lang="ru-RU" dirty="0">
              <a:latin typeface="Cascadia Code Light" pitchFamily="49" charset="0"/>
              <a:cs typeface="Cascadia Code Light" pitchFamily="49" charset="0"/>
            </a:endParaRPr>
          </a:p>
        </p:txBody>
      </p:sp>
      <p:sp>
        <p:nvSpPr>
          <p:cNvPr id="3" name="Содержимое 2"/>
          <p:cNvSpPr>
            <a:spLocks noGrp="1"/>
          </p:cNvSpPr>
          <p:nvPr>
            <p:ph idx="1"/>
          </p:nvPr>
        </p:nvSpPr>
        <p:spPr>
          <a:xfrm>
            <a:off x="457200" y="5989637"/>
            <a:ext cx="8229600" cy="868363"/>
          </a:xfrm>
        </p:spPr>
        <p:txBody>
          <a:bodyPr>
            <a:normAutofit fontScale="85000" lnSpcReduction="10000"/>
          </a:bodyPr>
          <a:lstStyle/>
          <a:p>
            <a:r>
              <a:rPr lang="ru-RU" dirty="0" smtClean="0"/>
              <a:t>Эту ячейку нужно всегда запускать первой, перед тем как начать работу с остальным блокнотом. </a:t>
            </a:r>
            <a:endParaRPr lang="ru-RU" dirty="0"/>
          </a:p>
        </p:txBody>
      </p:sp>
      <p:pic>
        <p:nvPicPr>
          <p:cNvPr id="1026" name="Picture 2"/>
          <p:cNvPicPr>
            <a:picLocks noChangeAspect="1" noChangeArrowheads="1"/>
          </p:cNvPicPr>
          <p:nvPr/>
        </p:nvPicPr>
        <p:blipFill>
          <a:blip r:embed="rId3" cstate="print"/>
          <a:srcRect r="-999" b="13359"/>
          <a:stretch>
            <a:fillRect/>
          </a:stretch>
        </p:blipFill>
        <p:spPr bwMode="auto">
          <a:xfrm>
            <a:off x="1295400" y="1524000"/>
            <a:ext cx="6172200" cy="38100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81000" y="1600200"/>
            <a:ext cx="8305800" cy="4876800"/>
          </a:xfrm>
        </p:spPr>
        <p:txBody>
          <a:bodyPr>
            <a:normAutofit fontScale="32500" lnSpcReduction="20000"/>
          </a:bodyPr>
          <a:lstStyle/>
          <a:p>
            <a:pPr>
              <a:buNone/>
            </a:pPr>
            <a:r>
              <a:rPr lang="en-US" b="1" i="1" u="sng" dirty="0" err="1" smtClean="0">
                <a:latin typeface="Cascadia Code Light" pitchFamily="49" charset="0"/>
                <a:cs typeface="Cascadia Code Light" pitchFamily="49" charset="0"/>
              </a:rPr>
              <a:t>sklearn</a:t>
            </a:r>
            <a:r>
              <a:rPr lang="en-US" b="1" i="1" u="sng" dirty="0" smtClean="0">
                <a:latin typeface="Cascadia Code Light" pitchFamily="49" charset="0"/>
                <a:cs typeface="Cascadia Code Light" pitchFamily="49" charset="0"/>
              </a:rPr>
              <a:t>: </a:t>
            </a:r>
            <a:r>
              <a:rPr lang="ru-RU" b="1" i="1" u="sng" dirty="0" smtClean="0">
                <a:latin typeface="Cascadia Code Light" pitchFamily="49" charset="0"/>
                <a:cs typeface="Cascadia Code Light" pitchFamily="49" charset="0"/>
              </a:rPr>
              <a:t>что импортируем и зачем</a:t>
            </a:r>
            <a:endParaRPr lang="en-US" b="1" i="1" u="sng" dirty="0" smtClean="0">
              <a:latin typeface="Cascadia Code Light" pitchFamily="49" charset="0"/>
              <a:cs typeface="Cascadia Code Light" pitchFamily="49" charset="0"/>
            </a:endParaRPr>
          </a:p>
          <a:p>
            <a:r>
              <a:rPr lang="en-US" b="1" dirty="0" smtClean="0">
                <a:latin typeface="Cascadia Code Light" pitchFamily="49" charset="0"/>
                <a:cs typeface="Cascadia Code Light" pitchFamily="49" charset="0"/>
              </a:rPr>
              <a:t>from </a:t>
            </a:r>
            <a:r>
              <a:rPr lang="en-US" b="1" dirty="0" err="1" smtClean="0">
                <a:latin typeface="Cascadia Code Light" pitchFamily="49" charset="0"/>
                <a:cs typeface="Cascadia Code Light" pitchFamily="49" charset="0"/>
              </a:rPr>
              <a:t>sklearn.model_selection</a:t>
            </a:r>
            <a:r>
              <a:rPr lang="en-US" b="1" dirty="0" smtClean="0">
                <a:latin typeface="Cascadia Code Light" pitchFamily="49" charset="0"/>
                <a:cs typeface="Cascadia Code Light" pitchFamily="49" charset="0"/>
              </a:rPr>
              <a:t> import </a:t>
            </a:r>
            <a:r>
              <a:rPr lang="en-US" b="1" dirty="0" err="1" smtClean="0">
                <a:latin typeface="Cascadia Code Light" pitchFamily="49" charset="0"/>
                <a:cs typeface="Cascadia Code Light" pitchFamily="49" charset="0"/>
              </a:rPr>
              <a:t>train_test_split</a:t>
            </a:r>
            <a:endParaRPr lang="en-US" b="1" dirty="0" smtClean="0">
              <a:latin typeface="Cascadia Code Light" pitchFamily="49" charset="0"/>
              <a:cs typeface="Cascadia Code Light" pitchFamily="49" charset="0"/>
            </a:endParaRPr>
          </a:p>
          <a:p>
            <a:r>
              <a:rPr lang="ru-RU" dirty="0" smtClean="0">
                <a:latin typeface="Cascadia Code Light" pitchFamily="49" charset="0"/>
                <a:cs typeface="Cascadia Code Light" pitchFamily="49" charset="0"/>
              </a:rPr>
              <a:t>Что это: функция, которая делит данные на </a:t>
            </a:r>
            <a:r>
              <a:rPr lang="en-US" dirty="0" smtClean="0">
                <a:latin typeface="Cascadia Code Light" pitchFamily="49" charset="0"/>
                <a:cs typeface="Cascadia Code Light" pitchFamily="49" charset="0"/>
              </a:rPr>
              <a:t>train </a:t>
            </a:r>
            <a:r>
              <a:rPr lang="ru-RU" dirty="0" smtClean="0">
                <a:latin typeface="Cascadia Code Light" pitchFamily="49" charset="0"/>
                <a:cs typeface="Cascadia Code Light" pitchFamily="49" charset="0"/>
              </a:rPr>
              <a:t>и </a:t>
            </a:r>
            <a:r>
              <a:rPr lang="en-US" dirty="0" smtClean="0">
                <a:latin typeface="Cascadia Code Light" pitchFamily="49" charset="0"/>
                <a:cs typeface="Cascadia Code Light" pitchFamily="49" charset="0"/>
              </a:rPr>
              <a:t>test.</a:t>
            </a:r>
          </a:p>
          <a:p>
            <a:r>
              <a:rPr lang="ru-RU" dirty="0" smtClean="0">
                <a:latin typeface="Cascadia Code Light" pitchFamily="49" charset="0"/>
                <a:cs typeface="Cascadia Code Light" pitchFamily="49" charset="0"/>
              </a:rPr>
              <a:t>Зачем нам: без разбиения мы не сможем честно оценить модель — она «запомнит» </a:t>
            </a:r>
            <a:r>
              <a:rPr lang="en-US" dirty="0" smtClean="0">
                <a:latin typeface="Cascadia Code Light" pitchFamily="49" charset="0"/>
                <a:cs typeface="Cascadia Code Light" pitchFamily="49" charset="0"/>
              </a:rPr>
              <a:t>train </a:t>
            </a:r>
            <a:r>
              <a:rPr lang="ru-RU" dirty="0" smtClean="0">
                <a:latin typeface="Cascadia Code Light" pitchFamily="49" charset="0"/>
                <a:cs typeface="Cascadia Code Light" pitchFamily="49" charset="0"/>
              </a:rPr>
              <a:t>и покажет отличный результат на нём же.</a:t>
            </a:r>
          </a:p>
          <a:p>
            <a:r>
              <a:rPr lang="ru-RU" dirty="0" smtClean="0">
                <a:latin typeface="Cascadia Code Light" pitchFamily="49" charset="0"/>
                <a:cs typeface="Cascadia Code Light" pitchFamily="49" charset="0"/>
              </a:rPr>
              <a:t>Что делает: возвращает четыре массива: </a:t>
            </a:r>
            <a:r>
              <a:rPr lang="en-US" dirty="0" smtClean="0">
                <a:latin typeface="Cascadia Code Light" pitchFamily="49" charset="0"/>
                <a:cs typeface="Cascadia Code Light" pitchFamily="49" charset="0"/>
              </a:rPr>
              <a:t>train-</a:t>
            </a:r>
            <a:r>
              <a:rPr lang="ru-RU" dirty="0" smtClean="0">
                <a:latin typeface="Cascadia Code Light" pitchFamily="49" charset="0"/>
                <a:cs typeface="Cascadia Code Light" pitchFamily="49" charset="0"/>
              </a:rPr>
              <a:t>признаки, </a:t>
            </a:r>
            <a:r>
              <a:rPr lang="en-US" dirty="0" smtClean="0">
                <a:latin typeface="Cascadia Code Light" pitchFamily="49" charset="0"/>
                <a:cs typeface="Cascadia Code Light" pitchFamily="49" charset="0"/>
              </a:rPr>
              <a:t>test-</a:t>
            </a:r>
            <a:r>
              <a:rPr lang="ru-RU" dirty="0" smtClean="0">
                <a:latin typeface="Cascadia Code Light" pitchFamily="49" charset="0"/>
                <a:cs typeface="Cascadia Code Light" pitchFamily="49" charset="0"/>
              </a:rPr>
              <a:t>признаки, </a:t>
            </a:r>
            <a:r>
              <a:rPr lang="en-US" dirty="0" smtClean="0">
                <a:latin typeface="Cascadia Code Light" pitchFamily="49" charset="0"/>
                <a:cs typeface="Cascadia Code Light" pitchFamily="49" charset="0"/>
              </a:rPr>
              <a:t>train-</a:t>
            </a:r>
            <a:r>
              <a:rPr lang="ru-RU" dirty="0" smtClean="0">
                <a:latin typeface="Cascadia Code Light" pitchFamily="49" charset="0"/>
                <a:cs typeface="Cascadia Code Light" pitchFamily="49" charset="0"/>
              </a:rPr>
              <a:t>ответы, </a:t>
            </a:r>
            <a:r>
              <a:rPr lang="en-US" dirty="0" smtClean="0">
                <a:latin typeface="Cascadia Code Light" pitchFamily="49" charset="0"/>
                <a:cs typeface="Cascadia Code Light" pitchFamily="49" charset="0"/>
              </a:rPr>
              <a:t>test-</a:t>
            </a:r>
            <a:r>
              <a:rPr lang="ru-RU" dirty="0" smtClean="0">
                <a:latin typeface="Cascadia Code Light" pitchFamily="49" charset="0"/>
                <a:cs typeface="Cascadia Code Light" pitchFamily="49" charset="0"/>
              </a:rPr>
              <a:t>ответы. </a:t>
            </a:r>
            <a:r>
              <a:rPr lang="en-US" dirty="0" err="1" smtClean="0">
                <a:latin typeface="Cascadia Code Light" pitchFamily="49" charset="0"/>
                <a:cs typeface="Cascadia Code Light" pitchFamily="49" charset="0"/>
              </a:rPr>
              <a:t>test_size</a:t>
            </a:r>
            <a:r>
              <a:rPr lang="en-US" dirty="0" smtClean="0">
                <a:latin typeface="Cascadia Code Light" pitchFamily="49" charset="0"/>
                <a:cs typeface="Cascadia Code Light" pitchFamily="49" charset="0"/>
              </a:rPr>
              <a:t>=0.2 — 20% </a:t>
            </a:r>
            <a:r>
              <a:rPr lang="ru-RU" dirty="0" smtClean="0">
                <a:latin typeface="Cascadia Code Light" pitchFamily="49" charset="0"/>
                <a:cs typeface="Cascadia Code Light" pitchFamily="49" charset="0"/>
              </a:rPr>
              <a:t>на тест.</a:t>
            </a:r>
          </a:p>
          <a:p>
            <a:endParaRPr lang="ru-RU" dirty="0" smtClean="0">
              <a:latin typeface="Cascadia Code Light" pitchFamily="49" charset="0"/>
              <a:cs typeface="Cascadia Code Light" pitchFamily="49" charset="0"/>
            </a:endParaRPr>
          </a:p>
          <a:p>
            <a:r>
              <a:rPr lang="ru-RU" b="1" dirty="0" err="1" smtClean="0">
                <a:latin typeface="Cascadia Code Light" pitchFamily="49" charset="0"/>
                <a:cs typeface="Cascadia Code Light" pitchFamily="49" charset="0"/>
              </a:rPr>
              <a:t>from</a:t>
            </a:r>
            <a:r>
              <a:rPr lang="ru-RU" b="1" dirty="0" smtClean="0">
                <a:latin typeface="Cascadia Code Light" pitchFamily="49" charset="0"/>
                <a:cs typeface="Cascadia Code Light" pitchFamily="49" charset="0"/>
              </a:rPr>
              <a:t> </a:t>
            </a:r>
            <a:r>
              <a:rPr lang="ru-RU" b="1" dirty="0" err="1" smtClean="0">
                <a:latin typeface="Cascadia Code Light" pitchFamily="49" charset="0"/>
                <a:cs typeface="Cascadia Code Light" pitchFamily="49" charset="0"/>
              </a:rPr>
              <a:t>sklearn.preprocessing</a:t>
            </a:r>
            <a:r>
              <a:rPr lang="ru-RU" b="1" dirty="0" smtClean="0">
                <a:latin typeface="Cascadia Code Light" pitchFamily="49" charset="0"/>
                <a:cs typeface="Cascadia Code Light" pitchFamily="49" charset="0"/>
              </a:rPr>
              <a:t> </a:t>
            </a:r>
            <a:r>
              <a:rPr lang="ru-RU" b="1" dirty="0" err="1" smtClean="0">
                <a:latin typeface="Cascadia Code Light" pitchFamily="49" charset="0"/>
                <a:cs typeface="Cascadia Code Light" pitchFamily="49" charset="0"/>
              </a:rPr>
              <a:t>import</a:t>
            </a:r>
            <a:r>
              <a:rPr lang="ru-RU" b="1" dirty="0" smtClean="0">
                <a:latin typeface="Cascadia Code Light" pitchFamily="49" charset="0"/>
                <a:cs typeface="Cascadia Code Light" pitchFamily="49" charset="0"/>
              </a:rPr>
              <a:t> </a:t>
            </a:r>
            <a:r>
              <a:rPr lang="ru-RU" b="1" dirty="0" err="1" smtClean="0">
                <a:latin typeface="Cascadia Code Light" pitchFamily="49" charset="0"/>
                <a:cs typeface="Cascadia Code Light" pitchFamily="49" charset="0"/>
              </a:rPr>
              <a:t>StandardScaler</a:t>
            </a:r>
            <a:endParaRPr lang="ru-RU" b="1" dirty="0" smtClean="0">
              <a:latin typeface="Cascadia Code Light" pitchFamily="49" charset="0"/>
              <a:cs typeface="Cascadia Code Light" pitchFamily="49" charset="0"/>
            </a:endParaRPr>
          </a:p>
          <a:p>
            <a:r>
              <a:rPr lang="ru-RU" dirty="0" smtClean="0">
                <a:latin typeface="Cascadia Code Light" pitchFamily="49" charset="0"/>
                <a:cs typeface="Cascadia Code Light" pitchFamily="49" charset="0"/>
              </a:rPr>
              <a:t>Что это: класс для масштабирования признаков — приводит каждый столбец к среднему 0 и </a:t>
            </a:r>
            <a:r>
              <a:rPr lang="ru-RU" dirty="0" err="1" smtClean="0">
                <a:latin typeface="Cascadia Code Light" pitchFamily="49" charset="0"/>
                <a:cs typeface="Cascadia Code Light" pitchFamily="49" charset="0"/>
              </a:rPr>
              <a:t>std</a:t>
            </a:r>
            <a:r>
              <a:rPr lang="ru-RU" dirty="0" smtClean="0">
                <a:latin typeface="Cascadia Code Light" pitchFamily="49" charset="0"/>
                <a:cs typeface="Cascadia Code Light" pitchFamily="49" charset="0"/>
              </a:rPr>
              <a:t> 1.</a:t>
            </a:r>
          </a:p>
          <a:p>
            <a:r>
              <a:rPr lang="ru-RU" dirty="0" smtClean="0">
                <a:latin typeface="Cascadia Code Light" pitchFamily="49" charset="0"/>
                <a:cs typeface="Cascadia Code Light" pitchFamily="49" charset="0"/>
              </a:rPr>
              <a:t>Зачем нам: признаки в </a:t>
            </a:r>
            <a:r>
              <a:rPr lang="ru-RU" dirty="0" err="1" smtClean="0">
                <a:latin typeface="Cascadia Code Light" pitchFamily="49" charset="0"/>
                <a:cs typeface="Cascadia Code Light" pitchFamily="49" charset="0"/>
              </a:rPr>
              <a:t>California</a:t>
            </a:r>
            <a:r>
              <a:rPr lang="ru-RU" dirty="0" smtClean="0">
                <a:latin typeface="Cascadia Code Light" pitchFamily="49" charset="0"/>
                <a:cs typeface="Cascadia Code Light" pitchFamily="49" charset="0"/>
              </a:rPr>
              <a:t> </a:t>
            </a:r>
            <a:r>
              <a:rPr lang="ru-RU" dirty="0" err="1" smtClean="0">
                <a:latin typeface="Cascadia Code Light" pitchFamily="49" charset="0"/>
                <a:cs typeface="Cascadia Code Light" pitchFamily="49" charset="0"/>
              </a:rPr>
              <a:t>Housing</a:t>
            </a:r>
            <a:r>
              <a:rPr lang="ru-RU" dirty="0" smtClean="0">
                <a:latin typeface="Cascadia Code Light" pitchFamily="49" charset="0"/>
                <a:cs typeface="Cascadia Code Light" pitchFamily="49" charset="0"/>
              </a:rPr>
              <a:t> </a:t>
            </a:r>
            <a:r>
              <a:rPr lang="ru-RU" dirty="0" err="1" smtClean="0">
                <a:latin typeface="Cascadia Code Light" pitchFamily="49" charset="0"/>
                <a:cs typeface="Cascadia Code Light" pitchFamily="49" charset="0"/>
              </a:rPr>
              <a:t>в</a:t>
            </a:r>
            <a:r>
              <a:rPr lang="ru-RU" dirty="0" smtClean="0">
                <a:latin typeface="Cascadia Code Light" pitchFamily="49" charset="0"/>
                <a:cs typeface="Cascadia Code Light" pitchFamily="49" charset="0"/>
              </a:rPr>
              <a:t> разном масштабе (</a:t>
            </a:r>
            <a:r>
              <a:rPr lang="ru-RU" dirty="0" err="1" smtClean="0">
                <a:latin typeface="Cascadia Code Light" pitchFamily="49" charset="0"/>
                <a:cs typeface="Cascadia Code Light" pitchFamily="49" charset="0"/>
              </a:rPr>
              <a:t>MedInc</a:t>
            </a:r>
            <a:r>
              <a:rPr lang="ru-RU" dirty="0" smtClean="0">
                <a:latin typeface="Cascadia Code Light" pitchFamily="49" charset="0"/>
                <a:cs typeface="Cascadia Code Light" pitchFamily="49" charset="0"/>
              </a:rPr>
              <a:t> от 0.5 до 15, </a:t>
            </a:r>
            <a:r>
              <a:rPr lang="ru-RU" dirty="0" err="1" smtClean="0">
                <a:latin typeface="Cascadia Code Light" pitchFamily="49" charset="0"/>
                <a:cs typeface="Cascadia Code Light" pitchFamily="49" charset="0"/>
              </a:rPr>
              <a:t>Population</a:t>
            </a:r>
            <a:r>
              <a:rPr lang="ru-RU" dirty="0" smtClean="0">
                <a:latin typeface="Cascadia Code Light" pitchFamily="49" charset="0"/>
                <a:cs typeface="Cascadia Code Light" pitchFamily="49" charset="0"/>
              </a:rPr>
              <a:t> от 3 до 35 682). Без масштабирования градиентный спуск расходится.</a:t>
            </a:r>
          </a:p>
          <a:p>
            <a:endParaRPr lang="ru-RU" dirty="0" smtClean="0">
              <a:latin typeface="Cascadia Code Light" pitchFamily="49" charset="0"/>
              <a:cs typeface="Cascadia Code Light" pitchFamily="49" charset="0"/>
            </a:endParaRPr>
          </a:p>
          <a:p>
            <a:r>
              <a:rPr lang="ru-RU" b="1" dirty="0" err="1" smtClean="0">
                <a:latin typeface="Cascadia Code Light" pitchFamily="49" charset="0"/>
                <a:cs typeface="Cascadia Code Light" pitchFamily="49" charset="0"/>
              </a:rPr>
              <a:t>from</a:t>
            </a:r>
            <a:r>
              <a:rPr lang="ru-RU" b="1" dirty="0" smtClean="0">
                <a:latin typeface="Cascadia Code Light" pitchFamily="49" charset="0"/>
                <a:cs typeface="Cascadia Code Light" pitchFamily="49" charset="0"/>
              </a:rPr>
              <a:t> </a:t>
            </a:r>
            <a:r>
              <a:rPr lang="ru-RU" b="1" dirty="0" err="1" smtClean="0">
                <a:latin typeface="Cascadia Code Light" pitchFamily="49" charset="0"/>
                <a:cs typeface="Cascadia Code Light" pitchFamily="49" charset="0"/>
              </a:rPr>
              <a:t>sklearn.linear_model</a:t>
            </a:r>
            <a:r>
              <a:rPr lang="ru-RU" b="1" dirty="0" smtClean="0">
                <a:latin typeface="Cascadia Code Light" pitchFamily="49" charset="0"/>
                <a:cs typeface="Cascadia Code Light" pitchFamily="49" charset="0"/>
              </a:rPr>
              <a:t> </a:t>
            </a:r>
            <a:r>
              <a:rPr lang="ru-RU" b="1" dirty="0" err="1" smtClean="0">
                <a:latin typeface="Cascadia Code Light" pitchFamily="49" charset="0"/>
                <a:cs typeface="Cascadia Code Light" pitchFamily="49" charset="0"/>
              </a:rPr>
              <a:t>import</a:t>
            </a:r>
            <a:r>
              <a:rPr lang="ru-RU" b="1" dirty="0" smtClean="0">
                <a:latin typeface="Cascadia Code Light" pitchFamily="49" charset="0"/>
                <a:cs typeface="Cascadia Code Light" pitchFamily="49" charset="0"/>
              </a:rPr>
              <a:t> </a:t>
            </a:r>
            <a:r>
              <a:rPr lang="ru-RU" b="1" dirty="0" err="1" smtClean="0">
                <a:latin typeface="Cascadia Code Light" pitchFamily="49" charset="0"/>
                <a:cs typeface="Cascadia Code Light" pitchFamily="49" charset="0"/>
              </a:rPr>
              <a:t>LinearRegression</a:t>
            </a:r>
            <a:r>
              <a:rPr lang="ru-RU" b="1" dirty="0" smtClean="0">
                <a:latin typeface="Cascadia Code Light" pitchFamily="49" charset="0"/>
                <a:cs typeface="Cascadia Code Light" pitchFamily="49" charset="0"/>
              </a:rPr>
              <a:t>, </a:t>
            </a:r>
            <a:r>
              <a:rPr lang="ru-RU" b="1" dirty="0" err="1" smtClean="0">
                <a:latin typeface="Cascadia Code Light" pitchFamily="49" charset="0"/>
                <a:cs typeface="Cascadia Code Light" pitchFamily="49" charset="0"/>
              </a:rPr>
              <a:t>SGDRegressor</a:t>
            </a:r>
            <a:endParaRPr lang="ru-RU" b="1" dirty="0" smtClean="0">
              <a:latin typeface="Cascadia Code Light" pitchFamily="49" charset="0"/>
              <a:cs typeface="Cascadia Code Light" pitchFamily="49" charset="0"/>
            </a:endParaRPr>
          </a:p>
          <a:p>
            <a:r>
              <a:rPr lang="ru-RU" dirty="0" smtClean="0">
                <a:latin typeface="Cascadia Code Light" pitchFamily="49" charset="0"/>
                <a:cs typeface="Cascadia Code Light" pitchFamily="49" charset="0"/>
              </a:rPr>
              <a:t>Что это: две готовые реализации линейной регрессии.</a:t>
            </a:r>
          </a:p>
          <a:p>
            <a:r>
              <a:rPr lang="ru-RU" dirty="0" err="1" smtClean="0">
                <a:latin typeface="Cascadia Code Light" pitchFamily="49" charset="0"/>
                <a:cs typeface="Cascadia Code Light" pitchFamily="49" charset="0"/>
              </a:rPr>
              <a:t>LinearRegression</a:t>
            </a:r>
            <a:r>
              <a:rPr lang="ru-RU" dirty="0" smtClean="0">
                <a:latin typeface="Cascadia Code Light" pitchFamily="49" charset="0"/>
                <a:cs typeface="Cascadia Code Light" pitchFamily="49" charset="0"/>
              </a:rPr>
              <a:t> – решает аналитически (через SVD – сингулярное разложение) — быстро и точно на малых данных</a:t>
            </a:r>
          </a:p>
          <a:p>
            <a:r>
              <a:rPr lang="ru-RU" dirty="0" err="1" smtClean="0">
                <a:latin typeface="Cascadia Code Light" pitchFamily="49" charset="0"/>
                <a:cs typeface="Cascadia Code Light" pitchFamily="49" charset="0"/>
              </a:rPr>
              <a:t>SGDRegressor</a:t>
            </a:r>
            <a:r>
              <a:rPr lang="ru-RU" dirty="0" smtClean="0">
                <a:latin typeface="Cascadia Code Light" pitchFamily="49" charset="0"/>
                <a:cs typeface="Cascadia Code Light" pitchFamily="49" charset="0"/>
              </a:rPr>
              <a:t> - Градиентным спуском — тот же алгоритм, что мы пишем руками</a:t>
            </a:r>
          </a:p>
          <a:p>
            <a:r>
              <a:rPr lang="ru-RU" dirty="0" smtClean="0">
                <a:latin typeface="Cascadia Code Light" pitchFamily="49" charset="0"/>
                <a:cs typeface="Cascadia Code Light" pitchFamily="49" charset="0"/>
              </a:rPr>
              <a:t>Зачем нам: чтобы сравнить с ручным GD и </a:t>
            </a:r>
            <a:r>
              <a:rPr lang="ru-RU" dirty="0" err="1" smtClean="0">
                <a:latin typeface="Cascadia Code Light" pitchFamily="49" charset="0"/>
                <a:cs typeface="Cascadia Code Light" pitchFamily="49" charset="0"/>
              </a:rPr>
              <a:t>Keras</a:t>
            </a:r>
            <a:r>
              <a:rPr lang="ru-RU" dirty="0" smtClean="0">
                <a:latin typeface="Cascadia Code Light" pitchFamily="49" charset="0"/>
                <a:cs typeface="Cascadia Code Light" pitchFamily="49" charset="0"/>
              </a:rPr>
              <a:t>. Все три подхода должны дать близкие результаты.</a:t>
            </a:r>
          </a:p>
          <a:p>
            <a:r>
              <a:rPr lang="ru-RU" dirty="0" smtClean="0">
                <a:latin typeface="Cascadia Code Light" pitchFamily="49" charset="0"/>
                <a:cs typeface="Cascadia Code Light" pitchFamily="49" charset="0"/>
              </a:rPr>
              <a:t>Ключевые методы:</a:t>
            </a:r>
          </a:p>
          <a:p>
            <a:r>
              <a:rPr lang="ru-RU" dirty="0" smtClean="0">
                <a:latin typeface="Cascadia Code Light" pitchFamily="49" charset="0"/>
                <a:cs typeface="Cascadia Code Light" pitchFamily="49" charset="0"/>
              </a:rPr>
              <a:t>.</a:t>
            </a:r>
            <a:r>
              <a:rPr lang="en-US" dirty="0" smtClean="0">
                <a:latin typeface="Cascadia Code Light" pitchFamily="49" charset="0"/>
                <a:cs typeface="Cascadia Code Light" pitchFamily="49" charset="0"/>
              </a:rPr>
              <a:t>fit(X, y) — </a:t>
            </a:r>
            <a:r>
              <a:rPr lang="ru-RU" dirty="0" smtClean="0">
                <a:latin typeface="Cascadia Code Light" pitchFamily="49" charset="0"/>
                <a:cs typeface="Cascadia Code Light" pitchFamily="49" charset="0"/>
              </a:rPr>
              <a:t>обучение;</a:t>
            </a:r>
          </a:p>
          <a:p>
            <a:r>
              <a:rPr lang="ru-RU" dirty="0" smtClean="0">
                <a:latin typeface="Cascadia Code Light" pitchFamily="49" charset="0"/>
                <a:cs typeface="Cascadia Code Light" pitchFamily="49" charset="0"/>
              </a:rPr>
              <a:t>.</a:t>
            </a:r>
            <a:r>
              <a:rPr lang="en-US" dirty="0" smtClean="0">
                <a:latin typeface="Cascadia Code Light" pitchFamily="49" charset="0"/>
                <a:cs typeface="Cascadia Code Light" pitchFamily="49" charset="0"/>
              </a:rPr>
              <a:t>predict(X) — </a:t>
            </a:r>
            <a:r>
              <a:rPr lang="ru-RU" dirty="0" smtClean="0">
                <a:latin typeface="Cascadia Code Light" pitchFamily="49" charset="0"/>
                <a:cs typeface="Cascadia Code Light" pitchFamily="49" charset="0"/>
              </a:rPr>
              <a:t>предсказание;</a:t>
            </a:r>
          </a:p>
          <a:p>
            <a:r>
              <a:rPr lang="ru-RU" dirty="0" smtClean="0">
                <a:latin typeface="Cascadia Code Light" pitchFamily="49" charset="0"/>
                <a:cs typeface="Cascadia Code Light" pitchFamily="49" charset="0"/>
              </a:rPr>
              <a:t>.</a:t>
            </a:r>
            <a:r>
              <a:rPr lang="en-US" dirty="0" err="1" smtClean="0">
                <a:latin typeface="Cascadia Code Light" pitchFamily="49" charset="0"/>
                <a:cs typeface="Cascadia Code Light" pitchFamily="49" charset="0"/>
              </a:rPr>
              <a:t>coef</a:t>
            </a:r>
            <a:r>
              <a:rPr lang="en-US" dirty="0" smtClean="0">
                <a:latin typeface="Cascadia Code Light" pitchFamily="49" charset="0"/>
                <a:cs typeface="Cascadia Code Light" pitchFamily="49" charset="0"/>
              </a:rPr>
              <a:t>_ — </a:t>
            </a:r>
            <a:r>
              <a:rPr lang="ru-RU" dirty="0" smtClean="0">
                <a:latin typeface="Cascadia Code Light" pitchFamily="49" charset="0"/>
                <a:cs typeface="Cascadia Code Light" pitchFamily="49" charset="0"/>
              </a:rPr>
              <a:t>веса;</a:t>
            </a:r>
          </a:p>
          <a:p>
            <a:r>
              <a:rPr lang="ru-RU" dirty="0" smtClean="0">
                <a:latin typeface="Cascadia Code Light" pitchFamily="49" charset="0"/>
                <a:cs typeface="Cascadia Code Light" pitchFamily="49" charset="0"/>
              </a:rPr>
              <a:t>.</a:t>
            </a:r>
            <a:r>
              <a:rPr lang="en-US" dirty="0" smtClean="0">
                <a:latin typeface="Cascadia Code Light" pitchFamily="49" charset="0"/>
                <a:cs typeface="Cascadia Code Light" pitchFamily="49" charset="0"/>
              </a:rPr>
              <a:t>intercept_ — </a:t>
            </a:r>
            <a:r>
              <a:rPr lang="ru-RU" dirty="0" smtClean="0">
                <a:latin typeface="Cascadia Code Light" pitchFamily="49" charset="0"/>
                <a:cs typeface="Cascadia Code Light" pitchFamily="49" charset="0"/>
              </a:rPr>
              <a:t>смещение.</a:t>
            </a:r>
          </a:p>
          <a:p>
            <a:endParaRPr lang="ru-RU" dirty="0" smtClean="0">
              <a:latin typeface="Cascadia Code Light" pitchFamily="49" charset="0"/>
              <a:cs typeface="Cascadia Code Light" pitchFamily="49" charset="0"/>
            </a:endParaRPr>
          </a:p>
          <a:p>
            <a:r>
              <a:rPr lang="ru-RU" b="1" dirty="0" err="1" smtClean="0">
                <a:latin typeface="Cascadia Code Light" pitchFamily="49" charset="0"/>
                <a:cs typeface="Cascadia Code Light" pitchFamily="49" charset="0"/>
              </a:rPr>
              <a:t>from</a:t>
            </a:r>
            <a:r>
              <a:rPr lang="ru-RU" b="1" dirty="0" smtClean="0">
                <a:latin typeface="Cascadia Code Light" pitchFamily="49" charset="0"/>
                <a:cs typeface="Cascadia Code Light" pitchFamily="49" charset="0"/>
              </a:rPr>
              <a:t> </a:t>
            </a:r>
            <a:r>
              <a:rPr lang="ru-RU" b="1" dirty="0" err="1" smtClean="0">
                <a:latin typeface="Cascadia Code Light" pitchFamily="49" charset="0"/>
                <a:cs typeface="Cascadia Code Light" pitchFamily="49" charset="0"/>
              </a:rPr>
              <a:t>sklearn.metrics</a:t>
            </a:r>
            <a:r>
              <a:rPr lang="ru-RU" b="1" dirty="0" smtClean="0">
                <a:latin typeface="Cascadia Code Light" pitchFamily="49" charset="0"/>
                <a:cs typeface="Cascadia Code Light" pitchFamily="49" charset="0"/>
              </a:rPr>
              <a:t> </a:t>
            </a:r>
            <a:r>
              <a:rPr lang="ru-RU" b="1" dirty="0" err="1" smtClean="0">
                <a:latin typeface="Cascadia Code Light" pitchFamily="49" charset="0"/>
                <a:cs typeface="Cascadia Code Light" pitchFamily="49" charset="0"/>
              </a:rPr>
              <a:t>import</a:t>
            </a:r>
            <a:r>
              <a:rPr lang="ru-RU" b="1" dirty="0" smtClean="0">
                <a:latin typeface="Cascadia Code Light" pitchFamily="49" charset="0"/>
                <a:cs typeface="Cascadia Code Light" pitchFamily="49" charset="0"/>
              </a:rPr>
              <a:t> </a:t>
            </a:r>
            <a:r>
              <a:rPr lang="ru-RU" b="1" dirty="0" err="1" smtClean="0">
                <a:latin typeface="Cascadia Code Light" pitchFamily="49" charset="0"/>
                <a:cs typeface="Cascadia Code Light" pitchFamily="49" charset="0"/>
              </a:rPr>
              <a:t>mean_squared_error</a:t>
            </a:r>
            <a:r>
              <a:rPr lang="ru-RU" b="1" dirty="0" smtClean="0">
                <a:latin typeface="Cascadia Code Light" pitchFamily="49" charset="0"/>
                <a:cs typeface="Cascadia Code Light" pitchFamily="49" charset="0"/>
              </a:rPr>
              <a:t>, r2_score</a:t>
            </a:r>
          </a:p>
          <a:p>
            <a:r>
              <a:rPr lang="ru-RU" dirty="0" smtClean="0">
                <a:latin typeface="Cascadia Code Light" pitchFamily="49" charset="0"/>
                <a:cs typeface="Cascadia Code Light" pitchFamily="49" charset="0"/>
              </a:rPr>
              <a:t>Что это: метрики для оценки качества регрессии.</a:t>
            </a:r>
          </a:p>
          <a:p>
            <a:r>
              <a:rPr lang="ru-RU" dirty="0" err="1" smtClean="0">
                <a:latin typeface="Cascadia Code Light" pitchFamily="49" charset="0"/>
                <a:cs typeface="Cascadia Code Light" pitchFamily="49" charset="0"/>
              </a:rPr>
              <a:t>mean_squared_error</a:t>
            </a:r>
            <a:r>
              <a:rPr lang="ru-RU" dirty="0" smtClean="0">
                <a:latin typeface="Cascadia Code Light" pitchFamily="49" charset="0"/>
                <a:cs typeface="Cascadia Code Light" pitchFamily="49" charset="0"/>
              </a:rPr>
              <a:t> (MSE) — средний квадрат ошибки</a:t>
            </a:r>
          </a:p>
          <a:p>
            <a:r>
              <a:rPr lang="ru-RU" dirty="0" smtClean="0">
                <a:latin typeface="Cascadia Code Light" pitchFamily="49" charset="0"/>
                <a:cs typeface="Cascadia Code Light" pitchFamily="49" charset="0"/>
              </a:rPr>
              <a:t>r2_score (R²) — доля объяснённого разброса</a:t>
            </a:r>
          </a:p>
          <a:p>
            <a:r>
              <a:rPr lang="ru-RU" dirty="0" smtClean="0">
                <a:latin typeface="Cascadia Code Light" pitchFamily="49" charset="0"/>
                <a:cs typeface="Cascadia Code Light" pitchFamily="49" charset="0"/>
              </a:rPr>
              <a:t>Зачем нам: чтобы численно оценить модель на тесте — не только глазами по графику, но и по метрикам.</a:t>
            </a:r>
          </a:p>
          <a:p>
            <a:endParaRPr lang="ru-RU" dirty="0" smtClean="0">
              <a:latin typeface="Cascadia Code Light" pitchFamily="49" charset="0"/>
              <a:cs typeface="Cascadia Code Light" pitchFamily="49" charset="0"/>
            </a:endParaRPr>
          </a:p>
          <a:p>
            <a:endParaRPr lang="ru-RU" dirty="0" smtClean="0">
              <a:latin typeface="Cascadia Code Light" pitchFamily="49" charset="0"/>
              <a:cs typeface="Cascadia Code Light" pitchFamily="49" charset="0"/>
            </a:endParaRPr>
          </a:p>
          <a:p>
            <a:endParaRPr lang="ru-RU" dirty="0" smtClean="0">
              <a:latin typeface="Cascadia Code Light" pitchFamily="49" charset="0"/>
              <a:cs typeface="Cascadia Code Light" pitchFamily="49" charset="0"/>
            </a:endParaRPr>
          </a:p>
          <a:p>
            <a:endParaRPr lang="ru-RU" dirty="0">
              <a:latin typeface="Cascadia Code Light" pitchFamily="49" charset="0"/>
              <a:cs typeface="Cascadia Code Light" pitchFamily="49" charset="0"/>
            </a:endParaRPr>
          </a:p>
        </p:txBody>
      </p:sp>
      <p:pic>
        <p:nvPicPr>
          <p:cNvPr id="4" name="Picture 2"/>
          <p:cNvPicPr>
            <a:picLocks noChangeAspect="1" noChangeArrowheads="1"/>
          </p:cNvPicPr>
          <p:nvPr/>
        </p:nvPicPr>
        <p:blipFill>
          <a:blip r:embed="rId3" cstate="print"/>
          <a:srcRect l="12469" t="29458" r="-3493" b="53214"/>
          <a:stretch>
            <a:fillRect/>
          </a:stretch>
        </p:blipFill>
        <p:spPr bwMode="auto">
          <a:xfrm>
            <a:off x="533400" y="228600"/>
            <a:ext cx="7696200" cy="1054274"/>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57200" y="2133600"/>
            <a:ext cx="8229600" cy="3992563"/>
          </a:xfrm>
        </p:spPr>
        <p:txBody>
          <a:bodyPr>
            <a:normAutofit fontScale="32500" lnSpcReduction="20000"/>
          </a:bodyPr>
          <a:lstStyle/>
          <a:p>
            <a:r>
              <a:rPr lang="ru-RU" dirty="0" smtClean="0">
                <a:latin typeface="Cascadia Code Light" pitchFamily="49" charset="0"/>
                <a:cs typeface="Cascadia Code Light" pitchFamily="49" charset="0"/>
              </a:rPr>
              <a:t>Три строки — три импорта из </a:t>
            </a:r>
            <a:r>
              <a:rPr lang="ru-RU" dirty="0" err="1" smtClean="0">
                <a:latin typeface="Cascadia Code Light" pitchFamily="49" charset="0"/>
                <a:cs typeface="Cascadia Code Light" pitchFamily="49" charset="0"/>
              </a:rPr>
              <a:t>TensorFlow</a:t>
            </a:r>
            <a:r>
              <a:rPr lang="ru-RU" dirty="0" smtClean="0">
                <a:latin typeface="Cascadia Code Light" pitchFamily="49" charset="0"/>
                <a:cs typeface="Cascadia Code Light" pitchFamily="49" charset="0"/>
              </a:rPr>
              <a:t>/</a:t>
            </a:r>
            <a:r>
              <a:rPr lang="ru-RU" dirty="0" err="1" smtClean="0">
                <a:latin typeface="Cascadia Code Light" pitchFamily="49" charset="0"/>
                <a:cs typeface="Cascadia Code Light" pitchFamily="49" charset="0"/>
              </a:rPr>
              <a:t>Keras</a:t>
            </a:r>
            <a:r>
              <a:rPr lang="ru-RU" dirty="0" smtClean="0">
                <a:latin typeface="Cascadia Code Light" pitchFamily="49" charset="0"/>
                <a:cs typeface="Cascadia Code Light" pitchFamily="49" charset="0"/>
              </a:rPr>
              <a:t>. Каждая берёт один конкретный компонент, который понадобится для построения и обучения </a:t>
            </a:r>
            <a:r>
              <a:rPr lang="ru-RU" dirty="0" err="1" smtClean="0">
                <a:latin typeface="Cascadia Code Light" pitchFamily="49" charset="0"/>
                <a:cs typeface="Cascadia Code Light" pitchFamily="49" charset="0"/>
              </a:rPr>
              <a:t>нейросети</a:t>
            </a:r>
            <a:r>
              <a:rPr lang="ru-RU" dirty="0" smtClean="0">
                <a:latin typeface="Cascadia Code Light" pitchFamily="49" charset="0"/>
                <a:cs typeface="Cascadia Code Light" pitchFamily="49" charset="0"/>
              </a:rPr>
              <a:t>.</a:t>
            </a:r>
          </a:p>
          <a:p>
            <a:endParaRPr lang="ru-RU" dirty="0" smtClean="0">
              <a:latin typeface="Cascadia Code Light" pitchFamily="49" charset="0"/>
              <a:cs typeface="Cascadia Code Light" pitchFamily="49" charset="0"/>
            </a:endParaRPr>
          </a:p>
          <a:p>
            <a:r>
              <a:rPr lang="ru-RU" dirty="0" smtClean="0">
                <a:latin typeface="Cascadia Code Light" pitchFamily="49" charset="0"/>
                <a:cs typeface="Cascadia Code Light" pitchFamily="49" charset="0"/>
              </a:rPr>
              <a:t>Разберём каждую строку.</a:t>
            </a:r>
          </a:p>
          <a:p>
            <a:endParaRPr lang="ru-RU" dirty="0" smtClean="0">
              <a:latin typeface="Cascadia Code Light" pitchFamily="49" charset="0"/>
              <a:cs typeface="Cascadia Code Light" pitchFamily="49" charset="0"/>
            </a:endParaRPr>
          </a:p>
          <a:p>
            <a:r>
              <a:rPr lang="ru-RU" b="1" dirty="0" smtClean="0">
                <a:latin typeface="Cascadia Code Light" pitchFamily="49" charset="0"/>
                <a:cs typeface="Cascadia Code Light" pitchFamily="49" charset="0"/>
              </a:rPr>
              <a:t>Строка 1. </a:t>
            </a:r>
            <a:r>
              <a:rPr lang="ru-RU" b="1" dirty="0" err="1" smtClean="0">
                <a:latin typeface="Cascadia Code Light" pitchFamily="49" charset="0"/>
                <a:cs typeface="Cascadia Code Light" pitchFamily="49" charset="0"/>
              </a:rPr>
              <a:t>Sequential</a:t>
            </a:r>
            <a:r>
              <a:rPr lang="ru-RU" b="1" dirty="0" smtClean="0">
                <a:latin typeface="Cascadia Code Light" pitchFamily="49" charset="0"/>
                <a:cs typeface="Cascadia Code Light" pitchFamily="49" charset="0"/>
              </a:rPr>
              <a:t> — контейнер для слоёв</a:t>
            </a:r>
          </a:p>
          <a:p>
            <a:r>
              <a:rPr lang="ru-RU" dirty="0" err="1" smtClean="0">
                <a:latin typeface="Cascadia Code Light" pitchFamily="49" charset="0"/>
                <a:cs typeface="Cascadia Code Light" pitchFamily="49" charset="0"/>
              </a:rPr>
              <a:t>Sequential</a:t>
            </a:r>
            <a:r>
              <a:rPr lang="ru-RU" dirty="0" smtClean="0">
                <a:latin typeface="Cascadia Code Light" pitchFamily="49" charset="0"/>
                <a:cs typeface="Cascadia Code Light" pitchFamily="49" charset="0"/>
              </a:rPr>
              <a:t> — это упорядоченный список слоёв. Слои в нём идут строго друг за другом, и данные проходят через них по порядку — от первого к последнему.</a:t>
            </a:r>
          </a:p>
          <a:p>
            <a:r>
              <a:rPr lang="ru-RU" dirty="0" smtClean="0">
                <a:latin typeface="Cascadia Code Light" pitchFamily="49" charset="0"/>
                <a:cs typeface="Cascadia Code Light" pitchFamily="49" charset="0"/>
              </a:rPr>
              <a:t>Название «</a:t>
            </a:r>
            <a:r>
              <a:rPr lang="ru-RU" dirty="0" err="1" smtClean="0">
                <a:latin typeface="Cascadia Code Light" pitchFamily="49" charset="0"/>
                <a:cs typeface="Cascadia Code Light" pitchFamily="49" charset="0"/>
              </a:rPr>
              <a:t>Sequential</a:t>
            </a:r>
            <a:r>
              <a:rPr lang="ru-RU" dirty="0" smtClean="0">
                <a:latin typeface="Cascadia Code Light" pitchFamily="49" charset="0"/>
                <a:cs typeface="Cascadia Code Light" pitchFamily="49" charset="0"/>
              </a:rPr>
              <a:t>» переводится как «последовательный». Это буквально описывает принцип работы: слой 1 → слой 2 → слой 3 → выход.</a:t>
            </a:r>
          </a:p>
          <a:p>
            <a:r>
              <a:rPr lang="ru-RU" dirty="0" smtClean="0">
                <a:latin typeface="Cascadia Code Light" pitchFamily="49" charset="0"/>
                <a:cs typeface="Cascadia Code Light" pitchFamily="49" charset="0"/>
              </a:rPr>
              <a:t>Зачем нам: Без контейнера мы не сможем собрать слои в единую модель. </a:t>
            </a:r>
            <a:r>
              <a:rPr lang="ru-RU" dirty="0" err="1" smtClean="0">
                <a:latin typeface="Cascadia Code Light" pitchFamily="49" charset="0"/>
                <a:cs typeface="Cascadia Code Light" pitchFamily="49" charset="0"/>
              </a:rPr>
              <a:t>Sequential</a:t>
            </a:r>
            <a:r>
              <a:rPr lang="ru-RU" dirty="0" smtClean="0">
                <a:latin typeface="Cascadia Code Light" pitchFamily="49" charset="0"/>
                <a:cs typeface="Cascadia Code Light" pitchFamily="49" charset="0"/>
              </a:rPr>
              <a:t> — это «каркас», в который мы складываем слои.</a:t>
            </a:r>
          </a:p>
          <a:p>
            <a:endParaRPr lang="ru-RU" dirty="0" smtClean="0">
              <a:latin typeface="Cascadia Code Light" pitchFamily="49" charset="0"/>
              <a:cs typeface="Cascadia Code Light" pitchFamily="49" charset="0"/>
            </a:endParaRPr>
          </a:p>
          <a:p>
            <a:r>
              <a:rPr lang="ru-RU" b="1" dirty="0" smtClean="0">
                <a:latin typeface="Cascadia Code Light" pitchFamily="49" charset="0"/>
                <a:cs typeface="Cascadia Code Light" pitchFamily="49" charset="0"/>
              </a:rPr>
              <a:t>Строка 2. </a:t>
            </a:r>
            <a:r>
              <a:rPr lang="ru-RU" b="1" dirty="0" err="1" smtClean="0">
                <a:latin typeface="Cascadia Code Light" pitchFamily="49" charset="0"/>
                <a:cs typeface="Cascadia Code Light" pitchFamily="49" charset="0"/>
              </a:rPr>
              <a:t>Dense</a:t>
            </a:r>
            <a:r>
              <a:rPr lang="ru-RU" b="1" dirty="0" smtClean="0">
                <a:latin typeface="Cascadia Code Light" pitchFamily="49" charset="0"/>
                <a:cs typeface="Cascadia Code Light" pitchFamily="49" charset="0"/>
              </a:rPr>
              <a:t> — </a:t>
            </a:r>
            <a:r>
              <a:rPr lang="ru-RU" b="1" dirty="0" err="1" smtClean="0">
                <a:latin typeface="Cascadia Code Light" pitchFamily="49" charset="0"/>
                <a:cs typeface="Cascadia Code Light" pitchFamily="49" charset="0"/>
              </a:rPr>
              <a:t>полносвязный</a:t>
            </a:r>
            <a:r>
              <a:rPr lang="ru-RU" b="1" dirty="0" smtClean="0">
                <a:latin typeface="Cascadia Code Light" pitchFamily="49" charset="0"/>
                <a:cs typeface="Cascadia Code Light" pitchFamily="49" charset="0"/>
              </a:rPr>
              <a:t> слой</a:t>
            </a:r>
          </a:p>
          <a:p>
            <a:r>
              <a:rPr lang="ru-RU" dirty="0" err="1" smtClean="0">
                <a:latin typeface="Cascadia Code Light" pitchFamily="49" charset="0"/>
                <a:cs typeface="Cascadia Code Light" pitchFamily="49" charset="0"/>
              </a:rPr>
              <a:t>Dense</a:t>
            </a:r>
            <a:r>
              <a:rPr lang="ru-RU" dirty="0" smtClean="0">
                <a:latin typeface="Cascadia Code Light" pitchFamily="49" charset="0"/>
                <a:cs typeface="Cascadia Code Light" pitchFamily="49" charset="0"/>
              </a:rPr>
              <a:t> — «плотный», «</a:t>
            </a:r>
            <a:r>
              <a:rPr lang="ru-RU" dirty="0" err="1" smtClean="0">
                <a:latin typeface="Cascadia Code Light" pitchFamily="49" charset="0"/>
                <a:cs typeface="Cascadia Code Light" pitchFamily="49" charset="0"/>
              </a:rPr>
              <a:t>полносвязный</a:t>
            </a:r>
            <a:r>
              <a:rPr lang="ru-RU" dirty="0" smtClean="0">
                <a:latin typeface="Cascadia Code Light" pitchFamily="49" charset="0"/>
                <a:cs typeface="Cascadia Code Light" pitchFamily="49" charset="0"/>
              </a:rPr>
              <a:t>». Это означает: каждый нейрон слоя получает на вход выходы всех нейронов предыдущего слоя.</a:t>
            </a:r>
          </a:p>
          <a:p>
            <a:r>
              <a:rPr lang="ru-RU" dirty="0" smtClean="0">
                <a:latin typeface="Cascadia Code Light" pitchFamily="49" charset="0"/>
                <a:cs typeface="Cascadia Code Light" pitchFamily="49" charset="0"/>
              </a:rPr>
              <a:t>Если это первый слой сети, то на вход каждому нейрону подаются все входные признаки.</a:t>
            </a:r>
          </a:p>
          <a:p>
            <a:r>
              <a:rPr lang="ru-RU" dirty="0" smtClean="0">
                <a:latin typeface="Cascadia Code Light" pitchFamily="49" charset="0"/>
                <a:cs typeface="Cascadia Code Light" pitchFamily="49" charset="0"/>
              </a:rPr>
              <a:t>Зачем нам: Наша модель линейной регрессии — это ровно один нейрон, реализованный как </a:t>
            </a:r>
            <a:r>
              <a:rPr lang="ru-RU" dirty="0" err="1" smtClean="0">
                <a:latin typeface="Cascadia Code Light" pitchFamily="49" charset="0"/>
                <a:cs typeface="Cascadia Code Light" pitchFamily="49" charset="0"/>
              </a:rPr>
              <a:t>Dense</a:t>
            </a:r>
            <a:r>
              <a:rPr lang="ru-RU" dirty="0" smtClean="0">
                <a:latin typeface="Cascadia Code Light" pitchFamily="49" charset="0"/>
                <a:cs typeface="Cascadia Code Light" pitchFamily="49" charset="0"/>
              </a:rPr>
              <a:t>(1). Через </a:t>
            </a:r>
            <a:r>
              <a:rPr lang="ru-RU" dirty="0" err="1" smtClean="0">
                <a:latin typeface="Cascadia Code Light" pitchFamily="49" charset="0"/>
                <a:cs typeface="Cascadia Code Light" pitchFamily="49" charset="0"/>
              </a:rPr>
              <a:t>Dense</a:t>
            </a:r>
            <a:r>
              <a:rPr lang="ru-RU" dirty="0" smtClean="0">
                <a:latin typeface="Cascadia Code Light" pitchFamily="49" charset="0"/>
                <a:cs typeface="Cascadia Code Light" pitchFamily="49" charset="0"/>
              </a:rPr>
              <a:t> мы описываем и скрытые слои, когда перейдём к более сложным моделям.</a:t>
            </a:r>
          </a:p>
          <a:p>
            <a:endParaRPr lang="ru-RU" dirty="0" smtClean="0">
              <a:latin typeface="Cascadia Code Light" pitchFamily="49" charset="0"/>
              <a:cs typeface="Cascadia Code Light" pitchFamily="49" charset="0"/>
            </a:endParaRPr>
          </a:p>
          <a:p>
            <a:r>
              <a:rPr lang="ru-RU" b="1" dirty="0" smtClean="0">
                <a:latin typeface="Cascadia Code Light" pitchFamily="49" charset="0"/>
                <a:cs typeface="Cascadia Code Light" pitchFamily="49" charset="0"/>
              </a:rPr>
              <a:t>Строка 3. </a:t>
            </a:r>
            <a:r>
              <a:rPr lang="en-US" b="1" dirty="0" smtClean="0">
                <a:latin typeface="Cascadia Code Light" pitchFamily="49" charset="0"/>
                <a:cs typeface="Cascadia Code Light" pitchFamily="49" charset="0"/>
              </a:rPr>
              <a:t>Adam — </a:t>
            </a:r>
            <a:r>
              <a:rPr lang="ru-RU" b="1" dirty="0" smtClean="0">
                <a:latin typeface="Cascadia Code Light" pitchFamily="49" charset="0"/>
                <a:cs typeface="Cascadia Code Light" pitchFamily="49" charset="0"/>
              </a:rPr>
              <a:t>оптимизатор</a:t>
            </a:r>
          </a:p>
          <a:p>
            <a:r>
              <a:rPr lang="ru-RU" dirty="0" err="1" smtClean="0">
                <a:latin typeface="Cascadia Code Light" pitchFamily="49" charset="0"/>
                <a:cs typeface="Cascadia Code Light" pitchFamily="49" charset="0"/>
              </a:rPr>
              <a:t>Adam</a:t>
            </a:r>
            <a:r>
              <a:rPr lang="ru-RU" dirty="0" smtClean="0">
                <a:latin typeface="Cascadia Code Light" pitchFamily="49" charset="0"/>
                <a:cs typeface="Cascadia Code Light" pitchFamily="49" charset="0"/>
              </a:rPr>
              <a:t> (</a:t>
            </a:r>
            <a:r>
              <a:rPr lang="ru-RU" dirty="0" err="1" smtClean="0">
                <a:latin typeface="Cascadia Code Light" pitchFamily="49" charset="0"/>
                <a:cs typeface="Cascadia Code Light" pitchFamily="49" charset="0"/>
              </a:rPr>
              <a:t>Adaptive</a:t>
            </a:r>
            <a:r>
              <a:rPr lang="ru-RU" dirty="0" smtClean="0">
                <a:latin typeface="Cascadia Code Light" pitchFamily="49" charset="0"/>
                <a:cs typeface="Cascadia Code Light" pitchFamily="49" charset="0"/>
              </a:rPr>
              <a:t> </a:t>
            </a:r>
            <a:r>
              <a:rPr lang="ru-RU" dirty="0" err="1" smtClean="0">
                <a:latin typeface="Cascadia Code Light" pitchFamily="49" charset="0"/>
                <a:cs typeface="Cascadia Code Light" pitchFamily="49" charset="0"/>
              </a:rPr>
              <a:t>Moment</a:t>
            </a:r>
            <a:r>
              <a:rPr lang="ru-RU" dirty="0" smtClean="0">
                <a:latin typeface="Cascadia Code Light" pitchFamily="49" charset="0"/>
                <a:cs typeface="Cascadia Code Light" pitchFamily="49" charset="0"/>
              </a:rPr>
              <a:t> </a:t>
            </a:r>
            <a:r>
              <a:rPr lang="ru-RU" dirty="0" err="1" smtClean="0">
                <a:latin typeface="Cascadia Code Light" pitchFamily="49" charset="0"/>
                <a:cs typeface="Cascadia Code Light" pitchFamily="49" charset="0"/>
              </a:rPr>
              <a:t>Estimation</a:t>
            </a:r>
            <a:r>
              <a:rPr lang="ru-RU" dirty="0" smtClean="0">
                <a:latin typeface="Cascadia Code Light" pitchFamily="49" charset="0"/>
                <a:cs typeface="Cascadia Code Light" pitchFamily="49" charset="0"/>
              </a:rPr>
              <a:t>) — адаптивный оптимизатор, который:</a:t>
            </a:r>
          </a:p>
          <a:p>
            <a:r>
              <a:rPr lang="ru-RU" dirty="0" smtClean="0">
                <a:latin typeface="Cascadia Code Light" pitchFamily="49" charset="0"/>
                <a:cs typeface="Cascadia Code Light" pitchFamily="49" charset="0"/>
              </a:rPr>
              <a:t>хранит два момента градиентов: </a:t>
            </a:r>
            <a:r>
              <a:rPr lang="ru-RU" dirty="0" err="1" smtClean="0">
                <a:latin typeface="Cascadia Code Light" pitchFamily="49" charset="0"/>
                <a:cs typeface="Cascadia Code Light" pitchFamily="49" charset="0"/>
              </a:rPr>
              <a:t>m</a:t>
            </a:r>
            <a:r>
              <a:rPr lang="ru-RU" dirty="0" smtClean="0">
                <a:latin typeface="Cascadia Code Light" pitchFamily="49" charset="0"/>
                <a:cs typeface="Cascadia Code Light" pitchFamily="49" charset="0"/>
              </a:rPr>
              <a:t> (направление) и </a:t>
            </a:r>
            <a:r>
              <a:rPr lang="ru-RU" dirty="0" err="1" smtClean="0">
                <a:latin typeface="Cascadia Code Light" pitchFamily="49" charset="0"/>
                <a:cs typeface="Cascadia Code Light" pitchFamily="49" charset="0"/>
              </a:rPr>
              <a:t>v</a:t>
            </a:r>
            <a:r>
              <a:rPr lang="ru-RU" dirty="0" smtClean="0">
                <a:latin typeface="Cascadia Code Light" pitchFamily="49" charset="0"/>
                <a:cs typeface="Cascadia Code Light" pitchFamily="49" charset="0"/>
              </a:rPr>
              <a:t> (масштаб);</a:t>
            </a:r>
          </a:p>
          <a:p>
            <a:r>
              <a:rPr lang="ru-RU" dirty="0" smtClean="0">
                <a:latin typeface="Cascadia Code Light" pitchFamily="49" charset="0"/>
                <a:cs typeface="Cascadia Code Light" pitchFamily="49" charset="0"/>
              </a:rPr>
              <a:t>подбирает индивидуальный шаг для каждого веса;</a:t>
            </a:r>
          </a:p>
          <a:p>
            <a:r>
              <a:rPr lang="ru-RU" dirty="0" smtClean="0">
                <a:latin typeface="Cascadia Code Light" pitchFamily="49" charset="0"/>
                <a:cs typeface="Cascadia Code Light" pitchFamily="49" charset="0"/>
              </a:rPr>
              <a:t>работает «из коробки» — почти не требует подбора </a:t>
            </a:r>
            <a:r>
              <a:rPr lang="ru-RU" dirty="0" err="1" smtClean="0">
                <a:latin typeface="Cascadia Code Light" pitchFamily="49" charset="0"/>
                <a:cs typeface="Cascadia Code Light" pitchFamily="49" charset="0"/>
              </a:rPr>
              <a:t>learning</a:t>
            </a:r>
            <a:r>
              <a:rPr lang="ru-RU" dirty="0" smtClean="0">
                <a:latin typeface="Cascadia Code Light" pitchFamily="49" charset="0"/>
                <a:cs typeface="Cascadia Code Light" pitchFamily="49" charset="0"/>
              </a:rPr>
              <a:t> </a:t>
            </a:r>
            <a:r>
              <a:rPr lang="ru-RU" dirty="0" err="1" smtClean="0">
                <a:latin typeface="Cascadia Code Light" pitchFamily="49" charset="0"/>
                <a:cs typeface="Cascadia Code Light" pitchFamily="49" charset="0"/>
              </a:rPr>
              <a:t>rate</a:t>
            </a:r>
            <a:r>
              <a:rPr lang="ru-RU" dirty="0" smtClean="0">
                <a:latin typeface="Cascadia Code Light" pitchFamily="49" charset="0"/>
                <a:cs typeface="Cascadia Code Light" pitchFamily="49" charset="0"/>
              </a:rPr>
              <a:t>.</a:t>
            </a:r>
          </a:p>
          <a:p>
            <a:r>
              <a:rPr lang="ru-RU" dirty="0" smtClean="0">
                <a:latin typeface="Cascadia Code Light" pitchFamily="49" charset="0"/>
                <a:cs typeface="Cascadia Code Light" pitchFamily="49" charset="0"/>
              </a:rPr>
              <a:t>Зачем нам: </a:t>
            </a:r>
            <a:r>
              <a:rPr lang="ru-RU" dirty="0" err="1" smtClean="0">
                <a:latin typeface="Cascadia Code Light" pitchFamily="49" charset="0"/>
                <a:cs typeface="Cascadia Code Light" pitchFamily="49" charset="0"/>
              </a:rPr>
              <a:t>Adam</a:t>
            </a:r>
            <a:r>
              <a:rPr lang="ru-RU" dirty="0" smtClean="0">
                <a:latin typeface="Cascadia Code Light" pitchFamily="49" charset="0"/>
                <a:cs typeface="Cascadia Code Light" pitchFamily="49" charset="0"/>
              </a:rPr>
              <a:t> — стандарт практики. Он быстрее сходится, чем базовый SGD, устойчив к разному масштабу признаков и шумным градиентам. Именно поэтому мы используем его в примере с регрессией.</a:t>
            </a:r>
          </a:p>
          <a:p>
            <a:endParaRPr lang="ru-RU" dirty="0" smtClean="0">
              <a:latin typeface="Cascadia Code Light" pitchFamily="49" charset="0"/>
              <a:cs typeface="Cascadia Code Light" pitchFamily="49" charset="0"/>
            </a:endParaRPr>
          </a:p>
          <a:p>
            <a:endParaRPr lang="ru-RU" dirty="0">
              <a:latin typeface="Cascadia Code Light" pitchFamily="49" charset="0"/>
              <a:cs typeface="Cascadia Code Light" pitchFamily="49" charset="0"/>
            </a:endParaRPr>
          </a:p>
        </p:txBody>
      </p:sp>
      <p:pic>
        <p:nvPicPr>
          <p:cNvPr id="4" name="Picture 2"/>
          <p:cNvPicPr>
            <a:picLocks noChangeAspect="1" noChangeArrowheads="1"/>
          </p:cNvPicPr>
          <p:nvPr/>
        </p:nvPicPr>
        <p:blipFill>
          <a:blip r:embed="rId2" cstate="print"/>
          <a:srcRect l="14963" t="46786" r="26433" b="39351"/>
          <a:stretch>
            <a:fillRect/>
          </a:stretch>
        </p:blipFill>
        <p:spPr bwMode="auto">
          <a:xfrm>
            <a:off x="609600" y="381000"/>
            <a:ext cx="8058150" cy="13716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a:xfrm>
            <a:off x="304800" y="2743200"/>
            <a:ext cx="8382000" cy="3382963"/>
          </a:xfrm>
        </p:spPr>
        <p:txBody>
          <a:bodyPr>
            <a:normAutofit fontScale="32500" lnSpcReduction="20000"/>
          </a:bodyPr>
          <a:lstStyle/>
          <a:p>
            <a:r>
              <a:rPr lang="ru-RU" b="1" dirty="0" err="1" smtClean="0">
                <a:latin typeface="Cascadia Code Light" pitchFamily="49" charset="0"/>
                <a:cs typeface="Cascadia Code Light" pitchFamily="49" charset="0"/>
              </a:rPr>
              <a:t>Воспроизводимость</a:t>
            </a:r>
            <a:endParaRPr lang="ru-RU" b="1" dirty="0" smtClean="0">
              <a:latin typeface="Cascadia Code Light" pitchFamily="49" charset="0"/>
              <a:cs typeface="Cascadia Code Light" pitchFamily="49" charset="0"/>
            </a:endParaRPr>
          </a:p>
          <a:p>
            <a:r>
              <a:rPr lang="ru-RU" dirty="0" err="1" smtClean="0">
                <a:latin typeface="Cascadia Code Light" pitchFamily="49" charset="0"/>
                <a:cs typeface="Cascadia Code Light" pitchFamily="49" charset="0"/>
              </a:rPr>
              <a:t>np.random.seed</a:t>
            </a:r>
            <a:r>
              <a:rPr lang="ru-RU" dirty="0" smtClean="0">
                <a:latin typeface="Cascadia Code Light" pitchFamily="49" charset="0"/>
                <a:cs typeface="Cascadia Code Light" pitchFamily="49" charset="0"/>
              </a:rPr>
              <a:t>(42) </a:t>
            </a:r>
          </a:p>
          <a:p>
            <a:r>
              <a:rPr lang="ru-RU" dirty="0" err="1" smtClean="0">
                <a:latin typeface="Cascadia Code Light" pitchFamily="49" charset="0"/>
                <a:cs typeface="Cascadia Code Light" pitchFamily="49" charset="0"/>
              </a:rPr>
              <a:t>tf.random.set_seed</a:t>
            </a:r>
            <a:r>
              <a:rPr lang="ru-RU" dirty="0" smtClean="0">
                <a:latin typeface="Cascadia Code Light" pitchFamily="49" charset="0"/>
                <a:cs typeface="Cascadia Code Light" pitchFamily="49" charset="0"/>
              </a:rPr>
              <a:t>(42)</a:t>
            </a:r>
          </a:p>
          <a:p>
            <a:r>
              <a:rPr lang="ru-RU" b="1" dirty="0" smtClean="0">
                <a:latin typeface="Cascadia Code Light" pitchFamily="49" charset="0"/>
                <a:cs typeface="Cascadia Code Light" pitchFamily="49" charset="0"/>
              </a:rPr>
              <a:t>Что делают: </a:t>
            </a:r>
            <a:r>
              <a:rPr lang="ru-RU" dirty="0" smtClean="0">
                <a:latin typeface="Cascadia Code Light" pitchFamily="49" charset="0"/>
                <a:cs typeface="Cascadia Code Light" pitchFamily="49" charset="0"/>
              </a:rPr>
              <a:t>фиксируют генератор случайных чисел для </a:t>
            </a:r>
            <a:r>
              <a:rPr lang="ru-RU" dirty="0" err="1" smtClean="0">
                <a:latin typeface="Cascadia Code Light" pitchFamily="49" charset="0"/>
                <a:cs typeface="Cascadia Code Light" pitchFamily="49" charset="0"/>
              </a:rPr>
              <a:t>NumPy</a:t>
            </a:r>
            <a:r>
              <a:rPr lang="ru-RU" dirty="0" smtClean="0">
                <a:latin typeface="Cascadia Code Light" pitchFamily="49" charset="0"/>
                <a:cs typeface="Cascadia Code Light" pitchFamily="49" charset="0"/>
              </a:rPr>
              <a:t> и </a:t>
            </a:r>
            <a:r>
              <a:rPr lang="ru-RU" dirty="0" err="1" smtClean="0">
                <a:latin typeface="Cascadia Code Light" pitchFamily="49" charset="0"/>
                <a:cs typeface="Cascadia Code Light" pitchFamily="49" charset="0"/>
              </a:rPr>
              <a:t>TensorFlow</a:t>
            </a:r>
            <a:r>
              <a:rPr lang="ru-RU" dirty="0" smtClean="0">
                <a:latin typeface="Cascadia Code Light" pitchFamily="49" charset="0"/>
                <a:cs typeface="Cascadia Code Light" pitchFamily="49" charset="0"/>
              </a:rPr>
              <a:t>.</a:t>
            </a:r>
          </a:p>
          <a:p>
            <a:r>
              <a:rPr lang="ru-RU" b="1" dirty="0" smtClean="0">
                <a:latin typeface="Cascadia Code Light" pitchFamily="49" charset="0"/>
                <a:cs typeface="Cascadia Code Light" pitchFamily="49" charset="0"/>
              </a:rPr>
              <a:t>Зачем</a:t>
            </a:r>
            <a:r>
              <a:rPr lang="ru-RU" dirty="0" smtClean="0">
                <a:latin typeface="Cascadia Code Light" pitchFamily="49" charset="0"/>
                <a:cs typeface="Cascadia Code Light" pitchFamily="49" charset="0"/>
              </a:rPr>
              <a:t>: многие операции в ML случайны — инициализация весов, разбиение на </a:t>
            </a:r>
            <a:r>
              <a:rPr lang="ru-RU" dirty="0" err="1" smtClean="0">
                <a:latin typeface="Cascadia Code Light" pitchFamily="49" charset="0"/>
                <a:cs typeface="Cascadia Code Light" pitchFamily="49" charset="0"/>
              </a:rPr>
              <a:t>train</a:t>
            </a:r>
            <a:r>
              <a:rPr lang="ru-RU" dirty="0" smtClean="0">
                <a:latin typeface="Cascadia Code Light" pitchFamily="49" charset="0"/>
                <a:cs typeface="Cascadia Code Light" pitchFamily="49" charset="0"/>
              </a:rPr>
              <a:t>/</a:t>
            </a:r>
            <a:r>
              <a:rPr lang="ru-RU" dirty="0" err="1" smtClean="0">
                <a:latin typeface="Cascadia Code Light" pitchFamily="49" charset="0"/>
                <a:cs typeface="Cascadia Code Light" pitchFamily="49" charset="0"/>
              </a:rPr>
              <a:t>test</a:t>
            </a:r>
            <a:r>
              <a:rPr lang="ru-RU" dirty="0" smtClean="0">
                <a:latin typeface="Cascadia Code Light" pitchFamily="49" charset="0"/>
                <a:cs typeface="Cascadia Code Light" pitchFamily="49" charset="0"/>
              </a:rPr>
              <a:t>, перемешивание </a:t>
            </a:r>
            <a:r>
              <a:rPr lang="ru-RU" dirty="0" err="1" smtClean="0">
                <a:latin typeface="Cascadia Code Light" pitchFamily="49" charset="0"/>
                <a:cs typeface="Cascadia Code Light" pitchFamily="49" charset="0"/>
              </a:rPr>
              <a:t>батчей</a:t>
            </a:r>
            <a:r>
              <a:rPr lang="ru-RU" dirty="0" smtClean="0">
                <a:latin typeface="Cascadia Code Light" pitchFamily="49" charset="0"/>
                <a:cs typeface="Cascadia Code Light" pitchFamily="49" charset="0"/>
              </a:rPr>
              <a:t>. Без фиксации </a:t>
            </a:r>
            <a:r>
              <a:rPr lang="ru-RU" dirty="0" err="1" smtClean="0">
                <a:latin typeface="Cascadia Code Light" pitchFamily="49" charset="0"/>
                <a:cs typeface="Cascadia Code Light" pitchFamily="49" charset="0"/>
              </a:rPr>
              <a:t>seed</a:t>
            </a:r>
            <a:r>
              <a:rPr lang="ru-RU" dirty="0" smtClean="0">
                <a:latin typeface="Cascadia Code Light" pitchFamily="49" charset="0"/>
                <a:cs typeface="Cascadia Code Light" pitchFamily="49" charset="0"/>
              </a:rPr>
              <a:t> каждый запуск даёт разный результат. С </a:t>
            </a:r>
            <a:r>
              <a:rPr lang="ru-RU" dirty="0" err="1" smtClean="0">
                <a:latin typeface="Cascadia Code Light" pitchFamily="49" charset="0"/>
                <a:cs typeface="Cascadia Code Light" pitchFamily="49" charset="0"/>
              </a:rPr>
              <a:t>seed</a:t>
            </a:r>
            <a:r>
              <a:rPr lang="ru-RU" dirty="0" smtClean="0">
                <a:latin typeface="Cascadia Code Light" pitchFamily="49" charset="0"/>
                <a:cs typeface="Cascadia Code Light" pitchFamily="49" charset="0"/>
              </a:rPr>
              <a:t> — всё воспроизводимо: при повторном запуске получим те же самые числа.</a:t>
            </a:r>
          </a:p>
          <a:p>
            <a:r>
              <a:rPr lang="ru-RU" b="1" dirty="0" smtClean="0">
                <a:latin typeface="Cascadia Code Light" pitchFamily="49" charset="0"/>
                <a:cs typeface="Cascadia Code Light" pitchFamily="49" charset="0"/>
              </a:rPr>
              <a:t>Почему два </a:t>
            </a:r>
            <a:r>
              <a:rPr lang="ru-RU" b="1" dirty="0" err="1" smtClean="0">
                <a:latin typeface="Cascadia Code Light" pitchFamily="49" charset="0"/>
                <a:cs typeface="Cascadia Code Light" pitchFamily="49" charset="0"/>
              </a:rPr>
              <a:t>seed</a:t>
            </a:r>
            <a:r>
              <a:rPr lang="ru-RU" b="1" dirty="0" smtClean="0">
                <a:latin typeface="Cascadia Code Light" pitchFamily="49" charset="0"/>
                <a:cs typeface="Cascadia Code Light" pitchFamily="49" charset="0"/>
              </a:rPr>
              <a:t>:</a:t>
            </a:r>
          </a:p>
          <a:p>
            <a:r>
              <a:rPr lang="ru-RU" dirty="0" err="1" smtClean="0">
                <a:latin typeface="Cascadia Code Light" pitchFamily="49" charset="0"/>
                <a:cs typeface="Cascadia Code Light" pitchFamily="49" charset="0"/>
              </a:rPr>
              <a:t>np.random.seed</a:t>
            </a:r>
            <a:r>
              <a:rPr lang="ru-RU" dirty="0" smtClean="0">
                <a:latin typeface="Cascadia Code Light" pitchFamily="49" charset="0"/>
                <a:cs typeface="Cascadia Code Light" pitchFamily="49" charset="0"/>
              </a:rPr>
              <a:t> — для </a:t>
            </a:r>
            <a:r>
              <a:rPr lang="ru-RU" dirty="0" err="1" smtClean="0">
                <a:latin typeface="Cascadia Code Light" pitchFamily="49" charset="0"/>
                <a:cs typeface="Cascadia Code Light" pitchFamily="49" charset="0"/>
              </a:rPr>
              <a:t>NumPy</a:t>
            </a:r>
            <a:r>
              <a:rPr lang="ru-RU" dirty="0" smtClean="0">
                <a:latin typeface="Cascadia Code Light" pitchFamily="49" charset="0"/>
                <a:cs typeface="Cascadia Code Light" pitchFamily="49" charset="0"/>
              </a:rPr>
              <a:t> (массивы, </a:t>
            </a:r>
            <a:r>
              <a:rPr lang="ru-RU" dirty="0" err="1" smtClean="0">
                <a:latin typeface="Cascadia Code Light" pitchFamily="49" charset="0"/>
                <a:cs typeface="Cascadia Code Light" pitchFamily="49" charset="0"/>
              </a:rPr>
              <a:t>split</a:t>
            </a:r>
            <a:r>
              <a:rPr lang="ru-RU" dirty="0" smtClean="0">
                <a:latin typeface="Cascadia Code Light" pitchFamily="49" charset="0"/>
                <a:cs typeface="Cascadia Code Light" pitchFamily="49" charset="0"/>
              </a:rPr>
              <a:t>, инициализация);</a:t>
            </a:r>
          </a:p>
          <a:p>
            <a:r>
              <a:rPr lang="ru-RU" dirty="0" err="1" smtClean="0">
                <a:latin typeface="Cascadia Code Light" pitchFamily="49" charset="0"/>
                <a:cs typeface="Cascadia Code Light" pitchFamily="49" charset="0"/>
              </a:rPr>
              <a:t>tf.random.set_seed</a:t>
            </a:r>
            <a:r>
              <a:rPr lang="ru-RU" dirty="0" smtClean="0">
                <a:latin typeface="Cascadia Code Light" pitchFamily="49" charset="0"/>
                <a:cs typeface="Cascadia Code Light" pitchFamily="49" charset="0"/>
              </a:rPr>
              <a:t> — для </a:t>
            </a:r>
            <a:r>
              <a:rPr lang="ru-RU" dirty="0" err="1" smtClean="0">
                <a:latin typeface="Cascadia Code Light" pitchFamily="49" charset="0"/>
                <a:cs typeface="Cascadia Code Light" pitchFamily="49" charset="0"/>
              </a:rPr>
              <a:t>TensorFlow</a:t>
            </a:r>
            <a:r>
              <a:rPr lang="ru-RU" dirty="0" smtClean="0">
                <a:latin typeface="Cascadia Code Light" pitchFamily="49" charset="0"/>
                <a:cs typeface="Cascadia Code Light" pitchFamily="49" charset="0"/>
              </a:rPr>
              <a:t> (инициализация весов </a:t>
            </a:r>
            <a:r>
              <a:rPr lang="ru-RU" dirty="0" err="1" smtClean="0">
                <a:latin typeface="Cascadia Code Light" pitchFamily="49" charset="0"/>
                <a:cs typeface="Cascadia Code Light" pitchFamily="49" charset="0"/>
              </a:rPr>
              <a:t>нейросети</a:t>
            </a:r>
            <a:r>
              <a:rPr lang="ru-RU" dirty="0" smtClean="0">
                <a:latin typeface="Cascadia Code Light" pitchFamily="49" charset="0"/>
                <a:cs typeface="Cascadia Code Light" pitchFamily="49" charset="0"/>
              </a:rPr>
              <a:t>).</a:t>
            </a:r>
          </a:p>
          <a:p>
            <a:r>
              <a:rPr lang="ru-RU" dirty="0" smtClean="0">
                <a:latin typeface="Cascadia Code Light" pitchFamily="49" charset="0"/>
                <a:cs typeface="Cascadia Code Light" pitchFamily="49" charset="0"/>
              </a:rPr>
              <a:t>Это разные генераторы, поэтому фиксируем оба.</a:t>
            </a:r>
          </a:p>
          <a:p>
            <a:r>
              <a:rPr lang="ru-RU" b="1" dirty="0" smtClean="0">
                <a:latin typeface="Cascadia Code Light" pitchFamily="49" charset="0"/>
                <a:cs typeface="Cascadia Code Light" pitchFamily="49" charset="0"/>
              </a:rPr>
              <a:t>Почему 42: </a:t>
            </a:r>
            <a:r>
              <a:rPr lang="ru-RU" dirty="0" smtClean="0">
                <a:latin typeface="Cascadia Code Light" pitchFamily="49" charset="0"/>
                <a:cs typeface="Cascadia Code Light" pitchFamily="49" charset="0"/>
              </a:rPr>
              <a:t>традиция в ML-сообществе</a:t>
            </a:r>
          </a:p>
          <a:p>
            <a:endParaRPr lang="ru-RU" dirty="0" smtClean="0">
              <a:latin typeface="Cascadia Code Light" pitchFamily="49" charset="0"/>
              <a:cs typeface="Cascadia Code Light" pitchFamily="49" charset="0"/>
            </a:endParaRPr>
          </a:p>
          <a:p>
            <a:r>
              <a:rPr lang="ru-RU" dirty="0" smtClean="0">
                <a:latin typeface="Cascadia Code Light" pitchFamily="49" charset="0"/>
                <a:cs typeface="Cascadia Code Light" pitchFamily="49" charset="0"/>
              </a:rPr>
              <a:t>Последние 3 строки - </a:t>
            </a:r>
            <a:r>
              <a:rPr lang="ru-RU" b="1" dirty="0" smtClean="0">
                <a:latin typeface="Cascadia Code Light" pitchFamily="49" charset="0"/>
                <a:cs typeface="Cascadia Code Light" pitchFamily="49" charset="0"/>
              </a:rPr>
              <a:t>Настройки графиков</a:t>
            </a:r>
          </a:p>
          <a:p>
            <a:r>
              <a:rPr lang="ru-RU" sz="3700" b="1" dirty="0" smtClean="0">
                <a:latin typeface="Cascadia Code Light" pitchFamily="49" charset="0"/>
                <a:cs typeface="Cascadia Code Light" pitchFamily="49" charset="0"/>
              </a:rPr>
              <a:t>Что делают:</a:t>
            </a:r>
            <a:r>
              <a:rPr lang="ru-RU" sz="3700" dirty="0" smtClean="0">
                <a:latin typeface="Cascadia Code Light" pitchFamily="49" charset="0"/>
                <a:cs typeface="Cascadia Code Light" pitchFamily="49" charset="0"/>
              </a:rPr>
              <a:t> задают глобальные настройки </a:t>
            </a:r>
            <a:r>
              <a:rPr lang="ru-RU" sz="3700" dirty="0" err="1" smtClean="0">
                <a:latin typeface="Cascadia Code Light" pitchFamily="49" charset="0"/>
                <a:cs typeface="Cascadia Code Light" pitchFamily="49" charset="0"/>
              </a:rPr>
              <a:t>matplotlib</a:t>
            </a:r>
            <a:r>
              <a:rPr lang="ru-RU" sz="3700" dirty="0" smtClean="0">
                <a:latin typeface="Cascadia Code Light" pitchFamily="49" charset="0"/>
                <a:cs typeface="Cascadia Code Light" pitchFamily="49" charset="0"/>
              </a:rPr>
              <a:t> для всех графиков в ноутбуке.</a:t>
            </a:r>
          </a:p>
          <a:p>
            <a:r>
              <a:rPr lang="ru-RU" sz="3700" dirty="0" err="1" smtClean="0">
                <a:latin typeface="Cascadia Code Light" pitchFamily="49" charset="0"/>
                <a:cs typeface="Cascadia Code Light" pitchFamily="49" charset="0"/>
              </a:rPr>
              <a:t>СтрокаЧто</a:t>
            </a:r>
            <a:r>
              <a:rPr lang="ru-RU" sz="3700" dirty="0" smtClean="0">
                <a:latin typeface="Cascadia Code Light" pitchFamily="49" charset="0"/>
                <a:cs typeface="Cascadia Code Light" pitchFamily="49" charset="0"/>
              </a:rPr>
              <a:t> </a:t>
            </a:r>
            <a:r>
              <a:rPr lang="ru-RU" sz="3700" dirty="0" err="1" smtClean="0">
                <a:latin typeface="Cascadia Code Light" pitchFamily="49" charset="0"/>
                <a:cs typeface="Cascadia Code Light" pitchFamily="49" charset="0"/>
              </a:rPr>
              <a:t>настраиваетfigure.figsize</a:t>
            </a:r>
            <a:r>
              <a:rPr lang="ru-RU" sz="3700" dirty="0" smtClean="0">
                <a:latin typeface="Cascadia Code Light" pitchFamily="49" charset="0"/>
                <a:cs typeface="Cascadia Code Light" pitchFamily="49" charset="0"/>
              </a:rPr>
              <a:t> = (8, 5)Размер графиков по умолчанию — 8×5 </a:t>
            </a:r>
            <a:r>
              <a:rPr lang="ru-RU" sz="3700" dirty="0" err="1" smtClean="0">
                <a:latin typeface="Cascadia Code Light" pitchFamily="49" charset="0"/>
                <a:cs typeface="Cascadia Code Light" pitchFamily="49" charset="0"/>
              </a:rPr>
              <a:t>дюймовaxes.grid</a:t>
            </a:r>
            <a:r>
              <a:rPr lang="ru-RU" sz="3700" dirty="0" smtClean="0">
                <a:latin typeface="Cascadia Code Light" pitchFamily="49" charset="0"/>
                <a:cs typeface="Cascadia Code Light" pitchFamily="49" charset="0"/>
              </a:rPr>
              <a:t> = </a:t>
            </a:r>
            <a:r>
              <a:rPr lang="ru-RU" sz="3700" dirty="0" err="1" smtClean="0">
                <a:latin typeface="Cascadia Code Light" pitchFamily="49" charset="0"/>
                <a:cs typeface="Cascadia Code Light" pitchFamily="49" charset="0"/>
              </a:rPr>
              <a:t>TrueВключает</a:t>
            </a:r>
            <a:r>
              <a:rPr lang="ru-RU" sz="3700" dirty="0" smtClean="0">
                <a:latin typeface="Cascadia Code Light" pitchFamily="49" charset="0"/>
                <a:cs typeface="Cascadia Code Light" pitchFamily="49" charset="0"/>
              </a:rPr>
              <a:t> сетку на </a:t>
            </a:r>
            <a:r>
              <a:rPr lang="ru-RU" sz="3700" dirty="0" err="1" smtClean="0">
                <a:latin typeface="Cascadia Code Light" pitchFamily="49" charset="0"/>
                <a:cs typeface="Cascadia Code Light" pitchFamily="49" charset="0"/>
              </a:rPr>
              <a:t>графикахfont.size</a:t>
            </a:r>
            <a:r>
              <a:rPr lang="ru-RU" sz="3700" dirty="0" smtClean="0">
                <a:latin typeface="Cascadia Code Light" pitchFamily="49" charset="0"/>
                <a:cs typeface="Cascadia Code Light" pitchFamily="49" charset="0"/>
              </a:rPr>
              <a:t> = 11Размер шрифта — 11 </a:t>
            </a:r>
            <a:r>
              <a:rPr lang="ru-RU" sz="3700" dirty="0" err="1" smtClean="0">
                <a:latin typeface="Cascadia Code Light" pitchFamily="49" charset="0"/>
                <a:cs typeface="Cascadia Code Light" pitchFamily="49" charset="0"/>
              </a:rPr>
              <a:t>pt</a:t>
            </a:r>
            <a:endParaRPr lang="ru-RU" sz="3700" dirty="0" smtClean="0">
              <a:latin typeface="Cascadia Code Light" pitchFamily="49" charset="0"/>
              <a:cs typeface="Cascadia Code Light" pitchFamily="49" charset="0"/>
            </a:endParaRPr>
          </a:p>
          <a:p>
            <a:r>
              <a:rPr lang="ru-RU" sz="3700" b="1" dirty="0" smtClean="0">
                <a:latin typeface="Cascadia Code Light" pitchFamily="49" charset="0"/>
                <a:cs typeface="Cascadia Code Light" pitchFamily="49" charset="0"/>
              </a:rPr>
              <a:t>Зачем:</a:t>
            </a:r>
            <a:r>
              <a:rPr lang="ru-RU" sz="3700" dirty="0" smtClean="0">
                <a:latin typeface="Cascadia Code Light" pitchFamily="49" charset="0"/>
                <a:cs typeface="Cascadia Code Light" pitchFamily="49" charset="0"/>
              </a:rPr>
              <a:t> без этого каждый график нужно настраивать отдельно. Задали один раз — все графики дальше выглядят одинаково и читаемо.</a:t>
            </a:r>
          </a:p>
          <a:p>
            <a:r>
              <a:rPr lang="ru-RU" dirty="0" smtClean="0"/>
              <a:t/>
            </a:r>
            <a:br>
              <a:rPr lang="ru-RU" dirty="0" smtClean="0"/>
            </a:br>
            <a:endParaRPr lang="ru-RU" dirty="0">
              <a:latin typeface="Cascadia Code Light" pitchFamily="49" charset="0"/>
              <a:cs typeface="Cascadia Code Light" pitchFamily="49" charset="0"/>
            </a:endParaRPr>
          </a:p>
        </p:txBody>
      </p:sp>
      <p:pic>
        <p:nvPicPr>
          <p:cNvPr id="4" name="Picture 2"/>
          <p:cNvPicPr>
            <a:picLocks noChangeAspect="1" noChangeArrowheads="1"/>
          </p:cNvPicPr>
          <p:nvPr/>
        </p:nvPicPr>
        <p:blipFill>
          <a:blip r:embed="rId2" cstate="print"/>
          <a:srcRect l="14963" t="61419" r="26433" b="15476"/>
          <a:stretch>
            <a:fillRect/>
          </a:stretch>
        </p:blipFill>
        <p:spPr bwMode="auto">
          <a:xfrm>
            <a:off x="762000" y="304800"/>
            <a:ext cx="8058150" cy="22860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latin typeface="Cascadia Code Light" pitchFamily="49" charset="0"/>
                <a:cs typeface="Cascadia Code Light" pitchFamily="49" charset="0"/>
              </a:rPr>
              <a:t>Загрузка </a:t>
            </a:r>
            <a:r>
              <a:rPr lang="ru-RU" dirty="0" err="1" smtClean="0">
                <a:latin typeface="Cascadia Code Light" pitchFamily="49" charset="0"/>
                <a:cs typeface="Cascadia Code Light" pitchFamily="49" charset="0"/>
              </a:rPr>
              <a:t>датасета</a:t>
            </a:r>
            <a:r>
              <a:rPr lang="ru-RU" dirty="0" smtClean="0">
                <a:latin typeface="Cascadia Code Light" pitchFamily="49" charset="0"/>
                <a:cs typeface="Cascadia Code Light" pitchFamily="49" charset="0"/>
              </a:rPr>
              <a:t> для задачи про дома в Калифорнии</a:t>
            </a:r>
            <a:endParaRPr lang="ru-RU" dirty="0">
              <a:latin typeface="Cascadia Code Light" pitchFamily="49" charset="0"/>
              <a:cs typeface="Cascadia Code Light" pitchFamily="49" charset="0"/>
            </a:endParaRPr>
          </a:p>
        </p:txBody>
      </p:sp>
      <p:sp>
        <p:nvSpPr>
          <p:cNvPr id="3" name="Содержимое 2"/>
          <p:cNvSpPr>
            <a:spLocks noGrp="1"/>
          </p:cNvSpPr>
          <p:nvPr>
            <p:ph idx="1"/>
          </p:nvPr>
        </p:nvSpPr>
        <p:spPr>
          <a:xfrm>
            <a:off x="228600" y="3200400"/>
            <a:ext cx="8763000" cy="3429000"/>
          </a:xfrm>
        </p:spPr>
        <p:txBody>
          <a:bodyPr>
            <a:normAutofit fontScale="92500" lnSpcReduction="20000"/>
          </a:bodyPr>
          <a:lstStyle/>
          <a:p>
            <a:r>
              <a:rPr lang="ru-RU" sz="1600" dirty="0" smtClean="0">
                <a:latin typeface="Cascadia Code Light" pitchFamily="49" charset="0"/>
                <a:cs typeface="Cascadia Code Light" pitchFamily="49" charset="0"/>
              </a:rPr>
              <a:t>В </a:t>
            </a:r>
            <a:r>
              <a:rPr lang="ru-RU" sz="1600" dirty="0" err="1" smtClean="0">
                <a:latin typeface="Cascadia Code Light" pitchFamily="49" charset="0"/>
                <a:cs typeface="Cascadia Code Light" pitchFamily="49" charset="0"/>
              </a:rPr>
              <a:t>Jupyter</a:t>
            </a:r>
            <a:r>
              <a:rPr lang="ru-RU" sz="1600" dirty="0" smtClean="0">
                <a:latin typeface="Cascadia Code Light" pitchFamily="49" charset="0"/>
                <a:cs typeface="Cascadia Code Light" pitchFamily="49" charset="0"/>
              </a:rPr>
              <a:t> и </a:t>
            </a:r>
            <a:r>
              <a:rPr lang="ru-RU" sz="1600" dirty="0" err="1" smtClean="0">
                <a:latin typeface="Cascadia Code Light" pitchFamily="49" charset="0"/>
                <a:cs typeface="Cascadia Code Light" pitchFamily="49" charset="0"/>
              </a:rPr>
              <a:t>Colab</a:t>
            </a:r>
            <a:r>
              <a:rPr lang="ru-RU" sz="1600" dirty="0" smtClean="0">
                <a:latin typeface="Cascadia Code Light" pitchFamily="49" charset="0"/>
                <a:cs typeface="Cascadia Code Light" pitchFamily="49" charset="0"/>
              </a:rPr>
              <a:t> ! в начале строки означает: </a:t>
            </a:r>
            <a:r>
              <a:rPr lang="ru-RU" sz="1600" b="1" dirty="0" smtClean="0">
                <a:latin typeface="Cascadia Code Light" pitchFamily="49" charset="0"/>
                <a:cs typeface="Cascadia Code Light" pitchFamily="49" charset="0"/>
              </a:rPr>
              <a:t>выполни это как команду в терминале</a:t>
            </a:r>
            <a:r>
              <a:rPr lang="ru-RU" sz="1600" dirty="0" smtClean="0">
                <a:latin typeface="Cascadia Code Light" pitchFamily="49" charset="0"/>
                <a:cs typeface="Cascadia Code Light" pitchFamily="49" charset="0"/>
              </a:rPr>
              <a:t>, а не как код </a:t>
            </a:r>
            <a:r>
              <a:rPr lang="ru-RU" sz="1600" dirty="0" err="1" smtClean="0">
                <a:latin typeface="Cascadia Code Light" pitchFamily="49" charset="0"/>
                <a:cs typeface="Cascadia Code Light" pitchFamily="49" charset="0"/>
              </a:rPr>
              <a:t>Python</a:t>
            </a:r>
            <a:r>
              <a:rPr lang="ru-RU" sz="1600" dirty="0" smtClean="0">
                <a:latin typeface="Cascadia Code Light" pitchFamily="49" charset="0"/>
                <a:cs typeface="Cascadia Code Light" pitchFamily="49" charset="0"/>
              </a:rPr>
              <a:t>.</a:t>
            </a:r>
          </a:p>
          <a:p>
            <a:r>
              <a:rPr lang="ru-RU" sz="1600" dirty="0" smtClean="0">
                <a:latin typeface="Cascadia Code Light" pitchFamily="49" charset="0"/>
                <a:cs typeface="Cascadia Code Light" pitchFamily="49" charset="0"/>
              </a:rPr>
              <a:t>Без ! </a:t>
            </a:r>
            <a:r>
              <a:rPr lang="ru-RU" sz="1600" dirty="0" err="1" smtClean="0">
                <a:latin typeface="Cascadia Code Light" pitchFamily="49" charset="0"/>
                <a:cs typeface="Cascadia Code Light" pitchFamily="49" charset="0"/>
              </a:rPr>
              <a:t>Python</a:t>
            </a:r>
            <a:r>
              <a:rPr lang="ru-RU" sz="1600" dirty="0" smtClean="0">
                <a:latin typeface="Cascadia Code Light" pitchFamily="49" charset="0"/>
                <a:cs typeface="Cascadia Code Light" pitchFamily="49" charset="0"/>
              </a:rPr>
              <a:t> попытался бы найти переменную </a:t>
            </a:r>
            <a:r>
              <a:rPr lang="ru-RU" sz="1600" dirty="0" err="1" smtClean="0">
                <a:latin typeface="Cascadia Code Light" pitchFamily="49" charset="0"/>
                <a:cs typeface="Cascadia Code Light" pitchFamily="49" charset="0"/>
              </a:rPr>
              <a:t>pip</a:t>
            </a:r>
            <a:r>
              <a:rPr lang="ru-RU" sz="1600" dirty="0" smtClean="0">
                <a:latin typeface="Cascadia Code Light" pitchFamily="49" charset="0"/>
                <a:cs typeface="Cascadia Code Light" pitchFamily="49" charset="0"/>
              </a:rPr>
              <a:t> и выдал бы ошибку. С ! — команда уходит в системный </a:t>
            </a:r>
            <a:r>
              <a:rPr lang="ru-RU" sz="1600" dirty="0" err="1" smtClean="0">
                <a:latin typeface="Cascadia Code Light" pitchFamily="49" charset="0"/>
                <a:cs typeface="Cascadia Code Light" pitchFamily="49" charset="0"/>
              </a:rPr>
              <a:t>shell</a:t>
            </a:r>
            <a:r>
              <a:rPr lang="ru-RU" sz="1600" dirty="0" smtClean="0">
                <a:latin typeface="Cascadia Code Light" pitchFamily="49" charset="0"/>
                <a:cs typeface="Cascadia Code Light" pitchFamily="49" charset="0"/>
              </a:rPr>
              <a:t>.</a:t>
            </a:r>
          </a:p>
          <a:p>
            <a:r>
              <a:rPr lang="ru-RU" sz="1600" b="1" dirty="0" err="1" smtClean="0">
                <a:latin typeface="Cascadia Code Light" pitchFamily="49" charset="0"/>
                <a:cs typeface="Cascadia Code Light" pitchFamily="49" charset="0"/>
              </a:rPr>
              <a:t>pip</a:t>
            </a:r>
            <a:r>
              <a:rPr lang="ru-RU" sz="1600" b="1" dirty="0" smtClean="0">
                <a:latin typeface="Cascadia Code Light" pitchFamily="49" charset="0"/>
                <a:cs typeface="Cascadia Code Light" pitchFamily="49" charset="0"/>
              </a:rPr>
              <a:t> </a:t>
            </a:r>
            <a:r>
              <a:rPr lang="ru-RU" sz="1600" b="1" dirty="0" err="1" smtClean="0">
                <a:latin typeface="Cascadia Code Light" pitchFamily="49" charset="0"/>
                <a:cs typeface="Cascadia Code Light" pitchFamily="49" charset="0"/>
              </a:rPr>
              <a:t>install</a:t>
            </a:r>
            <a:endParaRPr lang="ru-RU" sz="1600" b="1" dirty="0" smtClean="0">
              <a:latin typeface="Cascadia Code Light" pitchFamily="49" charset="0"/>
              <a:cs typeface="Cascadia Code Light" pitchFamily="49" charset="0"/>
            </a:endParaRPr>
          </a:p>
          <a:p>
            <a:r>
              <a:rPr lang="ru-RU" sz="1600" dirty="0" err="1" smtClean="0">
                <a:latin typeface="Cascadia Code Light" pitchFamily="49" charset="0"/>
                <a:cs typeface="Cascadia Code Light" pitchFamily="49" charset="0"/>
              </a:rPr>
              <a:t>pip</a:t>
            </a:r>
            <a:r>
              <a:rPr lang="ru-RU" sz="1600" dirty="0" smtClean="0">
                <a:latin typeface="Cascadia Code Light" pitchFamily="49" charset="0"/>
                <a:cs typeface="Cascadia Code Light" pitchFamily="49" charset="0"/>
              </a:rPr>
              <a:t> — стандартный установщик пакетов </a:t>
            </a:r>
            <a:r>
              <a:rPr lang="ru-RU" sz="1600" dirty="0" err="1" smtClean="0">
                <a:latin typeface="Cascadia Code Light" pitchFamily="49" charset="0"/>
                <a:cs typeface="Cascadia Code Light" pitchFamily="49" charset="0"/>
              </a:rPr>
              <a:t>Python</a:t>
            </a:r>
            <a:r>
              <a:rPr lang="ru-RU" sz="1600" dirty="0" smtClean="0">
                <a:latin typeface="Cascadia Code Light" pitchFamily="49" charset="0"/>
                <a:cs typeface="Cascadia Code Light" pitchFamily="49" charset="0"/>
              </a:rPr>
              <a:t>.</a:t>
            </a:r>
            <a:br>
              <a:rPr lang="ru-RU" sz="1600" dirty="0" smtClean="0">
                <a:latin typeface="Cascadia Code Light" pitchFamily="49" charset="0"/>
                <a:cs typeface="Cascadia Code Light" pitchFamily="49" charset="0"/>
              </a:rPr>
            </a:br>
            <a:r>
              <a:rPr lang="ru-RU" sz="1600" dirty="0" err="1" smtClean="0">
                <a:latin typeface="Cascadia Code Light" pitchFamily="49" charset="0"/>
                <a:cs typeface="Cascadia Code Light" pitchFamily="49" charset="0"/>
              </a:rPr>
              <a:t>pip</a:t>
            </a:r>
            <a:r>
              <a:rPr lang="ru-RU" sz="1600" dirty="0" smtClean="0">
                <a:latin typeface="Cascadia Code Light" pitchFamily="49" charset="0"/>
                <a:cs typeface="Cascadia Code Light" pitchFamily="49" charset="0"/>
              </a:rPr>
              <a:t> </a:t>
            </a:r>
            <a:r>
              <a:rPr lang="ru-RU" sz="1600" dirty="0" err="1" smtClean="0">
                <a:latin typeface="Cascadia Code Light" pitchFamily="49" charset="0"/>
                <a:cs typeface="Cascadia Code Light" pitchFamily="49" charset="0"/>
              </a:rPr>
              <a:t>install</a:t>
            </a:r>
            <a:r>
              <a:rPr lang="ru-RU" sz="1600" dirty="0" smtClean="0">
                <a:latin typeface="Cascadia Code Light" pitchFamily="49" charset="0"/>
                <a:cs typeface="Cascadia Code Light" pitchFamily="49" charset="0"/>
              </a:rPr>
              <a:t> &lt;пакет&gt; — скачивает пакет из интернета и устанавливает в текущее окружение.</a:t>
            </a:r>
          </a:p>
          <a:p>
            <a:r>
              <a:rPr lang="ru-RU" sz="1600" b="1" dirty="0" smtClean="0">
                <a:latin typeface="Cascadia Code Light" pitchFamily="49" charset="0"/>
                <a:cs typeface="Cascadia Code Light" pitchFamily="49" charset="0"/>
              </a:rPr>
              <a:t>-</a:t>
            </a:r>
            <a:r>
              <a:rPr lang="ru-RU" sz="1600" b="1" dirty="0" err="1" smtClean="0">
                <a:latin typeface="Cascadia Code Light" pitchFamily="49" charset="0"/>
                <a:cs typeface="Cascadia Code Light" pitchFamily="49" charset="0"/>
              </a:rPr>
              <a:t>q</a:t>
            </a:r>
            <a:endParaRPr lang="ru-RU" sz="1600" b="1" dirty="0" smtClean="0">
              <a:latin typeface="Cascadia Code Light" pitchFamily="49" charset="0"/>
              <a:cs typeface="Cascadia Code Light" pitchFamily="49" charset="0"/>
            </a:endParaRPr>
          </a:p>
          <a:p>
            <a:r>
              <a:rPr lang="ru-RU" sz="1600" dirty="0" smtClean="0">
                <a:latin typeface="Cascadia Code Light" pitchFamily="49" charset="0"/>
                <a:cs typeface="Cascadia Code Light" pitchFamily="49" charset="0"/>
              </a:rPr>
              <a:t>Флаг </a:t>
            </a:r>
            <a:r>
              <a:rPr lang="ru-RU" sz="1600" b="1" dirty="0" err="1" smtClean="0">
                <a:latin typeface="Cascadia Code Light" pitchFamily="49" charset="0"/>
                <a:cs typeface="Cascadia Code Light" pitchFamily="49" charset="0"/>
              </a:rPr>
              <a:t>quiet</a:t>
            </a:r>
            <a:r>
              <a:rPr lang="ru-RU" sz="1600" dirty="0" smtClean="0">
                <a:latin typeface="Cascadia Code Light" pitchFamily="49" charset="0"/>
                <a:cs typeface="Cascadia Code Light" pitchFamily="49" charset="0"/>
              </a:rPr>
              <a:t> — «тихий режим». Без него </a:t>
            </a:r>
            <a:r>
              <a:rPr lang="ru-RU" sz="1600" dirty="0" err="1" smtClean="0">
                <a:latin typeface="Cascadia Code Light" pitchFamily="49" charset="0"/>
                <a:cs typeface="Cascadia Code Light" pitchFamily="49" charset="0"/>
              </a:rPr>
              <a:t>pip</a:t>
            </a:r>
            <a:r>
              <a:rPr lang="ru-RU" sz="1600" dirty="0" smtClean="0">
                <a:latin typeface="Cascadia Code Light" pitchFamily="49" charset="0"/>
                <a:cs typeface="Cascadia Code Light" pitchFamily="49" charset="0"/>
              </a:rPr>
              <a:t> выводит десятки служебных строк</a:t>
            </a:r>
          </a:p>
          <a:p>
            <a:r>
              <a:rPr lang="en-US" sz="1600" b="1" dirty="0" smtClean="0">
                <a:latin typeface="Cascadia Code Light" pitchFamily="49" charset="0"/>
                <a:cs typeface="Cascadia Code Light" pitchFamily="49" charset="0"/>
              </a:rPr>
              <a:t>datasets</a:t>
            </a:r>
          </a:p>
          <a:p>
            <a:r>
              <a:rPr lang="ru-RU" sz="1600" dirty="0" smtClean="0">
                <a:latin typeface="Cascadia Code Light" pitchFamily="49" charset="0"/>
                <a:cs typeface="Cascadia Code Light" pitchFamily="49" charset="0"/>
              </a:rPr>
              <a:t>Название пакета — библиотека </a:t>
            </a:r>
            <a:r>
              <a:rPr lang="en-US" sz="1600" b="1" dirty="0" smtClean="0">
                <a:latin typeface="Cascadia Code Light" pitchFamily="49" charset="0"/>
                <a:cs typeface="Cascadia Code Light" pitchFamily="49" charset="0"/>
              </a:rPr>
              <a:t>Hugging Face Datasets</a:t>
            </a:r>
            <a:r>
              <a:rPr lang="en-US" sz="1600" dirty="0" smtClean="0">
                <a:latin typeface="Cascadia Code Light" pitchFamily="49" charset="0"/>
                <a:cs typeface="Cascadia Code Light" pitchFamily="49" charset="0"/>
              </a:rPr>
              <a:t>. </a:t>
            </a:r>
            <a:r>
              <a:rPr lang="ru-RU" sz="1600" dirty="0" smtClean="0">
                <a:latin typeface="Cascadia Code Light" pitchFamily="49" charset="0"/>
                <a:cs typeface="Cascadia Code Light" pitchFamily="49" charset="0"/>
              </a:rPr>
              <a:t>Это </a:t>
            </a:r>
            <a:r>
              <a:rPr lang="ru-RU" sz="1600" dirty="0" err="1" smtClean="0">
                <a:latin typeface="Cascadia Code Light" pitchFamily="49" charset="0"/>
                <a:cs typeface="Cascadia Code Light" pitchFamily="49" charset="0"/>
              </a:rPr>
              <a:t>репозиторий</a:t>
            </a:r>
            <a:r>
              <a:rPr lang="ru-RU" sz="1600" dirty="0" smtClean="0">
                <a:latin typeface="Cascadia Code Light" pitchFamily="49" charset="0"/>
                <a:cs typeface="Cascadia Code Light" pitchFamily="49" charset="0"/>
              </a:rPr>
              <a:t> с тысячами </a:t>
            </a:r>
            <a:r>
              <a:rPr lang="ru-RU" sz="1600" dirty="0" err="1" smtClean="0">
                <a:latin typeface="Cascadia Code Light" pitchFamily="49" charset="0"/>
                <a:cs typeface="Cascadia Code Light" pitchFamily="49" charset="0"/>
              </a:rPr>
              <a:t>датасетов</a:t>
            </a:r>
            <a:r>
              <a:rPr lang="ru-RU" sz="1600" dirty="0" smtClean="0">
                <a:latin typeface="Cascadia Code Light" pitchFamily="49" charset="0"/>
                <a:cs typeface="Cascadia Code Light" pitchFamily="49" charset="0"/>
              </a:rPr>
              <a:t>, включая </a:t>
            </a:r>
            <a:r>
              <a:rPr lang="en-US" sz="1600" dirty="0" smtClean="0">
                <a:latin typeface="Cascadia Code Light" pitchFamily="49" charset="0"/>
                <a:cs typeface="Cascadia Code Light" pitchFamily="49" charset="0"/>
              </a:rPr>
              <a:t>California Housing. </a:t>
            </a:r>
            <a:r>
              <a:rPr lang="ru-RU" sz="1600" dirty="0" smtClean="0">
                <a:latin typeface="Cascadia Code Light" pitchFamily="49" charset="0"/>
                <a:cs typeface="Cascadia Code Light" pitchFamily="49" charset="0"/>
              </a:rPr>
              <a:t>Загрузка через неё работает стабильнее, чем через </a:t>
            </a:r>
            <a:r>
              <a:rPr lang="en-US" sz="1600" dirty="0" err="1" smtClean="0">
                <a:latin typeface="Cascadia Code Light" pitchFamily="49" charset="0"/>
                <a:cs typeface="Cascadia Code Light" pitchFamily="49" charset="0"/>
              </a:rPr>
              <a:t>fetch_california_housing</a:t>
            </a:r>
            <a:r>
              <a:rPr lang="en-US" sz="1600" dirty="0" smtClean="0">
                <a:latin typeface="Cascadia Code Light" pitchFamily="49" charset="0"/>
                <a:cs typeface="Cascadia Code Light" pitchFamily="49" charset="0"/>
              </a:rPr>
              <a:t>() </a:t>
            </a:r>
            <a:r>
              <a:rPr lang="ru-RU" sz="1600" dirty="0" smtClean="0">
                <a:latin typeface="Cascadia Code Light" pitchFamily="49" charset="0"/>
                <a:cs typeface="Cascadia Code Light" pitchFamily="49" charset="0"/>
              </a:rPr>
              <a:t>из </a:t>
            </a:r>
            <a:r>
              <a:rPr lang="en-US" sz="1600" dirty="0" err="1" smtClean="0">
                <a:latin typeface="Cascadia Code Light" pitchFamily="49" charset="0"/>
                <a:cs typeface="Cascadia Code Light" pitchFamily="49" charset="0"/>
              </a:rPr>
              <a:t>sklearn</a:t>
            </a:r>
            <a:r>
              <a:rPr lang="en-US" sz="1600" dirty="0" smtClean="0">
                <a:latin typeface="Cascadia Code Light" pitchFamily="49" charset="0"/>
                <a:cs typeface="Cascadia Code Light" pitchFamily="49" charset="0"/>
              </a:rPr>
              <a:t>: </a:t>
            </a:r>
            <a:r>
              <a:rPr lang="ru-RU" sz="1600" dirty="0" smtClean="0">
                <a:latin typeface="Cascadia Code Light" pitchFamily="49" charset="0"/>
                <a:cs typeface="Cascadia Code Light" pitchFamily="49" charset="0"/>
              </a:rPr>
              <a:t>тот тянет данные с сервера </a:t>
            </a:r>
            <a:r>
              <a:rPr lang="en-US" sz="1600" dirty="0" err="1" smtClean="0">
                <a:latin typeface="Cascadia Code Light" pitchFamily="49" charset="0"/>
                <a:cs typeface="Cascadia Code Light" pitchFamily="49" charset="0"/>
              </a:rPr>
              <a:t>figshare</a:t>
            </a:r>
            <a:r>
              <a:rPr lang="en-US" sz="1600" dirty="0" smtClean="0">
                <a:latin typeface="Cascadia Code Light" pitchFamily="49" charset="0"/>
                <a:cs typeface="Cascadia Code Light" pitchFamily="49" charset="0"/>
              </a:rPr>
              <a:t>, </a:t>
            </a:r>
            <a:r>
              <a:rPr lang="ru-RU" sz="1600" dirty="0" smtClean="0">
                <a:latin typeface="Cascadia Code Light" pitchFamily="49" charset="0"/>
                <a:cs typeface="Cascadia Code Light" pitchFamily="49" charset="0"/>
              </a:rPr>
              <a:t>который часто недоступен или отдаёт 404.</a:t>
            </a:r>
          </a:p>
          <a:p>
            <a:endParaRPr lang="ru-RU" sz="1600" dirty="0">
              <a:latin typeface="Cascadia Code Light" pitchFamily="49" charset="0"/>
              <a:cs typeface="Cascadia Code Light" pitchFamily="49" charset="0"/>
            </a:endParaRPr>
          </a:p>
        </p:txBody>
      </p:sp>
      <p:pic>
        <p:nvPicPr>
          <p:cNvPr id="2050" name="Picture 2"/>
          <p:cNvPicPr>
            <a:picLocks noChangeAspect="1" noChangeArrowheads="1"/>
          </p:cNvPicPr>
          <p:nvPr/>
        </p:nvPicPr>
        <p:blipFill>
          <a:blip r:embed="rId2" cstate="print"/>
          <a:srcRect/>
          <a:stretch>
            <a:fillRect/>
          </a:stretch>
        </p:blipFill>
        <p:spPr bwMode="auto">
          <a:xfrm>
            <a:off x="228600" y="1752600"/>
            <a:ext cx="8640763" cy="11049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p:txBody>
          <a:bodyPr/>
          <a:lstStyle/>
          <a:p>
            <a:r>
              <a:rPr lang="ru-RU" dirty="0" smtClean="0">
                <a:latin typeface="Cascadia Code Light" pitchFamily="49" charset="0"/>
                <a:cs typeface="Cascadia Code Light" pitchFamily="49" charset="0"/>
              </a:rPr>
              <a:t>Разобрались с двумя первыми ячейками, которые загружают нужные библиотеки и данные. Эти ячейки надо запускать перед запуском всех последующих ячеек.</a:t>
            </a:r>
          </a:p>
          <a:p>
            <a:endParaRPr lang="ru-RU" dirty="0" smtClean="0">
              <a:latin typeface="Cascadia Code Light" pitchFamily="49" charset="0"/>
              <a:cs typeface="Cascadia Code Light" pitchFamily="49" charset="0"/>
            </a:endParaRPr>
          </a:p>
          <a:p>
            <a:r>
              <a:rPr lang="ru-RU" dirty="0" smtClean="0">
                <a:latin typeface="Cascadia Code Light" pitchFamily="49" charset="0"/>
                <a:cs typeface="Cascadia Code Light" pitchFamily="49" charset="0"/>
              </a:rPr>
              <a:t>А теперь переходим к написанию кода</a:t>
            </a:r>
            <a:endParaRPr lang="ru-RU" dirty="0">
              <a:latin typeface="Cascadia Code Light" pitchFamily="49" charset="0"/>
              <a:cs typeface="Cascadia Code Light"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3600" dirty="0" smtClean="0">
                <a:latin typeface="Cascadia Code Light" pitchFamily="49" charset="0"/>
                <a:cs typeface="Cascadia Code Light" pitchFamily="49" charset="0"/>
              </a:rPr>
              <a:t>Ручная реализация градиентного спуска</a:t>
            </a:r>
            <a:br>
              <a:rPr lang="ru-RU" sz="3600" dirty="0" smtClean="0">
                <a:latin typeface="Cascadia Code Light" pitchFamily="49" charset="0"/>
                <a:cs typeface="Cascadia Code Light" pitchFamily="49" charset="0"/>
              </a:rPr>
            </a:br>
            <a:endParaRPr lang="ru-RU" sz="3600" dirty="0">
              <a:latin typeface="Cascadia Code Light" pitchFamily="49" charset="0"/>
              <a:cs typeface="Cascadia Code Light" pitchFamily="49" charset="0"/>
            </a:endParaRPr>
          </a:p>
        </p:txBody>
      </p:sp>
      <p:sp>
        <p:nvSpPr>
          <p:cNvPr id="3" name="Содержимое 2"/>
          <p:cNvSpPr>
            <a:spLocks noGrp="1"/>
          </p:cNvSpPr>
          <p:nvPr>
            <p:ph idx="1"/>
          </p:nvPr>
        </p:nvSpPr>
        <p:spPr>
          <a:xfrm>
            <a:off x="457200" y="5913437"/>
            <a:ext cx="8382000" cy="944563"/>
          </a:xfrm>
        </p:spPr>
        <p:txBody>
          <a:bodyPr/>
          <a:lstStyle/>
          <a:p>
            <a:r>
              <a:rPr lang="ru-RU" dirty="0" smtClean="0">
                <a:latin typeface="Cascadia Code Light" pitchFamily="49" charset="0"/>
                <a:cs typeface="Cascadia Code Light" pitchFamily="49" charset="0"/>
              </a:rPr>
              <a:t>Разберем код по частям</a:t>
            </a:r>
            <a:endParaRPr lang="ru-RU" dirty="0">
              <a:latin typeface="Cascadia Code Light" pitchFamily="49" charset="0"/>
              <a:cs typeface="Cascadia Code Light" pitchFamily="49" charset="0"/>
            </a:endParaRPr>
          </a:p>
        </p:txBody>
      </p:sp>
      <p:pic>
        <p:nvPicPr>
          <p:cNvPr id="3074" name="Picture 2"/>
          <p:cNvPicPr>
            <a:picLocks noChangeAspect="1" noChangeArrowheads="1"/>
          </p:cNvPicPr>
          <p:nvPr/>
        </p:nvPicPr>
        <p:blipFill>
          <a:blip r:embed="rId2" cstate="print"/>
          <a:srcRect/>
          <a:stretch>
            <a:fillRect/>
          </a:stretch>
        </p:blipFill>
        <p:spPr bwMode="auto">
          <a:xfrm>
            <a:off x="533400" y="1295400"/>
            <a:ext cx="7135813" cy="4343639"/>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04800" y="1981200"/>
            <a:ext cx="8458200" cy="4191000"/>
          </a:xfrm>
        </p:spPr>
        <p:txBody>
          <a:bodyPr>
            <a:normAutofit fontScale="62500" lnSpcReduction="20000"/>
          </a:bodyPr>
          <a:lstStyle/>
          <a:p>
            <a:r>
              <a:rPr lang="ru-RU" dirty="0" smtClean="0">
                <a:latin typeface="Cascadia Code Light" pitchFamily="49" charset="0"/>
                <a:cs typeface="Cascadia Code Light" pitchFamily="49" charset="0"/>
              </a:rPr>
              <a:t>Генерация данных</a:t>
            </a:r>
          </a:p>
          <a:p>
            <a:r>
              <a:rPr lang="ru-RU" dirty="0" smtClean="0">
                <a:latin typeface="Cascadia Code Light" pitchFamily="49" charset="0"/>
                <a:cs typeface="Cascadia Code Light" pitchFamily="49" charset="0"/>
              </a:rPr>
              <a:t>Цель: сгенерировать данные парами значений (</a:t>
            </a:r>
            <a:r>
              <a:rPr lang="en-US" dirty="0" smtClean="0">
                <a:latin typeface="Cascadia Code Light" pitchFamily="49" charset="0"/>
                <a:cs typeface="Cascadia Code Light" pitchFamily="49" charset="0"/>
              </a:rPr>
              <a:t>x</a:t>
            </a:r>
            <a:r>
              <a:rPr lang="ru-RU" dirty="0" smtClean="0">
                <a:latin typeface="Cascadia Code Light" pitchFamily="49" charset="0"/>
                <a:cs typeface="Cascadia Code Light" pitchFamily="49" charset="0"/>
              </a:rPr>
              <a:t>, </a:t>
            </a:r>
            <a:r>
              <a:rPr lang="en-US" dirty="0" smtClean="0">
                <a:latin typeface="Cascadia Code Light" pitchFamily="49" charset="0"/>
                <a:cs typeface="Cascadia Code Light" pitchFamily="49" charset="0"/>
              </a:rPr>
              <a:t>f(x)</a:t>
            </a:r>
            <a:r>
              <a:rPr lang="ru-RU" dirty="0" smtClean="0">
                <a:latin typeface="Cascadia Code Light" pitchFamily="49" charset="0"/>
                <a:cs typeface="Cascadia Code Light" pitchFamily="49" charset="0"/>
              </a:rPr>
              <a:t>)</a:t>
            </a:r>
            <a:r>
              <a:rPr lang="en-US" dirty="0" smtClean="0">
                <a:latin typeface="Cascadia Code Light" pitchFamily="49" charset="0"/>
                <a:cs typeface="Cascadia Code Light" pitchFamily="49" charset="0"/>
              </a:rPr>
              <a:t>, </a:t>
            </a:r>
            <a:r>
              <a:rPr lang="ru-RU" dirty="0" smtClean="0">
                <a:latin typeface="Cascadia Code Light" pitchFamily="49" charset="0"/>
                <a:cs typeface="Cascadia Code Light" pitchFamily="49" charset="0"/>
              </a:rPr>
              <a:t>где </a:t>
            </a:r>
            <a:r>
              <a:rPr lang="en-US" dirty="0" smtClean="0">
                <a:latin typeface="Cascadia Code Light" pitchFamily="49" charset="0"/>
                <a:cs typeface="Cascadia Code Light" pitchFamily="49" charset="0"/>
              </a:rPr>
              <a:t>f(x)</a:t>
            </a:r>
            <a:r>
              <a:rPr lang="ru-RU" dirty="0" smtClean="0">
                <a:latin typeface="Cascadia Code Light" pitchFamily="49" charset="0"/>
                <a:cs typeface="Cascadia Code Light" pitchFamily="49" charset="0"/>
              </a:rPr>
              <a:t> = </a:t>
            </a:r>
            <a:r>
              <a:rPr lang="en-US" dirty="0" err="1" smtClean="0">
                <a:latin typeface="Cascadia Code Light" pitchFamily="49" charset="0"/>
                <a:cs typeface="Cascadia Code Light" pitchFamily="49" charset="0"/>
              </a:rPr>
              <a:t>wx</a:t>
            </a:r>
            <a:r>
              <a:rPr lang="en-US" dirty="0" smtClean="0">
                <a:latin typeface="Cascadia Code Light" pitchFamily="49" charset="0"/>
                <a:cs typeface="Cascadia Code Light" pitchFamily="49" charset="0"/>
              </a:rPr>
              <a:t> + b</a:t>
            </a:r>
            <a:r>
              <a:rPr lang="ru-RU" dirty="0" smtClean="0">
                <a:latin typeface="Cascadia Code Light" pitchFamily="49" charset="0"/>
                <a:cs typeface="Cascadia Code Light" pitchFamily="49" charset="0"/>
              </a:rPr>
              <a:t>. </a:t>
            </a:r>
            <a:r>
              <a:rPr lang="en-US" dirty="0" smtClean="0">
                <a:latin typeface="Cascadia Code Light" pitchFamily="49" charset="0"/>
                <a:cs typeface="Cascadia Code Light" pitchFamily="49" charset="0"/>
              </a:rPr>
              <a:t>W</a:t>
            </a:r>
            <a:r>
              <a:rPr lang="ru-RU" dirty="0" smtClean="0">
                <a:latin typeface="Cascadia Code Light" pitchFamily="49" charset="0"/>
                <a:cs typeface="Cascadia Code Light" pitchFamily="49" charset="0"/>
              </a:rPr>
              <a:t> и </a:t>
            </a:r>
            <a:r>
              <a:rPr lang="en-US" dirty="0" smtClean="0">
                <a:latin typeface="Cascadia Code Light" pitchFamily="49" charset="0"/>
                <a:cs typeface="Cascadia Code Light" pitchFamily="49" charset="0"/>
              </a:rPr>
              <a:t>b</a:t>
            </a:r>
            <a:r>
              <a:rPr lang="ru-RU" dirty="0" smtClean="0">
                <a:latin typeface="Cascadia Code Light" pitchFamily="49" charset="0"/>
                <a:cs typeface="Cascadia Code Light" pitchFamily="49" charset="0"/>
              </a:rPr>
              <a:t> – параметры модели, которые ей предстоит подобрать методом градиентного спуска по предоставленным нами 100 парам значений.</a:t>
            </a:r>
          </a:p>
          <a:p>
            <a:r>
              <a:rPr lang="en-US" dirty="0" err="1" smtClean="0">
                <a:latin typeface="Cascadia Code Light" pitchFamily="49" charset="0"/>
                <a:cs typeface="Cascadia Code Light" pitchFamily="49" charset="0"/>
              </a:rPr>
              <a:t>X_demo</a:t>
            </a:r>
            <a:r>
              <a:rPr lang="ru-RU" dirty="0" smtClean="0">
                <a:latin typeface="Cascadia Code Light" pitchFamily="49" charset="0"/>
                <a:cs typeface="Cascadia Code Light" pitchFamily="49" charset="0"/>
              </a:rPr>
              <a:t> – через модель </a:t>
            </a:r>
            <a:r>
              <a:rPr lang="en-US" dirty="0" smtClean="0">
                <a:latin typeface="Cascadia Code Light" pitchFamily="49" charset="0"/>
                <a:cs typeface="Cascadia Code Light" pitchFamily="49" charset="0"/>
              </a:rPr>
              <a:t>random </a:t>
            </a:r>
            <a:r>
              <a:rPr lang="ru-RU" dirty="0" smtClean="0">
                <a:latin typeface="Cascadia Code Light" pitchFamily="49" charset="0"/>
                <a:cs typeface="Cascadia Code Light" pitchFamily="49" charset="0"/>
              </a:rPr>
              <a:t>библиотеки </a:t>
            </a:r>
            <a:r>
              <a:rPr lang="en-US" dirty="0" err="1" smtClean="0">
                <a:latin typeface="Cascadia Code Light" pitchFamily="49" charset="0"/>
                <a:cs typeface="Cascadia Code Light" pitchFamily="49" charset="0"/>
              </a:rPr>
              <a:t>Numpy</a:t>
            </a:r>
            <a:r>
              <a:rPr lang="en-US" dirty="0" smtClean="0">
                <a:latin typeface="Cascadia Code Light" pitchFamily="49" charset="0"/>
                <a:cs typeface="Cascadia Code Light" pitchFamily="49" charset="0"/>
              </a:rPr>
              <a:t> </a:t>
            </a:r>
            <a:r>
              <a:rPr lang="ru-RU" dirty="0" smtClean="0">
                <a:latin typeface="Cascadia Code Light" pitchFamily="49" charset="0"/>
                <a:cs typeface="Cascadia Code Light" pitchFamily="49" charset="0"/>
              </a:rPr>
              <a:t>генерируем 100 значений из равномерного распределения </a:t>
            </a:r>
            <a:r>
              <a:rPr lang="en-US" dirty="0" smtClean="0">
                <a:latin typeface="Cascadia Code Light" pitchFamily="49" charset="0"/>
                <a:cs typeface="Cascadia Code Light" pitchFamily="49" charset="0"/>
              </a:rPr>
              <a:t>[0, 1)</a:t>
            </a:r>
            <a:r>
              <a:rPr lang="ru-RU" dirty="0" smtClean="0">
                <a:latin typeface="Cascadia Code Light" pitchFamily="49" charset="0"/>
                <a:cs typeface="Cascadia Code Light" pitchFamily="49" charset="0"/>
              </a:rPr>
              <a:t>. *10 дает умножение каждого </a:t>
            </a:r>
            <a:r>
              <a:rPr lang="ru-RU" dirty="0" err="1" smtClean="0">
                <a:latin typeface="Cascadia Code Light" pitchFamily="49" charset="0"/>
                <a:cs typeface="Cascadia Code Light" pitchFamily="49" charset="0"/>
              </a:rPr>
              <a:t>нагенерированного</a:t>
            </a:r>
            <a:r>
              <a:rPr lang="ru-RU" dirty="0" smtClean="0">
                <a:latin typeface="Cascadia Code Light" pitchFamily="49" charset="0"/>
                <a:cs typeface="Cascadia Code Light" pitchFamily="49" charset="0"/>
              </a:rPr>
              <a:t> значения на 10, т.е. все </a:t>
            </a:r>
            <a:r>
              <a:rPr lang="en-US" dirty="0" smtClean="0">
                <a:latin typeface="Cascadia Code Light" pitchFamily="49" charset="0"/>
                <a:cs typeface="Cascadia Code Light" pitchFamily="49" charset="0"/>
              </a:rPr>
              <a:t>x </a:t>
            </a:r>
            <a:r>
              <a:rPr lang="ru-RU" dirty="0" smtClean="0">
                <a:latin typeface="Cascadia Code Light" pitchFamily="49" charset="0"/>
                <a:cs typeface="Cascadia Code Light" pitchFamily="49" charset="0"/>
              </a:rPr>
              <a:t>у нас в диапазоне </a:t>
            </a:r>
            <a:r>
              <a:rPr lang="en-US" dirty="0" smtClean="0">
                <a:latin typeface="Cascadia Code Light" pitchFamily="49" charset="0"/>
                <a:cs typeface="Cascadia Code Light" pitchFamily="49" charset="0"/>
              </a:rPr>
              <a:t>[ 0, 1</a:t>
            </a:r>
            <a:r>
              <a:rPr lang="ru-RU" dirty="0" smtClean="0">
                <a:latin typeface="Cascadia Code Light" pitchFamily="49" charset="0"/>
                <a:cs typeface="Cascadia Code Light" pitchFamily="49" charset="0"/>
              </a:rPr>
              <a:t>0</a:t>
            </a:r>
            <a:r>
              <a:rPr lang="en-US" dirty="0" smtClean="0">
                <a:latin typeface="Cascadia Code Light" pitchFamily="49" charset="0"/>
                <a:cs typeface="Cascadia Code Light" pitchFamily="49" charset="0"/>
              </a:rPr>
              <a:t>)</a:t>
            </a:r>
            <a:endParaRPr lang="ru-RU" dirty="0" smtClean="0">
              <a:latin typeface="Cascadia Code Light" pitchFamily="49" charset="0"/>
              <a:cs typeface="Cascadia Code Light" pitchFamily="49" charset="0"/>
            </a:endParaRPr>
          </a:p>
          <a:p>
            <a:r>
              <a:rPr lang="ru-RU" dirty="0" smtClean="0">
                <a:latin typeface="Cascadia Code Light" pitchFamily="49" charset="0"/>
                <a:cs typeface="Cascadia Code Light" pitchFamily="49" charset="0"/>
              </a:rPr>
              <a:t>(100, 1) – форма массива — столбец из 100 чисел. Такая форма удобна для матричных операций дальше.</a:t>
            </a:r>
            <a:endParaRPr lang="en-US" dirty="0" smtClean="0">
              <a:latin typeface="Cascadia Code Light" pitchFamily="49" charset="0"/>
              <a:cs typeface="Cascadia Code Light" pitchFamily="49" charset="0"/>
            </a:endParaRPr>
          </a:p>
          <a:p>
            <a:r>
              <a:rPr lang="en-US" dirty="0" err="1" smtClean="0">
                <a:latin typeface="Cascadia Code Light" pitchFamily="49" charset="0"/>
                <a:cs typeface="Cascadia Code Light" pitchFamily="49" charset="0"/>
              </a:rPr>
              <a:t>Y_demo</a:t>
            </a:r>
            <a:r>
              <a:rPr lang="ru-RU" dirty="0" smtClean="0">
                <a:latin typeface="Cascadia Code Light" pitchFamily="49" charset="0"/>
                <a:cs typeface="Cascadia Code Light" pitchFamily="49" charset="0"/>
              </a:rPr>
              <a:t> – вектор из значений, вычисленных по формуле </a:t>
            </a:r>
            <a:r>
              <a:rPr lang="en-US" dirty="0" err="1" smtClean="0">
                <a:latin typeface="Cascadia Code Light" pitchFamily="49" charset="0"/>
                <a:cs typeface="Cascadia Code Light" pitchFamily="49" charset="0"/>
              </a:rPr>
              <a:t>wx</a:t>
            </a:r>
            <a:r>
              <a:rPr lang="en-US" dirty="0" smtClean="0">
                <a:latin typeface="Cascadia Code Light" pitchFamily="49" charset="0"/>
                <a:cs typeface="Cascadia Code Light" pitchFamily="49" charset="0"/>
              </a:rPr>
              <a:t> + b</a:t>
            </a:r>
            <a:r>
              <a:rPr lang="ru-RU" dirty="0" smtClean="0">
                <a:latin typeface="Cascadia Code Light" pitchFamily="49" charset="0"/>
                <a:cs typeface="Cascadia Code Light" pitchFamily="49" charset="0"/>
              </a:rPr>
              <a:t> + шум (чтоб было веселее обучать модель)</a:t>
            </a:r>
          </a:p>
          <a:p>
            <a:r>
              <a:rPr lang="ru-RU" dirty="0" smtClean="0">
                <a:latin typeface="Cascadia Code Light" pitchFamily="49" charset="0"/>
                <a:cs typeface="Cascadia Code Light" pitchFamily="49" charset="0"/>
              </a:rPr>
              <a:t>Здесь в формуле фигурируют «ответы» – правильные значения </a:t>
            </a:r>
            <a:r>
              <a:rPr lang="en-US" dirty="0" smtClean="0">
                <a:latin typeface="Cascadia Code Light" pitchFamily="49" charset="0"/>
                <a:cs typeface="Cascadia Code Light" pitchFamily="49" charset="0"/>
              </a:rPr>
              <a:t>w, b</a:t>
            </a:r>
            <a:r>
              <a:rPr lang="ru-RU" dirty="0" smtClean="0">
                <a:latin typeface="Cascadia Code Light" pitchFamily="49" charset="0"/>
                <a:cs typeface="Cascadia Code Light" pitchFamily="49" charset="0"/>
              </a:rPr>
              <a:t>, которые мы «загадали» нашей модели. </a:t>
            </a:r>
            <a:endParaRPr lang="ru-RU" dirty="0">
              <a:latin typeface="Cascadia Code Light" pitchFamily="49" charset="0"/>
              <a:cs typeface="Cascadia Code Light" pitchFamily="49" charset="0"/>
            </a:endParaRPr>
          </a:p>
        </p:txBody>
      </p:sp>
      <p:pic>
        <p:nvPicPr>
          <p:cNvPr id="4099" name="Picture 3"/>
          <p:cNvPicPr>
            <a:picLocks noChangeAspect="1" noChangeArrowheads="1"/>
          </p:cNvPicPr>
          <p:nvPr/>
        </p:nvPicPr>
        <p:blipFill>
          <a:blip r:embed="rId2" cstate="print"/>
          <a:srcRect l="8733" t="20495" r="11422" b="63109"/>
          <a:stretch>
            <a:fillRect/>
          </a:stretch>
        </p:blipFill>
        <p:spPr bwMode="auto">
          <a:xfrm>
            <a:off x="304800" y="304800"/>
            <a:ext cx="9448800" cy="1181100"/>
          </a:xfrm>
          <a:prstGeom prst="rect">
            <a:avLst/>
          </a:prstGeom>
          <a:noFill/>
          <a:ln w="9525">
            <a:noFill/>
            <a:miter lim="800000"/>
            <a:headEnd/>
            <a:tailEnd/>
          </a:ln>
          <a:effectLst/>
        </p:spPr>
      </p:pic>
    </p:spTree>
  </p:cSld>
  <p:clrMapOvr>
    <a:masterClrMapping/>
  </p:clrMapOvr>
  <p:transition advTm="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228600" y="3276600"/>
            <a:ext cx="8382000" cy="3001963"/>
          </a:xfrm>
        </p:spPr>
        <p:txBody>
          <a:bodyPr>
            <a:noAutofit/>
          </a:bodyPr>
          <a:lstStyle/>
          <a:p>
            <a:r>
              <a:rPr lang="ru-RU" sz="1100" dirty="0" smtClean="0">
                <a:latin typeface="Cascadia Code Light" pitchFamily="49" charset="0"/>
                <a:cs typeface="Cascadia Code Light" pitchFamily="49" charset="0"/>
              </a:rPr>
              <a:t>Инициализируем </a:t>
            </a:r>
            <a:r>
              <a:rPr lang="en-US" sz="1100" dirty="0" smtClean="0">
                <a:latin typeface="Cascadia Code Light" pitchFamily="49" charset="0"/>
                <a:cs typeface="Cascadia Code Light" pitchFamily="49" charset="0"/>
              </a:rPr>
              <a:t>w, b </a:t>
            </a:r>
            <a:r>
              <a:rPr lang="ru-RU" sz="1100" dirty="0" smtClean="0">
                <a:latin typeface="Cascadia Code Light" pitchFamily="49" charset="0"/>
                <a:cs typeface="Cascadia Code Light" pitchFamily="49" charset="0"/>
              </a:rPr>
              <a:t>случайными значениями. </a:t>
            </a:r>
            <a:r>
              <a:rPr lang="en-US" sz="1100" dirty="0" err="1" smtClean="0">
                <a:latin typeface="Cascadia Code Light" pitchFamily="49" charset="0"/>
                <a:cs typeface="Cascadia Code Light" pitchFamily="49" charset="0"/>
              </a:rPr>
              <a:t>Lr</a:t>
            </a:r>
            <a:r>
              <a:rPr lang="ru-RU" sz="1100" dirty="0" smtClean="0">
                <a:latin typeface="Cascadia Code Light" pitchFamily="49" charset="0"/>
                <a:cs typeface="Cascadia Code Light" pitchFamily="49" charset="0"/>
              </a:rPr>
              <a:t> – шаг обучения, устанавливаем 0.01. Это стандартное значение. </a:t>
            </a:r>
            <a:r>
              <a:rPr lang="en-US" sz="1100" dirty="0" err="1" smtClean="0">
                <a:latin typeface="Cascadia Code Light" pitchFamily="49" charset="0"/>
                <a:cs typeface="Cascadia Code Light" pitchFamily="49" charset="0"/>
              </a:rPr>
              <a:t>Lr</a:t>
            </a:r>
            <a:r>
              <a:rPr lang="ru-RU" sz="1100" dirty="0" smtClean="0">
                <a:latin typeface="Cascadia Code Light" pitchFamily="49" charset="0"/>
                <a:cs typeface="Cascadia Code Light" pitchFamily="49" charset="0"/>
              </a:rPr>
              <a:t> отвечает за то, насколько сильно сдвигать веса на каждой эпохе.</a:t>
            </a:r>
          </a:p>
          <a:p>
            <a:r>
              <a:rPr lang="ru-RU" sz="1100" dirty="0" err="1" smtClean="0">
                <a:latin typeface="Cascadia Code Light" pitchFamily="49" charset="0"/>
                <a:cs typeface="Cascadia Code Light" pitchFamily="49" charset="0"/>
              </a:rPr>
              <a:t>np.random.randn</a:t>
            </a:r>
            <a:r>
              <a:rPr lang="ru-RU" sz="1100" dirty="0" smtClean="0">
                <a:latin typeface="Cascadia Code Light" pitchFamily="49" charset="0"/>
                <a:cs typeface="Cascadia Code Light" pitchFamily="49" charset="0"/>
              </a:rPr>
              <a:t>(1) — одно случайное число из нормального распределения (среднее 0, </a:t>
            </a:r>
            <a:r>
              <a:rPr lang="ru-RU" sz="1100" dirty="0" err="1" smtClean="0">
                <a:latin typeface="Cascadia Code Light" pitchFamily="49" charset="0"/>
                <a:cs typeface="Cascadia Code Light" pitchFamily="49" charset="0"/>
              </a:rPr>
              <a:t>std</a:t>
            </a:r>
            <a:r>
              <a:rPr lang="ru-RU" sz="1100" dirty="0" smtClean="0">
                <a:latin typeface="Cascadia Code Light" pitchFamily="49" charset="0"/>
                <a:cs typeface="Cascadia Code Light" pitchFamily="49" charset="0"/>
              </a:rPr>
              <a:t> 1)</a:t>
            </a:r>
          </a:p>
          <a:p>
            <a:endParaRPr lang="ru-RU" sz="1100" dirty="0" smtClean="0">
              <a:latin typeface="Cascadia Code Light" pitchFamily="49" charset="0"/>
              <a:cs typeface="Cascadia Code Light" pitchFamily="49" charset="0"/>
            </a:endParaRPr>
          </a:p>
          <a:p>
            <a:r>
              <a:rPr lang="ru-RU" sz="1100" dirty="0" smtClean="0">
                <a:latin typeface="Cascadia Code Light" pitchFamily="49" charset="0"/>
                <a:cs typeface="Cascadia Code Light" pitchFamily="49" charset="0"/>
              </a:rPr>
              <a:t>Далее циклом </a:t>
            </a:r>
            <a:r>
              <a:rPr lang="en-US" sz="1100" dirty="0" smtClean="0">
                <a:latin typeface="Cascadia Code Light" pitchFamily="49" charset="0"/>
                <a:cs typeface="Cascadia Code Light" pitchFamily="49" charset="0"/>
              </a:rPr>
              <a:t>for </a:t>
            </a:r>
            <a:r>
              <a:rPr lang="ru-RU" sz="1100" dirty="0" smtClean="0">
                <a:latin typeface="Cascadia Code Light" pitchFamily="49" charset="0"/>
                <a:cs typeface="Cascadia Code Light" pitchFamily="49" charset="0"/>
              </a:rPr>
              <a:t>запускаем цикл на 5 эпох.</a:t>
            </a:r>
          </a:p>
          <a:p>
            <a:r>
              <a:rPr lang="ru-RU" sz="1100" dirty="0" smtClean="0">
                <a:latin typeface="Cascadia Code Light" pitchFamily="49" charset="0"/>
                <a:cs typeface="Cascadia Code Light" pitchFamily="49" charset="0"/>
              </a:rPr>
              <a:t>В каждой эпохе:</a:t>
            </a:r>
          </a:p>
          <a:p>
            <a:r>
              <a:rPr lang="ru-RU" sz="1100" dirty="0" smtClean="0">
                <a:latin typeface="Cascadia Code Light" pitchFamily="49" charset="0"/>
                <a:cs typeface="Cascadia Code Light" pitchFamily="49" charset="0"/>
              </a:rPr>
              <a:t>1) считаем предсказанное значение для каждого из значений </a:t>
            </a:r>
            <a:r>
              <a:rPr lang="en-US" sz="1100" dirty="0" smtClean="0">
                <a:latin typeface="Cascadia Code Light" pitchFamily="49" charset="0"/>
                <a:cs typeface="Cascadia Code Light" pitchFamily="49" charset="0"/>
              </a:rPr>
              <a:t>x</a:t>
            </a:r>
            <a:r>
              <a:rPr lang="ru-RU" sz="1100" dirty="0" smtClean="0">
                <a:latin typeface="Cascadia Code Light" pitchFamily="49" charset="0"/>
                <a:cs typeface="Cascadia Code Light" pitchFamily="49" charset="0"/>
              </a:rPr>
              <a:t> (всех сразу) с текущим значением весов и запихиваем в переменную </a:t>
            </a:r>
            <a:r>
              <a:rPr lang="en-US" sz="1100" dirty="0" err="1" smtClean="0">
                <a:latin typeface="Cascadia Code Light" pitchFamily="49" charset="0"/>
                <a:cs typeface="Cascadia Code Light" pitchFamily="49" charset="0"/>
              </a:rPr>
              <a:t>y_pred</a:t>
            </a:r>
            <a:r>
              <a:rPr lang="ru-RU" sz="1100" dirty="0" smtClean="0">
                <a:latin typeface="Cascadia Code Light" pitchFamily="49" charset="0"/>
                <a:cs typeface="Cascadia Code Light" pitchFamily="49" charset="0"/>
              </a:rPr>
              <a:t>, которая является массивом на 100 переменных</a:t>
            </a:r>
          </a:p>
          <a:p>
            <a:r>
              <a:rPr lang="ru-RU" sz="1100" dirty="0" smtClean="0">
                <a:latin typeface="Cascadia Code Light" pitchFamily="49" charset="0"/>
                <a:cs typeface="Cascadia Code Light" pitchFamily="49" charset="0"/>
              </a:rPr>
              <a:t>2) Считаем функцию потерь, ее значение запихиваем в переменную </a:t>
            </a:r>
            <a:r>
              <a:rPr lang="en-US" sz="1100" dirty="0" smtClean="0">
                <a:latin typeface="Cascadia Code Light" pitchFamily="49" charset="0"/>
                <a:cs typeface="Cascadia Code Light" pitchFamily="49" charset="0"/>
              </a:rPr>
              <a:t>loss</a:t>
            </a:r>
            <a:r>
              <a:rPr lang="ru-RU" sz="1100" dirty="0" smtClean="0">
                <a:latin typeface="Cascadia Code Light" pitchFamily="49" charset="0"/>
                <a:cs typeface="Cascadia Code Light" pitchFamily="49" charset="0"/>
              </a:rPr>
              <a:t>. Используем формулу </a:t>
            </a:r>
            <a:r>
              <a:rPr lang="en-US" sz="1100" dirty="0" smtClean="0">
                <a:latin typeface="Cascadia Code Light" pitchFamily="49" charset="0"/>
                <a:cs typeface="Cascadia Code Light" pitchFamily="49" charset="0"/>
              </a:rPr>
              <a:t>MSE. </a:t>
            </a:r>
            <a:r>
              <a:rPr lang="ru-RU" sz="1100" dirty="0" smtClean="0">
                <a:latin typeface="Cascadia Code Light" pitchFamily="49" charset="0"/>
                <a:cs typeface="Cascadia Code Light" pitchFamily="49" charset="0"/>
              </a:rPr>
              <a:t>Среднее считаем через функцию </a:t>
            </a:r>
            <a:r>
              <a:rPr lang="en-US" sz="1100" dirty="0" smtClean="0">
                <a:latin typeface="Cascadia Code Light" pitchFamily="49" charset="0"/>
                <a:cs typeface="Cascadia Code Light" pitchFamily="49" charset="0"/>
              </a:rPr>
              <a:t>mean </a:t>
            </a:r>
            <a:r>
              <a:rPr lang="ru-RU" sz="1100" dirty="0" smtClean="0">
                <a:latin typeface="Cascadia Code Light" pitchFamily="49" charset="0"/>
                <a:cs typeface="Cascadia Code Light" pitchFamily="49" charset="0"/>
              </a:rPr>
              <a:t>библиотеки </a:t>
            </a:r>
            <a:r>
              <a:rPr lang="en-US" sz="1100" dirty="0" err="1" smtClean="0">
                <a:latin typeface="Cascadia Code Light" pitchFamily="49" charset="0"/>
                <a:cs typeface="Cascadia Code Light" pitchFamily="49" charset="0"/>
              </a:rPr>
              <a:t>numpy</a:t>
            </a:r>
            <a:r>
              <a:rPr lang="en-US" sz="1100" dirty="0" smtClean="0">
                <a:latin typeface="Cascadia Code Light" pitchFamily="49" charset="0"/>
                <a:cs typeface="Cascadia Code Light" pitchFamily="49" charset="0"/>
              </a:rPr>
              <a:t>.  </a:t>
            </a:r>
            <a:endParaRPr lang="ru-RU" sz="1100" dirty="0" smtClean="0">
              <a:latin typeface="Cascadia Code Light" pitchFamily="49" charset="0"/>
              <a:cs typeface="Cascadia Code Light" pitchFamily="49" charset="0"/>
            </a:endParaRPr>
          </a:p>
          <a:p>
            <a:r>
              <a:rPr lang="ru-RU" sz="1100" dirty="0" smtClean="0">
                <a:latin typeface="Cascadia Code Light" pitchFamily="49" charset="0"/>
                <a:cs typeface="Cascadia Code Light" pitchFamily="49" charset="0"/>
              </a:rPr>
              <a:t>3) Считаем частные производные от функции потерь по </a:t>
            </a:r>
            <a:r>
              <a:rPr lang="en-US" sz="1100" dirty="0" smtClean="0">
                <a:latin typeface="Cascadia Code Light" pitchFamily="49" charset="0"/>
                <a:cs typeface="Cascadia Code Light" pitchFamily="49" charset="0"/>
              </a:rPr>
              <a:t>w, b</a:t>
            </a:r>
            <a:r>
              <a:rPr lang="ru-RU" sz="1100" dirty="0" smtClean="0">
                <a:latin typeface="Cascadia Code Light" pitchFamily="49" charset="0"/>
                <a:cs typeface="Cascadia Code Light" pitchFamily="49" charset="0"/>
              </a:rPr>
              <a:t> и вычисляем их значения в текущей точке, т.е. при нынешних значениях параметров. </a:t>
            </a:r>
          </a:p>
          <a:p>
            <a:r>
              <a:rPr lang="ru-RU" sz="1100" dirty="0" smtClean="0">
                <a:latin typeface="Cascadia Code Light" pitchFamily="49" charset="0"/>
                <a:cs typeface="Cascadia Code Light" pitchFamily="49" charset="0"/>
              </a:rPr>
              <a:t>4) Корректируем значения весов на </a:t>
            </a:r>
            <a:r>
              <a:rPr lang="en-US" sz="1100" dirty="0" err="1" smtClean="0">
                <a:latin typeface="Cascadia Code Light" pitchFamily="49" charset="0"/>
                <a:cs typeface="Cascadia Code Light" pitchFamily="49" charset="0"/>
              </a:rPr>
              <a:t>lr</a:t>
            </a:r>
            <a:r>
              <a:rPr lang="en-US" sz="1100" dirty="0" smtClean="0">
                <a:latin typeface="Cascadia Code Light" pitchFamily="49" charset="0"/>
                <a:cs typeface="Cascadia Code Light" pitchFamily="49" charset="0"/>
              </a:rPr>
              <a:t>*</a:t>
            </a:r>
            <a:r>
              <a:rPr lang="en-US" sz="1100" dirty="0" err="1" smtClean="0">
                <a:latin typeface="Cascadia Code Light" pitchFamily="49" charset="0"/>
                <a:cs typeface="Cascadia Code Light" pitchFamily="49" charset="0"/>
              </a:rPr>
              <a:t>dw</a:t>
            </a:r>
            <a:r>
              <a:rPr lang="en-US" sz="1100" dirty="0" smtClean="0">
                <a:latin typeface="Cascadia Code Light" pitchFamily="49" charset="0"/>
                <a:cs typeface="Cascadia Code Light" pitchFamily="49" charset="0"/>
              </a:rPr>
              <a:t> </a:t>
            </a:r>
            <a:r>
              <a:rPr lang="ru-RU" sz="1100" dirty="0" smtClean="0">
                <a:latin typeface="Cascadia Code Light" pitchFamily="49" charset="0"/>
                <a:cs typeface="Cascadia Code Light" pitchFamily="49" charset="0"/>
              </a:rPr>
              <a:t>и на </a:t>
            </a:r>
            <a:r>
              <a:rPr lang="en-US" sz="1100" dirty="0" err="1" smtClean="0">
                <a:latin typeface="Cascadia Code Light" pitchFamily="49" charset="0"/>
                <a:cs typeface="Cascadia Code Light" pitchFamily="49" charset="0"/>
              </a:rPr>
              <a:t>lr</a:t>
            </a:r>
            <a:r>
              <a:rPr lang="en-US" sz="1100" dirty="0" smtClean="0">
                <a:latin typeface="Cascadia Code Light" pitchFamily="49" charset="0"/>
                <a:cs typeface="Cascadia Code Light" pitchFamily="49" charset="0"/>
              </a:rPr>
              <a:t>*db </a:t>
            </a:r>
            <a:r>
              <a:rPr lang="ru-RU" sz="1100" dirty="0" err="1" smtClean="0">
                <a:latin typeface="Cascadia Code Light" pitchFamily="49" charset="0"/>
                <a:cs typeface="Cascadia Code Light" pitchFamily="49" charset="0"/>
              </a:rPr>
              <a:t>соответсвенно</a:t>
            </a:r>
            <a:r>
              <a:rPr lang="ru-RU" sz="1100" dirty="0" smtClean="0">
                <a:latin typeface="Cascadia Code Light" pitchFamily="49" charset="0"/>
                <a:cs typeface="Cascadia Code Light" pitchFamily="49" charset="0"/>
              </a:rPr>
              <a:t>. Запись вида</a:t>
            </a:r>
            <a:r>
              <a:rPr lang="en-US" sz="1100" dirty="0" smtClean="0">
                <a:latin typeface="Cascadia Code Light" pitchFamily="49" charset="0"/>
                <a:cs typeface="Cascadia Code Light" pitchFamily="49" charset="0"/>
              </a:rPr>
              <a:t> w -= </a:t>
            </a:r>
            <a:r>
              <a:rPr lang="en-US" sz="1100" dirty="0" err="1" smtClean="0">
                <a:latin typeface="Cascadia Code Light" pitchFamily="49" charset="0"/>
                <a:cs typeface="Cascadia Code Light" pitchFamily="49" charset="0"/>
              </a:rPr>
              <a:t>lr</a:t>
            </a:r>
            <a:r>
              <a:rPr lang="en-US" sz="1100" dirty="0" smtClean="0">
                <a:latin typeface="Cascadia Code Light" pitchFamily="49" charset="0"/>
                <a:cs typeface="Cascadia Code Light" pitchFamily="49" charset="0"/>
              </a:rPr>
              <a:t>*</a:t>
            </a:r>
            <a:r>
              <a:rPr lang="en-US" sz="1100" dirty="0" err="1" smtClean="0">
                <a:latin typeface="Cascadia Code Light" pitchFamily="49" charset="0"/>
                <a:cs typeface="Cascadia Code Light" pitchFamily="49" charset="0"/>
              </a:rPr>
              <a:t>dw</a:t>
            </a:r>
            <a:r>
              <a:rPr lang="en-US" sz="1100" dirty="0" smtClean="0">
                <a:latin typeface="Cascadia Code Light" pitchFamily="49" charset="0"/>
                <a:cs typeface="Cascadia Code Light" pitchFamily="49" charset="0"/>
              </a:rPr>
              <a:t> </a:t>
            </a:r>
            <a:r>
              <a:rPr lang="ru-RU" sz="1100" dirty="0" smtClean="0">
                <a:latin typeface="Cascadia Code Light" pitchFamily="49" charset="0"/>
                <a:cs typeface="Cascadia Code Light" pitchFamily="49" charset="0"/>
              </a:rPr>
              <a:t> равносильна такой</a:t>
            </a:r>
            <a:r>
              <a:rPr lang="en-US" sz="1100" dirty="0" smtClean="0">
                <a:latin typeface="Cascadia Code Light" pitchFamily="49" charset="0"/>
                <a:cs typeface="Cascadia Code Light" pitchFamily="49" charset="0"/>
              </a:rPr>
              <a:t> w = w – </a:t>
            </a:r>
            <a:r>
              <a:rPr lang="en-US" sz="1100" dirty="0" err="1" smtClean="0">
                <a:latin typeface="Cascadia Code Light" pitchFamily="49" charset="0"/>
                <a:cs typeface="Cascadia Code Light" pitchFamily="49" charset="0"/>
              </a:rPr>
              <a:t>lr</a:t>
            </a:r>
            <a:r>
              <a:rPr lang="en-US" sz="1100" dirty="0" smtClean="0">
                <a:latin typeface="Cascadia Code Light" pitchFamily="49" charset="0"/>
                <a:cs typeface="Cascadia Code Light" pitchFamily="49" charset="0"/>
              </a:rPr>
              <a:t>*</a:t>
            </a:r>
            <a:r>
              <a:rPr lang="en-US" sz="1100" dirty="0" err="1" smtClean="0">
                <a:latin typeface="Cascadia Code Light" pitchFamily="49" charset="0"/>
                <a:cs typeface="Cascadia Code Light" pitchFamily="49" charset="0"/>
              </a:rPr>
              <a:t>dw</a:t>
            </a:r>
            <a:endParaRPr lang="ru-RU" sz="1100" dirty="0" smtClean="0">
              <a:latin typeface="Cascadia Code Light" pitchFamily="49" charset="0"/>
              <a:cs typeface="Cascadia Code Light" pitchFamily="49" charset="0"/>
            </a:endParaRPr>
          </a:p>
          <a:p>
            <a:endParaRPr lang="ru-RU" sz="1100" dirty="0" smtClean="0">
              <a:latin typeface="Cascadia Code Light" pitchFamily="49" charset="0"/>
              <a:cs typeface="Cascadia Code Light" pitchFamily="49" charset="0"/>
            </a:endParaRPr>
          </a:p>
          <a:p>
            <a:r>
              <a:rPr lang="ru-RU" sz="1100" dirty="0" smtClean="0">
                <a:latin typeface="Cascadia Code Light" pitchFamily="49" charset="0"/>
                <a:cs typeface="Cascadia Code Light" pitchFamily="49" charset="0"/>
              </a:rPr>
              <a:t>После каждой эпохи с помощью </a:t>
            </a:r>
            <a:r>
              <a:rPr lang="en-US" sz="1100" dirty="0" smtClean="0">
                <a:latin typeface="Cascadia Code Light" pitchFamily="49" charset="0"/>
                <a:cs typeface="Cascadia Code Light" pitchFamily="49" charset="0"/>
              </a:rPr>
              <a:t>print </a:t>
            </a:r>
            <a:r>
              <a:rPr lang="ru-RU" sz="1100" dirty="0" smtClean="0">
                <a:latin typeface="Cascadia Code Light" pitchFamily="49" charset="0"/>
                <a:cs typeface="Cascadia Code Light" pitchFamily="49" charset="0"/>
              </a:rPr>
              <a:t>мы выводим текущее значение функции потерь ( полученное до корректировки весов в рамках данной эпохи). Как видим с каждой эпохой оно уменьшается, что свидетельствует о том, что модель обучается и совершенствуется. </a:t>
            </a:r>
          </a:p>
        </p:txBody>
      </p:sp>
      <p:pic>
        <p:nvPicPr>
          <p:cNvPr id="4099" name="Picture 3"/>
          <p:cNvPicPr>
            <a:picLocks noChangeAspect="1" noChangeArrowheads="1"/>
          </p:cNvPicPr>
          <p:nvPr/>
        </p:nvPicPr>
        <p:blipFill>
          <a:blip r:embed="rId2" cstate="print"/>
          <a:srcRect l="7485" t="36892" r="36374" b="-428"/>
          <a:stretch>
            <a:fillRect/>
          </a:stretch>
        </p:blipFill>
        <p:spPr bwMode="auto">
          <a:xfrm>
            <a:off x="2514600" y="152400"/>
            <a:ext cx="4191000" cy="2887133"/>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533400" y="381001"/>
            <a:ext cx="8153400" cy="1600200"/>
          </a:xfrm>
        </p:spPr>
        <p:txBody>
          <a:bodyPr/>
          <a:lstStyle/>
          <a:p>
            <a:r>
              <a:rPr lang="ru-RU" dirty="0" smtClean="0">
                <a:latin typeface="Cascadia Code Light" pitchFamily="49" charset="0"/>
                <a:cs typeface="Cascadia Code Light" pitchFamily="49" charset="0"/>
              </a:rPr>
              <a:t>Вывод формул </a:t>
            </a:r>
            <a:r>
              <a:rPr lang="en-US" dirty="0" err="1" smtClean="0">
                <a:latin typeface="Cascadia Code Light" pitchFamily="49" charset="0"/>
                <a:cs typeface="Cascadia Code Light" pitchFamily="49" charset="0"/>
              </a:rPr>
              <a:t>dw</a:t>
            </a:r>
            <a:r>
              <a:rPr lang="en-US" dirty="0" smtClean="0">
                <a:latin typeface="Cascadia Code Light" pitchFamily="49" charset="0"/>
                <a:cs typeface="Cascadia Code Light" pitchFamily="49" charset="0"/>
              </a:rPr>
              <a:t> </a:t>
            </a:r>
            <a:r>
              <a:rPr lang="ru-RU" dirty="0" smtClean="0">
                <a:latin typeface="Cascadia Code Light" pitchFamily="49" charset="0"/>
                <a:cs typeface="Cascadia Code Light" pitchFamily="49" charset="0"/>
              </a:rPr>
              <a:t>и </a:t>
            </a:r>
            <a:r>
              <a:rPr lang="en-US" dirty="0" smtClean="0">
                <a:latin typeface="Cascadia Code Light" pitchFamily="49" charset="0"/>
                <a:cs typeface="Cascadia Code Light" pitchFamily="49" charset="0"/>
              </a:rPr>
              <a:t>db</a:t>
            </a:r>
            <a:r>
              <a:rPr lang="ru-RU" dirty="0" smtClean="0">
                <a:latin typeface="Cascadia Code Light" pitchFamily="49" charset="0"/>
                <a:cs typeface="Cascadia Code Light" pitchFamily="49" charset="0"/>
              </a:rPr>
              <a:t>:</a:t>
            </a:r>
            <a:endParaRPr lang="ru-RU" dirty="0">
              <a:latin typeface="Cascadia Code Light" pitchFamily="49" charset="0"/>
              <a:cs typeface="Cascadia Code Light" pitchFamily="49" charset="0"/>
            </a:endParaRPr>
          </a:p>
        </p:txBody>
      </p:sp>
      <p:pic>
        <p:nvPicPr>
          <p:cNvPr id="6146" name="Picture 2" descr="https://sun9-88.vkuserphoto.ru/s/v1/ig2/C3tBrpddHdyU76QzLnWSaTlR7-Fs1-kD1uAcVOxfRUjh0CDK5qWvuYG2GYTQBRgMXzmbGt9Il5SYEEEr861nQyxK.jpg?quality=95&amp;as=32x29,48x43,72x65,108x98,160x145,240x217,360x325,480x434,540x488,640x578,720x651,1080x976&amp;from=bu&amp;u=-p8gtd3ntn7mhAhH5pW8iVCjCSDlz5MT-CP8oe0vrJI&amp;cs=1080x0"/>
          <p:cNvPicPr>
            <a:picLocks noChangeAspect="1" noChangeArrowheads="1"/>
          </p:cNvPicPr>
          <p:nvPr/>
        </p:nvPicPr>
        <p:blipFill>
          <a:blip r:embed="rId2" cstate="print"/>
          <a:srcRect/>
          <a:stretch>
            <a:fillRect/>
          </a:stretch>
        </p:blipFill>
        <p:spPr bwMode="auto">
          <a:xfrm>
            <a:off x="1371600" y="1257300"/>
            <a:ext cx="6197496" cy="56007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57200" y="152401"/>
            <a:ext cx="8229600" cy="3200400"/>
          </a:xfrm>
        </p:spPr>
        <p:txBody>
          <a:bodyPr>
            <a:normAutofit fontScale="62500" lnSpcReduction="20000"/>
          </a:bodyPr>
          <a:lstStyle/>
          <a:p>
            <a:r>
              <a:rPr lang="ru-RU" dirty="0" smtClean="0">
                <a:latin typeface="Cascadia Code Light" pitchFamily="49" charset="0"/>
                <a:cs typeface="Cascadia Code Light" pitchFamily="49" charset="0"/>
              </a:rPr>
              <a:t>Следующая ячейка предназначена для визуализации.  Синими точками отображаются данные: пары</a:t>
            </a:r>
            <a:r>
              <a:rPr lang="en-US" dirty="0" smtClean="0">
                <a:latin typeface="Cascadia Code Light" pitchFamily="49" charset="0"/>
                <a:cs typeface="Cascadia Code Light" pitchFamily="49" charset="0"/>
              </a:rPr>
              <a:t> (x, y=</a:t>
            </a:r>
            <a:r>
              <a:rPr lang="en-US" dirty="0" err="1" smtClean="0">
                <a:latin typeface="Cascadia Code Light" pitchFamily="49" charset="0"/>
                <a:cs typeface="Cascadia Code Light" pitchFamily="49" charset="0"/>
              </a:rPr>
              <a:t>wx+b</a:t>
            </a:r>
            <a:r>
              <a:rPr lang="ru-RU" dirty="0" smtClean="0">
                <a:latin typeface="Cascadia Code Light" pitchFamily="49" charset="0"/>
                <a:cs typeface="Cascadia Code Light" pitchFamily="49" charset="0"/>
              </a:rPr>
              <a:t>, где </a:t>
            </a:r>
            <a:r>
              <a:rPr lang="en-US" dirty="0" smtClean="0">
                <a:latin typeface="Cascadia Code Light" pitchFamily="49" charset="0"/>
                <a:cs typeface="Cascadia Code Light" pitchFamily="49" charset="0"/>
              </a:rPr>
              <a:t>w</a:t>
            </a:r>
            <a:r>
              <a:rPr lang="ru-RU" dirty="0" smtClean="0">
                <a:latin typeface="Cascadia Code Light" pitchFamily="49" charset="0"/>
                <a:cs typeface="Cascadia Code Light" pitchFamily="49" charset="0"/>
              </a:rPr>
              <a:t> и </a:t>
            </a:r>
            <a:r>
              <a:rPr lang="en-US" dirty="0" smtClean="0">
                <a:latin typeface="Cascadia Code Light" pitchFamily="49" charset="0"/>
                <a:cs typeface="Cascadia Code Light" pitchFamily="49" charset="0"/>
              </a:rPr>
              <a:t>b</a:t>
            </a:r>
            <a:r>
              <a:rPr lang="ru-RU" dirty="0" smtClean="0">
                <a:latin typeface="Cascadia Code Light" pitchFamily="49" charset="0"/>
                <a:cs typeface="Cascadia Code Light" pitchFamily="49" charset="0"/>
              </a:rPr>
              <a:t> – правильные ответы, т.е. числа, которые мы «загадали» модели</a:t>
            </a:r>
            <a:r>
              <a:rPr lang="en-US" dirty="0" smtClean="0">
                <a:latin typeface="Cascadia Code Light" pitchFamily="49" charset="0"/>
                <a:cs typeface="Cascadia Code Light" pitchFamily="49" charset="0"/>
              </a:rPr>
              <a:t>)</a:t>
            </a:r>
            <a:r>
              <a:rPr lang="ru-RU" dirty="0" smtClean="0">
                <a:latin typeface="Cascadia Code Light" pitchFamily="49" charset="0"/>
                <a:cs typeface="Cascadia Code Light" pitchFamily="49" charset="0"/>
              </a:rPr>
              <a:t>. Красной прямой отображаются прямые </a:t>
            </a:r>
            <a:r>
              <a:rPr lang="en-US" dirty="0" smtClean="0">
                <a:latin typeface="Cascadia Code Light" pitchFamily="49" charset="0"/>
                <a:cs typeface="Cascadia Code Light" pitchFamily="49" charset="0"/>
              </a:rPr>
              <a:t>y=</a:t>
            </a:r>
            <a:r>
              <a:rPr lang="en-US" dirty="0" err="1" smtClean="0">
                <a:latin typeface="Cascadia Code Light" pitchFamily="49" charset="0"/>
                <a:cs typeface="Cascadia Code Light" pitchFamily="49" charset="0"/>
              </a:rPr>
              <a:t>wx+b</a:t>
            </a:r>
            <a:r>
              <a:rPr lang="ru-RU" dirty="0" smtClean="0">
                <a:latin typeface="Cascadia Code Light" pitchFamily="49" charset="0"/>
                <a:cs typeface="Cascadia Code Light" pitchFamily="49" charset="0"/>
              </a:rPr>
              <a:t>, где </a:t>
            </a:r>
            <a:r>
              <a:rPr lang="en-US" dirty="0" smtClean="0">
                <a:latin typeface="Cascadia Code Light" pitchFamily="49" charset="0"/>
                <a:cs typeface="Cascadia Code Light" pitchFamily="49" charset="0"/>
              </a:rPr>
              <a:t>w</a:t>
            </a:r>
            <a:r>
              <a:rPr lang="ru-RU" dirty="0" smtClean="0">
                <a:latin typeface="Cascadia Code Light" pitchFamily="49" charset="0"/>
                <a:cs typeface="Cascadia Code Light" pitchFamily="49" charset="0"/>
              </a:rPr>
              <a:t> и </a:t>
            </a:r>
            <a:r>
              <a:rPr lang="en-US" dirty="0" smtClean="0">
                <a:latin typeface="Cascadia Code Light" pitchFamily="49" charset="0"/>
                <a:cs typeface="Cascadia Code Light" pitchFamily="49" charset="0"/>
              </a:rPr>
              <a:t>b</a:t>
            </a:r>
            <a:r>
              <a:rPr lang="ru-RU" dirty="0" smtClean="0">
                <a:latin typeface="Cascadia Code Light" pitchFamily="49" charset="0"/>
                <a:cs typeface="Cascadia Code Light" pitchFamily="49" charset="0"/>
              </a:rPr>
              <a:t> – подобранные параметры. Слева на графике красная прямая построена с начальными случайно-инициализированными коэффициентами, справа – с коэффициентами, полученными в результате обучения. Нетрудно заметить, что прямая справа достаточно неплохо, особенно по сравнению с левой, обобщает наши данные (которые были немного зашумлены).</a:t>
            </a:r>
            <a:endParaRPr lang="ru-RU" dirty="0">
              <a:latin typeface="Cascadia Code Light" pitchFamily="49" charset="0"/>
              <a:cs typeface="Cascadia Code Light" pitchFamily="49" charset="0"/>
            </a:endParaRPr>
          </a:p>
        </p:txBody>
      </p:sp>
      <p:pic>
        <p:nvPicPr>
          <p:cNvPr id="64514" name="Picture 2"/>
          <p:cNvPicPr>
            <a:picLocks noChangeAspect="1" noChangeArrowheads="1"/>
          </p:cNvPicPr>
          <p:nvPr/>
        </p:nvPicPr>
        <p:blipFill>
          <a:blip r:embed="rId2" cstate="print"/>
          <a:srcRect/>
          <a:stretch>
            <a:fillRect/>
          </a:stretch>
        </p:blipFill>
        <p:spPr bwMode="auto">
          <a:xfrm>
            <a:off x="2133600" y="3200400"/>
            <a:ext cx="5410200" cy="3242528"/>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latin typeface="Cascadia Code SemiLight" pitchFamily="49" charset="0"/>
                <a:cs typeface="Cascadia Code SemiLight" pitchFamily="49" charset="0"/>
              </a:rPr>
              <a:t>Виды градиентного спуска. </a:t>
            </a:r>
            <a:endParaRPr lang="ru-RU" dirty="0"/>
          </a:p>
        </p:txBody>
      </p:sp>
      <p:sp>
        <p:nvSpPr>
          <p:cNvPr id="3" name="Содержимое 2"/>
          <p:cNvSpPr>
            <a:spLocks noGrp="1"/>
          </p:cNvSpPr>
          <p:nvPr>
            <p:ph idx="1"/>
          </p:nvPr>
        </p:nvSpPr>
        <p:spPr>
          <a:xfrm>
            <a:off x="4953000" y="1600200"/>
            <a:ext cx="3733800" cy="5029200"/>
          </a:xfrm>
        </p:spPr>
        <p:txBody>
          <a:bodyPr>
            <a:normAutofit fontScale="77500" lnSpcReduction="20000"/>
          </a:bodyPr>
          <a:lstStyle/>
          <a:p>
            <a:pPr>
              <a:buNone/>
            </a:pPr>
            <a:r>
              <a:rPr lang="ru-RU" dirty="0" smtClean="0">
                <a:latin typeface="Cascadia Code SemiLight" pitchFamily="49" charset="0"/>
                <a:cs typeface="Cascadia Code SemiLight" pitchFamily="49" charset="0"/>
              </a:rPr>
              <a:t>1) </a:t>
            </a:r>
            <a:r>
              <a:rPr lang="ru-RU" dirty="0" err="1" smtClean="0">
                <a:latin typeface="Cascadia Code SemiLight" pitchFamily="49" charset="0"/>
                <a:cs typeface="Cascadia Code SemiLight" pitchFamily="49" charset="0"/>
              </a:rPr>
              <a:t>Batch</a:t>
            </a:r>
            <a:r>
              <a:rPr lang="ru-RU" dirty="0" smtClean="0">
                <a:latin typeface="Cascadia Code SemiLight" pitchFamily="49" charset="0"/>
                <a:cs typeface="Cascadia Code SemiLight" pitchFamily="49" charset="0"/>
              </a:rPr>
              <a:t> </a:t>
            </a:r>
            <a:r>
              <a:rPr lang="ru-RU" dirty="0" err="1" smtClean="0">
                <a:latin typeface="Cascadia Code SemiLight" pitchFamily="49" charset="0"/>
                <a:cs typeface="Cascadia Code SemiLight" pitchFamily="49" charset="0"/>
              </a:rPr>
              <a:t>Gradient</a:t>
            </a:r>
            <a:r>
              <a:rPr lang="ru-RU" dirty="0" smtClean="0">
                <a:latin typeface="Cascadia Code SemiLight" pitchFamily="49" charset="0"/>
                <a:cs typeface="Cascadia Code SemiLight" pitchFamily="49" charset="0"/>
              </a:rPr>
              <a:t> </a:t>
            </a:r>
            <a:r>
              <a:rPr lang="ru-RU" dirty="0" err="1" smtClean="0">
                <a:latin typeface="Cascadia Code SemiLight" pitchFamily="49" charset="0"/>
                <a:cs typeface="Cascadia Code SemiLight" pitchFamily="49" charset="0"/>
              </a:rPr>
              <a:t>Descent</a:t>
            </a:r>
            <a:r>
              <a:rPr lang="ru-RU" dirty="0" smtClean="0">
                <a:latin typeface="Cascadia Code SemiLight" pitchFamily="49" charset="0"/>
                <a:cs typeface="Cascadia Code SemiLight" pitchFamily="49" charset="0"/>
              </a:rPr>
              <a:t> (пакетный)</a:t>
            </a:r>
          </a:p>
          <a:p>
            <a:r>
              <a:rPr lang="ru-RU" dirty="0" smtClean="0">
                <a:latin typeface="Cascadia Code SemiLight" pitchFamily="49" charset="0"/>
                <a:cs typeface="Cascadia Code SemiLight" pitchFamily="49" charset="0"/>
              </a:rPr>
              <a:t>Суть: на каждом шаге используем все обучающие примеры, чтобы посчитать один градиент и сделать одно обновление весов.</a:t>
            </a:r>
          </a:p>
          <a:p>
            <a:r>
              <a:rPr lang="ru-RU" dirty="0" smtClean="0">
                <a:latin typeface="Cascadia Code SemiLight" pitchFamily="49" charset="0"/>
                <a:cs typeface="Cascadia Code SemiLight" pitchFamily="49" charset="0"/>
              </a:rPr>
              <a:t>Минус: очень медленно, много памяти</a:t>
            </a:r>
          </a:p>
          <a:p>
            <a:endParaRPr lang="ru-RU" dirty="0" smtClean="0">
              <a:latin typeface="Cascadia Code SemiLight" pitchFamily="49" charset="0"/>
              <a:cs typeface="Cascadia Code SemiLight" pitchFamily="49" charset="0"/>
            </a:endParaRPr>
          </a:p>
          <a:p>
            <a:endParaRPr lang="ru-RU" dirty="0" smtClean="0">
              <a:latin typeface="Cascadia Code SemiLight" pitchFamily="49" charset="0"/>
              <a:cs typeface="Cascadia Code SemiLight" pitchFamily="49" charset="0"/>
            </a:endParaRPr>
          </a:p>
          <a:p>
            <a:endParaRPr lang="ru-RU" dirty="0" smtClean="0">
              <a:latin typeface="Cascadia Code SemiLight" pitchFamily="49" charset="0"/>
              <a:cs typeface="Cascadia Code SemiLight" pitchFamily="49" charset="0"/>
            </a:endParaRPr>
          </a:p>
          <a:p>
            <a:endParaRPr lang="ru-RU" dirty="0">
              <a:latin typeface="Cascadia Code SemiLight" pitchFamily="49" charset="0"/>
              <a:cs typeface="Cascadia Code SemiLight" pitchFamily="49" charset="0"/>
            </a:endParaRPr>
          </a:p>
        </p:txBody>
      </p:sp>
      <p:pic>
        <p:nvPicPr>
          <p:cNvPr id="4" name="Picture 7" descr="https://sun9-10.vkuserphoto.ru/s/v1/ig2/31xZ7PJB99QoIR3MAJfmX_uUnFcICDBO0Ph5ay3tPXbosHCGvjcxl0EkMs_dSxstguxV0_MMgMXGV9TPcySSNohU.jpg?quality=95&amp;as=32x32,48x48,72x72,108x108,160x160,240x240,360x360,480x480,540x540,640x640,720x720,736x736&amp;from=bu&amp;cs=736x0"/>
          <p:cNvPicPr>
            <a:picLocks noChangeAspect="1" noChangeArrowheads="1"/>
          </p:cNvPicPr>
          <p:nvPr/>
        </p:nvPicPr>
        <p:blipFill>
          <a:blip r:embed="rId3" cstate="print"/>
          <a:srcRect/>
          <a:stretch>
            <a:fillRect/>
          </a:stretch>
        </p:blipFill>
        <p:spPr bwMode="auto">
          <a:xfrm>
            <a:off x="533400" y="1676400"/>
            <a:ext cx="4343400" cy="4343400"/>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p:txBody>
          <a:bodyPr>
            <a:normAutofit/>
          </a:bodyPr>
          <a:lstStyle/>
          <a:p>
            <a:r>
              <a:rPr lang="ru-RU" sz="2400" dirty="0" smtClean="0">
                <a:latin typeface="Cascadia Code SemiLight" pitchFamily="49" charset="0"/>
                <a:cs typeface="Cascadia Code SemiLight" pitchFamily="49" charset="0"/>
              </a:rPr>
              <a:t>2) </a:t>
            </a:r>
            <a:r>
              <a:rPr lang="ru-RU" sz="2400" dirty="0" err="1" smtClean="0">
                <a:latin typeface="Cascadia Code SemiLight" pitchFamily="49" charset="0"/>
                <a:cs typeface="Cascadia Code SemiLight" pitchFamily="49" charset="0"/>
              </a:rPr>
              <a:t>Stochastic</a:t>
            </a:r>
            <a:r>
              <a:rPr lang="ru-RU" sz="2400" dirty="0" smtClean="0">
                <a:latin typeface="Cascadia Code SemiLight" pitchFamily="49" charset="0"/>
                <a:cs typeface="Cascadia Code SemiLight" pitchFamily="49" charset="0"/>
              </a:rPr>
              <a:t> </a:t>
            </a:r>
            <a:r>
              <a:rPr lang="ru-RU" sz="2400" dirty="0" err="1" smtClean="0">
                <a:latin typeface="Cascadia Code SemiLight" pitchFamily="49" charset="0"/>
                <a:cs typeface="Cascadia Code SemiLight" pitchFamily="49" charset="0"/>
              </a:rPr>
              <a:t>Gradient</a:t>
            </a:r>
            <a:r>
              <a:rPr lang="ru-RU" sz="2400" dirty="0" smtClean="0">
                <a:latin typeface="Cascadia Code SemiLight" pitchFamily="49" charset="0"/>
                <a:cs typeface="Cascadia Code SemiLight" pitchFamily="49" charset="0"/>
              </a:rPr>
              <a:t> </a:t>
            </a:r>
            <a:r>
              <a:rPr lang="ru-RU" sz="2400" dirty="0" err="1" smtClean="0">
                <a:latin typeface="Cascadia Code SemiLight" pitchFamily="49" charset="0"/>
                <a:cs typeface="Cascadia Code SemiLight" pitchFamily="49" charset="0"/>
              </a:rPr>
              <a:t>Descent</a:t>
            </a:r>
            <a:r>
              <a:rPr lang="ru-RU" sz="2400" dirty="0" smtClean="0">
                <a:latin typeface="Cascadia Code SemiLight" pitchFamily="49" charset="0"/>
                <a:cs typeface="Cascadia Code SemiLight" pitchFamily="49" charset="0"/>
              </a:rPr>
              <a:t> (SGD, стохастический)</a:t>
            </a:r>
          </a:p>
          <a:p>
            <a:r>
              <a:rPr lang="ru-RU" sz="2400" dirty="0" smtClean="0">
                <a:latin typeface="Cascadia Code SemiLight" pitchFamily="49" charset="0"/>
                <a:cs typeface="Cascadia Code SemiLight" pitchFamily="49" charset="0"/>
              </a:rPr>
              <a:t>Суть: на каждом шаге используем один случайный пример, считаем по нему градиент и сразу обновляем веса.</a:t>
            </a:r>
          </a:p>
          <a:p>
            <a:r>
              <a:rPr lang="ru-RU" sz="2400" dirty="0" smtClean="0">
                <a:latin typeface="Cascadia Code SemiLight" pitchFamily="49" charset="0"/>
                <a:cs typeface="Cascadia Code SemiLight" pitchFamily="49" charset="0"/>
              </a:rPr>
              <a:t>Плюсы: Очень быстро на больших данных, не требует держать всю выборку в памяти.</a:t>
            </a:r>
          </a:p>
          <a:p>
            <a:r>
              <a:rPr lang="ru-RU" sz="2400" dirty="0" smtClean="0">
                <a:latin typeface="Cascadia Code SemiLight" pitchFamily="49" charset="0"/>
                <a:cs typeface="Cascadia Code SemiLight" pitchFamily="49" charset="0"/>
              </a:rPr>
              <a:t>Минусы: Можно пропустить хорошее решение из-за случайности, нет гарантии</a:t>
            </a:r>
          </a:p>
          <a:p>
            <a:endParaRPr lang="ru-RU" sz="2400" dirty="0" smtClean="0">
              <a:latin typeface="Cascadia Code SemiLight" pitchFamily="49" charset="0"/>
              <a:cs typeface="Cascadia Code SemiLight" pitchFamily="49" charset="0"/>
            </a:endParaRPr>
          </a:p>
          <a:p>
            <a:endParaRPr lang="ru-RU" sz="2400" dirty="0">
              <a:latin typeface="Cascadia Code SemiLight" pitchFamily="49" charset="0"/>
              <a:cs typeface="Cascadia Code SemiLight" pitchFamily="49"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p:txBody>
          <a:bodyPr>
            <a:normAutofit/>
          </a:bodyPr>
          <a:lstStyle/>
          <a:p>
            <a:r>
              <a:rPr lang="ru-RU" sz="2800" dirty="0" smtClean="0">
                <a:latin typeface="Cascadia Code SemiLight" pitchFamily="49" charset="0"/>
                <a:cs typeface="Cascadia Code SemiLight" pitchFamily="49" charset="0"/>
              </a:rPr>
              <a:t>3)  </a:t>
            </a:r>
            <a:r>
              <a:rPr lang="ru-RU" sz="2800" dirty="0" err="1" smtClean="0">
                <a:latin typeface="Cascadia Code SemiLight" pitchFamily="49" charset="0"/>
                <a:cs typeface="Cascadia Code SemiLight" pitchFamily="49" charset="0"/>
              </a:rPr>
              <a:t>Mini-batch</a:t>
            </a:r>
            <a:r>
              <a:rPr lang="ru-RU" sz="2800" dirty="0" smtClean="0">
                <a:latin typeface="Cascadia Code SemiLight" pitchFamily="49" charset="0"/>
                <a:cs typeface="Cascadia Code SemiLight" pitchFamily="49" charset="0"/>
              </a:rPr>
              <a:t> </a:t>
            </a:r>
            <a:r>
              <a:rPr lang="ru-RU" sz="2800" dirty="0" err="1" smtClean="0">
                <a:latin typeface="Cascadia Code SemiLight" pitchFamily="49" charset="0"/>
                <a:cs typeface="Cascadia Code SemiLight" pitchFamily="49" charset="0"/>
              </a:rPr>
              <a:t>Gradient</a:t>
            </a:r>
            <a:r>
              <a:rPr lang="ru-RU" sz="2800" dirty="0" smtClean="0">
                <a:latin typeface="Cascadia Code SemiLight" pitchFamily="49" charset="0"/>
                <a:cs typeface="Cascadia Code SemiLight" pitchFamily="49" charset="0"/>
              </a:rPr>
              <a:t> </a:t>
            </a:r>
            <a:r>
              <a:rPr lang="ru-RU" sz="2800" dirty="0" err="1" smtClean="0">
                <a:latin typeface="Cascadia Code SemiLight" pitchFamily="49" charset="0"/>
                <a:cs typeface="Cascadia Code SemiLight" pitchFamily="49" charset="0"/>
              </a:rPr>
              <a:t>Descent</a:t>
            </a:r>
            <a:r>
              <a:rPr lang="ru-RU" sz="2800" dirty="0" smtClean="0">
                <a:latin typeface="Cascadia Code SemiLight" pitchFamily="49" charset="0"/>
                <a:cs typeface="Cascadia Code SemiLight" pitchFamily="49" charset="0"/>
              </a:rPr>
              <a:t> (</a:t>
            </a:r>
            <a:r>
              <a:rPr lang="ru-RU" sz="2800" dirty="0" err="1" smtClean="0">
                <a:latin typeface="Cascadia Code SemiLight" pitchFamily="49" charset="0"/>
                <a:cs typeface="Cascadia Code SemiLight" pitchFamily="49" charset="0"/>
              </a:rPr>
              <a:t>мини-пакетный</a:t>
            </a:r>
            <a:r>
              <a:rPr lang="ru-RU" sz="2800" dirty="0" smtClean="0">
                <a:latin typeface="Cascadia Code SemiLight" pitchFamily="49" charset="0"/>
                <a:cs typeface="Cascadia Code SemiLight" pitchFamily="49" charset="0"/>
              </a:rPr>
              <a:t>)</a:t>
            </a:r>
          </a:p>
          <a:p>
            <a:r>
              <a:rPr lang="ru-RU" sz="2800" dirty="0" smtClean="0">
                <a:latin typeface="Cascadia Code SemiLight" pitchFamily="49" charset="0"/>
                <a:cs typeface="Cascadia Code SemiLight" pitchFamily="49" charset="0"/>
              </a:rPr>
              <a:t>Суть: компромисс — на каждом шаге используем небольшую порцию примеров (обычно 16–256), считаем по ней градиент и обновляем веса.</a:t>
            </a:r>
          </a:p>
          <a:p>
            <a:r>
              <a:rPr lang="ru-RU" sz="2800" dirty="0" smtClean="0">
                <a:latin typeface="Cascadia Code SemiLight" pitchFamily="49" charset="0"/>
                <a:cs typeface="Cascadia Code SemiLight" pitchFamily="49" charset="0"/>
              </a:rPr>
              <a:t>Баланс между скоростью и стабильностью</a:t>
            </a:r>
            <a:endParaRPr lang="ru-RU" sz="2800" dirty="0">
              <a:latin typeface="Cascadia Code SemiLight" pitchFamily="49" charset="0"/>
              <a:cs typeface="Cascadia Code SemiLight" pitchFamily="49"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latin typeface="Cascadia Code SemiLight" pitchFamily="49" charset="0"/>
                <a:cs typeface="Cascadia Code SemiLight" pitchFamily="49" charset="0"/>
              </a:rPr>
              <a:t>Оптимизаторы</a:t>
            </a:r>
            <a:endParaRPr lang="ru-RU" dirty="0"/>
          </a:p>
        </p:txBody>
      </p:sp>
      <p:sp>
        <p:nvSpPr>
          <p:cNvPr id="3" name="Содержимое 2"/>
          <p:cNvSpPr>
            <a:spLocks noGrp="1"/>
          </p:cNvSpPr>
          <p:nvPr>
            <p:ph idx="1"/>
          </p:nvPr>
        </p:nvSpPr>
        <p:spPr/>
        <p:txBody>
          <a:bodyPr>
            <a:normAutofit fontScale="77500" lnSpcReduction="20000"/>
          </a:bodyPr>
          <a:lstStyle/>
          <a:p>
            <a:r>
              <a:rPr lang="ru-RU" b="1" dirty="0" smtClean="0">
                <a:latin typeface="Cascadia Code SemiLight" pitchFamily="49" charset="0"/>
                <a:cs typeface="Cascadia Code SemiLight" pitchFamily="49" charset="0"/>
              </a:rPr>
              <a:t>Оптимизатор</a:t>
            </a:r>
            <a:r>
              <a:rPr lang="ru-RU" dirty="0" smtClean="0">
                <a:latin typeface="Cascadia Code SemiLight" pitchFamily="49" charset="0"/>
                <a:cs typeface="Cascadia Code SemiLight" pitchFamily="49" charset="0"/>
              </a:rPr>
              <a:t> — это алгоритм, который решает, </a:t>
            </a:r>
            <a:r>
              <a:rPr lang="ru-RU" b="1" dirty="0" smtClean="0">
                <a:latin typeface="Cascadia Code SemiLight" pitchFamily="49" charset="0"/>
                <a:cs typeface="Cascadia Code SemiLight" pitchFamily="49" charset="0"/>
              </a:rPr>
              <a:t>как именно</a:t>
            </a:r>
            <a:r>
              <a:rPr lang="ru-RU" dirty="0" smtClean="0">
                <a:latin typeface="Cascadia Code SemiLight" pitchFamily="49" charset="0"/>
                <a:cs typeface="Cascadia Code SemiLight" pitchFamily="49" charset="0"/>
              </a:rPr>
              <a:t> обновлять веса на основе градиента. Градиентный спуск — базовая идея, оптимизаторы — её улучшения.</a:t>
            </a:r>
          </a:p>
          <a:p>
            <a:r>
              <a:rPr lang="ru-RU" dirty="0" smtClean="0">
                <a:latin typeface="Cascadia Code SemiLight" pitchFamily="49" charset="0"/>
                <a:cs typeface="Cascadia Code SemiLight" pitchFamily="49" charset="0"/>
              </a:rPr>
              <a:t>Основная проблема базового SGD: он всегда делает шаг </a:t>
            </a:r>
            <a:r>
              <a:rPr lang="ru-RU" b="1" dirty="0" smtClean="0">
                <a:latin typeface="Cascadia Code SemiLight" pitchFamily="49" charset="0"/>
                <a:cs typeface="Cascadia Code SemiLight" pitchFamily="49" charset="0"/>
              </a:rPr>
              <a:t>одинакового размера</a:t>
            </a:r>
            <a:r>
              <a:rPr lang="ru-RU" dirty="0" smtClean="0">
                <a:latin typeface="Cascadia Code SemiLight" pitchFamily="49" charset="0"/>
                <a:cs typeface="Cascadia Code SemiLight" pitchFamily="49" charset="0"/>
              </a:rPr>
              <a:t> в направлении градиента. Это плохо, когда:</a:t>
            </a:r>
          </a:p>
          <a:p>
            <a:r>
              <a:rPr lang="ru-RU" dirty="0" smtClean="0">
                <a:latin typeface="Cascadia Code SemiLight" pitchFamily="49" charset="0"/>
                <a:cs typeface="Cascadia Code SemiLight" pitchFamily="49" charset="0"/>
              </a:rPr>
              <a:t>разные признаки имеют разный масштаб;</a:t>
            </a:r>
          </a:p>
          <a:p>
            <a:r>
              <a:rPr lang="ru-RU" dirty="0" smtClean="0">
                <a:latin typeface="Cascadia Code SemiLight" pitchFamily="49" charset="0"/>
                <a:cs typeface="Cascadia Code SemiLight" pitchFamily="49" charset="0"/>
              </a:rPr>
              <a:t>градиенты шумные;</a:t>
            </a:r>
          </a:p>
          <a:p>
            <a:r>
              <a:rPr lang="ru-RU" dirty="0" smtClean="0">
                <a:latin typeface="Cascadia Code SemiLight" pitchFamily="49" charset="0"/>
                <a:cs typeface="Cascadia Code SemiLight" pitchFamily="49" charset="0"/>
              </a:rPr>
              <a:t>нужно быстрее двигаться в «плоских» направлениях и осторожнее — в «крутых».</a:t>
            </a:r>
          </a:p>
          <a:p>
            <a:endParaRPr lang="ru-RU" dirty="0" smtClean="0">
              <a:latin typeface="Cascadia Code SemiLight" pitchFamily="49" charset="0"/>
              <a:cs typeface="Cascadia Code SemiLight" pitchFamily="49" charset="0"/>
            </a:endParaRPr>
          </a:p>
          <a:p>
            <a:endParaRPr lang="ru-RU" dirty="0">
              <a:latin typeface="Cascadia Code SemiLight" pitchFamily="49" charset="0"/>
              <a:cs typeface="Cascadia Code SemiLight" pitchFamily="49"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latin typeface="Cascadia Code SemiLight" pitchFamily="49" charset="0"/>
                <a:cs typeface="Cascadia Code SemiLight" pitchFamily="49" charset="0"/>
              </a:rPr>
              <a:t>RMSprop</a:t>
            </a:r>
            <a:endParaRPr lang="ru-RU" dirty="0"/>
          </a:p>
        </p:txBody>
      </p:sp>
      <p:sp>
        <p:nvSpPr>
          <p:cNvPr id="3" name="Содержимое 2"/>
          <p:cNvSpPr>
            <a:spLocks noGrp="1"/>
          </p:cNvSpPr>
          <p:nvPr>
            <p:ph idx="1"/>
          </p:nvPr>
        </p:nvSpPr>
        <p:spPr/>
        <p:txBody>
          <a:bodyPr>
            <a:normAutofit fontScale="70000" lnSpcReduction="20000"/>
          </a:bodyPr>
          <a:lstStyle/>
          <a:p>
            <a:r>
              <a:rPr lang="ru-RU" b="1" dirty="0" smtClean="0">
                <a:latin typeface="Cascadia Code SemiLight" pitchFamily="49" charset="0"/>
                <a:cs typeface="Cascadia Code SemiLight" pitchFamily="49" charset="0"/>
              </a:rPr>
              <a:t>Суть:</a:t>
            </a:r>
            <a:r>
              <a:rPr lang="ru-RU" dirty="0" smtClean="0">
                <a:latin typeface="Cascadia Code SemiLight" pitchFamily="49" charset="0"/>
                <a:cs typeface="Cascadia Code SemiLight" pitchFamily="49" charset="0"/>
              </a:rPr>
              <a:t> адаптивный шаг </a:t>
            </a:r>
            <a:r>
              <a:rPr lang="ru-RU" b="1" dirty="0" smtClean="0">
                <a:latin typeface="Cascadia Code SemiLight" pitchFamily="49" charset="0"/>
                <a:cs typeface="Cascadia Code SemiLight" pitchFamily="49" charset="0"/>
              </a:rPr>
              <a:t>для каждого веса отдельно</a:t>
            </a:r>
            <a:r>
              <a:rPr lang="ru-RU" dirty="0" smtClean="0">
                <a:latin typeface="Cascadia Code SemiLight" pitchFamily="49" charset="0"/>
                <a:cs typeface="Cascadia Code SemiLight" pitchFamily="49" charset="0"/>
              </a:rPr>
              <a:t>. Если вес получает большие градиенты — уменьшаем для него шаг. Если маленькие — увеличиваем.</a:t>
            </a:r>
          </a:p>
          <a:p>
            <a:r>
              <a:rPr lang="ru-RU" dirty="0" smtClean="0">
                <a:latin typeface="Cascadia Code SemiLight" pitchFamily="49" charset="0"/>
                <a:cs typeface="Cascadia Code SemiLight" pitchFamily="49" charset="0"/>
              </a:rPr>
              <a:t>Если градиент по весу </a:t>
            </a:r>
            <a:r>
              <a:rPr lang="ru-RU" dirty="0" err="1" smtClean="0">
                <a:latin typeface="Cascadia Code SemiLight" pitchFamily="49" charset="0"/>
                <a:cs typeface="Cascadia Code SemiLight" pitchFamily="49" charset="0"/>
              </a:rPr>
              <a:t>w</a:t>
            </a:r>
            <a:r>
              <a:rPr lang="ru-RU" dirty="0" smtClean="0">
                <a:latin typeface="Cascadia Code SemiLight" pitchFamily="49" charset="0"/>
                <a:cs typeface="Cascadia Code SemiLight" pitchFamily="49" charset="0"/>
              </a:rPr>
              <a:t>₁ всё время большой, значит, мы «прыгаем» через минимум — уменьшим шаг. Если градиент по </a:t>
            </a:r>
            <a:r>
              <a:rPr lang="ru-RU" dirty="0" err="1" smtClean="0">
                <a:latin typeface="Cascadia Code SemiLight" pitchFamily="49" charset="0"/>
                <a:cs typeface="Cascadia Code SemiLight" pitchFamily="49" charset="0"/>
              </a:rPr>
              <a:t>w</a:t>
            </a:r>
            <a:r>
              <a:rPr lang="ru-RU" dirty="0" smtClean="0">
                <a:latin typeface="Cascadia Code SemiLight" pitchFamily="49" charset="0"/>
                <a:cs typeface="Cascadia Code SemiLight" pitchFamily="49" charset="0"/>
              </a:rPr>
              <a:t>₂ маленький — увеличим, чтобы быстрее двигаться.</a:t>
            </a:r>
          </a:p>
          <a:p>
            <a:endParaRPr lang="ru-RU" dirty="0" smtClean="0">
              <a:latin typeface="Cascadia Code SemiLight" pitchFamily="49" charset="0"/>
              <a:cs typeface="Cascadia Code SemiLight" pitchFamily="49" charset="0"/>
            </a:endParaRPr>
          </a:p>
          <a:p>
            <a:r>
              <a:rPr lang="ru-RU" dirty="0" smtClean="0">
                <a:latin typeface="Cascadia Code SemiLight" pitchFamily="49" charset="0"/>
                <a:cs typeface="Cascadia Code SemiLight" pitchFamily="49" charset="0"/>
              </a:rPr>
              <a:t>Плюсы:</a:t>
            </a:r>
          </a:p>
          <a:p>
            <a:r>
              <a:rPr lang="ru-RU" dirty="0" smtClean="0">
                <a:latin typeface="Cascadia Code SemiLight" pitchFamily="49" charset="0"/>
                <a:cs typeface="Cascadia Code SemiLight" pitchFamily="49" charset="0"/>
              </a:rPr>
              <a:t>Хорошо работает при разном масштабе признаков.</a:t>
            </a:r>
          </a:p>
          <a:p>
            <a:r>
              <a:rPr lang="ru-RU" dirty="0" smtClean="0">
                <a:latin typeface="Cascadia Code SemiLight" pitchFamily="49" charset="0"/>
                <a:cs typeface="Cascadia Code SemiLight" pitchFamily="49" charset="0"/>
              </a:rPr>
              <a:t>Не требует ручной настройки </a:t>
            </a:r>
            <a:r>
              <a:rPr lang="ru-RU" dirty="0" err="1" smtClean="0">
                <a:latin typeface="Cascadia Code SemiLight" pitchFamily="49" charset="0"/>
                <a:cs typeface="Cascadia Code SemiLight" pitchFamily="49" charset="0"/>
              </a:rPr>
              <a:t>lr</a:t>
            </a:r>
            <a:r>
              <a:rPr lang="ru-RU" dirty="0" smtClean="0">
                <a:latin typeface="Cascadia Code SemiLight" pitchFamily="49" charset="0"/>
                <a:cs typeface="Cascadia Code SemiLight" pitchFamily="49" charset="0"/>
              </a:rPr>
              <a:t> под каждый вес.</a:t>
            </a:r>
          </a:p>
          <a:p>
            <a:pPr>
              <a:buNone/>
            </a:pPr>
            <a:r>
              <a:rPr lang="ru-RU" dirty="0" smtClean="0">
                <a:latin typeface="Cascadia Code SemiLight" pitchFamily="49" charset="0"/>
                <a:cs typeface="Cascadia Code SemiLight" pitchFamily="49" charset="0"/>
              </a:rPr>
              <a:t/>
            </a:r>
            <a:br>
              <a:rPr lang="ru-RU" dirty="0" smtClean="0">
                <a:latin typeface="Cascadia Code SemiLight" pitchFamily="49" charset="0"/>
                <a:cs typeface="Cascadia Code SemiLight" pitchFamily="49" charset="0"/>
              </a:rPr>
            </a:br>
            <a:endParaRPr lang="ru-RU" dirty="0">
              <a:latin typeface="Cascadia Code SemiLight" pitchFamily="49" charset="0"/>
              <a:cs typeface="Cascadia Code SemiLight" pitchFamily="49"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latin typeface="Cascadia Code SemiLight" pitchFamily="49" charset="0"/>
                <a:cs typeface="Cascadia Code SemiLight" pitchFamily="49" charset="0"/>
              </a:rPr>
              <a:t>Adam</a:t>
            </a:r>
            <a:endParaRPr lang="ru-RU" dirty="0"/>
          </a:p>
        </p:txBody>
      </p:sp>
      <p:sp>
        <p:nvSpPr>
          <p:cNvPr id="3" name="Содержимое 2"/>
          <p:cNvSpPr>
            <a:spLocks noGrp="1"/>
          </p:cNvSpPr>
          <p:nvPr>
            <p:ph idx="1"/>
          </p:nvPr>
        </p:nvSpPr>
        <p:spPr>
          <a:xfrm>
            <a:off x="5181600" y="1524000"/>
            <a:ext cx="3505200" cy="5486400"/>
          </a:xfrm>
        </p:spPr>
        <p:txBody>
          <a:bodyPr>
            <a:normAutofit fontScale="55000" lnSpcReduction="20000"/>
          </a:bodyPr>
          <a:lstStyle/>
          <a:p>
            <a:r>
              <a:rPr lang="ru-RU" dirty="0" err="1" smtClean="0">
                <a:latin typeface="Cascadia Code SemiLight" pitchFamily="49" charset="0"/>
                <a:cs typeface="Cascadia Code SemiLight" pitchFamily="49" charset="0"/>
              </a:rPr>
              <a:t>Adam</a:t>
            </a:r>
            <a:r>
              <a:rPr lang="ru-RU" dirty="0" smtClean="0">
                <a:latin typeface="Cascadia Code SemiLight" pitchFamily="49" charset="0"/>
                <a:cs typeface="Cascadia Code SemiLight" pitchFamily="49" charset="0"/>
              </a:rPr>
              <a:t> (</a:t>
            </a:r>
            <a:r>
              <a:rPr lang="ru-RU" dirty="0" err="1" smtClean="0">
                <a:latin typeface="Cascadia Code SemiLight" pitchFamily="49" charset="0"/>
                <a:cs typeface="Cascadia Code SemiLight" pitchFamily="49" charset="0"/>
              </a:rPr>
              <a:t>Adaptive</a:t>
            </a:r>
            <a:r>
              <a:rPr lang="ru-RU" dirty="0" smtClean="0">
                <a:latin typeface="Cascadia Code SemiLight" pitchFamily="49" charset="0"/>
                <a:cs typeface="Cascadia Code SemiLight" pitchFamily="49" charset="0"/>
              </a:rPr>
              <a:t> </a:t>
            </a:r>
            <a:r>
              <a:rPr lang="ru-RU" dirty="0" err="1" smtClean="0">
                <a:latin typeface="Cascadia Code SemiLight" pitchFamily="49" charset="0"/>
                <a:cs typeface="Cascadia Code SemiLight" pitchFamily="49" charset="0"/>
              </a:rPr>
              <a:t>Moment</a:t>
            </a:r>
            <a:r>
              <a:rPr lang="ru-RU" dirty="0" smtClean="0">
                <a:latin typeface="Cascadia Code SemiLight" pitchFamily="49" charset="0"/>
                <a:cs typeface="Cascadia Code SemiLight" pitchFamily="49" charset="0"/>
              </a:rPr>
              <a:t> </a:t>
            </a:r>
            <a:r>
              <a:rPr lang="ru-RU" dirty="0" err="1" smtClean="0">
                <a:latin typeface="Cascadia Code SemiLight" pitchFamily="49" charset="0"/>
                <a:cs typeface="Cascadia Code SemiLight" pitchFamily="49" charset="0"/>
              </a:rPr>
              <a:t>Estimation</a:t>
            </a:r>
            <a:r>
              <a:rPr lang="ru-RU" dirty="0" smtClean="0">
                <a:latin typeface="Cascadia Code SemiLight" pitchFamily="49" charset="0"/>
                <a:cs typeface="Cascadia Code SemiLight" pitchFamily="49" charset="0"/>
              </a:rPr>
              <a:t>) — оптимизатор, который на каждом шаге сам решает, насколько сильно обновлять каждый вес отдельно. Не один общий </a:t>
            </a:r>
            <a:r>
              <a:rPr lang="ru-RU" dirty="0" err="1" smtClean="0">
                <a:latin typeface="Cascadia Code SemiLight" pitchFamily="49" charset="0"/>
                <a:cs typeface="Cascadia Code SemiLight" pitchFamily="49" charset="0"/>
              </a:rPr>
              <a:t>learning</a:t>
            </a:r>
            <a:r>
              <a:rPr lang="ru-RU" dirty="0" smtClean="0">
                <a:latin typeface="Cascadia Code SemiLight" pitchFamily="49" charset="0"/>
                <a:cs typeface="Cascadia Code SemiLight" pitchFamily="49" charset="0"/>
              </a:rPr>
              <a:t> </a:t>
            </a:r>
            <a:r>
              <a:rPr lang="ru-RU" dirty="0" err="1" smtClean="0">
                <a:latin typeface="Cascadia Code SemiLight" pitchFamily="49" charset="0"/>
                <a:cs typeface="Cascadia Code SemiLight" pitchFamily="49" charset="0"/>
              </a:rPr>
              <a:t>rate</a:t>
            </a:r>
            <a:r>
              <a:rPr lang="ru-RU" dirty="0" smtClean="0">
                <a:latin typeface="Cascadia Code SemiLight" pitchFamily="49" charset="0"/>
                <a:cs typeface="Cascadia Code SemiLight" pitchFamily="49" charset="0"/>
              </a:rPr>
              <a:t> для всех весов, а свой эффективный шаг для каждого.</a:t>
            </a:r>
          </a:p>
          <a:p>
            <a:r>
              <a:rPr lang="ru-RU" dirty="0" smtClean="0">
                <a:latin typeface="Cascadia Code SemiLight" pitchFamily="49" charset="0"/>
                <a:cs typeface="Cascadia Code SemiLight" pitchFamily="49" charset="0"/>
              </a:rPr>
              <a:t>Используя обе статистики, </a:t>
            </a:r>
            <a:r>
              <a:rPr lang="ru-RU" dirty="0" err="1" smtClean="0">
                <a:latin typeface="Cascadia Code SemiLight" pitchFamily="49" charset="0"/>
                <a:cs typeface="Cascadia Code SemiLight" pitchFamily="49" charset="0"/>
              </a:rPr>
              <a:t>Adam</a:t>
            </a:r>
            <a:r>
              <a:rPr lang="ru-RU" dirty="0" smtClean="0">
                <a:latin typeface="Cascadia Code SemiLight" pitchFamily="49" charset="0"/>
                <a:cs typeface="Cascadia Code SemiLight" pitchFamily="49" charset="0"/>
              </a:rPr>
              <a:t> вычисляет индивидуальный шаг для каждого веса: если градиент большой и шумный — шаг уменьшается; если маленький и стабильный — увеличивается.</a:t>
            </a:r>
            <a:br>
              <a:rPr lang="ru-RU" dirty="0" smtClean="0">
                <a:latin typeface="Cascadia Code SemiLight" pitchFamily="49" charset="0"/>
                <a:cs typeface="Cascadia Code SemiLight" pitchFamily="49" charset="0"/>
              </a:rPr>
            </a:br>
            <a:r>
              <a:rPr lang="ru-RU" dirty="0" smtClean="0">
                <a:latin typeface="Cascadia Code SemiLight" pitchFamily="49" charset="0"/>
                <a:cs typeface="Cascadia Code SemiLight" pitchFamily="49" charset="0"/>
              </a:rPr>
              <a:t/>
            </a:r>
            <a:br>
              <a:rPr lang="ru-RU" dirty="0" smtClean="0">
                <a:latin typeface="Cascadia Code SemiLight" pitchFamily="49" charset="0"/>
                <a:cs typeface="Cascadia Code SemiLight" pitchFamily="49" charset="0"/>
              </a:rPr>
            </a:br>
            <a:endParaRPr lang="ru-RU" dirty="0">
              <a:latin typeface="Cascadia Code SemiLight" pitchFamily="49" charset="0"/>
              <a:cs typeface="Cascadia Code SemiLight" pitchFamily="49" charset="0"/>
            </a:endParaRPr>
          </a:p>
        </p:txBody>
      </p:sp>
      <p:pic>
        <p:nvPicPr>
          <p:cNvPr id="40962" name="Picture 2" descr="https://sun9-43.vkuserphoto.ru/s/v1/ig2/T7fcHo3gRx614KOsv-Yvi0f3kK9nNjQULW5SYe2glnuIumg2HcpI6ctxQmuHzvQsCKGlDROkWzVHkMt-EBADhco-.jpg?quality=95&amp;as=32x32,48x48,72x72,108x108,160x160,240x240,360x360,480x480,540x540,640x640,720x720,736x736&amp;from=bu&amp;u=tR0LwWRYGEVOef9YI4YtI5l0TzB8uZXQ4Z3YgQrf9q0&amp;cs=736x0"/>
          <p:cNvPicPr>
            <a:picLocks noChangeAspect="1" noChangeArrowheads="1"/>
          </p:cNvPicPr>
          <p:nvPr/>
        </p:nvPicPr>
        <p:blipFill>
          <a:blip r:embed="rId3" cstate="print"/>
          <a:srcRect/>
          <a:stretch>
            <a:fillRect/>
          </a:stretch>
        </p:blipFill>
        <p:spPr bwMode="auto">
          <a:xfrm>
            <a:off x="533400" y="1600200"/>
            <a:ext cx="4427537" cy="4427538"/>
          </a:xfrm>
          <a:prstGeom prst="rect">
            <a:avLst/>
          </a:prstGeo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latin typeface="Cascadia Code SemiLight" pitchFamily="49" charset="0"/>
                <a:cs typeface="Cascadia Code SemiLight" pitchFamily="49" charset="0"/>
              </a:rPr>
              <a:t>Регрессия и классификация</a:t>
            </a:r>
            <a:endParaRPr lang="ru-RU" dirty="0">
              <a:latin typeface="Cascadia Code SemiLight" pitchFamily="49" charset="0"/>
              <a:cs typeface="Cascadia Code SemiLight" pitchFamily="49" charset="0"/>
            </a:endParaRPr>
          </a:p>
        </p:txBody>
      </p:sp>
      <p:sp>
        <p:nvSpPr>
          <p:cNvPr id="3" name="Содержимое 2"/>
          <p:cNvSpPr>
            <a:spLocks noGrp="1"/>
          </p:cNvSpPr>
          <p:nvPr>
            <p:ph idx="1"/>
          </p:nvPr>
        </p:nvSpPr>
        <p:spPr/>
        <p:txBody>
          <a:bodyPr/>
          <a:lstStyle/>
          <a:p>
            <a:endParaRPr lang="ru-RU" dirty="0"/>
          </a:p>
        </p:txBody>
      </p:sp>
      <p:pic>
        <p:nvPicPr>
          <p:cNvPr id="2050" name="Picture 2"/>
          <p:cNvPicPr>
            <a:picLocks noChangeAspect="1" noChangeArrowheads="1"/>
          </p:cNvPicPr>
          <p:nvPr/>
        </p:nvPicPr>
        <p:blipFill>
          <a:blip r:embed="rId3" cstate="print"/>
          <a:srcRect b="19391"/>
          <a:stretch>
            <a:fillRect/>
          </a:stretch>
        </p:blipFill>
        <p:spPr bwMode="auto">
          <a:xfrm>
            <a:off x="1981200" y="4648200"/>
            <a:ext cx="5702300" cy="1905000"/>
          </a:xfrm>
          <a:prstGeom prst="rect">
            <a:avLst/>
          </a:prstGeom>
          <a:noFill/>
          <a:ln w="9525">
            <a:noFill/>
            <a:miter lim="800000"/>
            <a:headEnd/>
            <a:tailEnd/>
          </a:ln>
          <a:effectLst/>
        </p:spPr>
      </p:pic>
      <p:pic>
        <p:nvPicPr>
          <p:cNvPr id="15364" name="Picture 4" descr="Регрессия и классификация"/>
          <p:cNvPicPr>
            <a:picLocks noChangeAspect="1" noChangeArrowheads="1"/>
          </p:cNvPicPr>
          <p:nvPr/>
        </p:nvPicPr>
        <p:blipFill>
          <a:blip r:embed="rId4" cstate="print"/>
          <a:srcRect/>
          <a:stretch>
            <a:fillRect/>
          </a:stretch>
        </p:blipFill>
        <p:spPr bwMode="auto">
          <a:xfrm>
            <a:off x="1600200" y="1295400"/>
            <a:ext cx="6076950" cy="3400426"/>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latin typeface="Cascadia Code SemiLight" pitchFamily="49" charset="0"/>
                <a:cs typeface="Cascadia Code SemiLight" pitchFamily="49" charset="0"/>
              </a:rPr>
              <a:t>Линейная регрессия</a:t>
            </a:r>
            <a:endParaRPr lang="ru-RU" dirty="0"/>
          </a:p>
        </p:txBody>
      </p:sp>
      <p:sp>
        <p:nvSpPr>
          <p:cNvPr id="3" name="Содержимое 2"/>
          <p:cNvSpPr>
            <a:spLocks noGrp="1"/>
          </p:cNvSpPr>
          <p:nvPr>
            <p:ph idx="1"/>
          </p:nvPr>
        </p:nvSpPr>
        <p:spPr/>
        <p:txBody>
          <a:bodyPr>
            <a:normAutofit fontScale="92500" lnSpcReduction="10000"/>
          </a:bodyPr>
          <a:lstStyle/>
          <a:p>
            <a:r>
              <a:rPr lang="ru-RU" dirty="0" smtClean="0">
                <a:latin typeface="Cascadia Code SemiLight" pitchFamily="49" charset="0"/>
                <a:cs typeface="Cascadia Code SemiLight" pitchFamily="49" charset="0"/>
              </a:rPr>
              <a:t>Линейная регрессия — это модель, которая предсказывает число как линейную комбинацию входных признаков.</a:t>
            </a:r>
          </a:p>
          <a:p>
            <a:r>
              <a:rPr lang="ru-RU" dirty="0" smtClean="0">
                <a:latin typeface="Cascadia Code SemiLight" pitchFamily="49" charset="0"/>
                <a:cs typeface="Cascadia Code SemiLight" pitchFamily="49" charset="0"/>
              </a:rPr>
              <a:t>Проще говоря: мы предполагаем, что целевая переменная </a:t>
            </a:r>
            <a:r>
              <a:rPr lang="ru-RU" dirty="0" err="1" smtClean="0">
                <a:latin typeface="Cascadia Code SemiLight" pitchFamily="49" charset="0"/>
                <a:cs typeface="Cascadia Code SemiLight" pitchFamily="49" charset="0"/>
              </a:rPr>
              <a:t>y</a:t>
            </a:r>
            <a:r>
              <a:rPr lang="ru-RU" dirty="0" smtClean="0">
                <a:latin typeface="Cascadia Code SemiLight" pitchFamily="49" charset="0"/>
                <a:cs typeface="Cascadia Code SemiLight" pitchFamily="49" charset="0"/>
              </a:rPr>
              <a:t> зависит от признаков </a:t>
            </a:r>
            <a:r>
              <a:rPr lang="ru-RU" dirty="0" err="1" smtClean="0">
                <a:latin typeface="Cascadia Code SemiLight" pitchFamily="49" charset="0"/>
                <a:cs typeface="Cascadia Code SemiLight" pitchFamily="49" charset="0"/>
              </a:rPr>
              <a:t>x</a:t>
            </a:r>
            <a:r>
              <a:rPr lang="ru-RU" dirty="0" smtClean="0">
                <a:latin typeface="Cascadia Code SemiLight" pitchFamily="49" charset="0"/>
                <a:cs typeface="Cascadia Code SemiLight" pitchFamily="49" charset="0"/>
              </a:rPr>
              <a:t>₁, </a:t>
            </a:r>
            <a:r>
              <a:rPr lang="ru-RU" dirty="0" err="1" smtClean="0">
                <a:latin typeface="Cascadia Code SemiLight" pitchFamily="49" charset="0"/>
                <a:cs typeface="Cascadia Code SemiLight" pitchFamily="49" charset="0"/>
              </a:rPr>
              <a:t>x</a:t>
            </a:r>
            <a:r>
              <a:rPr lang="ru-RU" dirty="0" smtClean="0">
                <a:latin typeface="Cascadia Code SemiLight" pitchFamily="49" charset="0"/>
                <a:cs typeface="Cascadia Code SemiLight" pitchFamily="49" charset="0"/>
              </a:rPr>
              <a:t>₂, ..., </a:t>
            </a:r>
            <a:r>
              <a:rPr lang="ru-RU" dirty="0" err="1" smtClean="0">
                <a:latin typeface="Cascadia Code SemiLight" pitchFamily="49" charset="0"/>
                <a:cs typeface="Cascadia Code SemiLight" pitchFamily="49" charset="0"/>
              </a:rPr>
              <a:t>x</a:t>
            </a:r>
            <a:r>
              <a:rPr lang="ru-RU" dirty="0" smtClean="0">
                <a:latin typeface="Cascadia Code SemiLight" pitchFamily="49" charset="0"/>
                <a:cs typeface="Cascadia Code SemiLight" pitchFamily="49" charset="0"/>
              </a:rPr>
              <a:t>ₙ линейно — то есть каждый признак входит в формулу просто умноженным на свой вес</a:t>
            </a:r>
          </a:p>
          <a:p>
            <a:endParaRPr lang="ru-RU" dirty="0">
              <a:latin typeface="Cascadia Code SemiLight" pitchFamily="49" charset="0"/>
              <a:cs typeface="Cascadia Code SemiLight" pitchFamily="49"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latin typeface="Cascadia Code SemiLight" pitchFamily="49" charset="0"/>
                <a:cs typeface="Cascadia Code SemiLight" pitchFamily="49" charset="0"/>
              </a:rPr>
              <a:t>Постановка задачи</a:t>
            </a:r>
            <a:endParaRPr lang="ru-RU" dirty="0">
              <a:latin typeface="Cascadia Code SemiLight" pitchFamily="49" charset="0"/>
              <a:cs typeface="Cascadia Code SemiLight" pitchFamily="49" charset="0"/>
            </a:endParaRPr>
          </a:p>
        </p:txBody>
      </p:sp>
      <p:sp>
        <p:nvSpPr>
          <p:cNvPr id="3" name="Содержимое 2"/>
          <p:cNvSpPr>
            <a:spLocks noGrp="1"/>
          </p:cNvSpPr>
          <p:nvPr>
            <p:ph idx="1"/>
          </p:nvPr>
        </p:nvSpPr>
        <p:spPr>
          <a:xfrm>
            <a:off x="457200" y="1600200"/>
            <a:ext cx="4419600" cy="5257800"/>
          </a:xfrm>
        </p:spPr>
        <p:txBody>
          <a:bodyPr>
            <a:noAutofit/>
          </a:bodyPr>
          <a:lstStyle/>
          <a:p>
            <a:r>
              <a:rPr lang="ru-RU" sz="1600" b="1" dirty="0" smtClean="0">
                <a:latin typeface="Cascadia Code SemiLight" pitchFamily="49" charset="0"/>
                <a:cs typeface="Cascadia Code SemiLight" pitchFamily="49" charset="0"/>
              </a:rPr>
              <a:t>Дано</a:t>
            </a:r>
          </a:p>
          <a:p>
            <a:pPr>
              <a:buNone/>
            </a:pPr>
            <a:r>
              <a:rPr lang="ru-RU" sz="1600" b="1" dirty="0" smtClean="0">
                <a:latin typeface="Cascadia Code SemiLight" pitchFamily="49" charset="0"/>
                <a:cs typeface="Cascadia Code SemiLight" pitchFamily="49" charset="0"/>
              </a:rPr>
              <a:t>		</a:t>
            </a:r>
            <a:r>
              <a:rPr lang="ru-RU" sz="1600" b="1" dirty="0" err="1" smtClean="0">
                <a:latin typeface="Cascadia Code SemiLight" pitchFamily="49" charset="0"/>
                <a:cs typeface="Cascadia Code SemiLight" pitchFamily="49" charset="0"/>
              </a:rPr>
              <a:t>Датасет</a:t>
            </a:r>
            <a:r>
              <a:rPr lang="ru-RU" sz="1600" b="1" dirty="0" smtClean="0">
                <a:latin typeface="Cascadia Code SemiLight" pitchFamily="49" charset="0"/>
                <a:cs typeface="Cascadia Code SemiLight" pitchFamily="49" charset="0"/>
              </a:rPr>
              <a:t>:</a:t>
            </a:r>
            <a:r>
              <a:rPr lang="ru-RU" sz="1600" dirty="0" smtClean="0">
                <a:latin typeface="Cascadia Code SemiLight" pitchFamily="49" charset="0"/>
                <a:cs typeface="Cascadia Code SemiLight" pitchFamily="49" charset="0"/>
              </a:rPr>
              <a:t> N объектов.</a:t>
            </a:r>
          </a:p>
          <a:p>
            <a:pPr>
              <a:buNone/>
            </a:pPr>
            <a:r>
              <a:rPr lang="ru-RU" sz="1600" b="1" dirty="0" smtClean="0">
                <a:latin typeface="Cascadia Code SemiLight" pitchFamily="49" charset="0"/>
                <a:cs typeface="Cascadia Code SemiLight" pitchFamily="49" charset="0"/>
              </a:rPr>
              <a:t>		Признаки:</a:t>
            </a:r>
            <a:r>
              <a:rPr lang="ru-RU" sz="1600" dirty="0" smtClean="0">
                <a:latin typeface="Cascadia Code SemiLight" pitchFamily="49" charset="0"/>
                <a:cs typeface="Cascadia Code SemiLight" pitchFamily="49" charset="0"/>
              </a:rPr>
              <a:t> у каждого объекта </a:t>
            </a:r>
            <a:r>
              <a:rPr lang="ru-RU" sz="1600" dirty="0" err="1" smtClean="0">
                <a:latin typeface="Cascadia Code SemiLight" pitchFamily="49" charset="0"/>
                <a:cs typeface="Cascadia Code SemiLight" pitchFamily="49" charset="0"/>
              </a:rPr>
              <a:t>n</a:t>
            </a:r>
            <a:r>
              <a:rPr lang="ru-RU" sz="1600" dirty="0" smtClean="0">
                <a:latin typeface="Cascadia Code SemiLight" pitchFamily="49" charset="0"/>
                <a:cs typeface="Cascadia Code SemiLight" pitchFamily="49" charset="0"/>
              </a:rPr>
              <a:t> числовых признаков.</a:t>
            </a:r>
          </a:p>
          <a:p>
            <a:pPr>
              <a:buNone/>
            </a:pPr>
            <a:r>
              <a:rPr lang="ru-RU" sz="1600" b="1" dirty="0" smtClean="0">
                <a:latin typeface="Cascadia Code SemiLight" pitchFamily="49" charset="0"/>
                <a:cs typeface="Cascadia Code SemiLight" pitchFamily="49" charset="0"/>
              </a:rPr>
              <a:t>		Целевая переменная:</a:t>
            </a:r>
            <a:r>
              <a:rPr lang="ru-RU" sz="1600" dirty="0" smtClean="0">
                <a:latin typeface="Cascadia Code SemiLight" pitchFamily="49" charset="0"/>
                <a:cs typeface="Cascadia Code SemiLight" pitchFamily="49" charset="0"/>
              </a:rPr>
              <a:t> у каждого объекта одно число </a:t>
            </a:r>
            <a:r>
              <a:rPr lang="ru-RU" sz="1600" dirty="0" err="1" smtClean="0">
                <a:latin typeface="Cascadia Code SemiLight" pitchFamily="49" charset="0"/>
                <a:cs typeface="Cascadia Code SemiLight" pitchFamily="49" charset="0"/>
              </a:rPr>
              <a:t>y</a:t>
            </a:r>
            <a:r>
              <a:rPr lang="ru-RU" sz="1600" dirty="0" smtClean="0">
                <a:latin typeface="Cascadia Code SemiLight" pitchFamily="49" charset="0"/>
                <a:cs typeface="Cascadia Code SemiLight" pitchFamily="49" charset="0"/>
              </a:rPr>
              <a:t>, которое мы хотим предсказывать.</a:t>
            </a:r>
          </a:p>
          <a:p>
            <a:pPr>
              <a:buNone/>
            </a:pPr>
            <a:endParaRPr lang="ru-RU" sz="1600" dirty="0" smtClean="0">
              <a:latin typeface="Cascadia Code SemiLight" pitchFamily="49" charset="0"/>
              <a:cs typeface="Cascadia Code SemiLight" pitchFamily="49" charset="0"/>
            </a:endParaRPr>
          </a:p>
          <a:p>
            <a:r>
              <a:rPr lang="ru-RU" sz="1600" b="1" dirty="0" smtClean="0">
                <a:latin typeface="Cascadia Code SemiLight" pitchFamily="49" charset="0"/>
                <a:cs typeface="Cascadia Code SemiLight" pitchFamily="49" charset="0"/>
              </a:rPr>
              <a:t>Требуется</a:t>
            </a:r>
          </a:p>
          <a:p>
            <a:r>
              <a:rPr lang="ru-RU" sz="1600" dirty="0" smtClean="0">
                <a:latin typeface="Cascadia Code SemiLight" pitchFamily="49" charset="0"/>
                <a:cs typeface="Cascadia Code SemiLight" pitchFamily="49" charset="0"/>
              </a:rPr>
              <a:t>Найти такие </a:t>
            </a:r>
            <a:r>
              <a:rPr lang="ru-RU" sz="1600" b="1" dirty="0" smtClean="0">
                <a:latin typeface="Cascadia Code SemiLight" pitchFamily="49" charset="0"/>
                <a:cs typeface="Cascadia Code SemiLight" pitchFamily="49" charset="0"/>
              </a:rPr>
              <a:t>веса</a:t>
            </a:r>
            <a:r>
              <a:rPr lang="ru-RU" sz="1600" dirty="0" smtClean="0">
                <a:latin typeface="Cascadia Code SemiLight" pitchFamily="49" charset="0"/>
                <a:cs typeface="Cascadia Code SemiLight" pitchFamily="49" charset="0"/>
              </a:rPr>
              <a:t> </a:t>
            </a:r>
            <a:r>
              <a:rPr lang="ru-RU" sz="1600" dirty="0" err="1" smtClean="0">
                <a:latin typeface="Cascadia Code SemiLight" pitchFamily="49" charset="0"/>
                <a:cs typeface="Cascadia Code SemiLight" pitchFamily="49" charset="0"/>
              </a:rPr>
              <a:t>w</a:t>
            </a:r>
            <a:r>
              <a:rPr lang="ru-RU" sz="1600" dirty="0" smtClean="0">
                <a:latin typeface="Cascadia Code SemiLight" pitchFamily="49" charset="0"/>
                <a:cs typeface="Cascadia Code SemiLight" pitchFamily="49" charset="0"/>
              </a:rPr>
              <a:t>₁, </a:t>
            </a:r>
            <a:r>
              <a:rPr lang="ru-RU" sz="1600" dirty="0" err="1" smtClean="0">
                <a:latin typeface="Cascadia Code SemiLight" pitchFamily="49" charset="0"/>
                <a:cs typeface="Cascadia Code SemiLight" pitchFamily="49" charset="0"/>
              </a:rPr>
              <a:t>w</a:t>
            </a:r>
            <a:r>
              <a:rPr lang="ru-RU" sz="1600" dirty="0" smtClean="0">
                <a:latin typeface="Cascadia Code SemiLight" pitchFamily="49" charset="0"/>
                <a:cs typeface="Cascadia Code SemiLight" pitchFamily="49" charset="0"/>
              </a:rPr>
              <a:t>₂, ..., </a:t>
            </a:r>
            <a:r>
              <a:rPr lang="ru-RU" sz="1600" dirty="0" err="1" smtClean="0">
                <a:latin typeface="Cascadia Code SemiLight" pitchFamily="49" charset="0"/>
                <a:cs typeface="Cascadia Code SemiLight" pitchFamily="49" charset="0"/>
              </a:rPr>
              <a:t>w</a:t>
            </a:r>
            <a:r>
              <a:rPr lang="ru-RU" sz="1600" dirty="0" smtClean="0">
                <a:latin typeface="Cascadia Code SemiLight" pitchFamily="49" charset="0"/>
                <a:cs typeface="Cascadia Code SemiLight" pitchFamily="49" charset="0"/>
              </a:rPr>
              <a:t>ₙ и </a:t>
            </a:r>
            <a:r>
              <a:rPr lang="ru-RU" sz="1600" b="1" dirty="0" smtClean="0">
                <a:latin typeface="Cascadia Code SemiLight" pitchFamily="49" charset="0"/>
                <a:cs typeface="Cascadia Code SemiLight" pitchFamily="49" charset="0"/>
              </a:rPr>
              <a:t>смещение</a:t>
            </a:r>
            <a:r>
              <a:rPr lang="ru-RU" sz="1600" dirty="0" smtClean="0">
                <a:latin typeface="Cascadia Code SemiLight" pitchFamily="49" charset="0"/>
                <a:cs typeface="Cascadia Code SemiLight" pitchFamily="49" charset="0"/>
              </a:rPr>
              <a:t> </a:t>
            </a:r>
            <a:r>
              <a:rPr lang="ru-RU" sz="1600" dirty="0" err="1" smtClean="0">
                <a:latin typeface="Cascadia Code SemiLight" pitchFamily="49" charset="0"/>
                <a:cs typeface="Cascadia Code SemiLight" pitchFamily="49" charset="0"/>
              </a:rPr>
              <a:t>b</a:t>
            </a:r>
            <a:r>
              <a:rPr lang="ru-RU" sz="1600" dirty="0" smtClean="0">
                <a:latin typeface="Cascadia Code SemiLight" pitchFamily="49" charset="0"/>
                <a:cs typeface="Cascadia Code SemiLight" pitchFamily="49" charset="0"/>
              </a:rPr>
              <a:t>, чтобы предсказание</a:t>
            </a:r>
          </a:p>
          <a:p>
            <a:pPr>
              <a:buNone/>
            </a:pPr>
            <a:r>
              <a:rPr lang="ru-RU" sz="1600" dirty="0" err="1" smtClean="0">
                <a:latin typeface="Cascadia Code SemiLight" pitchFamily="49" charset="0"/>
                <a:cs typeface="Cascadia Code SemiLight" pitchFamily="49" charset="0"/>
              </a:rPr>
              <a:t>ŷ</a:t>
            </a:r>
            <a:r>
              <a:rPr lang="ru-RU" sz="1600" dirty="0" smtClean="0">
                <a:latin typeface="Cascadia Code SemiLight" pitchFamily="49" charset="0"/>
                <a:cs typeface="Cascadia Code SemiLight" pitchFamily="49" charset="0"/>
              </a:rPr>
              <a:t> = </a:t>
            </a:r>
            <a:r>
              <a:rPr lang="ru-RU" sz="1600" dirty="0" err="1" smtClean="0">
                <a:latin typeface="Cascadia Code SemiLight" pitchFamily="49" charset="0"/>
                <a:cs typeface="Cascadia Code SemiLight" pitchFamily="49" charset="0"/>
              </a:rPr>
              <a:t>w₁x</a:t>
            </a:r>
            <a:r>
              <a:rPr lang="ru-RU" sz="1600" dirty="0" smtClean="0">
                <a:latin typeface="Cascadia Code SemiLight" pitchFamily="49" charset="0"/>
                <a:cs typeface="Cascadia Code SemiLight" pitchFamily="49" charset="0"/>
              </a:rPr>
              <a:t>₁ + </a:t>
            </a:r>
            <a:r>
              <a:rPr lang="ru-RU" sz="1600" dirty="0" err="1" smtClean="0">
                <a:latin typeface="Cascadia Code SemiLight" pitchFamily="49" charset="0"/>
                <a:cs typeface="Cascadia Code SemiLight" pitchFamily="49" charset="0"/>
              </a:rPr>
              <a:t>w₂x</a:t>
            </a:r>
            <a:r>
              <a:rPr lang="ru-RU" sz="1600" dirty="0" smtClean="0">
                <a:latin typeface="Cascadia Code SemiLight" pitchFamily="49" charset="0"/>
                <a:cs typeface="Cascadia Code SemiLight" pitchFamily="49" charset="0"/>
              </a:rPr>
              <a:t>₂ + ... + </a:t>
            </a:r>
            <a:r>
              <a:rPr lang="ru-RU" sz="1600" dirty="0" err="1" smtClean="0">
                <a:latin typeface="Cascadia Code SemiLight" pitchFamily="49" charset="0"/>
                <a:cs typeface="Cascadia Code SemiLight" pitchFamily="49" charset="0"/>
              </a:rPr>
              <a:t>wₙx</a:t>
            </a:r>
            <a:r>
              <a:rPr lang="ru-RU" sz="1600" dirty="0" smtClean="0">
                <a:latin typeface="Cascadia Code SemiLight" pitchFamily="49" charset="0"/>
                <a:cs typeface="Cascadia Code SemiLight" pitchFamily="49" charset="0"/>
              </a:rPr>
              <a:t>ₙ + </a:t>
            </a:r>
            <a:r>
              <a:rPr lang="ru-RU" sz="1600" dirty="0" err="1" smtClean="0">
                <a:latin typeface="Cascadia Code SemiLight" pitchFamily="49" charset="0"/>
                <a:cs typeface="Cascadia Code SemiLight" pitchFamily="49" charset="0"/>
              </a:rPr>
              <a:t>b</a:t>
            </a:r>
            <a:endParaRPr lang="ru-RU" sz="1600" dirty="0" smtClean="0">
              <a:latin typeface="Cascadia Code SemiLight" pitchFamily="49" charset="0"/>
              <a:cs typeface="Cascadia Code SemiLight" pitchFamily="49" charset="0"/>
            </a:endParaRPr>
          </a:p>
          <a:p>
            <a:pPr>
              <a:buNone/>
            </a:pPr>
            <a:r>
              <a:rPr lang="ru-RU" sz="1600" dirty="0" smtClean="0">
                <a:latin typeface="Cascadia Code SemiLight" pitchFamily="49" charset="0"/>
                <a:cs typeface="Cascadia Code SemiLight" pitchFamily="49" charset="0"/>
              </a:rPr>
              <a:t>	было как можно ближе к реальному </a:t>
            </a:r>
            <a:r>
              <a:rPr lang="ru-RU" sz="1600" dirty="0" err="1" smtClean="0">
                <a:latin typeface="Cascadia Code SemiLight" pitchFamily="49" charset="0"/>
                <a:cs typeface="Cascadia Code SemiLight" pitchFamily="49" charset="0"/>
              </a:rPr>
              <a:t>y</a:t>
            </a:r>
            <a:r>
              <a:rPr lang="ru-RU" sz="1600" dirty="0" smtClean="0">
                <a:latin typeface="Cascadia Code SemiLight" pitchFamily="49" charset="0"/>
                <a:cs typeface="Cascadia Code SemiLight" pitchFamily="49" charset="0"/>
              </a:rPr>
              <a:t> для всех объектов.</a:t>
            </a:r>
          </a:p>
        </p:txBody>
      </p:sp>
      <p:pic>
        <p:nvPicPr>
          <p:cNvPr id="38914" name="Picture 2" descr="https://sun9-59.vkuserphoto.ru/s/v1/ig2/7Hunp1SwCKfaOwfGnAVG1uXdvExQjfXHF5unt46GyckZE4WaIZeDW4RyRPnqBmzT7Fg5QttITASeric6H-Gv4aDT.jpg?quality=95&amp;as=32x32,48x48,72x72,108x108,160x160,240x240,360x360,480x480,540x540,640x640,720x720,736x736&amp;from=bu&amp;cs=736x0"/>
          <p:cNvPicPr>
            <a:picLocks noChangeAspect="1" noChangeArrowheads="1"/>
          </p:cNvPicPr>
          <p:nvPr/>
        </p:nvPicPr>
        <p:blipFill>
          <a:blip r:embed="rId2" cstate="print"/>
          <a:srcRect/>
          <a:stretch>
            <a:fillRect/>
          </a:stretch>
        </p:blipFill>
        <p:spPr bwMode="auto">
          <a:xfrm>
            <a:off x="5029200" y="1752600"/>
            <a:ext cx="3810000" cy="3810001"/>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495800" y="533400"/>
            <a:ext cx="4267200" cy="1112838"/>
          </a:xfrm>
        </p:spPr>
        <p:txBody>
          <a:bodyPr>
            <a:noAutofit/>
          </a:bodyPr>
          <a:lstStyle/>
          <a:p>
            <a:r>
              <a:rPr lang="ru-RU" sz="3200" dirty="0" smtClean="0">
                <a:latin typeface="Cascadia Code SemiLight" pitchFamily="49" charset="0"/>
                <a:cs typeface="Cascadia Code SemiLight" pitchFamily="49" charset="0"/>
              </a:rPr>
              <a:t>Предсказание цен домов в Калифорнии</a:t>
            </a:r>
            <a:br>
              <a:rPr lang="ru-RU" sz="3200" dirty="0" smtClean="0">
                <a:latin typeface="Cascadia Code SemiLight" pitchFamily="49" charset="0"/>
                <a:cs typeface="Cascadia Code SemiLight" pitchFamily="49" charset="0"/>
              </a:rPr>
            </a:br>
            <a:r>
              <a:rPr lang="ru-RU" sz="3200" dirty="0" smtClean="0">
                <a:latin typeface="Cascadia Code SemiLight" pitchFamily="49" charset="0"/>
                <a:cs typeface="Cascadia Code SemiLight" pitchFamily="49" charset="0"/>
              </a:rPr>
              <a:t>КОДМИМ!)</a:t>
            </a:r>
            <a:endParaRPr lang="ru-RU" sz="3200" dirty="0">
              <a:latin typeface="Cascadia Code SemiLight" pitchFamily="49" charset="0"/>
              <a:cs typeface="Cascadia Code SemiLight" pitchFamily="49" charset="0"/>
            </a:endParaRPr>
          </a:p>
        </p:txBody>
      </p:sp>
      <p:sp>
        <p:nvSpPr>
          <p:cNvPr id="3" name="Содержимое 2"/>
          <p:cNvSpPr>
            <a:spLocks noGrp="1"/>
          </p:cNvSpPr>
          <p:nvPr>
            <p:ph idx="1"/>
          </p:nvPr>
        </p:nvSpPr>
        <p:spPr>
          <a:xfrm>
            <a:off x="4648200" y="1600200"/>
            <a:ext cx="4038600" cy="4525963"/>
          </a:xfrm>
        </p:spPr>
        <p:txBody>
          <a:bodyPr/>
          <a:lstStyle/>
          <a:p>
            <a:endParaRPr lang="ru-RU" dirty="0"/>
          </a:p>
        </p:txBody>
      </p:sp>
      <p:pic>
        <p:nvPicPr>
          <p:cNvPr id="45058" name="Picture 2" descr="https://sun9-8.vkuserphoto.ru/s/v1/ig2/KqndFLWSM7ArYNRNqfYkQH9FxMe3SvEVHNo6EDrwNNi74qolvu8UtDWyYMmdR44aR_QMKuwU5y55E6p6Dz34MC1_.jpg?quality=95&amp;as=32x57,48x85,72x128,108x192,160x284,240x427,360x640,480x853,540x960,640x1138,675x1200&amp;from=bu&amp;u=l0ElUvNaZvgbwV_i50bxj9dUGnw-vLFQO1Y-zECTQLo&amp;cs=675x0"/>
          <p:cNvPicPr>
            <a:picLocks noChangeAspect="1" noChangeArrowheads="1"/>
          </p:cNvPicPr>
          <p:nvPr/>
        </p:nvPicPr>
        <p:blipFill>
          <a:blip r:embed="rId2" cstate="print"/>
          <a:srcRect/>
          <a:stretch>
            <a:fillRect/>
          </a:stretch>
        </p:blipFill>
        <p:spPr bwMode="auto">
          <a:xfrm>
            <a:off x="0" y="-304800"/>
            <a:ext cx="4200525" cy="7467600"/>
          </a:xfrm>
          <a:prstGeom prst="rect">
            <a:avLst/>
          </a:prstGeom>
          <a:noFill/>
        </p:spPr>
      </p:pic>
      <p:pic>
        <p:nvPicPr>
          <p:cNvPr id="45060" name="Picture 4" descr="https://sun9-66.vkuserphoto.ru/s/v1/ig2/wORwHa79ROU5-vJFk-Yh9KBdFgFlcYK7PJ6AoeEcSvBmwWaF8rlgVM1v3ZIltwfpH_FS0zK6tu9lK1DEWd9VYOfc.jpg?quality=95&amp;as=32x24,48x36,72x54,108x81,160x120,240x180,360x270,480x360,540x405,640x480,720x540,736x552&amp;from=bu&amp;cs=736x0"/>
          <p:cNvPicPr>
            <a:picLocks noChangeAspect="1" noChangeArrowheads="1"/>
          </p:cNvPicPr>
          <p:nvPr/>
        </p:nvPicPr>
        <p:blipFill>
          <a:blip r:embed="rId3" cstate="print"/>
          <a:srcRect/>
          <a:stretch>
            <a:fillRect/>
          </a:stretch>
        </p:blipFill>
        <p:spPr bwMode="auto">
          <a:xfrm>
            <a:off x="4648200" y="2438400"/>
            <a:ext cx="4267199" cy="320040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latin typeface="Cascadia Code Light" pitchFamily="49" charset="0"/>
                <a:cs typeface="Cascadia Code Light" pitchFamily="49" charset="0"/>
              </a:rPr>
              <a:t>1. Загрузка </a:t>
            </a:r>
            <a:r>
              <a:rPr lang="ru-RU" dirty="0" err="1" smtClean="0">
                <a:latin typeface="Cascadia Code Light" pitchFamily="49" charset="0"/>
                <a:cs typeface="Cascadia Code Light" pitchFamily="49" charset="0"/>
              </a:rPr>
              <a:t>датасета</a:t>
            </a:r>
            <a:endParaRPr lang="ru-RU" dirty="0">
              <a:latin typeface="Cascadia Code Light" pitchFamily="49" charset="0"/>
              <a:cs typeface="Cascadia Code Light" pitchFamily="49" charset="0"/>
            </a:endParaRPr>
          </a:p>
        </p:txBody>
      </p:sp>
      <p:sp>
        <p:nvSpPr>
          <p:cNvPr id="3" name="Содержимое 2"/>
          <p:cNvSpPr>
            <a:spLocks noGrp="1"/>
          </p:cNvSpPr>
          <p:nvPr>
            <p:ph idx="1"/>
          </p:nvPr>
        </p:nvSpPr>
        <p:spPr>
          <a:xfrm>
            <a:off x="304800" y="4495800"/>
            <a:ext cx="8382000" cy="2514600"/>
          </a:xfrm>
        </p:spPr>
        <p:txBody>
          <a:bodyPr>
            <a:normAutofit fontScale="47500" lnSpcReduction="20000"/>
          </a:bodyPr>
          <a:lstStyle/>
          <a:p>
            <a:r>
              <a:rPr lang="ru-RU" dirty="0" smtClean="0">
                <a:latin typeface="Cascadia Mono Light" pitchFamily="49" charset="0"/>
                <a:cs typeface="Cascadia Mono Light" pitchFamily="49" charset="0"/>
              </a:rPr>
              <a:t>Прежде чем обучать модель, нам нужны </a:t>
            </a:r>
            <a:r>
              <a:rPr lang="ru-RU" b="1" dirty="0" smtClean="0">
                <a:latin typeface="Cascadia Mono Light" pitchFamily="49" charset="0"/>
                <a:cs typeface="Cascadia Mono Light" pitchFamily="49" charset="0"/>
              </a:rPr>
              <a:t>данные</a:t>
            </a:r>
            <a:r>
              <a:rPr lang="ru-RU" dirty="0" smtClean="0">
                <a:latin typeface="Cascadia Mono Light" pitchFamily="49" charset="0"/>
                <a:cs typeface="Cascadia Mono Light" pitchFamily="49" charset="0"/>
              </a:rPr>
              <a:t>. Мы не создаём их сами (как в примере </a:t>
            </a:r>
            <a:r>
              <a:rPr lang="ru-RU" dirty="0" smtClean="0">
                <a:latin typeface="Cascadia Mono Light" pitchFamily="49" charset="0"/>
                <a:cs typeface="Cascadia Mono Light" pitchFamily="49" charset="0"/>
              </a:rPr>
              <a:t>с </a:t>
            </a:r>
            <a:r>
              <a:rPr lang="en-US" dirty="0" smtClean="0">
                <a:latin typeface="Cascadia Mono Light" pitchFamily="49" charset="0"/>
                <a:cs typeface="Cascadia Mono Light" pitchFamily="49" charset="0"/>
              </a:rPr>
              <a:t>GD</a:t>
            </a:r>
            <a:r>
              <a:rPr lang="ru-RU" dirty="0" smtClean="0">
                <a:latin typeface="Cascadia Mono Light" pitchFamily="49" charset="0"/>
                <a:cs typeface="Cascadia Mono Light" pitchFamily="49" charset="0"/>
              </a:rPr>
              <a:t>), </a:t>
            </a:r>
            <a:r>
              <a:rPr lang="ru-RU" dirty="0" smtClean="0">
                <a:latin typeface="Cascadia Mono Light" pitchFamily="49" charset="0"/>
                <a:cs typeface="Cascadia Mono Light" pitchFamily="49" charset="0"/>
              </a:rPr>
              <a:t>а загружаем </a:t>
            </a:r>
            <a:r>
              <a:rPr lang="ru-RU" b="1" dirty="0" smtClean="0">
                <a:latin typeface="Cascadia Mono Light" pitchFamily="49" charset="0"/>
                <a:cs typeface="Cascadia Mono Light" pitchFamily="49" charset="0"/>
              </a:rPr>
              <a:t>готовый </a:t>
            </a:r>
            <a:r>
              <a:rPr lang="ru-RU" b="1" dirty="0" err="1" smtClean="0">
                <a:latin typeface="Cascadia Mono Light" pitchFamily="49" charset="0"/>
                <a:cs typeface="Cascadia Mono Light" pitchFamily="49" charset="0"/>
              </a:rPr>
              <a:t>датасет</a:t>
            </a:r>
            <a:r>
              <a:rPr lang="ru-RU" dirty="0" smtClean="0">
                <a:latin typeface="Cascadia Mono Light" pitchFamily="49" charset="0"/>
                <a:cs typeface="Cascadia Mono Light" pitchFamily="49" charset="0"/>
              </a:rPr>
              <a:t> — </a:t>
            </a:r>
            <a:r>
              <a:rPr lang="ru-RU" dirty="0" err="1" smtClean="0">
                <a:latin typeface="Cascadia Mono Light" pitchFamily="49" charset="0"/>
                <a:cs typeface="Cascadia Mono Light" pitchFamily="49" charset="0"/>
              </a:rPr>
              <a:t>California</a:t>
            </a:r>
            <a:r>
              <a:rPr lang="ru-RU" dirty="0" smtClean="0">
                <a:latin typeface="Cascadia Mono Light" pitchFamily="49" charset="0"/>
                <a:cs typeface="Cascadia Mono Light" pitchFamily="49" charset="0"/>
              </a:rPr>
              <a:t> </a:t>
            </a:r>
            <a:r>
              <a:rPr lang="ru-RU" dirty="0" err="1" smtClean="0">
                <a:latin typeface="Cascadia Mono Light" pitchFamily="49" charset="0"/>
                <a:cs typeface="Cascadia Mono Light" pitchFamily="49" charset="0"/>
              </a:rPr>
              <a:t>Housing</a:t>
            </a:r>
            <a:r>
              <a:rPr lang="ru-RU" dirty="0" smtClean="0">
                <a:latin typeface="Cascadia Mono Light" pitchFamily="49" charset="0"/>
                <a:cs typeface="Cascadia Mono Light" pitchFamily="49" charset="0"/>
              </a:rPr>
              <a:t>. Это реальные данные о районах Калифорнии: 16 640 районов, у каждого — 8 признаков и один «правильный ответ» — медианная цена дома</a:t>
            </a:r>
            <a:r>
              <a:rPr lang="ru-RU" dirty="0" smtClean="0">
                <a:latin typeface="Cascadia Mono Light" pitchFamily="49" charset="0"/>
                <a:cs typeface="Cascadia Mono Light" pitchFamily="49" charset="0"/>
              </a:rPr>
              <a:t>.</a:t>
            </a:r>
          </a:p>
          <a:p>
            <a:endParaRPr lang="ru-RU" dirty="0" smtClean="0">
              <a:latin typeface="Cascadia Mono Light" pitchFamily="49" charset="0"/>
              <a:cs typeface="Cascadia Mono Light" pitchFamily="49" charset="0"/>
            </a:endParaRPr>
          </a:p>
          <a:p>
            <a:r>
              <a:rPr lang="ru-RU" dirty="0" smtClean="0">
                <a:latin typeface="Cascadia Mono Light" pitchFamily="49" charset="0"/>
                <a:cs typeface="Cascadia Mono Light" pitchFamily="49" charset="0"/>
              </a:rPr>
              <a:t>Задача этого блока – получить данные и убедиться, что все загрузилось правильно. </a:t>
            </a:r>
          </a:p>
          <a:p>
            <a:endParaRPr lang="ru-RU" dirty="0" smtClean="0">
              <a:latin typeface="Cascadia Mono Light" pitchFamily="49" charset="0"/>
              <a:cs typeface="Cascadia Mono Light" pitchFamily="49" charset="0"/>
            </a:endParaRPr>
          </a:p>
          <a:p>
            <a:r>
              <a:rPr lang="ru-RU" dirty="0" smtClean="0">
                <a:latin typeface="Cascadia Mono Light" pitchFamily="49" charset="0"/>
                <a:cs typeface="Cascadia Mono Light" pitchFamily="49" charset="0"/>
              </a:rPr>
              <a:t>Разберем приведенный код</a:t>
            </a:r>
            <a:r>
              <a:rPr lang="ru-RU" dirty="0" smtClean="0">
                <a:latin typeface="Cascadia Mono Light" pitchFamily="49" charset="0"/>
                <a:cs typeface="Cascadia Mono Light" pitchFamily="49" charset="0"/>
              </a:rPr>
              <a:t/>
            </a:r>
            <a:br>
              <a:rPr lang="ru-RU" dirty="0" smtClean="0">
                <a:latin typeface="Cascadia Mono Light" pitchFamily="49" charset="0"/>
                <a:cs typeface="Cascadia Mono Light" pitchFamily="49" charset="0"/>
              </a:rPr>
            </a:br>
            <a:endParaRPr lang="ru-RU" dirty="0">
              <a:latin typeface="Cascadia Mono Light" pitchFamily="49" charset="0"/>
              <a:cs typeface="Cascadia Mono Light" pitchFamily="49" charset="0"/>
            </a:endParaRPr>
          </a:p>
        </p:txBody>
      </p:sp>
      <p:pic>
        <p:nvPicPr>
          <p:cNvPr id="17409" name="Picture 1"/>
          <p:cNvPicPr>
            <a:picLocks noChangeAspect="1" noChangeArrowheads="1"/>
          </p:cNvPicPr>
          <p:nvPr/>
        </p:nvPicPr>
        <p:blipFill>
          <a:blip r:embed="rId2" cstate="print"/>
          <a:srcRect/>
          <a:stretch>
            <a:fillRect/>
          </a:stretch>
        </p:blipFill>
        <p:spPr bwMode="auto">
          <a:xfrm>
            <a:off x="914400" y="1447801"/>
            <a:ext cx="7207250" cy="299978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81000" y="2590800"/>
            <a:ext cx="8305800" cy="4419600"/>
          </a:xfrm>
        </p:spPr>
        <p:txBody>
          <a:bodyPr>
            <a:normAutofit fontScale="55000" lnSpcReduction="20000"/>
          </a:bodyPr>
          <a:lstStyle/>
          <a:p>
            <a:r>
              <a:rPr lang="en-US" dirty="0" smtClean="0">
                <a:latin typeface="Cascadia Mono Light" pitchFamily="49" charset="0"/>
                <a:cs typeface="Cascadia Mono Light" pitchFamily="49" charset="0"/>
              </a:rPr>
              <a:t>from datasets import </a:t>
            </a:r>
            <a:r>
              <a:rPr lang="en-US" dirty="0" err="1" smtClean="0">
                <a:latin typeface="Cascadia Mono Light" pitchFamily="49" charset="0"/>
                <a:cs typeface="Cascadia Mono Light" pitchFamily="49" charset="0"/>
              </a:rPr>
              <a:t>load_dataset</a:t>
            </a:r>
            <a:r>
              <a:rPr lang="ru-RU" dirty="0" smtClean="0">
                <a:latin typeface="Cascadia Mono Light" pitchFamily="49" charset="0"/>
                <a:cs typeface="Cascadia Mono Light" pitchFamily="49" charset="0"/>
              </a:rPr>
              <a:t> - говорим </a:t>
            </a:r>
            <a:r>
              <a:rPr lang="en-US" dirty="0" smtClean="0">
                <a:latin typeface="Cascadia Mono Light" pitchFamily="49" charset="0"/>
                <a:cs typeface="Cascadia Mono Light" pitchFamily="49" charset="0"/>
              </a:rPr>
              <a:t>Python, </a:t>
            </a:r>
            <a:r>
              <a:rPr lang="ru-RU" dirty="0" smtClean="0">
                <a:latin typeface="Cascadia Mono Light" pitchFamily="49" charset="0"/>
                <a:cs typeface="Cascadia Mono Light" pitchFamily="49" charset="0"/>
              </a:rPr>
              <a:t>что собираемся пользоваться библиотекой </a:t>
            </a:r>
            <a:r>
              <a:rPr lang="en-US" dirty="0" smtClean="0">
                <a:latin typeface="Cascadia Mono Light" pitchFamily="49" charset="0"/>
                <a:cs typeface="Cascadia Mono Light" pitchFamily="49" charset="0"/>
              </a:rPr>
              <a:t>datasets (</a:t>
            </a:r>
            <a:r>
              <a:rPr lang="ru-RU" dirty="0" smtClean="0">
                <a:latin typeface="Cascadia Mono Light" pitchFamily="49" charset="0"/>
                <a:cs typeface="Cascadia Mono Light" pitchFamily="49" charset="0"/>
              </a:rPr>
              <a:t>от </a:t>
            </a:r>
            <a:r>
              <a:rPr lang="en-US" dirty="0" smtClean="0">
                <a:latin typeface="Cascadia Mono Light" pitchFamily="49" charset="0"/>
                <a:cs typeface="Cascadia Mono Light" pitchFamily="49" charset="0"/>
              </a:rPr>
              <a:t>Hugging Face) — </a:t>
            </a:r>
            <a:r>
              <a:rPr lang="ru-RU" dirty="0" smtClean="0">
                <a:latin typeface="Cascadia Mono Light" pitchFamily="49" charset="0"/>
                <a:cs typeface="Cascadia Mono Light" pitchFamily="49" charset="0"/>
              </a:rPr>
              <a:t>там хранятся тысячи готовых </a:t>
            </a:r>
            <a:r>
              <a:rPr lang="ru-RU" dirty="0" err="1" smtClean="0">
                <a:latin typeface="Cascadia Mono Light" pitchFamily="49" charset="0"/>
                <a:cs typeface="Cascadia Mono Light" pitchFamily="49" charset="0"/>
              </a:rPr>
              <a:t>датасетов</a:t>
            </a:r>
            <a:r>
              <a:rPr lang="ru-RU" dirty="0" smtClean="0">
                <a:latin typeface="Cascadia Mono Light" pitchFamily="49" charset="0"/>
                <a:cs typeface="Cascadia Mono Light" pitchFamily="49" charset="0"/>
              </a:rPr>
              <a:t>, включая </a:t>
            </a:r>
            <a:r>
              <a:rPr lang="en-US" dirty="0" smtClean="0">
                <a:latin typeface="Cascadia Mono Light" pitchFamily="49" charset="0"/>
                <a:cs typeface="Cascadia Mono Light" pitchFamily="49" charset="0"/>
              </a:rPr>
              <a:t>California Housing</a:t>
            </a:r>
            <a:r>
              <a:rPr lang="en-US" dirty="0" smtClean="0">
                <a:latin typeface="Cascadia Mono Light" pitchFamily="49" charset="0"/>
                <a:cs typeface="Cascadia Mono Light" pitchFamily="49" charset="0"/>
              </a:rPr>
              <a:t>. </a:t>
            </a:r>
            <a:r>
              <a:rPr lang="ru-RU" dirty="0" smtClean="0">
                <a:latin typeface="Cascadia Mono Light" pitchFamily="49" charset="0"/>
                <a:cs typeface="Cascadia Mono Light" pitchFamily="49" charset="0"/>
              </a:rPr>
              <a:t>Причем берём </a:t>
            </a:r>
            <a:r>
              <a:rPr lang="ru-RU" dirty="0" smtClean="0">
                <a:latin typeface="Cascadia Mono Light" pitchFamily="49" charset="0"/>
                <a:cs typeface="Cascadia Mono Light" pitchFamily="49" charset="0"/>
              </a:rPr>
              <a:t>одну конкретную функцию </a:t>
            </a:r>
            <a:r>
              <a:rPr lang="en-US" dirty="0" err="1" smtClean="0">
                <a:latin typeface="Cascadia Mono Light" pitchFamily="49" charset="0"/>
                <a:cs typeface="Cascadia Mono Light" pitchFamily="49" charset="0"/>
              </a:rPr>
              <a:t>load_dataset</a:t>
            </a:r>
            <a:r>
              <a:rPr lang="en-US" dirty="0" smtClean="0">
                <a:latin typeface="Cascadia Mono Light" pitchFamily="49" charset="0"/>
                <a:cs typeface="Cascadia Mono Light" pitchFamily="49" charset="0"/>
              </a:rPr>
              <a:t> </a:t>
            </a:r>
            <a:r>
              <a:rPr lang="ru-RU" dirty="0" smtClean="0">
                <a:latin typeface="Cascadia Mono Light" pitchFamily="49" charset="0"/>
                <a:cs typeface="Cascadia Mono Light" pitchFamily="49" charset="0"/>
              </a:rPr>
              <a:t>из библиотеки </a:t>
            </a:r>
            <a:r>
              <a:rPr lang="en-US" dirty="0" smtClean="0">
                <a:latin typeface="Cascadia Mono Light" pitchFamily="49" charset="0"/>
                <a:cs typeface="Cascadia Mono Light" pitchFamily="49" charset="0"/>
              </a:rPr>
              <a:t>datasets.</a:t>
            </a:r>
          </a:p>
          <a:p>
            <a:r>
              <a:rPr lang="ru-RU" dirty="0" smtClean="0">
                <a:latin typeface="Cascadia Mono Light" pitchFamily="49" charset="0"/>
                <a:cs typeface="Cascadia Mono Light" pitchFamily="49" charset="0"/>
              </a:rPr>
              <a:t>Можно было бы написать </a:t>
            </a:r>
            <a:r>
              <a:rPr lang="en-US" dirty="0" smtClean="0">
                <a:latin typeface="Cascadia Mono Light" pitchFamily="49" charset="0"/>
                <a:cs typeface="Cascadia Mono Light" pitchFamily="49" charset="0"/>
              </a:rPr>
              <a:t>import datasets </a:t>
            </a:r>
            <a:r>
              <a:rPr lang="ru-RU" dirty="0" smtClean="0">
                <a:latin typeface="Cascadia Mono Light" pitchFamily="49" charset="0"/>
                <a:cs typeface="Cascadia Mono Light" pitchFamily="49" charset="0"/>
              </a:rPr>
              <a:t>и потом </a:t>
            </a:r>
            <a:r>
              <a:rPr lang="en-US" dirty="0" err="1" smtClean="0">
                <a:latin typeface="Cascadia Mono Light" pitchFamily="49" charset="0"/>
                <a:cs typeface="Cascadia Mono Light" pitchFamily="49" charset="0"/>
              </a:rPr>
              <a:t>datasets.load_dataset</a:t>
            </a:r>
            <a:r>
              <a:rPr lang="en-US" dirty="0" smtClean="0">
                <a:latin typeface="Cascadia Mono Light" pitchFamily="49" charset="0"/>
                <a:cs typeface="Cascadia Mono Light" pitchFamily="49" charset="0"/>
              </a:rPr>
              <a:t>(...), </a:t>
            </a:r>
            <a:r>
              <a:rPr lang="ru-RU" dirty="0" smtClean="0">
                <a:latin typeface="Cascadia Mono Light" pitchFamily="49" charset="0"/>
                <a:cs typeface="Cascadia Mono Light" pitchFamily="49" charset="0"/>
              </a:rPr>
              <a:t>но так короче: сразу обращаемся к </a:t>
            </a:r>
            <a:r>
              <a:rPr lang="en-US" dirty="0" err="1" smtClean="0">
                <a:latin typeface="Cascadia Mono Light" pitchFamily="49" charset="0"/>
                <a:cs typeface="Cascadia Mono Light" pitchFamily="49" charset="0"/>
              </a:rPr>
              <a:t>load_dataset</a:t>
            </a:r>
            <a:r>
              <a:rPr lang="en-US" dirty="0" smtClean="0">
                <a:latin typeface="Cascadia Mono Light" pitchFamily="49" charset="0"/>
                <a:cs typeface="Cascadia Mono Light" pitchFamily="49" charset="0"/>
              </a:rPr>
              <a:t>.</a:t>
            </a:r>
            <a:r>
              <a:rPr lang="ru-RU" dirty="0" smtClean="0">
                <a:latin typeface="Cascadia Mono Light" pitchFamily="49" charset="0"/>
                <a:cs typeface="Cascadia Mono Light" pitchFamily="49" charset="0"/>
              </a:rPr>
              <a:t>Это как не </a:t>
            </a:r>
            <a:r>
              <a:rPr lang="ru-RU" dirty="0" smtClean="0">
                <a:latin typeface="Cascadia Mono Light" pitchFamily="49" charset="0"/>
                <a:cs typeface="Cascadia Mono Light" pitchFamily="49" charset="0"/>
              </a:rPr>
              <a:t>тащить весь ящик с инструментами, а достать из него один нужный молоток</a:t>
            </a:r>
            <a:r>
              <a:rPr lang="ru-RU" dirty="0" smtClean="0">
                <a:latin typeface="Cascadia Mono Light" pitchFamily="49" charset="0"/>
                <a:cs typeface="Cascadia Mono Light" pitchFamily="49" charset="0"/>
              </a:rPr>
              <a:t>.</a:t>
            </a:r>
          </a:p>
          <a:p>
            <a:r>
              <a:rPr lang="ru-RU" dirty="0" smtClean="0">
                <a:latin typeface="Cascadia Mono Light" pitchFamily="49" charset="0"/>
                <a:cs typeface="Cascadia Mono Light" pitchFamily="49" charset="0"/>
              </a:rPr>
              <a:t>Скаченный </a:t>
            </a:r>
            <a:r>
              <a:rPr lang="ru-RU" dirty="0" err="1" smtClean="0">
                <a:latin typeface="Cascadia Mono Light" pitchFamily="49" charset="0"/>
                <a:cs typeface="Cascadia Mono Light" pitchFamily="49" charset="0"/>
              </a:rPr>
              <a:t>датачет</a:t>
            </a:r>
            <a:r>
              <a:rPr lang="ru-RU" dirty="0" smtClean="0">
                <a:latin typeface="Cascadia Mono Light" pitchFamily="49" charset="0"/>
                <a:cs typeface="Cascadia Mono Light" pitchFamily="49" charset="0"/>
              </a:rPr>
              <a:t> кладем в переменную </a:t>
            </a:r>
            <a:r>
              <a:rPr lang="en-US" dirty="0" smtClean="0">
                <a:latin typeface="Cascadia Mono Light" pitchFamily="49" charset="0"/>
                <a:cs typeface="Cascadia Mono Light" pitchFamily="49" charset="0"/>
              </a:rPr>
              <a:t>dataset</a:t>
            </a:r>
          </a:p>
          <a:p>
            <a:r>
              <a:rPr lang="ru-RU" dirty="0" err="1" smtClean="0">
                <a:latin typeface="Cascadia Mono Light" pitchFamily="49" charset="0"/>
                <a:cs typeface="Cascadia Mono Light" pitchFamily="49" charset="0"/>
              </a:rPr>
              <a:t>load_dataset</a:t>
            </a:r>
            <a:r>
              <a:rPr lang="ru-RU" dirty="0" smtClean="0">
                <a:latin typeface="Cascadia Mono Light" pitchFamily="49" charset="0"/>
                <a:cs typeface="Cascadia Mono Light" pitchFamily="49" charset="0"/>
              </a:rPr>
              <a:t>(...) — функция, которая идёт в интернет, находит </a:t>
            </a:r>
            <a:r>
              <a:rPr lang="ru-RU" dirty="0" err="1" smtClean="0">
                <a:latin typeface="Cascadia Mono Light" pitchFamily="49" charset="0"/>
                <a:cs typeface="Cascadia Mono Light" pitchFamily="49" charset="0"/>
              </a:rPr>
              <a:t>датасет</a:t>
            </a:r>
            <a:r>
              <a:rPr lang="ru-RU" dirty="0" smtClean="0">
                <a:latin typeface="Cascadia Mono Light" pitchFamily="49" charset="0"/>
                <a:cs typeface="Cascadia Mono Light" pitchFamily="49" charset="0"/>
              </a:rPr>
              <a:t> по имени и скачивает его.</a:t>
            </a:r>
          </a:p>
          <a:p>
            <a:r>
              <a:rPr lang="ru-RU" dirty="0" smtClean="0">
                <a:latin typeface="Cascadia Mono Light" pitchFamily="49" charset="0"/>
                <a:cs typeface="Cascadia Mono Light" pitchFamily="49" charset="0"/>
              </a:rPr>
              <a:t>"</a:t>
            </a:r>
            <a:r>
              <a:rPr lang="ru-RU" dirty="0" err="1" smtClean="0">
                <a:latin typeface="Cascadia Mono Light" pitchFamily="49" charset="0"/>
                <a:cs typeface="Cascadia Mono Light" pitchFamily="49" charset="0"/>
              </a:rPr>
              <a:t>gvlassis</a:t>
            </a:r>
            <a:r>
              <a:rPr lang="ru-RU" dirty="0" smtClean="0">
                <a:latin typeface="Cascadia Mono Light" pitchFamily="49" charset="0"/>
                <a:cs typeface="Cascadia Mono Light" pitchFamily="49" charset="0"/>
              </a:rPr>
              <a:t>/</a:t>
            </a:r>
            <a:r>
              <a:rPr lang="ru-RU" dirty="0" err="1" smtClean="0">
                <a:latin typeface="Cascadia Mono Light" pitchFamily="49" charset="0"/>
                <a:cs typeface="Cascadia Mono Light" pitchFamily="49" charset="0"/>
              </a:rPr>
              <a:t>california_housing</a:t>
            </a:r>
            <a:r>
              <a:rPr lang="ru-RU" dirty="0" smtClean="0">
                <a:latin typeface="Cascadia Mono Light" pitchFamily="49" charset="0"/>
                <a:cs typeface="Cascadia Mono Light" pitchFamily="49" charset="0"/>
              </a:rPr>
              <a:t>" — имя </a:t>
            </a:r>
            <a:r>
              <a:rPr lang="ru-RU" dirty="0" err="1" smtClean="0">
                <a:latin typeface="Cascadia Mono Light" pitchFamily="49" charset="0"/>
                <a:cs typeface="Cascadia Mono Light" pitchFamily="49" charset="0"/>
              </a:rPr>
              <a:t>датасета</a:t>
            </a:r>
            <a:r>
              <a:rPr lang="ru-RU" dirty="0" smtClean="0">
                <a:latin typeface="Cascadia Mono Light" pitchFamily="49" charset="0"/>
                <a:cs typeface="Cascadia Mono Light" pitchFamily="49" charset="0"/>
              </a:rPr>
              <a:t> в формате &lt;автор&gt;/&lt;название&gt;. </a:t>
            </a:r>
            <a:r>
              <a:rPr lang="ru-RU" dirty="0" err="1" smtClean="0">
                <a:latin typeface="Cascadia Mono Light" pitchFamily="49" charset="0"/>
                <a:cs typeface="Cascadia Mono Light" pitchFamily="49" charset="0"/>
              </a:rPr>
              <a:t>gvlassis</a:t>
            </a:r>
            <a:r>
              <a:rPr lang="ru-RU" dirty="0" smtClean="0">
                <a:latin typeface="Cascadia Mono Light" pitchFamily="49" charset="0"/>
                <a:cs typeface="Cascadia Mono Light" pitchFamily="49" charset="0"/>
              </a:rPr>
              <a:t> — пользователь, который выложил </a:t>
            </a:r>
            <a:r>
              <a:rPr lang="ru-RU" dirty="0" err="1" smtClean="0">
                <a:latin typeface="Cascadia Mono Light" pitchFamily="49" charset="0"/>
                <a:cs typeface="Cascadia Mono Light" pitchFamily="49" charset="0"/>
              </a:rPr>
              <a:t>датасет</a:t>
            </a:r>
            <a:r>
              <a:rPr lang="ru-RU" dirty="0" smtClean="0">
                <a:latin typeface="Cascadia Mono Light" pitchFamily="49" charset="0"/>
                <a:cs typeface="Cascadia Mono Light" pitchFamily="49" charset="0"/>
              </a:rPr>
              <a:t>, </a:t>
            </a:r>
            <a:r>
              <a:rPr lang="ru-RU" dirty="0" err="1" smtClean="0">
                <a:latin typeface="Cascadia Mono Light" pitchFamily="49" charset="0"/>
                <a:cs typeface="Cascadia Mono Light" pitchFamily="49" charset="0"/>
              </a:rPr>
              <a:t>california_housing</a:t>
            </a:r>
            <a:r>
              <a:rPr lang="ru-RU" dirty="0" smtClean="0">
                <a:latin typeface="Cascadia Mono Light" pitchFamily="49" charset="0"/>
                <a:cs typeface="Cascadia Mono Light" pitchFamily="49" charset="0"/>
              </a:rPr>
              <a:t> — название.</a:t>
            </a:r>
          </a:p>
          <a:p>
            <a:r>
              <a:rPr lang="ru-RU" dirty="0" smtClean="0">
                <a:latin typeface="Cascadia Mono Light" pitchFamily="49" charset="0"/>
                <a:cs typeface="Cascadia Mono Light" pitchFamily="49" charset="0"/>
              </a:rPr>
              <a:t>Результат: объект типа </a:t>
            </a:r>
            <a:r>
              <a:rPr lang="ru-RU" dirty="0" err="1" smtClean="0">
                <a:latin typeface="Cascadia Mono Light" pitchFamily="49" charset="0"/>
                <a:cs typeface="Cascadia Mono Light" pitchFamily="49" charset="0"/>
              </a:rPr>
              <a:t>DatasetDict</a:t>
            </a:r>
            <a:r>
              <a:rPr lang="ru-RU" dirty="0" smtClean="0">
                <a:latin typeface="Cascadia Mono Light" pitchFamily="49" charset="0"/>
                <a:cs typeface="Cascadia Mono Light" pitchFamily="49" charset="0"/>
              </a:rPr>
              <a:t> — это не таблица, а словарь с несколькими наборами данных. Обычно там есть </a:t>
            </a:r>
            <a:r>
              <a:rPr lang="ru-RU" dirty="0" err="1" smtClean="0">
                <a:latin typeface="Cascadia Mono Light" pitchFamily="49" charset="0"/>
                <a:cs typeface="Cascadia Mono Light" pitchFamily="49" charset="0"/>
              </a:rPr>
              <a:t>train</a:t>
            </a:r>
            <a:r>
              <a:rPr lang="ru-RU" dirty="0" smtClean="0">
                <a:latin typeface="Cascadia Mono Light" pitchFamily="49" charset="0"/>
                <a:cs typeface="Cascadia Mono Light" pitchFamily="49" charset="0"/>
              </a:rPr>
              <a:t>, </a:t>
            </a:r>
            <a:r>
              <a:rPr lang="ru-RU" dirty="0" err="1" smtClean="0">
                <a:latin typeface="Cascadia Mono Light" pitchFamily="49" charset="0"/>
                <a:cs typeface="Cascadia Mono Light" pitchFamily="49" charset="0"/>
              </a:rPr>
              <a:t>test</a:t>
            </a:r>
            <a:r>
              <a:rPr lang="ru-RU" dirty="0" smtClean="0">
                <a:latin typeface="Cascadia Mono Light" pitchFamily="49" charset="0"/>
                <a:cs typeface="Cascadia Mono Light" pitchFamily="49" charset="0"/>
              </a:rPr>
              <a:t>, иногда </a:t>
            </a:r>
            <a:r>
              <a:rPr lang="ru-RU" dirty="0" err="1" smtClean="0">
                <a:latin typeface="Cascadia Mono Light" pitchFamily="49" charset="0"/>
                <a:cs typeface="Cascadia Mono Light" pitchFamily="49" charset="0"/>
              </a:rPr>
              <a:t>validation</a:t>
            </a:r>
            <a:endParaRPr lang="en-US" dirty="0" smtClean="0">
              <a:latin typeface="Cascadia Mono Light" pitchFamily="49" charset="0"/>
              <a:cs typeface="Cascadia Mono Light" pitchFamily="49" charset="0"/>
            </a:endParaRPr>
          </a:p>
          <a:p>
            <a:pPr>
              <a:buNone/>
            </a:pPr>
            <a:endParaRPr lang="ru-RU" dirty="0" smtClean="0">
              <a:latin typeface="Cascadia Mono Light" pitchFamily="49" charset="0"/>
              <a:cs typeface="Cascadia Mono Light" pitchFamily="49" charset="0"/>
            </a:endParaRPr>
          </a:p>
          <a:p>
            <a:endParaRPr lang="ru-RU" dirty="0">
              <a:latin typeface="Cascadia Mono Light" pitchFamily="49" charset="0"/>
              <a:cs typeface="Cascadia Mono Light" pitchFamily="49" charset="0"/>
            </a:endParaRPr>
          </a:p>
        </p:txBody>
      </p:sp>
      <p:pic>
        <p:nvPicPr>
          <p:cNvPr id="17409" name="Picture 1"/>
          <p:cNvPicPr>
            <a:picLocks noChangeAspect="1" noChangeArrowheads="1"/>
          </p:cNvPicPr>
          <p:nvPr/>
        </p:nvPicPr>
        <p:blipFill>
          <a:blip r:embed="rId2" cstate="print"/>
          <a:srcRect t="-2540" b="41576"/>
          <a:stretch>
            <a:fillRect/>
          </a:stretch>
        </p:blipFill>
        <p:spPr bwMode="auto">
          <a:xfrm>
            <a:off x="228600" y="152400"/>
            <a:ext cx="8708760" cy="220980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81000" y="2590800"/>
            <a:ext cx="8305800" cy="4114800"/>
          </a:xfrm>
        </p:spPr>
        <p:txBody>
          <a:bodyPr>
            <a:normAutofit fontScale="70000" lnSpcReduction="20000"/>
          </a:bodyPr>
          <a:lstStyle/>
          <a:p>
            <a:r>
              <a:rPr lang="ru-RU" dirty="0" smtClean="0">
                <a:latin typeface="Cascadia Mono Light" pitchFamily="49" charset="0"/>
                <a:cs typeface="Cascadia Mono Light" pitchFamily="49" charset="0"/>
              </a:rPr>
              <a:t>Последняя строка на </a:t>
            </a:r>
            <a:r>
              <a:rPr lang="ru-RU" dirty="0" err="1" smtClean="0">
                <a:latin typeface="Cascadia Mono Light" pitchFamily="49" charset="0"/>
                <a:cs typeface="Cascadia Mono Light" pitchFamily="49" charset="0"/>
              </a:rPr>
              <a:t>скриншоте</a:t>
            </a:r>
            <a:r>
              <a:rPr lang="ru-RU" dirty="0" smtClean="0">
                <a:latin typeface="Cascadia Mono Light" pitchFamily="49" charset="0"/>
                <a:cs typeface="Cascadia Mono Light" pitchFamily="49" charset="0"/>
              </a:rPr>
              <a:t> – превращение словаря в таблицу. </a:t>
            </a:r>
          </a:p>
          <a:p>
            <a:r>
              <a:rPr lang="ru-RU" dirty="0" err="1" smtClean="0">
                <a:latin typeface="Cascadia Mono Light" pitchFamily="49" charset="0"/>
                <a:cs typeface="Cascadia Mono Light" pitchFamily="49" charset="0"/>
              </a:rPr>
              <a:t>dataset</a:t>
            </a:r>
            <a:r>
              <a:rPr lang="ru-RU" dirty="0" smtClean="0">
                <a:latin typeface="Cascadia Mono Light" pitchFamily="49" charset="0"/>
                <a:cs typeface="Cascadia Mono Light" pitchFamily="49" charset="0"/>
              </a:rPr>
              <a:t>['</a:t>
            </a:r>
            <a:r>
              <a:rPr lang="ru-RU" dirty="0" err="1" smtClean="0">
                <a:latin typeface="Cascadia Mono Light" pitchFamily="49" charset="0"/>
                <a:cs typeface="Cascadia Mono Light" pitchFamily="49" charset="0"/>
              </a:rPr>
              <a:t>train</a:t>
            </a:r>
            <a:r>
              <a:rPr lang="ru-RU" dirty="0" smtClean="0">
                <a:latin typeface="Cascadia Mono Light" pitchFamily="49" charset="0"/>
                <a:cs typeface="Cascadia Mono Light" pitchFamily="49" charset="0"/>
              </a:rPr>
              <a:t>'] — обращаемся к части </a:t>
            </a:r>
            <a:r>
              <a:rPr lang="ru-RU" dirty="0" err="1" smtClean="0">
                <a:latin typeface="Cascadia Mono Light" pitchFamily="49" charset="0"/>
                <a:cs typeface="Cascadia Mono Light" pitchFamily="49" charset="0"/>
              </a:rPr>
              <a:t>train</a:t>
            </a:r>
            <a:r>
              <a:rPr lang="ru-RU" dirty="0" smtClean="0">
                <a:latin typeface="Cascadia Mono Light" pitchFamily="49" charset="0"/>
                <a:cs typeface="Cascadia Mono Light" pitchFamily="49" charset="0"/>
              </a:rPr>
              <a:t> внутри словаря </a:t>
            </a:r>
            <a:r>
              <a:rPr lang="ru-RU" dirty="0" err="1" smtClean="0">
                <a:latin typeface="Cascadia Mono Light" pitchFamily="49" charset="0"/>
                <a:cs typeface="Cascadia Mono Light" pitchFamily="49" charset="0"/>
              </a:rPr>
              <a:t>dataset</a:t>
            </a:r>
            <a:r>
              <a:rPr lang="ru-RU" dirty="0" smtClean="0">
                <a:latin typeface="Cascadia Mono Light" pitchFamily="49" charset="0"/>
                <a:cs typeface="Cascadia Mono Light" pitchFamily="49" charset="0"/>
              </a:rPr>
              <a:t>. Это объект типа </a:t>
            </a:r>
            <a:r>
              <a:rPr lang="ru-RU" dirty="0" err="1" smtClean="0">
                <a:latin typeface="Cascadia Mono Light" pitchFamily="49" charset="0"/>
                <a:cs typeface="Cascadia Mono Light" pitchFamily="49" charset="0"/>
              </a:rPr>
              <a:t>Dataset</a:t>
            </a:r>
            <a:r>
              <a:rPr lang="ru-RU" dirty="0" smtClean="0">
                <a:latin typeface="Cascadia Mono Light" pitchFamily="49" charset="0"/>
                <a:cs typeface="Cascadia Mono Light" pitchFamily="49" charset="0"/>
              </a:rPr>
              <a:t>. </a:t>
            </a:r>
            <a:endParaRPr lang="ru-RU" dirty="0" smtClean="0">
              <a:latin typeface="Cascadia Mono Light" pitchFamily="49" charset="0"/>
              <a:cs typeface="Cascadia Mono Light" pitchFamily="49" charset="0"/>
            </a:endParaRPr>
          </a:p>
          <a:p>
            <a:r>
              <a:rPr lang="ru-RU" dirty="0" smtClean="0">
                <a:latin typeface="Cascadia Mono Light" pitchFamily="49" charset="0"/>
                <a:cs typeface="Cascadia Mono Light" pitchFamily="49" charset="0"/>
              </a:rPr>
              <a:t>.</a:t>
            </a:r>
            <a:r>
              <a:rPr lang="ru-RU" dirty="0" err="1" smtClean="0">
                <a:latin typeface="Cascadia Mono Light" pitchFamily="49" charset="0"/>
                <a:cs typeface="Cascadia Mono Light" pitchFamily="49" charset="0"/>
              </a:rPr>
              <a:t>to_pandas</a:t>
            </a:r>
            <a:r>
              <a:rPr lang="ru-RU" dirty="0" smtClean="0">
                <a:latin typeface="Cascadia Mono Light" pitchFamily="49" charset="0"/>
                <a:cs typeface="Cascadia Mono Light" pitchFamily="49" charset="0"/>
              </a:rPr>
              <a:t>() — метод, который превращает </a:t>
            </a:r>
            <a:r>
              <a:rPr lang="ru-RU" dirty="0" err="1" smtClean="0">
                <a:latin typeface="Cascadia Mono Light" pitchFamily="49" charset="0"/>
                <a:cs typeface="Cascadia Mono Light" pitchFamily="49" charset="0"/>
              </a:rPr>
              <a:t>датасет</a:t>
            </a:r>
            <a:r>
              <a:rPr lang="ru-RU" dirty="0" smtClean="0">
                <a:latin typeface="Cascadia Mono Light" pitchFamily="49" charset="0"/>
                <a:cs typeface="Cascadia Mono Light" pitchFamily="49" charset="0"/>
              </a:rPr>
              <a:t> </a:t>
            </a:r>
            <a:r>
              <a:rPr lang="ru-RU" dirty="0" err="1" smtClean="0">
                <a:latin typeface="Cascadia Mono Light" pitchFamily="49" charset="0"/>
                <a:cs typeface="Cascadia Mono Light" pitchFamily="49" charset="0"/>
              </a:rPr>
              <a:t>Hugging</a:t>
            </a:r>
            <a:r>
              <a:rPr lang="ru-RU" dirty="0" smtClean="0">
                <a:latin typeface="Cascadia Mono Light" pitchFamily="49" charset="0"/>
                <a:cs typeface="Cascadia Mono Light" pitchFamily="49" charset="0"/>
              </a:rPr>
              <a:t> </a:t>
            </a:r>
            <a:r>
              <a:rPr lang="ru-RU" dirty="0" err="1" smtClean="0">
                <a:latin typeface="Cascadia Mono Light" pitchFamily="49" charset="0"/>
                <a:cs typeface="Cascadia Mono Light" pitchFamily="49" charset="0"/>
              </a:rPr>
              <a:t>Face</a:t>
            </a:r>
            <a:r>
              <a:rPr lang="ru-RU" dirty="0" smtClean="0">
                <a:latin typeface="Cascadia Mono Light" pitchFamily="49" charset="0"/>
                <a:cs typeface="Cascadia Mono Light" pitchFamily="49" charset="0"/>
              </a:rPr>
              <a:t> в pandas-таблицу (</a:t>
            </a:r>
            <a:r>
              <a:rPr lang="ru-RU" dirty="0" err="1" smtClean="0">
                <a:latin typeface="Cascadia Mono Light" pitchFamily="49" charset="0"/>
                <a:cs typeface="Cascadia Mono Light" pitchFamily="49" charset="0"/>
              </a:rPr>
              <a:t>DataFrame</a:t>
            </a:r>
            <a:r>
              <a:rPr lang="ru-RU" dirty="0" smtClean="0">
                <a:latin typeface="Cascadia Mono Light" pitchFamily="49" charset="0"/>
                <a:cs typeface="Cascadia Mono Light" pitchFamily="49" charset="0"/>
              </a:rPr>
              <a:t>).</a:t>
            </a:r>
          </a:p>
          <a:p>
            <a:r>
              <a:rPr lang="ru-RU" dirty="0" err="1" smtClean="0">
                <a:latin typeface="Cascadia Mono Light" pitchFamily="49" charset="0"/>
                <a:cs typeface="Cascadia Mono Light" pitchFamily="49" charset="0"/>
              </a:rPr>
              <a:t>df</a:t>
            </a:r>
            <a:r>
              <a:rPr lang="ru-RU" dirty="0" smtClean="0">
                <a:latin typeface="Cascadia Mono Light" pitchFamily="49" charset="0"/>
                <a:cs typeface="Cascadia Mono Light" pitchFamily="49" charset="0"/>
              </a:rPr>
              <a:t> — сокращение от </a:t>
            </a:r>
            <a:r>
              <a:rPr lang="ru-RU" dirty="0" err="1" smtClean="0">
                <a:latin typeface="Cascadia Mono Light" pitchFamily="49" charset="0"/>
                <a:cs typeface="Cascadia Mono Light" pitchFamily="49" charset="0"/>
              </a:rPr>
              <a:t>DataFrame</a:t>
            </a:r>
            <a:r>
              <a:rPr lang="ru-RU" dirty="0" smtClean="0">
                <a:latin typeface="Cascadia Mono Light" pitchFamily="49" charset="0"/>
                <a:cs typeface="Cascadia Mono Light" pitchFamily="49" charset="0"/>
              </a:rPr>
              <a:t>. Это стандартное имя переменной для таблиц.</a:t>
            </a:r>
          </a:p>
          <a:p>
            <a:r>
              <a:rPr lang="ru-RU" dirty="0" err="1" smtClean="0">
                <a:latin typeface="Cascadia Mono Light" pitchFamily="49" charset="0"/>
                <a:cs typeface="Cascadia Mono Light" pitchFamily="49" charset="0"/>
              </a:rPr>
              <a:t>DataFrame</a:t>
            </a:r>
            <a:r>
              <a:rPr lang="ru-RU" dirty="0" smtClean="0">
                <a:latin typeface="Cascadia Mono Light" pitchFamily="49" charset="0"/>
                <a:cs typeface="Cascadia Mono Light" pitchFamily="49" charset="0"/>
              </a:rPr>
              <a:t> - это </a:t>
            </a:r>
            <a:r>
              <a:rPr lang="ru-RU" dirty="0" smtClean="0">
                <a:latin typeface="Cascadia Mono Light" pitchFamily="49" charset="0"/>
                <a:cs typeface="Cascadia Mono Light" pitchFamily="49" charset="0"/>
              </a:rPr>
              <a:t>таблица с именованными столбцами и индексами строк. Как </a:t>
            </a:r>
            <a:r>
              <a:rPr lang="ru-RU" dirty="0" err="1" smtClean="0">
                <a:latin typeface="Cascadia Mono Light" pitchFamily="49" charset="0"/>
                <a:cs typeface="Cascadia Mono Light" pitchFamily="49" charset="0"/>
              </a:rPr>
              <a:t>Excel</a:t>
            </a:r>
            <a:r>
              <a:rPr lang="ru-RU" dirty="0" smtClean="0">
                <a:latin typeface="Cascadia Mono Light" pitchFamily="49" charset="0"/>
                <a:cs typeface="Cascadia Mono Light" pitchFamily="49" charset="0"/>
              </a:rPr>
              <a:t>, только в </a:t>
            </a:r>
            <a:r>
              <a:rPr lang="ru-RU" dirty="0" err="1" smtClean="0">
                <a:latin typeface="Cascadia Mono Light" pitchFamily="49" charset="0"/>
                <a:cs typeface="Cascadia Mono Light" pitchFamily="49" charset="0"/>
              </a:rPr>
              <a:t>Python</a:t>
            </a:r>
            <a:r>
              <a:rPr lang="ru-RU" dirty="0" smtClean="0">
                <a:latin typeface="Cascadia Mono Light" pitchFamily="49" charset="0"/>
                <a:cs typeface="Cascadia Mono Light" pitchFamily="49" charset="0"/>
              </a:rPr>
              <a:t>. Именно с ней удобно работать: смотреть, фильтровать, преобразовывать</a:t>
            </a:r>
          </a:p>
          <a:p>
            <a:endParaRPr lang="en-US" dirty="0" smtClean="0">
              <a:latin typeface="Cascadia Mono Light" pitchFamily="49" charset="0"/>
              <a:cs typeface="Cascadia Mono Light" pitchFamily="49" charset="0"/>
            </a:endParaRPr>
          </a:p>
          <a:p>
            <a:pPr>
              <a:buNone/>
            </a:pPr>
            <a:endParaRPr lang="ru-RU" dirty="0" smtClean="0">
              <a:latin typeface="Cascadia Mono Light" pitchFamily="49" charset="0"/>
              <a:cs typeface="Cascadia Mono Light" pitchFamily="49" charset="0"/>
            </a:endParaRPr>
          </a:p>
          <a:p>
            <a:endParaRPr lang="ru-RU" dirty="0">
              <a:latin typeface="Cascadia Mono Light" pitchFamily="49" charset="0"/>
              <a:cs typeface="Cascadia Mono Light" pitchFamily="49" charset="0"/>
            </a:endParaRPr>
          </a:p>
        </p:txBody>
      </p:sp>
      <p:pic>
        <p:nvPicPr>
          <p:cNvPr id="17409" name="Picture 1"/>
          <p:cNvPicPr>
            <a:picLocks noChangeAspect="1" noChangeArrowheads="1"/>
          </p:cNvPicPr>
          <p:nvPr/>
        </p:nvPicPr>
        <p:blipFill>
          <a:blip r:embed="rId2" cstate="print"/>
          <a:srcRect t="-2540" b="41576"/>
          <a:stretch>
            <a:fillRect/>
          </a:stretch>
        </p:blipFill>
        <p:spPr bwMode="auto">
          <a:xfrm>
            <a:off x="228600" y="152400"/>
            <a:ext cx="8708760" cy="2209800"/>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04800" y="1905000"/>
            <a:ext cx="8382000" cy="4221163"/>
          </a:xfrm>
        </p:spPr>
        <p:txBody>
          <a:bodyPr>
            <a:noAutofit/>
          </a:bodyPr>
          <a:lstStyle/>
          <a:p>
            <a:r>
              <a:rPr lang="ru-RU" sz="1800" dirty="0" smtClean="0">
                <a:latin typeface="Cascadia Mono Light" pitchFamily="49" charset="0"/>
                <a:cs typeface="Cascadia Mono Light" pitchFamily="49" charset="0"/>
              </a:rPr>
              <a:t>Далее в этой же ячейке просим вывести форму </a:t>
            </a:r>
            <a:r>
              <a:rPr lang="ru-RU" sz="1800" dirty="0" err="1" smtClean="0">
                <a:latin typeface="Cascadia Mono Light" pitchFamily="49" charset="0"/>
                <a:cs typeface="Cascadia Mono Light" pitchFamily="49" charset="0"/>
              </a:rPr>
              <a:t>датасета</a:t>
            </a:r>
            <a:r>
              <a:rPr lang="ru-RU" sz="1800" dirty="0" smtClean="0">
                <a:latin typeface="Cascadia Mono Light" pitchFamily="49" charset="0"/>
                <a:cs typeface="Cascadia Mono Light" pitchFamily="49" charset="0"/>
              </a:rPr>
              <a:t> </a:t>
            </a:r>
            <a:r>
              <a:rPr lang="en-US" sz="1800" dirty="0" smtClean="0">
                <a:latin typeface="Cascadia Mono Light" pitchFamily="49" charset="0"/>
                <a:cs typeface="Cascadia Mono Light" pitchFamily="49" charset="0"/>
              </a:rPr>
              <a:t>print("</a:t>
            </a:r>
            <a:r>
              <a:rPr lang="ru-RU" sz="1800" dirty="0" smtClean="0">
                <a:latin typeface="Cascadia Mono Light" pitchFamily="49" charset="0"/>
                <a:cs typeface="Cascadia Mono Light" pitchFamily="49" charset="0"/>
              </a:rPr>
              <a:t>Форма </a:t>
            </a:r>
            <a:r>
              <a:rPr lang="ru-RU" sz="1800" dirty="0" err="1" smtClean="0">
                <a:latin typeface="Cascadia Mono Light" pitchFamily="49" charset="0"/>
                <a:cs typeface="Cascadia Mono Light" pitchFamily="49" charset="0"/>
              </a:rPr>
              <a:t>датасета</a:t>
            </a:r>
            <a:r>
              <a:rPr lang="ru-RU" sz="1800" dirty="0" smtClean="0">
                <a:latin typeface="Cascadia Mono Light" pitchFamily="49" charset="0"/>
                <a:cs typeface="Cascadia Mono Light" pitchFamily="49" charset="0"/>
              </a:rPr>
              <a:t>:", </a:t>
            </a:r>
            <a:r>
              <a:rPr lang="en-US" sz="1800" dirty="0" err="1" smtClean="0">
                <a:latin typeface="Cascadia Mono Light" pitchFamily="49" charset="0"/>
                <a:cs typeface="Cascadia Mono Light" pitchFamily="49" charset="0"/>
              </a:rPr>
              <a:t>df.shape</a:t>
            </a:r>
            <a:r>
              <a:rPr lang="en-US" sz="1800" dirty="0" smtClean="0">
                <a:latin typeface="Cascadia Mono Light" pitchFamily="49" charset="0"/>
                <a:cs typeface="Cascadia Mono Light" pitchFamily="49" charset="0"/>
              </a:rPr>
              <a:t>)</a:t>
            </a:r>
            <a:r>
              <a:rPr lang="ru-RU" sz="1800" dirty="0" smtClean="0">
                <a:latin typeface="Cascadia Mono Light" pitchFamily="49" charset="0"/>
                <a:cs typeface="Cascadia Mono Light" pitchFamily="49" charset="0"/>
              </a:rPr>
              <a:t>. Проверяем </a:t>
            </a:r>
            <a:r>
              <a:rPr lang="ru-RU" sz="1800" dirty="0" smtClean="0">
                <a:latin typeface="Cascadia Mono Light" pitchFamily="49" charset="0"/>
                <a:cs typeface="Cascadia Mono Light" pitchFamily="49" charset="0"/>
              </a:rPr>
              <a:t>— сколько объектов и сколько признаков в </a:t>
            </a:r>
            <a:r>
              <a:rPr lang="ru-RU" sz="1800" dirty="0" err="1" smtClean="0">
                <a:latin typeface="Cascadia Mono Light" pitchFamily="49" charset="0"/>
                <a:cs typeface="Cascadia Mono Light" pitchFamily="49" charset="0"/>
              </a:rPr>
              <a:t>датасете</a:t>
            </a:r>
            <a:r>
              <a:rPr lang="ru-RU" sz="1800" dirty="0" smtClean="0">
                <a:latin typeface="Cascadia Mono Light" pitchFamily="49" charset="0"/>
                <a:cs typeface="Cascadia Mono Light" pitchFamily="49" charset="0"/>
              </a:rPr>
              <a:t>. </a:t>
            </a:r>
            <a:r>
              <a:rPr lang="ru-RU" sz="1800" dirty="0" smtClean="0">
                <a:latin typeface="Cascadia Mono Light" pitchFamily="49" charset="0"/>
                <a:cs typeface="Cascadia Mono Light" pitchFamily="49" charset="0"/>
              </a:rPr>
              <a:t>Наша форма (16640, 9) говорит о том, что в </a:t>
            </a:r>
            <a:r>
              <a:rPr lang="ru-RU" sz="1800" dirty="0" err="1" smtClean="0">
                <a:latin typeface="Cascadia Mono Light" pitchFamily="49" charset="0"/>
                <a:cs typeface="Cascadia Mono Light" pitchFamily="49" charset="0"/>
              </a:rPr>
              <a:t>датасете</a:t>
            </a:r>
            <a:r>
              <a:rPr lang="ru-RU" sz="1800" dirty="0" smtClean="0">
                <a:latin typeface="Cascadia Mono Light" pitchFamily="49" charset="0"/>
                <a:cs typeface="Cascadia Mono Light" pitchFamily="49" charset="0"/>
              </a:rPr>
              <a:t> 16640 объектов, т.е. районов. И у каждого 9 столбцов (8 признаков и 1 целевая переменная – медианная цена в районе)</a:t>
            </a:r>
          </a:p>
          <a:p>
            <a:r>
              <a:rPr lang="ru-RU" sz="1800" dirty="0" smtClean="0">
                <a:latin typeface="Cascadia Mono Light" pitchFamily="49" charset="0"/>
                <a:cs typeface="Cascadia Mono Light" pitchFamily="49" charset="0"/>
              </a:rPr>
              <a:t>Посмотрим на названия колонок </a:t>
            </a:r>
            <a:r>
              <a:rPr lang="en-US" sz="1800" dirty="0" smtClean="0">
                <a:latin typeface="Cascadia Mono Light" pitchFamily="49" charset="0"/>
                <a:cs typeface="Cascadia Mono Light" pitchFamily="49" charset="0"/>
              </a:rPr>
              <a:t>list(</a:t>
            </a:r>
            <a:r>
              <a:rPr lang="en-US" sz="1800" dirty="0" err="1" smtClean="0">
                <a:latin typeface="Cascadia Mono Light" pitchFamily="49" charset="0"/>
                <a:cs typeface="Cascadia Mono Light" pitchFamily="49" charset="0"/>
              </a:rPr>
              <a:t>df.columns</a:t>
            </a:r>
            <a:r>
              <a:rPr lang="en-US" sz="1800" dirty="0" smtClean="0">
                <a:latin typeface="Cascadia Mono Light" pitchFamily="49" charset="0"/>
                <a:cs typeface="Cascadia Mono Light" pitchFamily="49" charset="0"/>
              </a:rPr>
              <a:t>)</a:t>
            </a:r>
            <a:r>
              <a:rPr lang="ru-RU" sz="1800" dirty="0" smtClean="0">
                <a:latin typeface="Cascadia Mono Light" pitchFamily="49" charset="0"/>
                <a:cs typeface="Cascadia Mono Light" pitchFamily="49" charset="0"/>
              </a:rPr>
              <a:t>. </a:t>
            </a:r>
            <a:r>
              <a:rPr lang="ru-RU" sz="1800" dirty="0" err="1" smtClean="0">
                <a:latin typeface="Cascadia Mono Light" pitchFamily="49" charset="0"/>
                <a:cs typeface="Cascadia Mono Light" pitchFamily="49" charset="0"/>
              </a:rPr>
              <a:t>df.columns</a:t>
            </a:r>
            <a:r>
              <a:rPr lang="ru-RU" sz="1800" dirty="0" smtClean="0">
                <a:latin typeface="Cascadia Mono Light" pitchFamily="49" charset="0"/>
                <a:cs typeface="Cascadia Mono Light" pitchFamily="49" charset="0"/>
              </a:rPr>
              <a:t> — атрибут таблицы. Возвращает специальный объект </a:t>
            </a:r>
            <a:r>
              <a:rPr lang="ru-RU" sz="1800" dirty="0" err="1" smtClean="0">
                <a:latin typeface="Cascadia Mono Light" pitchFamily="49" charset="0"/>
                <a:cs typeface="Cascadia Mono Light" pitchFamily="49" charset="0"/>
              </a:rPr>
              <a:t>Index</a:t>
            </a:r>
            <a:r>
              <a:rPr lang="ru-RU" sz="1800" dirty="0" smtClean="0">
                <a:latin typeface="Cascadia Mono Light" pitchFamily="49" charset="0"/>
                <a:cs typeface="Cascadia Mono Light" pitchFamily="49" charset="0"/>
              </a:rPr>
              <a:t> с именами столбцов.</a:t>
            </a:r>
          </a:p>
          <a:p>
            <a:r>
              <a:rPr lang="ru-RU" sz="1800" dirty="0" err="1" smtClean="0">
                <a:latin typeface="Cascadia Mono Light" pitchFamily="49" charset="0"/>
                <a:cs typeface="Cascadia Mono Light" pitchFamily="49" charset="0"/>
              </a:rPr>
              <a:t>list</a:t>
            </a:r>
            <a:r>
              <a:rPr lang="ru-RU" sz="1800" dirty="0" smtClean="0">
                <a:latin typeface="Cascadia Mono Light" pitchFamily="49" charset="0"/>
                <a:cs typeface="Cascadia Mono Light" pitchFamily="49" charset="0"/>
              </a:rPr>
              <a:t>(...) — превращает </a:t>
            </a:r>
            <a:r>
              <a:rPr lang="ru-RU" sz="1800" dirty="0" err="1" smtClean="0">
                <a:latin typeface="Cascadia Mono Light" pitchFamily="49" charset="0"/>
                <a:cs typeface="Cascadia Mono Light" pitchFamily="49" charset="0"/>
              </a:rPr>
              <a:t>Index</a:t>
            </a:r>
            <a:r>
              <a:rPr lang="ru-RU" sz="1800" dirty="0" smtClean="0">
                <a:latin typeface="Cascadia Mono Light" pitchFamily="49" charset="0"/>
                <a:cs typeface="Cascadia Mono Light" pitchFamily="49" charset="0"/>
              </a:rPr>
              <a:t> в обычный список </a:t>
            </a:r>
            <a:r>
              <a:rPr lang="ru-RU" sz="1800" dirty="0" err="1" smtClean="0">
                <a:latin typeface="Cascadia Mono Light" pitchFamily="49" charset="0"/>
                <a:cs typeface="Cascadia Mono Light" pitchFamily="49" charset="0"/>
              </a:rPr>
              <a:t>Python</a:t>
            </a:r>
            <a:r>
              <a:rPr lang="ru-RU" sz="1800" dirty="0" smtClean="0">
                <a:latin typeface="Cascadia Mono Light" pitchFamily="49" charset="0"/>
                <a:cs typeface="Cascadia Mono Light" pitchFamily="49" charset="0"/>
              </a:rPr>
              <a:t>.</a:t>
            </a:r>
          </a:p>
          <a:p>
            <a:endParaRPr lang="ru-RU" sz="1800" dirty="0" smtClean="0">
              <a:latin typeface="Cascadia Mono Light" pitchFamily="49" charset="0"/>
              <a:cs typeface="Cascadia Mono Light" pitchFamily="49" charset="0"/>
            </a:endParaRPr>
          </a:p>
          <a:p>
            <a:r>
              <a:rPr lang="ru-RU" sz="1800" dirty="0" smtClean="0">
                <a:latin typeface="Cascadia Mono Light" pitchFamily="49" charset="0"/>
                <a:cs typeface="Cascadia Mono Light" pitchFamily="49" charset="0"/>
              </a:rPr>
              <a:t>9 колонок:</a:t>
            </a:r>
          </a:p>
          <a:p>
            <a:r>
              <a:rPr lang="ru-RU" sz="1800" dirty="0" smtClean="0">
                <a:latin typeface="Cascadia Mono Light" pitchFamily="49" charset="0"/>
                <a:cs typeface="Cascadia Mono Light" pitchFamily="49" charset="0"/>
              </a:rPr>
              <a:t>8 признаков: </a:t>
            </a:r>
            <a:r>
              <a:rPr lang="en-US" sz="1800" dirty="0" err="1" smtClean="0">
                <a:latin typeface="Cascadia Mono Light" pitchFamily="49" charset="0"/>
                <a:cs typeface="Cascadia Mono Light" pitchFamily="49" charset="0"/>
              </a:rPr>
              <a:t>MedInc</a:t>
            </a:r>
            <a:r>
              <a:rPr lang="en-US" sz="1800" dirty="0" smtClean="0">
                <a:latin typeface="Cascadia Mono Light" pitchFamily="49" charset="0"/>
                <a:cs typeface="Cascadia Mono Light" pitchFamily="49" charset="0"/>
              </a:rPr>
              <a:t>, </a:t>
            </a:r>
            <a:r>
              <a:rPr lang="en-US" sz="1800" dirty="0" err="1" smtClean="0">
                <a:latin typeface="Cascadia Mono Light" pitchFamily="49" charset="0"/>
                <a:cs typeface="Cascadia Mono Light" pitchFamily="49" charset="0"/>
              </a:rPr>
              <a:t>HouseAge</a:t>
            </a:r>
            <a:r>
              <a:rPr lang="en-US" sz="1800" dirty="0" smtClean="0">
                <a:latin typeface="Cascadia Mono Light" pitchFamily="49" charset="0"/>
                <a:cs typeface="Cascadia Mono Light" pitchFamily="49" charset="0"/>
              </a:rPr>
              <a:t>, </a:t>
            </a:r>
            <a:r>
              <a:rPr lang="en-US" sz="1800" dirty="0" err="1" smtClean="0">
                <a:latin typeface="Cascadia Mono Light" pitchFamily="49" charset="0"/>
                <a:cs typeface="Cascadia Mono Light" pitchFamily="49" charset="0"/>
              </a:rPr>
              <a:t>AveRooms</a:t>
            </a:r>
            <a:r>
              <a:rPr lang="en-US" sz="1800" dirty="0" smtClean="0">
                <a:latin typeface="Cascadia Mono Light" pitchFamily="49" charset="0"/>
                <a:cs typeface="Cascadia Mono Light" pitchFamily="49" charset="0"/>
              </a:rPr>
              <a:t>, </a:t>
            </a:r>
            <a:r>
              <a:rPr lang="en-US" sz="1800" dirty="0" err="1" smtClean="0">
                <a:latin typeface="Cascadia Mono Light" pitchFamily="49" charset="0"/>
                <a:cs typeface="Cascadia Mono Light" pitchFamily="49" charset="0"/>
              </a:rPr>
              <a:t>AveBedrms</a:t>
            </a:r>
            <a:r>
              <a:rPr lang="en-US" sz="1800" dirty="0" smtClean="0">
                <a:latin typeface="Cascadia Mono Light" pitchFamily="49" charset="0"/>
                <a:cs typeface="Cascadia Mono Light" pitchFamily="49" charset="0"/>
              </a:rPr>
              <a:t>, Population, </a:t>
            </a:r>
            <a:r>
              <a:rPr lang="en-US" sz="1800" dirty="0" err="1" smtClean="0">
                <a:latin typeface="Cascadia Mono Light" pitchFamily="49" charset="0"/>
                <a:cs typeface="Cascadia Mono Light" pitchFamily="49" charset="0"/>
              </a:rPr>
              <a:t>AveOccup</a:t>
            </a:r>
            <a:r>
              <a:rPr lang="en-US" sz="1800" dirty="0" smtClean="0">
                <a:latin typeface="Cascadia Mono Light" pitchFamily="49" charset="0"/>
                <a:cs typeface="Cascadia Mono Light" pitchFamily="49" charset="0"/>
              </a:rPr>
              <a:t>, Latitude, Longitude.</a:t>
            </a:r>
          </a:p>
          <a:p>
            <a:r>
              <a:rPr lang="en-US" sz="1800" dirty="0" smtClean="0">
                <a:latin typeface="Cascadia Mono Light" pitchFamily="49" charset="0"/>
                <a:cs typeface="Cascadia Mono Light" pitchFamily="49" charset="0"/>
              </a:rPr>
              <a:t>1 </a:t>
            </a:r>
            <a:r>
              <a:rPr lang="ru-RU" sz="1800" dirty="0" smtClean="0">
                <a:latin typeface="Cascadia Mono Light" pitchFamily="49" charset="0"/>
                <a:cs typeface="Cascadia Mono Light" pitchFamily="49" charset="0"/>
              </a:rPr>
              <a:t>целевая переменная: </a:t>
            </a:r>
            <a:r>
              <a:rPr lang="en-US" sz="1800" dirty="0" err="1" smtClean="0">
                <a:latin typeface="Cascadia Mono Light" pitchFamily="49" charset="0"/>
                <a:cs typeface="Cascadia Mono Light" pitchFamily="49" charset="0"/>
              </a:rPr>
              <a:t>MedHouseVal</a:t>
            </a:r>
            <a:r>
              <a:rPr lang="en-US" sz="1800" dirty="0" smtClean="0">
                <a:latin typeface="Cascadia Mono Light" pitchFamily="49" charset="0"/>
                <a:cs typeface="Cascadia Mono Light" pitchFamily="49" charset="0"/>
              </a:rPr>
              <a:t>.</a:t>
            </a:r>
            <a:r>
              <a:rPr lang="ru-RU" sz="1800" dirty="0" smtClean="0">
                <a:latin typeface="Cascadia Mono Light" pitchFamily="49" charset="0"/>
                <a:cs typeface="Cascadia Mono Light" pitchFamily="49" charset="0"/>
              </a:rPr>
              <a:t> </a:t>
            </a:r>
          </a:p>
          <a:p>
            <a:endParaRPr lang="ru-RU" sz="1800" dirty="0">
              <a:latin typeface="Cascadia Mono Light" pitchFamily="49" charset="0"/>
              <a:cs typeface="Cascadia Mono Light" pitchFamily="49" charset="0"/>
            </a:endParaRPr>
          </a:p>
        </p:txBody>
      </p:sp>
      <p:pic>
        <p:nvPicPr>
          <p:cNvPr id="65538" name="Picture 2"/>
          <p:cNvPicPr>
            <a:picLocks noChangeAspect="1" noChangeArrowheads="1"/>
          </p:cNvPicPr>
          <p:nvPr/>
        </p:nvPicPr>
        <p:blipFill>
          <a:blip r:embed="rId2" cstate="print"/>
          <a:srcRect/>
          <a:stretch>
            <a:fillRect/>
          </a:stretch>
        </p:blipFill>
        <p:spPr bwMode="auto">
          <a:xfrm>
            <a:off x="457200" y="228600"/>
            <a:ext cx="8040688" cy="1549753"/>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228600" y="228601"/>
            <a:ext cx="8458200" cy="2209800"/>
          </a:xfrm>
        </p:spPr>
        <p:txBody>
          <a:bodyPr>
            <a:normAutofit fontScale="70000" lnSpcReduction="20000"/>
          </a:bodyPr>
          <a:lstStyle/>
          <a:p>
            <a:r>
              <a:rPr lang="ru-RU" dirty="0" smtClean="0">
                <a:latin typeface="Cascadia Mono Light" pitchFamily="49" charset="0"/>
                <a:cs typeface="Cascadia Mono Light" pitchFamily="49" charset="0"/>
              </a:rPr>
              <a:t>Сохраняем </a:t>
            </a:r>
            <a:r>
              <a:rPr lang="ru-RU" dirty="0" smtClean="0">
                <a:latin typeface="Cascadia Mono Light" pitchFamily="49" charset="0"/>
                <a:cs typeface="Cascadia Mono Light" pitchFamily="49" charset="0"/>
              </a:rPr>
              <a:t>в переменную </a:t>
            </a:r>
            <a:r>
              <a:rPr lang="ru-RU" dirty="0" err="1" smtClean="0">
                <a:latin typeface="Cascadia Mono Light" pitchFamily="49" charset="0"/>
                <a:cs typeface="Cascadia Mono Light" pitchFamily="49" charset="0"/>
              </a:rPr>
              <a:t>feature_names</a:t>
            </a:r>
            <a:r>
              <a:rPr lang="ru-RU" dirty="0" smtClean="0">
                <a:latin typeface="Cascadia Mono Light" pitchFamily="49" charset="0"/>
                <a:cs typeface="Cascadia Mono Light" pitchFamily="49" charset="0"/>
              </a:rPr>
              <a:t> список из 8 признаков — то есть названия столбцов, которые мы будем использовать как входные данные модели</a:t>
            </a:r>
            <a:r>
              <a:rPr lang="ru-RU" dirty="0" smtClean="0">
                <a:latin typeface="Cascadia Mono Light" pitchFamily="49" charset="0"/>
                <a:cs typeface="Cascadia Mono Light" pitchFamily="49" charset="0"/>
              </a:rPr>
              <a:t>.</a:t>
            </a:r>
          </a:p>
          <a:p>
            <a:r>
              <a:rPr lang="ru-RU" dirty="0" smtClean="0">
                <a:latin typeface="Cascadia Mono Light" pitchFamily="49" charset="0"/>
                <a:cs typeface="Cascadia Mono Light" pitchFamily="49" charset="0"/>
              </a:rPr>
              <a:t>Сохраняем </a:t>
            </a:r>
            <a:r>
              <a:rPr lang="ru-RU" dirty="0" smtClean="0">
                <a:latin typeface="Cascadia Mono Light" pitchFamily="49" charset="0"/>
                <a:cs typeface="Cascadia Mono Light" pitchFamily="49" charset="0"/>
              </a:rPr>
              <a:t>в переменную </a:t>
            </a:r>
            <a:r>
              <a:rPr lang="ru-RU" dirty="0" err="1" smtClean="0">
                <a:latin typeface="Cascadia Mono Light" pitchFamily="49" charset="0"/>
                <a:cs typeface="Cascadia Mono Light" pitchFamily="49" charset="0"/>
              </a:rPr>
              <a:t>target_name</a:t>
            </a:r>
            <a:r>
              <a:rPr lang="ru-RU" dirty="0" smtClean="0">
                <a:latin typeface="Cascadia Mono Light" pitchFamily="49" charset="0"/>
                <a:cs typeface="Cascadia Mono Light" pitchFamily="49" charset="0"/>
              </a:rPr>
              <a:t> имя столбца с ценой — того, что модель должна предсказывать.</a:t>
            </a:r>
            <a:endParaRPr lang="ru-RU" dirty="0">
              <a:latin typeface="Cascadia Mono Light" pitchFamily="49" charset="0"/>
              <a:cs typeface="Cascadia Mono Light" pitchFamily="49" charset="0"/>
            </a:endParaRPr>
          </a:p>
        </p:txBody>
      </p:sp>
      <p:pic>
        <p:nvPicPr>
          <p:cNvPr id="66562" name="Picture 2"/>
          <p:cNvPicPr>
            <a:picLocks noChangeAspect="1" noChangeArrowheads="1"/>
          </p:cNvPicPr>
          <p:nvPr/>
        </p:nvPicPr>
        <p:blipFill>
          <a:blip r:embed="rId2" cstate="print"/>
          <a:srcRect/>
          <a:stretch>
            <a:fillRect/>
          </a:stretch>
        </p:blipFill>
        <p:spPr bwMode="auto">
          <a:xfrm>
            <a:off x="1219200" y="2590800"/>
            <a:ext cx="6121400" cy="4095598"/>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04800" y="228600"/>
            <a:ext cx="8382000" cy="4876800"/>
          </a:xfrm>
        </p:spPr>
        <p:txBody>
          <a:bodyPr>
            <a:normAutofit fontScale="47500" lnSpcReduction="20000"/>
          </a:bodyPr>
          <a:lstStyle/>
          <a:p>
            <a:r>
              <a:rPr lang="ru-RU" b="1" dirty="0" smtClean="0">
                <a:latin typeface="Cascadia Mono Light" pitchFamily="49" charset="0"/>
                <a:cs typeface="Cascadia Mono Light" pitchFamily="49" charset="0"/>
              </a:rPr>
              <a:t>Цикл с нумерацией </a:t>
            </a:r>
            <a:r>
              <a:rPr lang="ru-RU" dirty="0" smtClean="0">
                <a:latin typeface="Cascadia Mono Light" pitchFamily="49" charset="0"/>
                <a:cs typeface="Cascadia Mono Light" pitchFamily="49" charset="0"/>
              </a:rPr>
              <a:t>- </a:t>
            </a:r>
            <a:r>
              <a:rPr lang="ru-RU" dirty="0" smtClean="0">
                <a:latin typeface="Cascadia Mono Light" pitchFamily="49" charset="0"/>
                <a:cs typeface="Cascadia Mono Light" pitchFamily="49" charset="0"/>
              </a:rPr>
              <a:t>печатаем список признаков с номерами, чтобы читатель видел, сколько их и в каком порядке.</a:t>
            </a:r>
            <a:endParaRPr lang="ru-RU" dirty="0" smtClean="0">
              <a:latin typeface="Cascadia Mono Light" pitchFamily="49" charset="0"/>
              <a:cs typeface="Cascadia Mono Light" pitchFamily="49" charset="0"/>
            </a:endParaRPr>
          </a:p>
          <a:p>
            <a:r>
              <a:rPr lang="en-US" b="1" dirty="0" smtClean="0">
                <a:latin typeface="Cascadia Mono Light" pitchFamily="49" charset="0"/>
                <a:cs typeface="Cascadia Mono Light" pitchFamily="49" charset="0"/>
              </a:rPr>
              <a:t>for </a:t>
            </a:r>
            <a:r>
              <a:rPr lang="en-US" b="1" dirty="0" err="1" smtClean="0">
                <a:latin typeface="Cascadia Mono Light" pitchFamily="49" charset="0"/>
                <a:cs typeface="Cascadia Mono Light" pitchFamily="49" charset="0"/>
              </a:rPr>
              <a:t>i</a:t>
            </a:r>
            <a:r>
              <a:rPr lang="en-US" b="1" dirty="0" smtClean="0">
                <a:latin typeface="Cascadia Mono Light" pitchFamily="49" charset="0"/>
                <a:cs typeface="Cascadia Mono Light" pitchFamily="49" charset="0"/>
              </a:rPr>
              <a:t>, name in enumerate(</a:t>
            </a:r>
            <a:r>
              <a:rPr lang="en-US" b="1" dirty="0" err="1" smtClean="0">
                <a:latin typeface="Cascadia Mono Light" pitchFamily="49" charset="0"/>
                <a:cs typeface="Cascadia Mono Light" pitchFamily="49" charset="0"/>
              </a:rPr>
              <a:t>feature_names</a:t>
            </a:r>
            <a:r>
              <a:rPr lang="en-US" b="1" dirty="0" smtClean="0">
                <a:latin typeface="Cascadia Mono Light" pitchFamily="49" charset="0"/>
                <a:cs typeface="Cascadia Mono Light" pitchFamily="49" charset="0"/>
              </a:rPr>
              <a:t>, 1): print(f" {</a:t>
            </a:r>
            <a:r>
              <a:rPr lang="en-US" b="1" dirty="0" err="1" smtClean="0">
                <a:latin typeface="Cascadia Mono Light" pitchFamily="49" charset="0"/>
                <a:cs typeface="Cascadia Mono Light" pitchFamily="49" charset="0"/>
              </a:rPr>
              <a:t>i</a:t>
            </a:r>
            <a:r>
              <a:rPr lang="en-US" b="1" dirty="0" smtClean="0">
                <a:latin typeface="Cascadia Mono Light" pitchFamily="49" charset="0"/>
                <a:cs typeface="Cascadia Mono Light" pitchFamily="49" charset="0"/>
              </a:rPr>
              <a:t>}. {name</a:t>
            </a:r>
            <a:r>
              <a:rPr lang="en-US" b="1" dirty="0" smtClean="0">
                <a:latin typeface="Cascadia Mono Light" pitchFamily="49" charset="0"/>
                <a:cs typeface="Cascadia Mono Light" pitchFamily="49" charset="0"/>
              </a:rPr>
              <a:t>}")</a:t>
            </a:r>
            <a:endParaRPr lang="ru-RU" b="1" dirty="0" smtClean="0">
              <a:latin typeface="Cascadia Mono Light" pitchFamily="49" charset="0"/>
              <a:cs typeface="Cascadia Mono Light" pitchFamily="49" charset="0"/>
            </a:endParaRPr>
          </a:p>
          <a:p>
            <a:r>
              <a:rPr lang="ru-RU" dirty="0" smtClean="0">
                <a:latin typeface="Cascadia Mono Light" pitchFamily="49" charset="0"/>
                <a:cs typeface="Cascadia Mono Light" pitchFamily="49" charset="0"/>
              </a:rPr>
              <a:t>Цикл, который на каждой итерации берёт два значения — </a:t>
            </a:r>
            <a:r>
              <a:rPr lang="ru-RU" dirty="0" err="1" smtClean="0">
                <a:latin typeface="Cascadia Mono Light" pitchFamily="49" charset="0"/>
                <a:cs typeface="Cascadia Mono Light" pitchFamily="49" charset="0"/>
              </a:rPr>
              <a:t>i</a:t>
            </a:r>
            <a:r>
              <a:rPr lang="ru-RU" dirty="0" smtClean="0">
                <a:latin typeface="Cascadia Mono Light" pitchFamily="49" charset="0"/>
                <a:cs typeface="Cascadia Mono Light" pitchFamily="49" charset="0"/>
              </a:rPr>
              <a:t> и </a:t>
            </a:r>
            <a:r>
              <a:rPr lang="ru-RU" dirty="0" err="1" smtClean="0">
                <a:latin typeface="Cascadia Mono Light" pitchFamily="49" charset="0"/>
                <a:cs typeface="Cascadia Mono Light" pitchFamily="49" charset="0"/>
              </a:rPr>
              <a:t>name</a:t>
            </a:r>
            <a:r>
              <a:rPr lang="ru-RU" dirty="0" smtClean="0">
                <a:latin typeface="Cascadia Mono Light" pitchFamily="49" charset="0"/>
                <a:cs typeface="Cascadia Mono Light" pitchFamily="49" charset="0"/>
              </a:rPr>
              <a:t>. Он будет выполняться столько раз, сколько элементов в </a:t>
            </a:r>
            <a:r>
              <a:rPr lang="ru-RU" dirty="0" err="1" smtClean="0">
                <a:latin typeface="Cascadia Mono Light" pitchFamily="49" charset="0"/>
                <a:cs typeface="Cascadia Mono Light" pitchFamily="49" charset="0"/>
              </a:rPr>
              <a:t>feature_names</a:t>
            </a:r>
            <a:r>
              <a:rPr lang="ru-RU" dirty="0" smtClean="0">
                <a:latin typeface="Cascadia Mono Light" pitchFamily="49" charset="0"/>
                <a:cs typeface="Cascadia Mono Light" pitchFamily="49" charset="0"/>
              </a:rPr>
              <a:t> (то есть 8 раз</a:t>
            </a:r>
            <a:r>
              <a:rPr lang="ru-RU" dirty="0" smtClean="0">
                <a:latin typeface="Cascadia Mono Light" pitchFamily="49" charset="0"/>
                <a:cs typeface="Cascadia Mono Light" pitchFamily="49" charset="0"/>
              </a:rPr>
              <a:t>).</a:t>
            </a:r>
          </a:p>
          <a:p>
            <a:r>
              <a:rPr lang="ru-RU" dirty="0" smtClean="0">
                <a:latin typeface="Cascadia Mono Light" pitchFamily="49" charset="0"/>
                <a:cs typeface="Cascadia Mono Light" pitchFamily="49" charset="0"/>
              </a:rPr>
              <a:t>Функция </a:t>
            </a:r>
            <a:r>
              <a:rPr lang="ru-RU" b="1" dirty="0" err="1" smtClean="0">
                <a:latin typeface="Cascadia Mono Light" pitchFamily="49" charset="0"/>
                <a:cs typeface="Cascadia Mono Light" pitchFamily="49" charset="0"/>
              </a:rPr>
              <a:t>enumerate</a:t>
            </a:r>
            <a:r>
              <a:rPr lang="ru-RU" dirty="0" smtClean="0">
                <a:latin typeface="Cascadia Mono Light" pitchFamily="49" charset="0"/>
                <a:cs typeface="Cascadia Mono Light" pitchFamily="49" charset="0"/>
              </a:rPr>
              <a:t> берёт список и добавляет к каждому элементу его номер. Второй аргумент 1 означает «нумерацию начать с 1» (по умолчанию было бы с 0</a:t>
            </a:r>
            <a:r>
              <a:rPr lang="ru-RU" dirty="0" smtClean="0">
                <a:latin typeface="Cascadia Mono Light" pitchFamily="49" charset="0"/>
                <a:cs typeface="Cascadia Mono Light" pitchFamily="49" charset="0"/>
              </a:rPr>
              <a:t>).</a:t>
            </a:r>
          </a:p>
          <a:p>
            <a:r>
              <a:rPr lang="ru-RU" dirty="0" smtClean="0">
                <a:latin typeface="Cascadia Mono Light" pitchFamily="49" charset="0"/>
                <a:cs typeface="Cascadia Mono Light" pitchFamily="49" charset="0"/>
              </a:rPr>
              <a:t>Что возвращает </a:t>
            </a:r>
            <a:r>
              <a:rPr lang="en-US" dirty="0" smtClean="0">
                <a:latin typeface="Cascadia Mono Light" pitchFamily="49" charset="0"/>
                <a:cs typeface="Cascadia Mono Light" pitchFamily="49" charset="0"/>
              </a:rPr>
              <a:t>enumerate</a:t>
            </a:r>
            <a:r>
              <a:rPr lang="en-US" dirty="0" smtClean="0">
                <a:latin typeface="Cascadia Mono Light" pitchFamily="49" charset="0"/>
                <a:cs typeface="Cascadia Mono Light" pitchFamily="49" charset="0"/>
              </a:rPr>
              <a:t>:</a:t>
            </a:r>
            <a:r>
              <a:rPr lang="ru-RU" dirty="0" smtClean="0">
                <a:latin typeface="Cascadia Mono Light" pitchFamily="49" charset="0"/>
                <a:cs typeface="Cascadia Mono Light" pitchFamily="49" charset="0"/>
              </a:rPr>
              <a:t> </a:t>
            </a:r>
            <a:r>
              <a:rPr lang="en-US" dirty="0" smtClean="0">
                <a:latin typeface="Cascadia Mono Light" pitchFamily="49" charset="0"/>
                <a:cs typeface="Cascadia Mono Light" pitchFamily="49" charset="0"/>
              </a:rPr>
              <a:t> (</a:t>
            </a:r>
            <a:r>
              <a:rPr lang="en-US" dirty="0" smtClean="0">
                <a:latin typeface="Cascadia Mono Light" pitchFamily="49" charset="0"/>
                <a:cs typeface="Cascadia Mono Light" pitchFamily="49" charset="0"/>
              </a:rPr>
              <a:t>1, '</a:t>
            </a:r>
            <a:r>
              <a:rPr lang="en-US" dirty="0" err="1" smtClean="0">
                <a:latin typeface="Cascadia Mono Light" pitchFamily="49" charset="0"/>
                <a:cs typeface="Cascadia Mono Light" pitchFamily="49" charset="0"/>
              </a:rPr>
              <a:t>MedInc</a:t>
            </a:r>
            <a:r>
              <a:rPr lang="en-US" dirty="0" smtClean="0">
                <a:latin typeface="Cascadia Mono Light" pitchFamily="49" charset="0"/>
                <a:cs typeface="Cascadia Mono Light" pitchFamily="49" charset="0"/>
              </a:rPr>
              <a:t>') (2, '</a:t>
            </a:r>
            <a:r>
              <a:rPr lang="en-US" dirty="0" err="1" smtClean="0">
                <a:latin typeface="Cascadia Mono Light" pitchFamily="49" charset="0"/>
                <a:cs typeface="Cascadia Mono Light" pitchFamily="49" charset="0"/>
              </a:rPr>
              <a:t>HouseAge</a:t>
            </a:r>
            <a:r>
              <a:rPr lang="en-US" dirty="0" smtClean="0">
                <a:latin typeface="Cascadia Mono Light" pitchFamily="49" charset="0"/>
                <a:cs typeface="Cascadia Mono Light" pitchFamily="49" charset="0"/>
              </a:rPr>
              <a:t>') (3, '</a:t>
            </a:r>
            <a:r>
              <a:rPr lang="en-US" dirty="0" err="1" smtClean="0">
                <a:latin typeface="Cascadia Mono Light" pitchFamily="49" charset="0"/>
                <a:cs typeface="Cascadia Mono Light" pitchFamily="49" charset="0"/>
              </a:rPr>
              <a:t>AveRooms</a:t>
            </a:r>
            <a:r>
              <a:rPr lang="en-US" dirty="0" smtClean="0">
                <a:latin typeface="Cascadia Mono Light" pitchFamily="49" charset="0"/>
                <a:cs typeface="Cascadia Mono Light" pitchFamily="49" charset="0"/>
              </a:rPr>
              <a:t>') ... (8, 'Longitude</a:t>
            </a:r>
            <a:r>
              <a:rPr lang="en-US" dirty="0" smtClean="0">
                <a:latin typeface="Cascadia Mono Light" pitchFamily="49" charset="0"/>
                <a:cs typeface="Cascadia Mono Light" pitchFamily="49" charset="0"/>
              </a:rPr>
              <a:t>')</a:t>
            </a:r>
            <a:endParaRPr lang="ru-RU" dirty="0" smtClean="0">
              <a:latin typeface="Cascadia Mono Light" pitchFamily="49" charset="0"/>
              <a:cs typeface="Cascadia Mono Light" pitchFamily="49" charset="0"/>
            </a:endParaRPr>
          </a:p>
          <a:p>
            <a:endParaRPr lang="en-US" dirty="0" smtClean="0">
              <a:latin typeface="Cascadia Mono Light" pitchFamily="49" charset="0"/>
              <a:cs typeface="Cascadia Mono Light" pitchFamily="49" charset="0"/>
            </a:endParaRPr>
          </a:p>
          <a:p>
            <a:r>
              <a:rPr lang="ru-RU" b="1" dirty="0" smtClean="0">
                <a:latin typeface="Cascadia Mono Light" pitchFamily="49" charset="0"/>
                <a:cs typeface="Cascadia Mono Light" pitchFamily="49" charset="0"/>
              </a:rPr>
              <a:t>Распаковка в цикле:</a:t>
            </a:r>
            <a:r>
              <a:rPr lang="ru-RU" dirty="0" smtClean="0">
                <a:latin typeface="Cascadia Mono Light" pitchFamily="49" charset="0"/>
                <a:cs typeface="Cascadia Mono Light" pitchFamily="49" charset="0"/>
              </a:rPr>
              <a:t/>
            </a:r>
            <a:br>
              <a:rPr lang="ru-RU" dirty="0" smtClean="0">
                <a:latin typeface="Cascadia Mono Light" pitchFamily="49" charset="0"/>
                <a:cs typeface="Cascadia Mono Light" pitchFamily="49" charset="0"/>
              </a:rPr>
            </a:br>
            <a:r>
              <a:rPr lang="en-US" dirty="0" err="1" smtClean="0">
                <a:latin typeface="Cascadia Mono Light" pitchFamily="49" charset="0"/>
                <a:cs typeface="Cascadia Mono Light" pitchFamily="49" charset="0"/>
              </a:rPr>
              <a:t>i</a:t>
            </a:r>
            <a:r>
              <a:rPr lang="en-US" dirty="0" smtClean="0">
                <a:latin typeface="Cascadia Mono Light" pitchFamily="49" charset="0"/>
                <a:cs typeface="Cascadia Mono Light" pitchFamily="49" charset="0"/>
              </a:rPr>
              <a:t>, name = (1, '</a:t>
            </a:r>
            <a:r>
              <a:rPr lang="en-US" dirty="0" err="1" smtClean="0">
                <a:latin typeface="Cascadia Mono Light" pitchFamily="49" charset="0"/>
                <a:cs typeface="Cascadia Mono Light" pitchFamily="49" charset="0"/>
              </a:rPr>
              <a:t>MedInc</a:t>
            </a:r>
            <a:r>
              <a:rPr lang="en-US" dirty="0" smtClean="0">
                <a:latin typeface="Cascadia Mono Light" pitchFamily="49" charset="0"/>
                <a:cs typeface="Cascadia Mono Light" pitchFamily="49" charset="0"/>
              </a:rPr>
              <a:t>') → </a:t>
            </a:r>
            <a:r>
              <a:rPr lang="en-US" dirty="0" err="1" smtClean="0">
                <a:latin typeface="Cascadia Mono Light" pitchFamily="49" charset="0"/>
                <a:cs typeface="Cascadia Mono Light" pitchFamily="49" charset="0"/>
              </a:rPr>
              <a:t>i</a:t>
            </a:r>
            <a:r>
              <a:rPr lang="en-US" dirty="0" smtClean="0">
                <a:latin typeface="Cascadia Mono Light" pitchFamily="49" charset="0"/>
                <a:cs typeface="Cascadia Mono Light" pitchFamily="49" charset="0"/>
              </a:rPr>
              <a:t> = 1, name = '</a:t>
            </a:r>
            <a:r>
              <a:rPr lang="en-US" dirty="0" err="1" smtClean="0">
                <a:latin typeface="Cascadia Mono Light" pitchFamily="49" charset="0"/>
                <a:cs typeface="Cascadia Mono Light" pitchFamily="49" charset="0"/>
              </a:rPr>
              <a:t>MedInc</a:t>
            </a:r>
            <a:r>
              <a:rPr lang="en-US" dirty="0" smtClean="0">
                <a:latin typeface="Cascadia Mono Light" pitchFamily="49" charset="0"/>
                <a:cs typeface="Cascadia Mono Light" pitchFamily="49" charset="0"/>
              </a:rPr>
              <a:t>'.</a:t>
            </a:r>
            <a:br>
              <a:rPr lang="en-US" dirty="0" smtClean="0">
                <a:latin typeface="Cascadia Mono Light" pitchFamily="49" charset="0"/>
                <a:cs typeface="Cascadia Mono Light" pitchFamily="49" charset="0"/>
              </a:rPr>
            </a:br>
            <a:r>
              <a:rPr lang="ru-RU" dirty="0" smtClean="0">
                <a:latin typeface="Cascadia Mono Light" pitchFamily="49" charset="0"/>
                <a:cs typeface="Cascadia Mono Light" pitchFamily="49" charset="0"/>
              </a:rPr>
              <a:t>На следующей итерации: </a:t>
            </a:r>
            <a:r>
              <a:rPr lang="en-US" dirty="0" err="1" smtClean="0">
                <a:latin typeface="Cascadia Mono Light" pitchFamily="49" charset="0"/>
                <a:cs typeface="Cascadia Mono Light" pitchFamily="49" charset="0"/>
              </a:rPr>
              <a:t>i</a:t>
            </a:r>
            <a:r>
              <a:rPr lang="en-US" dirty="0" smtClean="0">
                <a:latin typeface="Cascadia Mono Light" pitchFamily="49" charset="0"/>
                <a:cs typeface="Cascadia Mono Light" pitchFamily="49" charset="0"/>
              </a:rPr>
              <a:t> = 2, name = '</a:t>
            </a:r>
            <a:r>
              <a:rPr lang="en-US" dirty="0" err="1" smtClean="0">
                <a:latin typeface="Cascadia Mono Light" pitchFamily="49" charset="0"/>
                <a:cs typeface="Cascadia Mono Light" pitchFamily="49" charset="0"/>
              </a:rPr>
              <a:t>HouseAge</a:t>
            </a:r>
            <a:r>
              <a:rPr lang="en-US" dirty="0" smtClean="0">
                <a:latin typeface="Cascadia Mono Light" pitchFamily="49" charset="0"/>
                <a:cs typeface="Cascadia Mono Light" pitchFamily="49" charset="0"/>
              </a:rPr>
              <a:t>'. </a:t>
            </a:r>
            <a:r>
              <a:rPr lang="ru-RU" dirty="0" smtClean="0">
                <a:latin typeface="Cascadia Mono Light" pitchFamily="49" charset="0"/>
                <a:cs typeface="Cascadia Mono Light" pitchFamily="49" charset="0"/>
              </a:rPr>
              <a:t>И так далее</a:t>
            </a:r>
            <a:r>
              <a:rPr lang="ru-RU" dirty="0" smtClean="0">
                <a:latin typeface="Cascadia Mono Light" pitchFamily="49" charset="0"/>
                <a:cs typeface="Cascadia Mono Light" pitchFamily="49" charset="0"/>
              </a:rPr>
              <a:t>.</a:t>
            </a:r>
          </a:p>
          <a:p>
            <a:r>
              <a:rPr lang="ru-RU" b="1" dirty="0" err="1" smtClean="0">
                <a:latin typeface="Cascadia Mono Light" pitchFamily="49" charset="0"/>
                <a:cs typeface="Cascadia Mono Light" pitchFamily="49" charset="0"/>
              </a:rPr>
              <a:t>print</a:t>
            </a:r>
            <a:r>
              <a:rPr lang="ru-RU" b="1" dirty="0" smtClean="0">
                <a:latin typeface="Cascadia Mono Light" pitchFamily="49" charset="0"/>
                <a:cs typeface="Cascadia Mono Light" pitchFamily="49" charset="0"/>
              </a:rPr>
              <a:t>(</a:t>
            </a:r>
            <a:r>
              <a:rPr lang="ru-RU" b="1" dirty="0" err="1" smtClean="0">
                <a:latin typeface="Cascadia Mono Light" pitchFamily="49" charset="0"/>
                <a:cs typeface="Cascadia Mono Light" pitchFamily="49" charset="0"/>
              </a:rPr>
              <a:t>f</a:t>
            </a:r>
            <a:r>
              <a:rPr lang="ru-RU" b="1" dirty="0" smtClean="0">
                <a:latin typeface="Cascadia Mono Light" pitchFamily="49" charset="0"/>
                <a:cs typeface="Cascadia Mono Light" pitchFamily="49" charset="0"/>
              </a:rPr>
              <a:t>" {</a:t>
            </a:r>
            <a:r>
              <a:rPr lang="ru-RU" b="1" dirty="0" err="1" smtClean="0">
                <a:latin typeface="Cascadia Mono Light" pitchFamily="49" charset="0"/>
                <a:cs typeface="Cascadia Mono Light" pitchFamily="49" charset="0"/>
              </a:rPr>
              <a:t>i</a:t>
            </a:r>
            <a:r>
              <a:rPr lang="ru-RU" b="1" dirty="0" smtClean="0">
                <a:latin typeface="Cascadia Mono Light" pitchFamily="49" charset="0"/>
                <a:cs typeface="Cascadia Mono Light" pitchFamily="49" charset="0"/>
              </a:rPr>
              <a:t>}. {</a:t>
            </a:r>
            <a:r>
              <a:rPr lang="ru-RU" b="1" dirty="0" err="1" smtClean="0">
                <a:latin typeface="Cascadia Mono Light" pitchFamily="49" charset="0"/>
                <a:cs typeface="Cascadia Mono Light" pitchFamily="49" charset="0"/>
              </a:rPr>
              <a:t>name</a:t>
            </a:r>
            <a:r>
              <a:rPr lang="ru-RU" b="1" dirty="0" smtClean="0">
                <a:latin typeface="Cascadia Mono Light" pitchFamily="49" charset="0"/>
                <a:cs typeface="Cascadia Mono Light" pitchFamily="49" charset="0"/>
              </a:rPr>
              <a:t>}"):</a:t>
            </a:r>
          </a:p>
          <a:p>
            <a:r>
              <a:rPr lang="ru-RU" dirty="0" err="1" smtClean="0">
                <a:latin typeface="Cascadia Mono Light" pitchFamily="49" charset="0"/>
                <a:cs typeface="Cascadia Mono Light" pitchFamily="49" charset="0"/>
              </a:rPr>
              <a:t>f</a:t>
            </a:r>
            <a:r>
              <a:rPr lang="ru-RU" dirty="0" smtClean="0">
                <a:latin typeface="Cascadia Mono Light" pitchFamily="49" charset="0"/>
                <a:cs typeface="Cascadia Mono Light" pitchFamily="49" charset="0"/>
              </a:rPr>
              <a:t>"..." — </a:t>
            </a:r>
            <a:r>
              <a:rPr lang="ru-RU" b="1" dirty="0" smtClean="0">
                <a:latin typeface="Cascadia Mono Light" pitchFamily="49" charset="0"/>
                <a:cs typeface="Cascadia Mono Light" pitchFamily="49" charset="0"/>
              </a:rPr>
              <a:t>f-строка</a:t>
            </a:r>
            <a:r>
              <a:rPr lang="ru-RU" dirty="0" smtClean="0">
                <a:latin typeface="Cascadia Mono Light" pitchFamily="49" charset="0"/>
                <a:cs typeface="Cascadia Mono Light" pitchFamily="49" charset="0"/>
              </a:rPr>
              <a:t>: позволяет вставлять значения переменных прямо в текст.</a:t>
            </a:r>
          </a:p>
          <a:p>
            <a:r>
              <a:rPr lang="ru-RU" dirty="0" smtClean="0">
                <a:latin typeface="Cascadia Mono Light" pitchFamily="49" charset="0"/>
                <a:cs typeface="Cascadia Mono Light" pitchFamily="49" charset="0"/>
              </a:rPr>
              <a:t>{</a:t>
            </a:r>
            <a:r>
              <a:rPr lang="ru-RU" dirty="0" err="1" smtClean="0">
                <a:latin typeface="Cascadia Mono Light" pitchFamily="49" charset="0"/>
                <a:cs typeface="Cascadia Mono Light" pitchFamily="49" charset="0"/>
              </a:rPr>
              <a:t>i</a:t>
            </a:r>
            <a:r>
              <a:rPr lang="ru-RU" dirty="0" smtClean="0">
                <a:latin typeface="Cascadia Mono Light" pitchFamily="49" charset="0"/>
                <a:cs typeface="Cascadia Mono Light" pitchFamily="49" charset="0"/>
              </a:rPr>
              <a:t>} — подставится текущий номер.</a:t>
            </a:r>
          </a:p>
          <a:p>
            <a:r>
              <a:rPr lang="ru-RU" dirty="0" smtClean="0">
                <a:latin typeface="Cascadia Mono Light" pitchFamily="49" charset="0"/>
                <a:cs typeface="Cascadia Mono Light" pitchFamily="49" charset="0"/>
              </a:rPr>
              <a:t>{</a:t>
            </a:r>
            <a:r>
              <a:rPr lang="ru-RU" dirty="0" err="1" smtClean="0">
                <a:latin typeface="Cascadia Mono Light" pitchFamily="49" charset="0"/>
                <a:cs typeface="Cascadia Mono Light" pitchFamily="49" charset="0"/>
              </a:rPr>
              <a:t>name</a:t>
            </a:r>
            <a:r>
              <a:rPr lang="ru-RU" dirty="0" smtClean="0">
                <a:latin typeface="Cascadia Mono Light" pitchFamily="49" charset="0"/>
                <a:cs typeface="Cascadia Mono Light" pitchFamily="49" charset="0"/>
              </a:rPr>
              <a:t>} — подставится текущее имя признака.</a:t>
            </a:r>
          </a:p>
          <a:p>
            <a:r>
              <a:rPr lang="ru-RU" dirty="0" smtClean="0">
                <a:latin typeface="Cascadia Mono Light" pitchFamily="49" charset="0"/>
                <a:cs typeface="Cascadia Mono Light" pitchFamily="49" charset="0"/>
              </a:rPr>
              <a:t>В выводе целевой переменной тоже используется</a:t>
            </a:r>
            <a:r>
              <a:rPr lang="en-US" dirty="0" smtClean="0">
                <a:latin typeface="Cascadia Mono Light" pitchFamily="49" charset="0"/>
                <a:cs typeface="Cascadia Mono Light" pitchFamily="49" charset="0"/>
              </a:rPr>
              <a:t> </a:t>
            </a:r>
            <a:r>
              <a:rPr lang="en-US" dirty="0" smtClean="0">
                <a:latin typeface="Cascadia Mono Light" pitchFamily="49" charset="0"/>
                <a:cs typeface="Cascadia Mono Light" pitchFamily="49" charset="0"/>
              </a:rPr>
              <a:t>f</a:t>
            </a:r>
            <a:r>
              <a:rPr lang="ru-RU" dirty="0" smtClean="0">
                <a:latin typeface="Cascadia Mono Light" pitchFamily="49" charset="0"/>
                <a:cs typeface="Cascadia Mono Light" pitchFamily="49" charset="0"/>
              </a:rPr>
              <a:t>-строка. Символ \</a:t>
            </a:r>
            <a:r>
              <a:rPr lang="ru-RU" dirty="0" err="1" smtClean="0">
                <a:latin typeface="Cascadia Mono Light" pitchFamily="49" charset="0"/>
                <a:cs typeface="Cascadia Mono Light" pitchFamily="49" charset="0"/>
              </a:rPr>
              <a:t>n</a:t>
            </a:r>
            <a:r>
              <a:rPr lang="ru-RU" dirty="0" smtClean="0">
                <a:latin typeface="Cascadia Mono Light" pitchFamily="49" charset="0"/>
                <a:cs typeface="Cascadia Mono Light" pitchFamily="49" charset="0"/>
              </a:rPr>
              <a:t> </a:t>
            </a:r>
            <a:r>
              <a:rPr lang="ru-RU" dirty="0" smtClean="0">
                <a:latin typeface="Cascadia Mono Light" pitchFamily="49" charset="0"/>
                <a:cs typeface="Cascadia Mono Light" pitchFamily="49" charset="0"/>
              </a:rPr>
              <a:t>в начале строки — </a:t>
            </a:r>
            <a:r>
              <a:rPr lang="ru-RU" b="1" dirty="0" smtClean="0">
                <a:latin typeface="Cascadia Mono Light" pitchFamily="49" charset="0"/>
                <a:cs typeface="Cascadia Mono Light" pitchFamily="49" charset="0"/>
              </a:rPr>
              <a:t>спецсимвол</a:t>
            </a:r>
            <a:r>
              <a:rPr lang="ru-RU" dirty="0" smtClean="0">
                <a:latin typeface="Cascadia Mono Light" pitchFamily="49" charset="0"/>
                <a:cs typeface="Cascadia Mono Light" pitchFamily="49" charset="0"/>
              </a:rPr>
              <a:t>: перенос строки. Создаёт пустую строку</a:t>
            </a:r>
            <a:endParaRPr lang="ru-RU" dirty="0">
              <a:latin typeface="Cascadia Mono Light" pitchFamily="49" charset="0"/>
              <a:cs typeface="Cascadia Mono Light" pitchFamily="49" charset="0"/>
            </a:endParaRPr>
          </a:p>
        </p:txBody>
      </p:sp>
      <p:pic>
        <p:nvPicPr>
          <p:cNvPr id="66562" name="Picture 2"/>
          <p:cNvPicPr>
            <a:picLocks noChangeAspect="1" noChangeArrowheads="1"/>
          </p:cNvPicPr>
          <p:nvPr/>
        </p:nvPicPr>
        <p:blipFill>
          <a:blip r:embed="rId2" cstate="print"/>
          <a:srcRect l="6224" t="18605" r="12863" b="49766"/>
          <a:stretch>
            <a:fillRect/>
          </a:stretch>
        </p:blipFill>
        <p:spPr bwMode="auto">
          <a:xfrm>
            <a:off x="1371600" y="4876800"/>
            <a:ext cx="7091082" cy="1854591"/>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latin typeface="Cascadia Mono Light" pitchFamily="49" charset="0"/>
                <a:cs typeface="Cascadia Mono Light" pitchFamily="49" charset="0"/>
              </a:rPr>
              <a:t>2. Вывод нескольких образцов из </a:t>
            </a:r>
            <a:r>
              <a:rPr lang="ru-RU" dirty="0" err="1" smtClean="0">
                <a:latin typeface="Cascadia Mono Light" pitchFamily="49" charset="0"/>
                <a:cs typeface="Cascadia Mono Light" pitchFamily="49" charset="0"/>
              </a:rPr>
              <a:t>датасета</a:t>
            </a:r>
            <a:endParaRPr lang="ru-RU" dirty="0">
              <a:latin typeface="Cascadia Mono Light" pitchFamily="49" charset="0"/>
              <a:cs typeface="Cascadia Mono Light" pitchFamily="49" charset="0"/>
            </a:endParaRPr>
          </a:p>
        </p:txBody>
      </p:sp>
      <p:sp>
        <p:nvSpPr>
          <p:cNvPr id="3" name="Содержимое 2"/>
          <p:cNvSpPr>
            <a:spLocks noGrp="1"/>
          </p:cNvSpPr>
          <p:nvPr>
            <p:ph idx="1"/>
          </p:nvPr>
        </p:nvSpPr>
        <p:spPr>
          <a:xfrm>
            <a:off x="228600" y="5486400"/>
            <a:ext cx="8534400" cy="1173163"/>
          </a:xfrm>
        </p:spPr>
        <p:txBody>
          <a:bodyPr>
            <a:noAutofit/>
          </a:bodyPr>
          <a:lstStyle/>
          <a:p>
            <a:r>
              <a:rPr lang="ru-RU" sz="1600" dirty="0" err="1" smtClean="0">
                <a:latin typeface="Cascadia Mono Light" pitchFamily="49" charset="0"/>
                <a:cs typeface="Cascadia Mono Light" pitchFamily="49" charset="0"/>
              </a:rPr>
              <a:t>Датасет</a:t>
            </a:r>
            <a:r>
              <a:rPr lang="ru-RU" sz="1600" dirty="0" smtClean="0">
                <a:latin typeface="Cascadia Mono Light" pitchFamily="49" charset="0"/>
                <a:cs typeface="Cascadia Mono Light" pitchFamily="49" charset="0"/>
              </a:rPr>
              <a:t> загружен, признаки и целевая переменная определены. Теперь нам нужно </a:t>
            </a:r>
            <a:r>
              <a:rPr lang="ru-RU" sz="1600" b="1" dirty="0" smtClean="0">
                <a:latin typeface="Cascadia Mono Light" pitchFamily="49" charset="0"/>
                <a:cs typeface="Cascadia Mono Light" pitchFamily="49" charset="0"/>
              </a:rPr>
              <a:t>посмотреть на данные глазами</a:t>
            </a:r>
            <a:r>
              <a:rPr lang="ru-RU" sz="1600" dirty="0" smtClean="0">
                <a:latin typeface="Cascadia Mono Light" pitchFamily="49" charset="0"/>
                <a:cs typeface="Cascadia Mono Light" pitchFamily="49" charset="0"/>
              </a:rPr>
              <a:t>. Мы ведь ещё не знаем, как они выглядят: какие числа, в каком порядке, какого </a:t>
            </a:r>
            <a:r>
              <a:rPr lang="ru-RU" sz="1600" dirty="0" smtClean="0">
                <a:latin typeface="Cascadia Mono Light" pitchFamily="49" charset="0"/>
                <a:cs typeface="Cascadia Mono Light" pitchFamily="49" charset="0"/>
              </a:rPr>
              <a:t>масштаба</a:t>
            </a:r>
            <a:r>
              <a:rPr lang="ru-RU" sz="1600" dirty="0" smtClean="0">
                <a:latin typeface="Cascadia Mono Light" pitchFamily="49" charset="0"/>
                <a:cs typeface="Cascadia Mono Light" pitchFamily="49" charset="0"/>
              </a:rPr>
              <a:t>.</a:t>
            </a:r>
            <a:br>
              <a:rPr lang="ru-RU" sz="1600" dirty="0" smtClean="0">
                <a:latin typeface="Cascadia Mono Light" pitchFamily="49" charset="0"/>
                <a:cs typeface="Cascadia Mono Light" pitchFamily="49" charset="0"/>
              </a:rPr>
            </a:br>
            <a:endParaRPr lang="ru-RU" sz="1600" dirty="0">
              <a:latin typeface="Cascadia Mono Light" pitchFamily="49" charset="0"/>
              <a:cs typeface="Cascadia Mono Light" pitchFamily="49" charset="0"/>
            </a:endParaRPr>
          </a:p>
        </p:txBody>
      </p:sp>
      <p:pic>
        <p:nvPicPr>
          <p:cNvPr id="68610" name="Picture 2"/>
          <p:cNvPicPr>
            <a:picLocks noChangeAspect="1" noChangeArrowheads="1"/>
          </p:cNvPicPr>
          <p:nvPr/>
        </p:nvPicPr>
        <p:blipFill>
          <a:blip r:embed="rId2" cstate="print"/>
          <a:srcRect/>
          <a:stretch>
            <a:fillRect/>
          </a:stretch>
        </p:blipFill>
        <p:spPr bwMode="auto">
          <a:xfrm>
            <a:off x="1547034" y="1524000"/>
            <a:ext cx="4960130" cy="381000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81000" y="2133601"/>
            <a:ext cx="8382000" cy="3810000"/>
          </a:xfrm>
        </p:spPr>
        <p:txBody>
          <a:bodyPr>
            <a:noAutofit/>
          </a:bodyPr>
          <a:lstStyle/>
          <a:p>
            <a:r>
              <a:rPr lang="ru-RU" sz="1400" dirty="0" err="1" smtClean="0">
                <a:latin typeface="Cascadia Mono Light" pitchFamily="49" charset="0"/>
                <a:cs typeface="Cascadia Mono Light" pitchFamily="49" charset="0"/>
              </a:rPr>
              <a:t>sample</a:t>
            </a:r>
            <a:r>
              <a:rPr lang="ru-RU" sz="1400" dirty="0" smtClean="0">
                <a:latin typeface="Cascadia Mono Light" pitchFamily="49" charset="0"/>
                <a:cs typeface="Cascadia Mono Light" pitchFamily="49" charset="0"/>
              </a:rPr>
              <a:t> = </a:t>
            </a:r>
            <a:r>
              <a:rPr lang="ru-RU" sz="1400" dirty="0" err="1" smtClean="0">
                <a:latin typeface="Cascadia Mono Light" pitchFamily="49" charset="0"/>
                <a:cs typeface="Cascadia Mono Light" pitchFamily="49" charset="0"/>
              </a:rPr>
              <a:t>df.head</a:t>
            </a:r>
            <a:r>
              <a:rPr lang="ru-RU" sz="1400" dirty="0" smtClean="0">
                <a:latin typeface="Cascadia Mono Light" pitchFamily="49" charset="0"/>
                <a:cs typeface="Cascadia Mono Light" pitchFamily="49" charset="0"/>
              </a:rPr>
              <a:t>(5).</a:t>
            </a:r>
            <a:r>
              <a:rPr lang="ru-RU" sz="1400" dirty="0" err="1" smtClean="0">
                <a:latin typeface="Cascadia Mono Light" pitchFamily="49" charset="0"/>
                <a:cs typeface="Cascadia Mono Light" pitchFamily="49" charset="0"/>
              </a:rPr>
              <a:t>copy</a:t>
            </a:r>
            <a:r>
              <a:rPr lang="ru-RU" sz="1400" dirty="0" smtClean="0">
                <a:latin typeface="Cascadia Mono Light" pitchFamily="49" charset="0"/>
                <a:cs typeface="Cascadia Mono Light" pitchFamily="49" charset="0"/>
              </a:rPr>
              <a:t>() - берём </a:t>
            </a:r>
            <a:r>
              <a:rPr lang="ru-RU" sz="1400" dirty="0" smtClean="0">
                <a:latin typeface="Cascadia Mono Light" pitchFamily="49" charset="0"/>
                <a:cs typeface="Cascadia Mono Light" pitchFamily="49" charset="0"/>
              </a:rPr>
              <a:t>первые 5 строк из таблицы </a:t>
            </a:r>
            <a:r>
              <a:rPr lang="ru-RU" sz="1400" dirty="0" err="1" smtClean="0">
                <a:latin typeface="Cascadia Mono Light" pitchFamily="49" charset="0"/>
                <a:cs typeface="Cascadia Mono Light" pitchFamily="49" charset="0"/>
              </a:rPr>
              <a:t>df</a:t>
            </a:r>
            <a:r>
              <a:rPr lang="ru-RU" sz="1400" dirty="0" smtClean="0">
                <a:latin typeface="Cascadia Mono Light" pitchFamily="49" charset="0"/>
                <a:cs typeface="Cascadia Mono Light" pitchFamily="49" charset="0"/>
              </a:rPr>
              <a:t>, делаем их копию и кладём в переменную </a:t>
            </a:r>
            <a:r>
              <a:rPr lang="ru-RU" sz="1400" dirty="0" err="1" smtClean="0">
                <a:latin typeface="Cascadia Mono Light" pitchFamily="49" charset="0"/>
                <a:cs typeface="Cascadia Mono Light" pitchFamily="49" charset="0"/>
              </a:rPr>
              <a:t>sample</a:t>
            </a:r>
            <a:r>
              <a:rPr lang="ru-RU" sz="1400" dirty="0" smtClean="0">
                <a:latin typeface="Cascadia Mono Light" pitchFamily="49" charset="0"/>
                <a:cs typeface="Cascadia Mono Light" pitchFamily="49" charset="0"/>
              </a:rPr>
              <a:t>. Копируем т.к. </a:t>
            </a:r>
            <a:r>
              <a:rPr lang="ru-RU" sz="1400" dirty="0" smtClean="0">
                <a:latin typeface="Cascadia Mono Light" pitchFamily="49" charset="0"/>
                <a:cs typeface="Cascadia Mono Light" pitchFamily="49" charset="0"/>
              </a:rPr>
              <a:t>следующей строкой мы будем менять индекс, и мы не хотим испортить исходный </a:t>
            </a:r>
            <a:r>
              <a:rPr lang="ru-RU" sz="1400" dirty="0" err="1" smtClean="0">
                <a:latin typeface="Cascadia Mono Light" pitchFamily="49" charset="0"/>
                <a:cs typeface="Cascadia Mono Light" pitchFamily="49" charset="0"/>
              </a:rPr>
              <a:t>df</a:t>
            </a:r>
            <a:r>
              <a:rPr lang="ru-RU" sz="1400" dirty="0" smtClean="0">
                <a:latin typeface="Cascadia Mono Light" pitchFamily="49" charset="0"/>
                <a:cs typeface="Cascadia Mono Light" pitchFamily="49" charset="0"/>
              </a:rPr>
              <a:t>.</a:t>
            </a:r>
          </a:p>
          <a:p>
            <a:endParaRPr lang="ru-RU" sz="1400" dirty="0" smtClean="0">
              <a:latin typeface="Cascadia Mono Light" pitchFamily="49" charset="0"/>
              <a:cs typeface="Cascadia Mono Light" pitchFamily="49" charset="0"/>
            </a:endParaRPr>
          </a:p>
          <a:p>
            <a:r>
              <a:rPr lang="ru-RU" sz="1400" dirty="0" smtClean="0">
                <a:latin typeface="Cascadia Mono Light" pitchFamily="49" charset="0"/>
                <a:cs typeface="Cascadia Mono Light" pitchFamily="49" charset="0"/>
              </a:rPr>
              <a:t>Разберём цепочку вызовов справа налево:</a:t>
            </a:r>
          </a:p>
          <a:p>
            <a:r>
              <a:rPr lang="ru-RU" sz="1400" dirty="0" smtClean="0">
                <a:latin typeface="Cascadia Mono Light" pitchFamily="49" charset="0"/>
                <a:cs typeface="Cascadia Mono Light" pitchFamily="49" charset="0"/>
              </a:rPr>
              <a:t>.</a:t>
            </a:r>
            <a:r>
              <a:rPr lang="ru-RU" sz="1400" dirty="0" err="1" smtClean="0">
                <a:latin typeface="Cascadia Mono Light" pitchFamily="49" charset="0"/>
                <a:cs typeface="Cascadia Mono Light" pitchFamily="49" charset="0"/>
              </a:rPr>
              <a:t>head</a:t>
            </a:r>
            <a:r>
              <a:rPr lang="ru-RU" sz="1400" dirty="0" smtClean="0">
                <a:latin typeface="Cascadia Mono Light" pitchFamily="49" charset="0"/>
                <a:cs typeface="Cascadia Mono Light" pitchFamily="49" charset="0"/>
              </a:rPr>
              <a:t>(5):</a:t>
            </a:r>
            <a:br>
              <a:rPr lang="ru-RU" sz="1400" dirty="0" smtClean="0">
                <a:latin typeface="Cascadia Mono Light" pitchFamily="49" charset="0"/>
                <a:cs typeface="Cascadia Mono Light" pitchFamily="49" charset="0"/>
              </a:rPr>
            </a:br>
            <a:r>
              <a:rPr lang="ru-RU" sz="1400" dirty="0" smtClean="0">
                <a:latin typeface="Cascadia Mono Light" pitchFamily="49" charset="0"/>
                <a:cs typeface="Cascadia Mono Light" pitchFamily="49" charset="0"/>
              </a:rPr>
              <a:t>Метод </a:t>
            </a:r>
            <a:r>
              <a:rPr lang="ru-RU" sz="1400" dirty="0" err="1" smtClean="0">
                <a:latin typeface="Cascadia Mono Light" pitchFamily="49" charset="0"/>
                <a:cs typeface="Cascadia Mono Light" pitchFamily="49" charset="0"/>
              </a:rPr>
              <a:t>pandas</a:t>
            </a:r>
            <a:r>
              <a:rPr lang="ru-RU" sz="1400" dirty="0" smtClean="0">
                <a:latin typeface="Cascadia Mono Light" pitchFamily="49" charset="0"/>
                <a:cs typeface="Cascadia Mono Light" pitchFamily="49" charset="0"/>
              </a:rPr>
              <a:t>, который возвращает первые 5 строк таблицы. </a:t>
            </a:r>
            <a:r>
              <a:rPr lang="ru-RU" sz="1400" dirty="0" err="1" smtClean="0">
                <a:latin typeface="Cascadia Mono Light" pitchFamily="49" charset="0"/>
                <a:cs typeface="Cascadia Mono Light" pitchFamily="49" charset="0"/>
              </a:rPr>
              <a:t>head</a:t>
            </a:r>
            <a:r>
              <a:rPr lang="ru-RU" sz="1400" dirty="0" smtClean="0">
                <a:latin typeface="Cascadia Mono Light" pitchFamily="49" charset="0"/>
                <a:cs typeface="Cascadia Mono Light" pitchFamily="49" charset="0"/>
              </a:rPr>
              <a:t> = «голова», «начало». Без аргумента возвращает 5 строк по умолчанию.</a:t>
            </a:r>
          </a:p>
          <a:p>
            <a:r>
              <a:rPr lang="ru-RU" sz="1400" dirty="0" smtClean="0">
                <a:latin typeface="Cascadia Mono Light" pitchFamily="49" charset="0"/>
                <a:cs typeface="Cascadia Mono Light" pitchFamily="49" charset="0"/>
              </a:rPr>
              <a:t>.</a:t>
            </a:r>
            <a:r>
              <a:rPr lang="ru-RU" sz="1400" dirty="0" err="1" smtClean="0">
                <a:latin typeface="Cascadia Mono Light" pitchFamily="49" charset="0"/>
                <a:cs typeface="Cascadia Mono Light" pitchFamily="49" charset="0"/>
              </a:rPr>
              <a:t>copy</a:t>
            </a:r>
            <a:r>
              <a:rPr lang="ru-RU" sz="1400" dirty="0" smtClean="0">
                <a:latin typeface="Cascadia Mono Light" pitchFamily="49" charset="0"/>
                <a:cs typeface="Cascadia Mono Light" pitchFamily="49" charset="0"/>
              </a:rPr>
              <a:t>():</a:t>
            </a:r>
            <a:br>
              <a:rPr lang="ru-RU" sz="1400" dirty="0" smtClean="0">
                <a:latin typeface="Cascadia Mono Light" pitchFamily="49" charset="0"/>
                <a:cs typeface="Cascadia Mono Light" pitchFamily="49" charset="0"/>
              </a:rPr>
            </a:br>
            <a:r>
              <a:rPr lang="ru-RU" sz="1400" dirty="0" smtClean="0">
                <a:latin typeface="Cascadia Mono Light" pitchFamily="49" charset="0"/>
                <a:cs typeface="Cascadia Mono Light" pitchFamily="49" charset="0"/>
              </a:rPr>
              <a:t>Создаёт полную независимую копию результата. Это важно:</a:t>
            </a:r>
          </a:p>
          <a:p>
            <a:r>
              <a:rPr lang="ru-RU" sz="1400" dirty="0" smtClean="0">
                <a:latin typeface="Cascadia Mono Light" pitchFamily="49" charset="0"/>
                <a:cs typeface="Cascadia Mono Light" pitchFamily="49" charset="0"/>
              </a:rPr>
              <a:t>Без .</a:t>
            </a:r>
            <a:r>
              <a:rPr lang="ru-RU" sz="1400" dirty="0" err="1" smtClean="0">
                <a:latin typeface="Cascadia Mono Light" pitchFamily="49" charset="0"/>
                <a:cs typeface="Cascadia Mono Light" pitchFamily="49" charset="0"/>
              </a:rPr>
              <a:t>copy</a:t>
            </a:r>
            <a:r>
              <a:rPr lang="ru-RU" sz="1400" dirty="0" smtClean="0">
                <a:latin typeface="Cascadia Mono Light" pitchFamily="49" charset="0"/>
                <a:cs typeface="Cascadia Mono Light" pitchFamily="49" charset="0"/>
              </a:rPr>
              <a:t>() </a:t>
            </a:r>
            <a:r>
              <a:rPr lang="ru-RU" sz="1400" dirty="0" err="1" smtClean="0">
                <a:latin typeface="Cascadia Mono Light" pitchFamily="49" charset="0"/>
                <a:cs typeface="Cascadia Mono Light" pitchFamily="49" charset="0"/>
              </a:rPr>
              <a:t>sample</a:t>
            </a:r>
            <a:r>
              <a:rPr lang="ru-RU" sz="1400" dirty="0" smtClean="0">
                <a:latin typeface="Cascadia Mono Light" pitchFamily="49" charset="0"/>
                <a:cs typeface="Cascadia Mono Light" pitchFamily="49" charset="0"/>
              </a:rPr>
              <a:t> был бы представлением исходного </a:t>
            </a:r>
            <a:r>
              <a:rPr lang="ru-RU" sz="1400" dirty="0" err="1" smtClean="0">
                <a:latin typeface="Cascadia Mono Light" pitchFamily="49" charset="0"/>
                <a:cs typeface="Cascadia Mono Light" pitchFamily="49" charset="0"/>
              </a:rPr>
              <a:t>df</a:t>
            </a:r>
            <a:r>
              <a:rPr lang="ru-RU" sz="1400" dirty="0" smtClean="0">
                <a:latin typeface="Cascadia Mono Light" pitchFamily="49" charset="0"/>
                <a:cs typeface="Cascadia Mono Light" pitchFamily="49" charset="0"/>
              </a:rPr>
              <a:t>. То есть изменения в </a:t>
            </a:r>
            <a:r>
              <a:rPr lang="ru-RU" sz="1400" dirty="0" err="1" smtClean="0">
                <a:latin typeface="Cascadia Mono Light" pitchFamily="49" charset="0"/>
                <a:cs typeface="Cascadia Mono Light" pitchFamily="49" charset="0"/>
              </a:rPr>
              <a:t>sample</a:t>
            </a:r>
            <a:r>
              <a:rPr lang="ru-RU" sz="1400" dirty="0" smtClean="0">
                <a:latin typeface="Cascadia Mono Light" pitchFamily="49" charset="0"/>
                <a:cs typeface="Cascadia Mono Light" pitchFamily="49" charset="0"/>
              </a:rPr>
              <a:t> меняли бы </a:t>
            </a:r>
            <a:r>
              <a:rPr lang="ru-RU" sz="1400" dirty="0" err="1" smtClean="0">
                <a:latin typeface="Cascadia Mono Light" pitchFamily="49" charset="0"/>
                <a:cs typeface="Cascadia Mono Light" pitchFamily="49" charset="0"/>
              </a:rPr>
              <a:t>df</a:t>
            </a:r>
            <a:r>
              <a:rPr lang="ru-RU" sz="1400" dirty="0" smtClean="0">
                <a:latin typeface="Cascadia Mono Light" pitchFamily="49" charset="0"/>
                <a:cs typeface="Cascadia Mono Light" pitchFamily="49" charset="0"/>
              </a:rPr>
              <a:t>. </a:t>
            </a:r>
            <a:r>
              <a:rPr lang="ru-RU" sz="1400" dirty="0" err="1" smtClean="0">
                <a:latin typeface="Cascadia Mono Light" pitchFamily="49" charset="0"/>
                <a:cs typeface="Cascadia Mono Light" pitchFamily="49" charset="0"/>
              </a:rPr>
              <a:t>Pandas</a:t>
            </a:r>
            <a:r>
              <a:rPr lang="ru-RU" sz="1400" dirty="0" smtClean="0">
                <a:latin typeface="Cascadia Mono Light" pitchFamily="49" charset="0"/>
                <a:cs typeface="Cascadia Mono Light" pitchFamily="49" charset="0"/>
              </a:rPr>
              <a:t> может выдать предупреждение.</a:t>
            </a:r>
          </a:p>
          <a:p>
            <a:r>
              <a:rPr lang="ru-RU" sz="1400" dirty="0" smtClean="0">
                <a:latin typeface="Cascadia Mono Light" pitchFamily="49" charset="0"/>
                <a:cs typeface="Cascadia Mono Light" pitchFamily="49" charset="0"/>
              </a:rPr>
              <a:t>С .</a:t>
            </a:r>
            <a:r>
              <a:rPr lang="ru-RU" sz="1400" dirty="0" err="1" smtClean="0">
                <a:latin typeface="Cascadia Mono Light" pitchFamily="49" charset="0"/>
                <a:cs typeface="Cascadia Mono Light" pitchFamily="49" charset="0"/>
              </a:rPr>
              <a:t>copy</a:t>
            </a:r>
            <a:r>
              <a:rPr lang="ru-RU" sz="1400" dirty="0" smtClean="0">
                <a:latin typeface="Cascadia Mono Light" pitchFamily="49" charset="0"/>
                <a:cs typeface="Cascadia Mono Light" pitchFamily="49" charset="0"/>
              </a:rPr>
              <a:t>() </a:t>
            </a:r>
            <a:r>
              <a:rPr lang="ru-RU" sz="1400" dirty="0" err="1" smtClean="0">
                <a:latin typeface="Cascadia Mono Light" pitchFamily="49" charset="0"/>
                <a:cs typeface="Cascadia Mono Light" pitchFamily="49" charset="0"/>
              </a:rPr>
              <a:t>sample</a:t>
            </a:r>
            <a:r>
              <a:rPr lang="ru-RU" sz="1400" dirty="0" smtClean="0">
                <a:latin typeface="Cascadia Mono Light" pitchFamily="49" charset="0"/>
                <a:cs typeface="Cascadia Mono Light" pitchFamily="49" charset="0"/>
              </a:rPr>
              <a:t> — отдельная таблица. Можно менять как угодно, </a:t>
            </a:r>
            <a:r>
              <a:rPr lang="ru-RU" sz="1400" dirty="0" err="1" smtClean="0">
                <a:latin typeface="Cascadia Mono Light" pitchFamily="49" charset="0"/>
                <a:cs typeface="Cascadia Mono Light" pitchFamily="49" charset="0"/>
              </a:rPr>
              <a:t>df</a:t>
            </a:r>
            <a:r>
              <a:rPr lang="ru-RU" sz="1400" dirty="0" smtClean="0">
                <a:latin typeface="Cascadia Mono Light" pitchFamily="49" charset="0"/>
                <a:cs typeface="Cascadia Mono Light" pitchFamily="49" charset="0"/>
              </a:rPr>
              <a:t> не тронут.</a:t>
            </a:r>
          </a:p>
          <a:p>
            <a:r>
              <a:rPr lang="ru-RU" sz="1400" dirty="0" err="1" smtClean="0">
                <a:latin typeface="Cascadia Mono Light" pitchFamily="49" charset="0"/>
                <a:cs typeface="Cascadia Mono Light" pitchFamily="49" charset="0"/>
              </a:rPr>
              <a:t>sample</a:t>
            </a:r>
            <a:r>
              <a:rPr lang="ru-RU" sz="1400" dirty="0" smtClean="0">
                <a:latin typeface="Cascadia Mono Light" pitchFamily="49" charset="0"/>
                <a:cs typeface="Cascadia Mono Light" pitchFamily="49" charset="0"/>
              </a:rPr>
              <a:t> = ...:</a:t>
            </a:r>
            <a:br>
              <a:rPr lang="ru-RU" sz="1400" dirty="0" smtClean="0">
                <a:latin typeface="Cascadia Mono Light" pitchFamily="49" charset="0"/>
                <a:cs typeface="Cascadia Mono Light" pitchFamily="49" charset="0"/>
              </a:rPr>
            </a:br>
            <a:r>
              <a:rPr lang="ru-RU" sz="1400" dirty="0" smtClean="0">
                <a:latin typeface="Cascadia Mono Light" pitchFamily="49" charset="0"/>
                <a:cs typeface="Cascadia Mono Light" pitchFamily="49" charset="0"/>
              </a:rPr>
              <a:t>Присваиваем результат переменной </a:t>
            </a:r>
            <a:r>
              <a:rPr lang="ru-RU" sz="1400" dirty="0" err="1" smtClean="0">
                <a:latin typeface="Cascadia Mono Light" pitchFamily="49" charset="0"/>
                <a:cs typeface="Cascadia Mono Light" pitchFamily="49" charset="0"/>
              </a:rPr>
              <a:t>sample</a:t>
            </a:r>
            <a:r>
              <a:rPr lang="ru-RU" sz="1400" dirty="0" smtClean="0">
                <a:latin typeface="Cascadia Mono Light" pitchFamily="49" charset="0"/>
                <a:cs typeface="Cascadia Mono Light" pitchFamily="49" charset="0"/>
              </a:rPr>
              <a:t>.</a:t>
            </a:r>
          </a:p>
          <a:p>
            <a:endParaRPr lang="ru-RU" sz="1400" dirty="0" smtClean="0">
              <a:latin typeface="Cascadia Mono Light" pitchFamily="49" charset="0"/>
              <a:cs typeface="Cascadia Mono Light" pitchFamily="49" charset="0"/>
            </a:endParaRPr>
          </a:p>
          <a:p>
            <a:endParaRPr lang="ru-RU" sz="1400" dirty="0">
              <a:latin typeface="Cascadia Mono Light" pitchFamily="49" charset="0"/>
              <a:cs typeface="Cascadia Mono Light" pitchFamily="49" charset="0"/>
            </a:endParaRPr>
          </a:p>
        </p:txBody>
      </p:sp>
      <p:pic>
        <p:nvPicPr>
          <p:cNvPr id="68610" name="Picture 2"/>
          <p:cNvPicPr>
            <a:picLocks noChangeAspect="1" noChangeArrowheads="1"/>
          </p:cNvPicPr>
          <p:nvPr/>
        </p:nvPicPr>
        <p:blipFill>
          <a:blip r:embed="rId2" cstate="print"/>
          <a:srcRect l="4144" t="26000" r="5217" b="52000"/>
          <a:stretch>
            <a:fillRect/>
          </a:stretch>
        </p:blipFill>
        <p:spPr bwMode="auto">
          <a:xfrm>
            <a:off x="228600" y="304800"/>
            <a:ext cx="8582891" cy="160020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04800" y="2133600"/>
            <a:ext cx="8458200" cy="4038599"/>
          </a:xfrm>
        </p:spPr>
        <p:txBody>
          <a:bodyPr>
            <a:noAutofit/>
          </a:bodyPr>
          <a:lstStyle/>
          <a:p>
            <a:r>
              <a:rPr lang="ru-RU" sz="1400" b="1" dirty="0" err="1" smtClean="0">
                <a:latin typeface="Cascadia Mono Light" pitchFamily="49" charset="0"/>
                <a:cs typeface="Cascadia Mono Light" pitchFamily="49" charset="0"/>
              </a:rPr>
              <a:t>sample.index</a:t>
            </a:r>
            <a:r>
              <a:rPr lang="ru-RU" sz="1400" b="1" dirty="0" smtClean="0">
                <a:latin typeface="Cascadia Mono Light" pitchFamily="49" charset="0"/>
                <a:cs typeface="Cascadia Mono Light" pitchFamily="49" charset="0"/>
              </a:rPr>
              <a:t> = </a:t>
            </a:r>
            <a:r>
              <a:rPr lang="ru-RU" sz="1400" b="1" dirty="0" err="1" smtClean="0">
                <a:latin typeface="Cascadia Mono Light" pitchFamily="49" charset="0"/>
                <a:cs typeface="Cascadia Mono Light" pitchFamily="49" charset="0"/>
              </a:rPr>
              <a:t>range</a:t>
            </a:r>
            <a:r>
              <a:rPr lang="ru-RU" sz="1400" b="1" dirty="0" smtClean="0">
                <a:latin typeface="Cascadia Mono Light" pitchFamily="49" charset="0"/>
                <a:cs typeface="Cascadia Mono Light" pitchFamily="49" charset="0"/>
              </a:rPr>
              <a:t>(1, 6</a:t>
            </a:r>
            <a:r>
              <a:rPr lang="ru-RU" sz="1400" b="1" dirty="0" smtClean="0">
                <a:latin typeface="Cascadia Mono Light" pitchFamily="49" charset="0"/>
                <a:cs typeface="Cascadia Mono Light" pitchFamily="49" charset="0"/>
              </a:rPr>
              <a:t>) </a:t>
            </a:r>
            <a:r>
              <a:rPr lang="ru-RU" sz="1400" dirty="0" smtClean="0">
                <a:latin typeface="Cascadia Mono Light" pitchFamily="49" charset="0"/>
                <a:cs typeface="Cascadia Mono Light" pitchFamily="49" charset="0"/>
              </a:rPr>
              <a:t>-  </a:t>
            </a:r>
            <a:r>
              <a:rPr lang="ru-RU" sz="1400" dirty="0" smtClean="0">
                <a:latin typeface="Cascadia Mono Light" pitchFamily="49" charset="0"/>
                <a:cs typeface="Cascadia Mono Light" pitchFamily="49" charset="0"/>
              </a:rPr>
              <a:t>по умолчанию </a:t>
            </a:r>
            <a:r>
              <a:rPr lang="ru-RU" sz="1400" dirty="0" err="1" smtClean="0">
                <a:latin typeface="Cascadia Mono Light" pitchFamily="49" charset="0"/>
                <a:cs typeface="Cascadia Mono Light" pitchFamily="49" charset="0"/>
              </a:rPr>
              <a:t>pandas</a:t>
            </a:r>
            <a:r>
              <a:rPr lang="ru-RU" sz="1400" dirty="0" smtClean="0">
                <a:latin typeface="Cascadia Mono Light" pitchFamily="49" charset="0"/>
                <a:cs typeface="Cascadia Mono Light" pitchFamily="49" charset="0"/>
              </a:rPr>
              <a:t> нумерует строки с 0: 0, 1, 2, 3, 4. Мы хотим, чтобы строки шли 1, 2, 3, 4, 5 — это привычнее для человека.</a:t>
            </a:r>
          </a:p>
          <a:p>
            <a:r>
              <a:rPr lang="ru-RU" sz="1400" dirty="0" err="1" smtClean="0">
                <a:latin typeface="Cascadia Mono Light" pitchFamily="49" charset="0"/>
                <a:cs typeface="Cascadia Mono Light" pitchFamily="49" charset="0"/>
              </a:rPr>
              <a:t>sample.index</a:t>
            </a:r>
            <a:r>
              <a:rPr lang="ru-RU" sz="1400" dirty="0" smtClean="0">
                <a:latin typeface="Cascadia Mono Light" pitchFamily="49" charset="0"/>
                <a:cs typeface="Cascadia Mono Light" pitchFamily="49" charset="0"/>
              </a:rPr>
              <a:t> </a:t>
            </a:r>
            <a:r>
              <a:rPr lang="ru-RU" sz="1400" dirty="0" smtClean="0">
                <a:latin typeface="Cascadia Mono Light" pitchFamily="49" charset="0"/>
                <a:cs typeface="Cascadia Mono Light" pitchFamily="49" charset="0"/>
              </a:rPr>
              <a:t>— атрибут таблицы, хранящий индексы строк.</a:t>
            </a:r>
          </a:p>
          <a:p>
            <a:r>
              <a:rPr lang="ru-RU" sz="1400" dirty="0" err="1" smtClean="0">
                <a:latin typeface="Cascadia Mono Light" pitchFamily="49" charset="0"/>
                <a:cs typeface="Cascadia Mono Light" pitchFamily="49" charset="0"/>
              </a:rPr>
              <a:t>range</a:t>
            </a:r>
            <a:r>
              <a:rPr lang="ru-RU" sz="1400" dirty="0" smtClean="0">
                <a:latin typeface="Cascadia Mono Light" pitchFamily="49" charset="0"/>
                <a:cs typeface="Cascadia Mono Light" pitchFamily="49" charset="0"/>
              </a:rPr>
              <a:t>(1, 6) — функция </a:t>
            </a:r>
            <a:r>
              <a:rPr lang="ru-RU" sz="1400" dirty="0" err="1" smtClean="0">
                <a:latin typeface="Cascadia Mono Light" pitchFamily="49" charset="0"/>
                <a:cs typeface="Cascadia Mono Light" pitchFamily="49" charset="0"/>
              </a:rPr>
              <a:t>Python</a:t>
            </a:r>
            <a:r>
              <a:rPr lang="ru-RU" sz="1400" dirty="0" smtClean="0">
                <a:latin typeface="Cascadia Mono Light" pitchFamily="49" charset="0"/>
                <a:cs typeface="Cascadia Mono Light" pitchFamily="49" charset="0"/>
              </a:rPr>
              <a:t>, создающая последовательность чисел от 1 до 5 (не включая 6): [1, 2, 3, 4, 5].</a:t>
            </a:r>
          </a:p>
          <a:p>
            <a:r>
              <a:rPr lang="ru-RU" sz="1400" dirty="0" smtClean="0">
                <a:latin typeface="Cascadia Mono Light" pitchFamily="49" charset="0"/>
                <a:cs typeface="Cascadia Mono Light" pitchFamily="49" charset="0"/>
              </a:rPr>
              <a:t>Присваиваем её атрибуту .</a:t>
            </a:r>
            <a:r>
              <a:rPr lang="ru-RU" sz="1400" dirty="0" err="1" smtClean="0">
                <a:latin typeface="Cascadia Mono Light" pitchFamily="49" charset="0"/>
                <a:cs typeface="Cascadia Mono Light" pitchFamily="49" charset="0"/>
              </a:rPr>
              <a:t>index</a:t>
            </a:r>
            <a:r>
              <a:rPr lang="ru-RU" sz="1400" dirty="0" smtClean="0">
                <a:latin typeface="Cascadia Mono Light" pitchFamily="49" charset="0"/>
                <a:cs typeface="Cascadia Mono Light" pitchFamily="49" charset="0"/>
              </a:rPr>
              <a:t> — </a:t>
            </a:r>
            <a:r>
              <a:rPr lang="ru-RU" sz="1400" dirty="0" err="1" smtClean="0">
                <a:latin typeface="Cascadia Mono Light" pitchFamily="49" charset="0"/>
                <a:cs typeface="Cascadia Mono Light" pitchFamily="49" charset="0"/>
              </a:rPr>
              <a:t>pandas</a:t>
            </a:r>
            <a:r>
              <a:rPr lang="ru-RU" sz="1400" dirty="0" smtClean="0">
                <a:latin typeface="Cascadia Mono Light" pitchFamily="49" charset="0"/>
                <a:cs typeface="Cascadia Mono Light" pitchFamily="49" charset="0"/>
              </a:rPr>
              <a:t> подставляет эту последовательность в качестве </a:t>
            </a:r>
            <a:r>
              <a:rPr lang="ru-RU" sz="1400" dirty="0" smtClean="0">
                <a:latin typeface="Cascadia Mono Light" pitchFamily="49" charset="0"/>
                <a:cs typeface="Cascadia Mono Light" pitchFamily="49" charset="0"/>
              </a:rPr>
              <a:t>новых </a:t>
            </a:r>
            <a:r>
              <a:rPr lang="ru-RU" sz="1400" dirty="0" smtClean="0">
                <a:latin typeface="Cascadia Mono Light" pitchFamily="49" charset="0"/>
                <a:cs typeface="Cascadia Mono Light" pitchFamily="49" charset="0"/>
              </a:rPr>
              <a:t>индексов</a:t>
            </a:r>
            <a:r>
              <a:rPr lang="ru-RU" sz="1400" dirty="0" smtClean="0">
                <a:latin typeface="Cascadia Mono Light" pitchFamily="49" charset="0"/>
                <a:cs typeface="Cascadia Mono Light" pitchFamily="49" charset="0"/>
              </a:rPr>
              <a:t>.</a:t>
            </a:r>
          </a:p>
          <a:p>
            <a:endParaRPr lang="ru-RU" sz="1400" dirty="0" smtClean="0">
              <a:latin typeface="Cascadia Mono Light" pitchFamily="49" charset="0"/>
              <a:cs typeface="Cascadia Mono Light" pitchFamily="49" charset="0"/>
            </a:endParaRPr>
          </a:p>
          <a:p>
            <a:r>
              <a:rPr lang="ru-RU" sz="1400" b="1" dirty="0" err="1" smtClean="0">
                <a:latin typeface="Cascadia Mono Light" pitchFamily="49" charset="0"/>
                <a:cs typeface="Cascadia Mono Light" pitchFamily="49" charset="0"/>
              </a:rPr>
              <a:t>print</a:t>
            </a:r>
            <a:r>
              <a:rPr lang="ru-RU" sz="1400" b="1" dirty="0" smtClean="0">
                <a:latin typeface="Cascadia Mono Light" pitchFamily="49" charset="0"/>
                <a:cs typeface="Cascadia Mono Light" pitchFamily="49" charset="0"/>
              </a:rPr>
              <a:t>(</a:t>
            </a:r>
            <a:r>
              <a:rPr lang="ru-RU" sz="1400" b="1" dirty="0" err="1" smtClean="0">
                <a:latin typeface="Cascadia Mono Light" pitchFamily="49" charset="0"/>
                <a:cs typeface="Cascadia Mono Light" pitchFamily="49" charset="0"/>
              </a:rPr>
              <a:t>sample.round</a:t>
            </a:r>
            <a:r>
              <a:rPr lang="ru-RU" sz="1400" b="1" dirty="0" smtClean="0">
                <a:latin typeface="Cascadia Mono Light" pitchFamily="49" charset="0"/>
                <a:cs typeface="Cascadia Mono Light" pitchFamily="49" charset="0"/>
              </a:rPr>
              <a:t>(3</a:t>
            </a:r>
            <a:r>
              <a:rPr lang="ru-RU" sz="1400" b="1" dirty="0" smtClean="0">
                <a:latin typeface="Cascadia Mono Light" pitchFamily="49" charset="0"/>
                <a:cs typeface="Cascadia Mono Light" pitchFamily="49" charset="0"/>
              </a:rPr>
              <a:t>))</a:t>
            </a:r>
            <a:r>
              <a:rPr lang="ru-RU" sz="1400" dirty="0" smtClean="0">
                <a:latin typeface="Cascadia Mono Light" pitchFamily="49" charset="0"/>
                <a:cs typeface="Cascadia Mono Light" pitchFamily="49" charset="0"/>
              </a:rPr>
              <a:t> - выводим </a:t>
            </a:r>
            <a:r>
              <a:rPr lang="ru-RU" sz="1400" dirty="0" smtClean="0">
                <a:latin typeface="Cascadia Mono Light" pitchFamily="49" charset="0"/>
                <a:cs typeface="Cascadia Mono Light" pitchFamily="49" charset="0"/>
              </a:rPr>
              <a:t>первые 5 объектов с округлением чисел до 3 знаков после запятой.</a:t>
            </a:r>
          </a:p>
          <a:p>
            <a:r>
              <a:rPr lang="ru-RU" sz="1400" dirty="0" smtClean="0">
                <a:latin typeface="Cascadia Mono Light" pitchFamily="49" charset="0"/>
                <a:cs typeface="Cascadia Mono Light" pitchFamily="49" charset="0"/>
              </a:rPr>
              <a:t>.</a:t>
            </a:r>
            <a:r>
              <a:rPr lang="ru-RU" sz="1400" dirty="0" err="1" smtClean="0">
                <a:latin typeface="Cascadia Mono Light" pitchFamily="49" charset="0"/>
                <a:cs typeface="Cascadia Mono Light" pitchFamily="49" charset="0"/>
              </a:rPr>
              <a:t>round</a:t>
            </a:r>
            <a:r>
              <a:rPr lang="ru-RU" sz="1400" dirty="0" smtClean="0">
                <a:latin typeface="Cascadia Mono Light" pitchFamily="49" charset="0"/>
                <a:cs typeface="Cascadia Mono Light" pitchFamily="49" charset="0"/>
              </a:rPr>
              <a:t>(3) - Метод </a:t>
            </a:r>
            <a:r>
              <a:rPr lang="ru-RU" sz="1400" dirty="0" err="1" smtClean="0">
                <a:latin typeface="Cascadia Mono Light" pitchFamily="49" charset="0"/>
                <a:cs typeface="Cascadia Mono Light" pitchFamily="49" charset="0"/>
              </a:rPr>
              <a:t>pandas</a:t>
            </a:r>
            <a:r>
              <a:rPr lang="ru-RU" sz="1400" dirty="0" smtClean="0">
                <a:latin typeface="Cascadia Mono Light" pitchFamily="49" charset="0"/>
                <a:cs typeface="Cascadia Mono Light" pitchFamily="49" charset="0"/>
              </a:rPr>
              <a:t>, который округляет все числа в таблице до 3 знаков после запятой. Возвращает новую таблицу (не меняет исходную).</a:t>
            </a:r>
          </a:p>
          <a:p>
            <a:r>
              <a:rPr lang="ru-RU" sz="1400" dirty="0" smtClean="0">
                <a:latin typeface="Cascadia Mono Light" pitchFamily="49" charset="0"/>
                <a:cs typeface="Cascadia Mono Light" pitchFamily="49" charset="0"/>
              </a:rPr>
              <a:t>Без округления: 8.32520000, 41.0000000, 6.98412698</a:t>
            </a:r>
          </a:p>
          <a:p>
            <a:r>
              <a:rPr lang="ru-RU" sz="1400" dirty="0" smtClean="0">
                <a:latin typeface="Cascadia Mono Light" pitchFamily="49" charset="0"/>
                <a:cs typeface="Cascadia Mono Light" pitchFamily="49" charset="0"/>
              </a:rPr>
              <a:t>С округлением: 8.325, 41.000, </a:t>
            </a:r>
            <a:r>
              <a:rPr lang="ru-RU" sz="1400" dirty="0" smtClean="0">
                <a:latin typeface="Cascadia Mono Light" pitchFamily="49" charset="0"/>
                <a:cs typeface="Cascadia Mono Light" pitchFamily="49" charset="0"/>
              </a:rPr>
              <a:t>6.984.</a:t>
            </a:r>
            <a:endParaRPr lang="ru-RU" sz="1400" dirty="0" smtClean="0">
              <a:latin typeface="Cascadia Mono Light" pitchFamily="49" charset="0"/>
              <a:cs typeface="Cascadia Mono Light" pitchFamily="49" charset="0"/>
            </a:endParaRPr>
          </a:p>
          <a:p>
            <a:endParaRPr lang="ru-RU" sz="1400" dirty="0">
              <a:latin typeface="Cascadia Mono Light" pitchFamily="49" charset="0"/>
              <a:cs typeface="Cascadia Mono Light" pitchFamily="49" charset="0"/>
            </a:endParaRPr>
          </a:p>
        </p:txBody>
      </p:sp>
      <p:pic>
        <p:nvPicPr>
          <p:cNvPr id="68610" name="Picture 2"/>
          <p:cNvPicPr>
            <a:picLocks noChangeAspect="1" noChangeArrowheads="1"/>
          </p:cNvPicPr>
          <p:nvPr/>
        </p:nvPicPr>
        <p:blipFill>
          <a:blip r:embed="rId2" cstate="print"/>
          <a:srcRect l="4144" t="26000" r="5217" b="52000"/>
          <a:stretch>
            <a:fillRect/>
          </a:stretch>
        </p:blipFill>
        <p:spPr bwMode="auto">
          <a:xfrm>
            <a:off x="228600" y="304800"/>
            <a:ext cx="8582891" cy="1600200"/>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latin typeface="Cascadia Mono Light" pitchFamily="49" charset="0"/>
                <a:cs typeface="Cascadia Mono Light" pitchFamily="49" charset="0"/>
              </a:rPr>
              <a:t>3. Разбивка на выборки</a:t>
            </a:r>
            <a:endParaRPr lang="ru-RU" dirty="0">
              <a:latin typeface="Cascadia Mono Light" pitchFamily="49" charset="0"/>
              <a:cs typeface="Cascadia Mono Light" pitchFamily="49" charset="0"/>
            </a:endParaRPr>
          </a:p>
        </p:txBody>
      </p:sp>
      <p:sp>
        <p:nvSpPr>
          <p:cNvPr id="3" name="Содержимое 2"/>
          <p:cNvSpPr>
            <a:spLocks noGrp="1"/>
          </p:cNvSpPr>
          <p:nvPr>
            <p:ph idx="1"/>
          </p:nvPr>
        </p:nvSpPr>
        <p:spPr>
          <a:xfrm>
            <a:off x="457200" y="4999037"/>
            <a:ext cx="8153400" cy="1858963"/>
          </a:xfrm>
        </p:spPr>
        <p:txBody>
          <a:bodyPr>
            <a:normAutofit fontScale="40000" lnSpcReduction="20000"/>
          </a:bodyPr>
          <a:lstStyle/>
          <a:p>
            <a:r>
              <a:rPr lang="ru-RU" dirty="0" smtClean="0">
                <a:latin typeface="Cascadia Mono Light" pitchFamily="49" charset="0"/>
                <a:cs typeface="Cascadia Mono Light" pitchFamily="49" charset="0"/>
              </a:rPr>
              <a:t>нужно сделать два важных шага:</a:t>
            </a:r>
          </a:p>
          <a:p>
            <a:r>
              <a:rPr lang="ru-RU" dirty="0" smtClean="0">
                <a:latin typeface="Cascadia Mono Light" pitchFamily="49" charset="0"/>
                <a:cs typeface="Cascadia Mono Light" pitchFamily="49" charset="0"/>
              </a:rPr>
              <a:t>Разделить данные на X и </a:t>
            </a:r>
            <a:r>
              <a:rPr lang="ru-RU" dirty="0" err="1" smtClean="0">
                <a:latin typeface="Cascadia Mono Light" pitchFamily="49" charset="0"/>
                <a:cs typeface="Cascadia Mono Light" pitchFamily="49" charset="0"/>
              </a:rPr>
              <a:t>y</a:t>
            </a:r>
            <a:r>
              <a:rPr lang="ru-RU" dirty="0" smtClean="0">
                <a:latin typeface="Cascadia Mono Light" pitchFamily="49" charset="0"/>
                <a:cs typeface="Cascadia Mono Light" pitchFamily="49" charset="0"/>
              </a:rPr>
              <a:t>. X — то, что подаём на вход модели (признаки). </a:t>
            </a:r>
            <a:r>
              <a:rPr lang="ru-RU" dirty="0" err="1" smtClean="0">
                <a:latin typeface="Cascadia Mono Light" pitchFamily="49" charset="0"/>
                <a:cs typeface="Cascadia Mono Light" pitchFamily="49" charset="0"/>
              </a:rPr>
              <a:t>y</a:t>
            </a:r>
            <a:r>
              <a:rPr lang="ru-RU" dirty="0" smtClean="0">
                <a:latin typeface="Cascadia Mono Light" pitchFamily="49" charset="0"/>
                <a:cs typeface="Cascadia Mono Light" pitchFamily="49" charset="0"/>
              </a:rPr>
              <a:t> — то, что модель должна предсказать (целевая переменная).</a:t>
            </a:r>
          </a:p>
          <a:p>
            <a:r>
              <a:rPr lang="ru-RU" dirty="0" smtClean="0">
                <a:latin typeface="Cascadia Mono Light" pitchFamily="49" charset="0"/>
                <a:cs typeface="Cascadia Mono Light" pitchFamily="49" charset="0"/>
              </a:rPr>
              <a:t>Разбить данные на </a:t>
            </a:r>
            <a:r>
              <a:rPr lang="ru-RU" dirty="0" err="1" smtClean="0">
                <a:latin typeface="Cascadia Mono Light" pitchFamily="49" charset="0"/>
                <a:cs typeface="Cascadia Mono Light" pitchFamily="49" charset="0"/>
              </a:rPr>
              <a:t>train</a:t>
            </a:r>
            <a:r>
              <a:rPr lang="ru-RU" dirty="0" smtClean="0">
                <a:latin typeface="Cascadia Mono Light" pitchFamily="49" charset="0"/>
                <a:cs typeface="Cascadia Mono Light" pitchFamily="49" charset="0"/>
              </a:rPr>
              <a:t> и </a:t>
            </a:r>
            <a:r>
              <a:rPr lang="ru-RU" dirty="0" err="1" smtClean="0">
                <a:latin typeface="Cascadia Mono Light" pitchFamily="49" charset="0"/>
                <a:cs typeface="Cascadia Mono Light" pitchFamily="49" charset="0"/>
              </a:rPr>
              <a:t>test</a:t>
            </a:r>
            <a:r>
              <a:rPr lang="ru-RU" dirty="0" smtClean="0">
                <a:latin typeface="Cascadia Mono Light" pitchFamily="49" charset="0"/>
                <a:cs typeface="Cascadia Mono Light" pitchFamily="49" charset="0"/>
              </a:rPr>
              <a:t>. Обучать модель на одной части, а проверять на другой — той, которую модель никогда не видела</a:t>
            </a:r>
            <a:r>
              <a:rPr lang="ru-RU" dirty="0" smtClean="0">
                <a:latin typeface="Cascadia Mono Light" pitchFamily="49" charset="0"/>
                <a:cs typeface="Cascadia Mono Light" pitchFamily="49" charset="0"/>
              </a:rPr>
              <a:t>.</a:t>
            </a:r>
          </a:p>
          <a:p>
            <a:r>
              <a:rPr lang="ru-RU" dirty="0" smtClean="0">
                <a:latin typeface="Cascadia Mono Light" pitchFamily="49" charset="0"/>
                <a:cs typeface="Cascadia Mono Light" pitchFamily="49" charset="0"/>
              </a:rPr>
              <a:t>если проверять модель на тех же данных, на которых учили, — она их «запомнит» и покажет отличный результат, но на новых данных будет ошибаться. Это как дать студенту экзамен с теми же задачами, что были в учебнике — он их решит, но это не значит, что он понял предмет.</a:t>
            </a:r>
          </a:p>
          <a:p>
            <a:r>
              <a:rPr lang="ru-RU" dirty="0" smtClean="0">
                <a:latin typeface="Cascadia Mono Light" pitchFamily="49" charset="0"/>
                <a:cs typeface="Cascadia Mono Light" pitchFamily="49" charset="0"/>
              </a:rPr>
              <a:t>Поэтому 80% данных отдаём на обучение, 20% — на честную проверку.</a:t>
            </a:r>
          </a:p>
          <a:p>
            <a:endParaRPr lang="ru-RU" dirty="0" smtClean="0">
              <a:latin typeface="Cascadia Mono Light" pitchFamily="49" charset="0"/>
              <a:cs typeface="Cascadia Mono Light" pitchFamily="49" charset="0"/>
            </a:endParaRPr>
          </a:p>
          <a:p>
            <a:endParaRPr lang="ru-RU" dirty="0">
              <a:latin typeface="Cascadia Mono Light" pitchFamily="49" charset="0"/>
              <a:cs typeface="Cascadia Mono Light" pitchFamily="49" charset="0"/>
            </a:endParaRPr>
          </a:p>
        </p:txBody>
      </p:sp>
      <p:pic>
        <p:nvPicPr>
          <p:cNvPr id="69634" name="Picture 2"/>
          <p:cNvPicPr>
            <a:picLocks noChangeAspect="1" noChangeArrowheads="1"/>
          </p:cNvPicPr>
          <p:nvPr/>
        </p:nvPicPr>
        <p:blipFill>
          <a:blip r:embed="rId2" cstate="print"/>
          <a:srcRect/>
          <a:stretch>
            <a:fillRect/>
          </a:stretch>
        </p:blipFill>
        <p:spPr bwMode="auto">
          <a:xfrm>
            <a:off x="1600200" y="1371600"/>
            <a:ext cx="6154738" cy="3393797"/>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81000" y="381001"/>
            <a:ext cx="8229600" cy="4038599"/>
          </a:xfrm>
        </p:spPr>
        <p:txBody>
          <a:bodyPr>
            <a:noAutofit/>
          </a:bodyPr>
          <a:lstStyle/>
          <a:p>
            <a:r>
              <a:rPr lang="ru-RU" sz="1600" b="1" dirty="0" smtClean="0">
                <a:latin typeface="Cascadia Mono Light" pitchFamily="49" charset="0"/>
                <a:cs typeface="Cascadia Mono Light" pitchFamily="49" charset="0"/>
              </a:rPr>
              <a:t>Часть 1. Разделение на X и </a:t>
            </a:r>
            <a:r>
              <a:rPr lang="ru-RU" sz="1600" b="1" dirty="0" err="1" smtClean="0">
                <a:latin typeface="Cascadia Mono Light" pitchFamily="49" charset="0"/>
                <a:cs typeface="Cascadia Mono Light" pitchFamily="49" charset="0"/>
              </a:rPr>
              <a:t>y</a:t>
            </a:r>
            <a:endParaRPr lang="ru-RU" sz="1600" b="1" dirty="0" smtClean="0">
              <a:latin typeface="Cascadia Mono Light" pitchFamily="49" charset="0"/>
              <a:cs typeface="Cascadia Mono Light" pitchFamily="49" charset="0"/>
            </a:endParaRPr>
          </a:p>
          <a:p>
            <a:r>
              <a:rPr lang="ru-RU" sz="1600" b="1" dirty="0" smtClean="0">
                <a:latin typeface="Cascadia Mono Light" pitchFamily="49" charset="0"/>
                <a:cs typeface="Cascadia Mono Light" pitchFamily="49" charset="0"/>
              </a:rPr>
              <a:t>X = </a:t>
            </a:r>
            <a:r>
              <a:rPr lang="ru-RU" sz="1600" b="1" dirty="0" err="1" smtClean="0">
                <a:latin typeface="Cascadia Mono Light" pitchFamily="49" charset="0"/>
                <a:cs typeface="Cascadia Mono Light" pitchFamily="49" charset="0"/>
              </a:rPr>
              <a:t>df</a:t>
            </a:r>
            <a:r>
              <a:rPr lang="ru-RU" sz="1600" b="1" dirty="0" smtClean="0">
                <a:latin typeface="Cascadia Mono Light" pitchFamily="49" charset="0"/>
                <a:cs typeface="Cascadia Mono Light" pitchFamily="49" charset="0"/>
              </a:rPr>
              <a:t>[</a:t>
            </a:r>
            <a:r>
              <a:rPr lang="ru-RU" sz="1600" b="1" dirty="0" err="1" smtClean="0">
                <a:latin typeface="Cascadia Mono Light" pitchFamily="49" charset="0"/>
                <a:cs typeface="Cascadia Mono Light" pitchFamily="49" charset="0"/>
              </a:rPr>
              <a:t>feature_names</a:t>
            </a:r>
            <a:r>
              <a:rPr lang="ru-RU" sz="1600" b="1" dirty="0" smtClean="0">
                <a:latin typeface="Cascadia Mono Light" pitchFamily="49" charset="0"/>
                <a:cs typeface="Cascadia Mono Light" pitchFamily="49" charset="0"/>
              </a:rPr>
              <a:t>].</a:t>
            </a:r>
            <a:r>
              <a:rPr lang="ru-RU" sz="1600" b="1" dirty="0" err="1" smtClean="0">
                <a:latin typeface="Cascadia Mono Light" pitchFamily="49" charset="0"/>
                <a:cs typeface="Cascadia Mono Light" pitchFamily="49" charset="0"/>
              </a:rPr>
              <a:t>values</a:t>
            </a:r>
            <a:r>
              <a:rPr lang="ru-RU" sz="1600" b="1" dirty="0" smtClean="0">
                <a:latin typeface="Cascadia Mono Light" pitchFamily="49" charset="0"/>
                <a:cs typeface="Cascadia Mono Light" pitchFamily="49" charset="0"/>
              </a:rPr>
              <a:t> </a:t>
            </a:r>
            <a:r>
              <a:rPr lang="ru-RU" sz="1600" dirty="0" smtClean="0">
                <a:latin typeface="Cascadia Mono Light" pitchFamily="49" charset="0"/>
                <a:cs typeface="Cascadia Mono Light" pitchFamily="49" charset="0"/>
              </a:rPr>
              <a:t>- берём </a:t>
            </a:r>
            <a:r>
              <a:rPr lang="ru-RU" sz="1600" dirty="0" smtClean="0">
                <a:latin typeface="Cascadia Mono Light" pitchFamily="49" charset="0"/>
                <a:cs typeface="Cascadia Mono Light" pitchFamily="49" charset="0"/>
              </a:rPr>
              <a:t>из таблицы </a:t>
            </a:r>
            <a:r>
              <a:rPr lang="ru-RU" sz="1600" dirty="0" err="1" smtClean="0">
                <a:latin typeface="Cascadia Mono Light" pitchFamily="49" charset="0"/>
                <a:cs typeface="Cascadia Mono Light" pitchFamily="49" charset="0"/>
              </a:rPr>
              <a:t>df</a:t>
            </a:r>
            <a:r>
              <a:rPr lang="ru-RU" sz="1600" dirty="0" smtClean="0">
                <a:latin typeface="Cascadia Mono Light" pitchFamily="49" charset="0"/>
                <a:cs typeface="Cascadia Mono Light" pitchFamily="49" charset="0"/>
              </a:rPr>
              <a:t> все столбцы-признаки и кладём их в переменную X.</a:t>
            </a:r>
          </a:p>
          <a:p>
            <a:r>
              <a:rPr lang="ru-RU" sz="1600" b="1" dirty="0" smtClean="0">
                <a:latin typeface="Cascadia Mono Light" pitchFamily="49" charset="0"/>
                <a:cs typeface="Cascadia Mono Light" pitchFamily="49" charset="0"/>
              </a:rPr>
              <a:t>Разберём </a:t>
            </a:r>
            <a:r>
              <a:rPr lang="ru-RU" sz="1600" b="1" dirty="0" smtClean="0">
                <a:latin typeface="Cascadia Mono Light" pitchFamily="49" charset="0"/>
                <a:cs typeface="Cascadia Mono Light" pitchFamily="49" charset="0"/>
              </a:rPr>
              <a:t>по частям:</a:t>
            </a:r>
          </a:p>
          <a:p>
            <a:r>
              <a:rPr lang="ru-RU" sz="1600" dirty="0" err="1" smtClean="0">
                <a:latin typeface="Cascadia Mono Light" pitchFamily="49" charset="0"/>
                <a:cs typeface="Cascadia Mono Light" pitchFamily="49" charset="0"/>
              </a:rPr>
              <a:t>df</a:t>
            </a:r>
            <a:r>
              <a:rPr lang="ru-RU" sz="1600" dirty="0" smtClean="0">
                <a:latin typeface="Cascadia Mono Light" pitchFamily="49" charset="0"/>
                <a:cs typeface="Cascadia Mono Light" pitchFamily="49" charset="0"/>
              </a:rPr>
              <a:t>[</a:t>
            </a:r>
            <a:r>
              <a:rPr lang="ru-RU" sz="1600" dirty="0" err="1" smtClean="0">
                <a:latin typeface="Cascadia Mono Light" pitchFamily="49" charset="0"/>
                <a:cs typeface="Cascadia Mono Light" pitchFamily="49" charset="0"/>
              </a:rPr>
              <a:t>feature_names</a:t>
            </a:r>
            <a:r>
              <a:rPr lang="ru-RU" sz="1600" dirty="0" smtClean="0">
                <a:latin typeface="Cascadia Mono Light" pitchFamily="49" charset="0"/>
                <a:cs typeface="Cascadia Mono Light" pitchFamily="49" charset="0"/>
              </a:rPr>
              <a:t>] — обращаемся к таблице </a:t>
            </a:r>
            <a:r>
              <a:rPr lang="ru-RU" sz="1600" dirty="0" err="1" smtClean="0">
                <a:latin typeface="Cascadia Mono Light" pitchFamily="49" charset="0"/>
                <a:cs typeface="Cascadia Mono Light" pitchFamily="49" charset="0"/>
              </a:rPr>
              <a:t>df</a:t>
            </a:r>
            <a:r>
              <a:rPr lang="ru-RU" sz="1600" dirty="0" smtClean="0">
                <a:latin typeface="Cascadia Mono Light" pitchFamily="49" charset="0"/>
                <a:cs typeface="Cascadia Mono Light" pitchFamily="49" charset="0"/>
              </a:rPr>
              <a:t> и просим несколько столбцов сразу. </a:t>
            </a:r>
            <a:r>
              <a:rPr lang="ru-RU" sz="1600" dirty="0" err="1" smtClean="0">
                <a:latin typeface="Cascadia Mono Light" pitchFamily="49" charset="0"/>
                <a:cs typeface="Cascadia Mono Light" pitchFamily="49" charset="0"/>
              </a:rPr>
              <a:t>feature_names</a:t>
            </a:r>
            <a:r>
              <a:rPr lang="ru-RU" sz="1600" dirty="0" smtClean="0">
                <a:latin typeface="Cascadia Mono Light" pitchFamily="49" charset="0"/>
                <a:cs typeface="Cascadia Mono Light" pitchFamily="49" charset="0"/>
              </a:rPr>
              <a:t> — это список из 8 имён, который мы определили ранее. </a:t>
            </a:r>
            <a:r>
              <a:rPr lang="ru-RU" sz="1600" dirty="0" err="1" smtClean="0">
                <a:latin typeface="Cascadia Mono Light" pitchFamily="49" charset="0"/>
                <a:cs typeface="Cascadia Mono Light" pitchFamily="49" charset="0"/>
              </a:rPr>
              <a:t>Pandas</a:t>
            </a:r>
            <a:r>
              <a:rPr lang="ru-RU" sz="1600" dirty="0" smtClean="0">
                <a:latin typeface="Cascadia Mono Light" pitchFamily="49" charset="0"/>
                <a:cs typeface="Cascadia Mono Light" pitchFamily="49" charset="0"/>
              </a:rPr>
              <a:t> поймёт, что нужно взять все эти столбцы, и вернёт новую таблицу с 8 колонками.</a:t>
            </a:r>
          </a:p>
          <a:p>
            <a:r>
              <a:rPr lang="ru-RU" sz="1600" dirty="0" smtClean="0">
                <a:latin typeface="Cascadia Mono Light" pitchFamily="49" charset="0"/>
                <a:cs typeface="Cascadia Mono Light" pitchFamily="49" charset="0"/>
              </a:rPr>
              <a:t>.</a:t>
            </a:r>
            <a:r>
              <a:rPr lang="ru-RU" sz="1600" dirty="0" err="1" smtClean="0">
                <a:latin typeface="Cascadia Mono Light" pitchFamily="49" charset="0"/>
                <a:cs typeface="Cascadia Mono Light" pitchFamily="49" charset="0"/>
              </a:rPr>
              <a:t>values</a:t>
            </a:r>
            <a:r>
              <a:rPr lang="ru-RU" sz="1600" dirty="0" smtClean="0">
                <a:latin typeface="Cascadia Mono Light" pitchFamily="49" charset="0"/>
                <a:cs typeface="Cascadia Mono Light" pitchFamily="49" charset="0"/>
              </a:rPr>
              <a:t> — превращает pandas-таблицу в NumPy-массив. Убирает метаданные (имена колонок, индексы) и оставляет только числа.</a:t>
            </a:r>
          </a:p>
          <a:p>
            <a:r>
              <a:rPr lang="ru-RU" sz="1600" dirty="0" smtClean="0">
                <a:latin typeface="Cascadia Mono Light" pitchFamily="49" charset="0"/>
                <a:cs typeface="Cascadia Mono Light" pitchFamily="49" charset="0"/>
              </a:rPr>
              <a:t>Д</a:t>
            </a:r>
            <a:r>
              <a:rPr lang="ru-RU" sz="1600" dirty="0" smtClean="0">
                <a:latin typeface="Cascadia Mono Light" pitchFamily="49" charset="0"/>
                <a:cs typeface="Cascadia Mono Light" pitchFamily="49" charset="0"/>
              </a:rPr>
              <a:t>альше </a:t>
            </a:r>
            <a:r>
              <a:rPr lang="ru-RU" sz="1600" dirty="0" smtClean="0">
                <a:latin typeface="Cascadia Mono Light" pitchFamily="49" charset="0"/>
                <a:cs typeface="Cascadia Mono Light" pitchFamily="49" charset="0"/>
              </a:rPr>
              <a:t>мы будем работать с X как с матрицей. </a:t>
            </a:r>
            <a:r>
              <a:rPr lang="ru-RU" sz="1600" dirty="0" err="1" smtClean="0">
                <a:latin typeface="Cascadia Mono Light" pitchFamily="49" charset="0"/>
                <a:cs typeface="Cascadia Mono Light" pitchFamily="49" charset="0"/>
              </a:rPr>
              <a:t>NumPy</a:t>
            </a:r>
            <a:r>
              <a:rPr lang="ru-RU" sz="1600" dirty="0" smtClean="0">
                <a:latin typeface="Cascadia Mono Light" pitchFamily="49" charset="0"/>
                <a:cs typeface="Cascadia Mono Light" pitchFamily="49" charset="0"/>
              </a:rPr>
              <a:t> быстрее </a:t>
            </a:r>
            <a:r>
              <a:rPr lang="ru-RU" sz="1600" dirty="0" err="1" smtClean="0">
                <a:latin typeface="Cascadia Mono Light" pitchFamily="49" charset="0"/>
                <a:cs typeface="Cascadia Mono Light" pitchFamily="49" charset="0"/>
              </a:rPr>
              <a:t>pandas</a:t>
            </a:r>
            <a:r>
              <a:rPr lang="ru-RU" sz="1600" dirty="0" smtClean="0">
                <a:latin typeface="Cascadia Mono Light" pitchFamily="49" charset="0"/>
                <a:cs typeface="Cascadia Mono Light" pitchFamily="49" charset="0"/>
              </a:rPr>
              <a:t> для математических операций и совместим с </a:t>
            </a:r>
            <a:r>
              <a:rPr lang="ru-RU" sz="1600" dirty="0" err="1" smtClean="0">
                <a:latin typeface="Cascadia Mono Light" pitchFamily="49" charset="0"/>
                <a:cs typeface="Cascadia Mono Light" pitchFamily="49" charset="0"/>
              </a:rPr>
              <a:t>TensorFlow</a:t>
            </a:r>
            <a:r>
              <a:rPr lang="ru-RU" sz="1600" dirty="0" smtClean="0">
                <a:latin typeface="Cascadia Mono Light" pitchFamily="49" charset="0"/>
                <a:cs typeface="Cascadia Mono Light" pitchFamily="49" charset="0"/>
              </a:rPr>
              <a:t>. X — матрица формы (16640, 8). 16 640 строк (объектов) × 8 столбцов (признаков</a:t>
            </a:r>
            <a:r>
              <a:rPr lang="ru-RU" sz="1600" dirty="0" smtClean="0">
                <a:latin typeface="Cascadia Mono Light" pitchFamily="49" charset="0"/>
                <a:cs typeface="Cascadia Mono Light" pitchFamily="49" charset="0"/>
              </a:rPr>
              <a:t>).</a:t>
            </a:r>
          </a:p>
          <a:p>
            <a:endParaRPr lang="ru-RU" sz="1600" dirty="0" smtClean="0">
              <a:latin typeface="Cascadia Mono Light" pitchFamily="49" charset="0"/>
              <a:cs typeface="Cascadia Mono Light" pitchFamily="49" charset="0"/>
            </a:endParaRPr>
          </a:p>
          <a:p>
            <a:endParaRPr lang="ru-RU" sz="1600" dirty="0" smtClean="0">
              <a:latin typeface="Cascadia Mono Light" pitchFamily="49" charset="0"/>
              <a:cs typeface="Cascadia Mono Light" pitchFamily="49" charset="0"/>
            </a:endParaRPr>
          </a:p>
          <a:p>
            <a:endParaRPr lang="ru-RU" sz="1600" dirty="0" smtClean="0">
              <a:latin typeface="Cascadia Mono Light" pitchFamily="49" charset="0"/>
              <a:cs typeface="Cascadia Mono Light" pitchFamily="49" charset="0"/>
            </a:endParaRPr>
          </a:p>
          <a:p>
            <a:endParaRPr lang="ru-RU" sz="1600" dirty="0">
              <a:latin typeface="Cascadia Mono Light" pitchFamily="49" charset="0"/>
              <a:cs typeface="Cascadia Mono Light" pitchFamily="49" charset="0"/>
            </a:endParaRPr>
          </a:p>
        </p:txBody>
      </p:sp>
      <p:pic>
        <p:nvPicPr>
          <p:cNvPr id="69634" name="Picture 2"/>
          <p:cNvPicPr>
            <a:picLocks noChangeAspect="1" noChangeArrowheads="1"/>
          </p:cNvPicPr>
          <p:nvPr/>
        </p:nvPicPr>
        <p:blipFill>
          <a:blip r:embed="rId2" cstate="print"/>
          <a:srcRect l="3714" t="14680" r="8383" b="49396"/>
          <a:stretch>
            <a:fillRect/>
          </a:stretch>
        </p:blipFill>
        <p:spPr bwMode="auto">
          <a:xfrm>
            <a:off x="685800" y="4343400"/>
            <a:ext cx="10144123" cy="2286000"/>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81000" y="381001"/>
            <a:ext cx="8229600" cy="4038599"/>
          </a:xfrm>
        </p:spPr>
        <p:txBody>
          <a:bodyPr>
            <a:noAutofit/>
          </a:bodyPr>
          <a:lstStyle/>
          <a:p>
            <a:endParaRPr lang="ru-RU" sz="1400" dirty="0" smtClean="0">
              <a:latin typeface="Cascadia Mono Light" pitchFamily="49" charset="0"/>
              <a:cs typeface="Cascadia Mono Light" pitchFamily="49" charset="0"/>
            </a:endParaRPr>
          </a:p>
          <a:p>
            <a:r>
              <a:rPr lang="ru-RU" sz="1400" b="1" dirty="0" err="1" smtClean="0">
                <a:latin typeface="Cascadia Mono Light" pitchFamily="49" charset="0"/>
                <a:cs typeface="Cascadia Mono Light" pitchFamily="49" charset="0"/>
              </a:rPr>
              <a:t>y</a:t>
            </a:r>
            <a:r>
              <a:rPr lang="ru-RU" sz="1400" b="1" dirty="0" smtClean="0">
                <a:latin typeface="Cascadia Mono Light" pitchFamily="49" charset="0"/>
                <a:cs typeface="Cascadia Mono Light" pitchFamily="49" charset="0"/>
              </a:rPr>
              <a:t> = </a:t>
            </a:r>
            <a:r>
              <a:rPr lang="ru-RU" sz="1400" b="1" dirty="0" err="1" smtClean="0">
                <a:latin typeface="Cascadia Mono Light" pitchFamily="49" charset="0"/>
                <a:cs typeface="Cascadia Mono Light" pitchFamily="49" charset="0"/>
              </a:rPr>
              <a:t>df</a:t>
            </a:r>
            <a:r>
              <a:rPr lang="ru-RU" sz="1400" b="1" dirty="0" smtClean="0">
                <a:latin typeface="Cascadia Mono Light" pitchFamily="49" charset="0"/>
                <a:cs typeface="Cascadia Mono Light" pitchFamily="49" charset="0"/>
              </a:rPr>
              <a:t>[</a:t>
            </a:r>
            <a:r>
              <a:rPr lang="ru-RU" sz="1400" b="1" dirty="0" err="1" smtClean="0">
                <a:latin typeface="Cascadia Mono Light" pitchFamily="49" charset="0"/>
                <a:cs typeface="Cascadia Mono Light" pitchFamily="49" charset="0"/>
              </a:rPr>
              <a:t>target_name</a:t>
            </a:r>
            <a:r>
              <a:rPr lang="ru-RU" sz="1400" b="1" dirty="0" smtClean="0">
                <a:latin typeface="Cascadia Mono Light" pitchFamily="49" charset="0"/>
                <a:cs typeface="Cascadia Mono Light" pitchFamily="49" charset="0"/>
              </a:rPr>
              <a:t>].</a:t>
            </a:r>
            <a:r>
              <a:rPr lang="ru-RU" sz="1400" b="1" dirty="0" err="1" smtClean="0">
                <a:latin typeface="Cascadia Mono Light" pitchFamily="49" charset="0"/>
                <a:cs typeface="Cascadia Mono Light" pitchFamily="49" charset="0"/>
              </a:rPr>
              <a:t>values</a:t>
            </a:r>
            <a:r>
              <a:rPr lang="ru-RU" sz="1400" b="1" dirty="0" smtClean="0">
                <a:latin typeface="Cascadia Mono Light" pitchFamily="49" charset="0"/>
                <a:cs typeface="Cascadia Mono Light" pitchFamily="49" charset="0"/>
              </a:rPr>
              <a:t> - </a:t>
            </a:r>
            <a:r>
              <a:rPr lang="ru-RU" sz="1400" dirty="0" smtClean="0">
                <a:latin typeface="Cascadia Mono Light" pitchFamily="49" charset="0"/>
                <a:cs typeface="Cascadia Mono Light" pitchFamily="49" charset="0"/>
              </a:rPr>
              <a:t>берём </a:t>
            </a:r>
            <a:r>
              <a:rPr lang="ru-RU" sz="1400" dirty="0" smtClean="0">
                <a:latin typeface="Cascadia Mono Light" pitchFamily="49" charset="0"/>
                <a:cs typeface="Cascadia Mono Light" pitchFamily="49" charset="0"/>
              </a:rPr>
              <a:t>столбец с ценой — то, что модель должна предсказывать.</a:t>
            </a:r>
          </a:p>
          <a:p>
            <a:r>
              <a:rPr lang="ru-RU" sz="1400" dirty="0" err="1" smtClean="0">
                <a:latin typeface="Cascadia Mono Light" pitchFamily="49" charset="0"/>
                <a:cs typeface="Cascadia Mono Light" pitchFamily="49" charset="0"/>
              </a:rPr>
              <a:t>df</a:t>
            </a:r>
            <a:r>
              <a:rPr lang="ru-RU" sz="1400" dirty="0" smtClean="0">
                <a:latin typeface="Cascadia Mono Light" pitchFamily="49" charset="0"/>
                <a:cs typeface="Cascadia Mono Light" pitchFamily="49" charset="0"/>
              </a:rPr>
              <a:t>[</a:t>
            </a:r>
            <a:r>
              <a:rPr lang="ru-RU" sz="1400" dirty="0" err="1" smtClean="0">
                <a:latin typeface="Cascadia Mono Light" pitchFamily="49" charset="0"/>
                <a:cs typeface="Cascadia Mono Light" pitchFamily="49" charset="0"/>
              </a:rPr>
              <a:t>target_name</a:t>
            </a:r>
            <a:r>
              <a:rPr lang="ru-RU" sz="1400" dirty="0" smtClean="0">
                <a:latin typeface="Cascadia Mono Light" pitchFamily="49" charset="0"/>
                <a:cs typeface="Cascadia Mono Light" pitchFamily="49" charset="0"/>
              </a:rPr>
              <a:t>] — обращаемся к одному столбцу по имени. </a:t>
            </a:r>
            <a:r>
              <a:rPr lang="ru-RU" sz="1400" dirty="0" err="1" smtClean="0">
                <a:latin typeface="Cascadia Mono Light" pitchFamily="49" charset="0"/>
                <a:cs typeface="Cascadia Mono Light" pitchFamily="49" charset="0"/>
              </a:rPr>
              <a:t>target_name</a:t>
            </a:r>
            <a:r>
              <a:rPr lang="ru-RU" sz="1400" dirty="0" smtClean="0">
                <a:latin typeface="Cascadia Mono Light" pitchFamily="49" charset="0"/>
                <a:cs typeface="Cascadia Mono Light" pitchFamily="49" charset="0"/>
              </a:rPr>
              <a:t> = '</a:t>
            </a:r>
            <a:r>
              <a:rPr lang="ru-RU" sz="1400" dirty="0" err="1" smtClean="0">
                <a:latin typeface="Cascadia Mono Light" pitchFamily="49" charset="0"/>
                <a:cs typeface="Cascadia Mono Light" pitchFamily="49" charset="0"/>
              </a:rPr>
              <a:t>MedHouseVal</a:t>
            </a:r>
            <a:r>
              <a:rPr lang="ru-RU" sz="1400" dirty="0" smtClean="0">
                <a:latin typeface="Cascadia Mono Light" pitchFamily="49" charset="0"/>
                <a:cs typeface="Cascadia Mono Light" pitchFamily="49" charset="0"/>
              </a:rPr>
              <a:t>'. </a:t>
            </a:r>
            <a:r>
              <a:rPr lang="ru-RU" sz="1400" dirty="0" err="1" smtClean="0">
                <a:latin typeface="Cascadia Mono Light" pitchFamily="49" charset="0"/>
                <a:cs typeface="Cascadia Mono Light" pitchFamily="49" charset="0"/>
              </a:rPr>
              <a:t>Pandas</a:t>
            </a:r>
            <a:r>
              <a:rPr lang="ru-RU" sz="1400" dirty="0" smtClean="0">
                <a:latin typeface="Cascadia Mono Light" pitchFamily="49" charset="0"/>
                <a:cs typeface="Cascadia Mono Light" pitchFamily="49" charset="0"/>
              </a:rPr>
              <a:t> вернёт объект </a:t>
            </a:r>
            <a:r>
              <a:rPr lang="ru-RU" sz="1400" dirty="0" err="1" smtClean="0">
                <a:latin typeface="Cascadia Mono Light" pitchFamily="49" charset="0"/>
                <a:cs typeface="Cascadia Mono Light" pitchFamily="49" charset="0"/>
              </a:rPr>
              <a:t>Series</a:t>
            </a:r>
            <a:r>
              <a:rPr lang="ru-RU" sz="1400" dirty="0" smtClean="0">
                <a:latin typeface="Cascadia Mono Light" pitchFamily="49" charset="0"/>
                <a:cs typeface="Cascadia Mono Light" pitchFamily="49" charset="0"/>
              </a:rPr>
              <a:t> — одномерный массив с индексами.</a:t>
            </a:r>
          </a:p>
          <a:p>
            <a:r>
              <a:rPr lang="ru-RU" sz="1400" dirty="0" smtClean="0">
                <a:latin typeface="Cascadia Mono Light" pitchFamily="49" charset="0"/>
                <a:cs typeface="Cascadia Mono Light" pitchFamily="49" charset="0"/>
              </a:rPr>
              <a:t>.</a:t>
            </a:r>
            <a:r>
              <a:rPr lang="ru-RU" sz="1400" dirty="0" err="1" smtClean="0">
                <a:latin typeface="Cascadia Mono Light" pitchFamily="49" charset="0"/>
                <a:cs typeface="Cascadia Mono Light" pitchFamily="49" charset="0"/>
              </a:rPr>
              <a:t>values</a:t>
            </a:r>
            <a:r>
              <a:rPr lang="ru-RU" sz="1400" dirty="0" smtClean="0">
                <a:latin typeface="Cascadia Mono Light" pitchFamily="49" charset="0"/>
                <a:cs typeface="Cascadia Mono Light" pitchFamily="49" charset="0"/>
              </a:rPr>
              <a:t> — превращаем в NumPy-массив, убираем индексы.</a:t>
            </a:r>
          </a:p>
          <a:p>
            <a:r>
              <a:rPr lang="ru-RU" sz="1400" dirty="0" smtClean="0">
                <a:latin typeface="Cascadia Mono Light" pitchFamily="49" charset="0"/>
                <a:cs typeface="Cascadia Mono Light" pitchFamily="49" charset="0"/>
              </a:rPr>
              <a:t>Итог: </a:t>
            </a:r>
            <a:r>
              <a:rPr lang="ru-RU" sz="1400" dirty="0" err="1" smtClean="0">
                <a:latin typeface="Cascadia Mono Light" pitchFamily="49" charset="0"/>
                <a:cs typeface="Cascadia Mono Light" pitchFamily="49" charset="0"/>
              </a:rPr>
              <a:t>y</a:t>
            </a:r>
            <a:r>
              <a:rPr lang="ru-RU" sz="1400" dirty="0" smtClean="0">
                <a:latin typeface="Cascadia Mono Light" pitchFamily="49" charset="0"/>
                <a:cs typeface="Cascadia Mono Light" pitchFamily="49" charset="0"/>
              </a:rPr>
              <a:t> — вектор формы (16640,). </a:t>
            </a:r>
            <a:r>
              <a:rPr lang="ru-RU" sz="1400" dirty="0" smtClean="0">
                <a:latin typeface="Cascadia Mono Light" pitchFamily="49" charset="0"/>
                <a:cs typeface="Cascadia Mono Light" pitchFamily="49" charset="0"/>
              </a:rPr>
              <a:t>Одно число на каждый объект</a:t>
            </a:r>
            <a:r>
              <a:rPr lang="ru-RU" sz="1400" dirty="0" smtClean="0">
                <a:latin typeface="Cascadia Mono Light" pitchFamily="49" charset="0"/>
                <a:cs typeface="Cascadia Mono Light" pitchFamily="49" charset="0"/>
              </a:rPr>
              <a:t>.</a:t>
            </a:r>
          </a:p>
          <a:p>
            <a:endParaRPr lang="ru-RU" sz="1400" dirty="0" smtClean="0">
              <a:latin typeface="Cascadia Mono Light" pitchFamily="49" charset="0"/>
              <a:cs typeface="Cascadia Mono Light" pitchFamily="49" charset="0"/>
            </a:endParaRPr>
          </a:p>
          <a:p>
            <a:r>
              <a:rPr lang="ru-RU" sz="1400" dirty="0" smtClean="0">
                <a:latin typeface="Cascadia Mono Light" pitchFamily="49" charset="0"/>
                <a:cs typeface="Cascadia Mono Light" pitchFamily="49" charset="0"/>
              </a:rPr>
              <a:t>Почему форма (16640,), а не (16640, 1): один столбец в </a:t>
            </a:r>
            <a:r>
              <a:rPr lang="ru-RU" sz="1400" dirty="0" err="1" smtClean="0">
                <a:latin typeface="Cascadia Mono Light" pitchFamily="49" charset="0"/>
                <a:cs typeface="Cascadia Mono Light" pitchFamily="49" charset="0"/>
              </a:rPr>
              <a:t>pandas</a:t>
            </a:r>
            <a:r>
              <a:rPr lang="ru-RU" sz="1400" dirty="0" smtClean="0">
                <a:latin typeface="Cascadia Mono Light" pitchFamily="49" charset="0"/>
                <a:cs typeface="Cascadia Mono Light" pitchFamily="49" charset="0"/>
              </a:rPr>
              <a:t> → одномерный массив. Это стандартная форма для </a:t>
            </a:r>
            <a:r>
              <a:rPr lang="ru-RU" sz="1400" dirty="0" err="1" smtClean="0">
                <a:latin typeface="Cascadia Mono Light" pitchFamily="49" charset="0"/>
                <a:cs typeface="Cascadia Mono Light" pitchFamily="49" charset="0"/>
              </a:rPr>
              <a:t>y</a:t>
            </a:r>
            <a:r>
              <a:rPr lang="ru-RU" sz="1400" dirty="0" smtClean="0">
                <a:latin typeface="Cascadia Mono Light" pitchFamily="49" charset="0"/>
                <a:cs typeface="Cascadia Mono Light" pitchFamily="49" charset="0"/>
              </a:rPr>
              <a:t> в </a:t>
            </a:r>
            <a:r>
              <a:rPr lang="ru-RU" sz="1400" dirty="0" err="1" smtClean="0">
                <a:latin typeface="Cascadia Mono Light" pitchFamily="49" charset="0"/>
                <a:cs typeface="Cascadia Mono Light" pitchFamily="49" charset="0"/>
              </a:rPr>
              <a:t>sklearn</a:t>
            </a:r>
            <a:r>
              <a:rPr lang="ru-RU" sz="1400" dirty="0" smtClean="0">
                <a:latin typeface="Cascadia Mono Light" pitchFamily="49" charset="0"/>
                <a:cs typeface="Cascadia Mono Light" pitchFamily="49" charset="0"/>
              </a:rPr>
              <a:t> и </a:t>
            </a:r>
            <a:r>
              <a:rPr lang="ru-RU" sz="1400" dirty="0" err="1" smtClean="0">
                <a:latin typeface="Cascadia Mono Light" pitchFamily="49" charset="0"/>
                <a:cs typeface="Cascadia Mono Light" pitchFamily="49" charset="0"/>
              </a:rPr>
              <a:t>Keras</a:t>
            </a:r>
            <a:r>
              <a:rPr lang="ru-RU" sz="1400" dirty="0" smtClean="0">
                <a:latin typeface="Cascadia Mono Light" pitchFamily="49" charset="0"/>
                <a:cs typeface="Cascadia Mono Light" pitchFamily="49" charset="0"/>
              </a:rPr>
              <a:t>. Позже, если понадобится, добавим ось через </a:t>
            </a:r>
            <a:r>
              <a:rPr lang="ru-RU" sz="1400" dirty="0" err="1" smtClean="0">
                <a:latin typeface="Cascadia Mono Light" pitchFamily="49" charset="0"/>
                <a:cs typeface="Cascadia Mono Light" pitchFamily="49" charset="0"/>
              </a:rPr>
              <a:t>reshape</a:t>
            </a:r>
            <a:r>
              <a:rPr lang="ru-RU" sz="1400" dirty="0" smtClean="0">
                <a:latin typeface="Cascadia Mono Light" pitchFamily="49" charset="0"/>
                <a:cs typeface="Cascadia Mono Light" pitchFamily="49" charset="0"/>
              </a:rPr>
              <a:t> или </a:t>
            </a:r>
            <a:r>
              <a:rPr lang="ru-RU" sz="1400" dirty="0" err="1" smtClean="0">
                <a:latin typeface="Cascadia Mono Light" pitchFamily="49" charset="0"/>
                <a:cs typeface="Cascadia Mono Light" pitchFamily="49" charset="0"/>
              </a:rPr>
              <a:t>flatten</a:t>
            </a:r>
            <a:r>
              <a:rPr lang="ru-RU" sz="1400" dirty="0" smtClean="0">
                <a:latin typeface="Cascadia Mono Light" pitchFamily="49" charset="0"/>
                <a:cs typeface="Cascadia Mono Light" pitchFamily="49" charset="0"/>
              </a:rPr>
              <a:t>.</a:t>
            </a:r>
          </a:p>
          <a:p>
            <a:endParaRPr lang="ru-RU" sz="1400" dirty="0" smtClean="0">
              <a:latin typeface="Cascadia Mono Light" pitchFamily="49" charset="0"/>
              <a:cs typeface="Cascadia Mono Light" pitchFamily="49" charset="0"/>
            </a:endParaRPr>
          </a:p>
          <a:p>
            <a:r>
              <a:rPr lang="ru-RU" sz="1400" dirty="0" smtClean="0">
                <a:latin typeface="Cascadia Mono Light" pitchFamily="49" charset="0"/>
                <a:cs typeface="Cascadia Mono Light" pitchFamily="49" charset="0"/>
              </a:rPr>
              <a:t>X — 16 640 объектов, 8 признаков;</a:t>
            </a:r>
          </a:p>
          <a:p>
            <a:r>
              <a:rPr lang="ru-RU" sz="1400" dirty="0" err="1" smtClean="0">
                <a:latin typeface="Cascadia Mono Light" pitchFamily="49" charset="0"/>
                <a:cs typeface="Cascadia Mono Light" pitchFamily="49" charset="0"/>
              </a:rPr>
              <a:t>y</a:t>
            </a:r>
            <a:r>
              <a:rPr lang="ru-RU" sz="1400" dirty="0" smtClean="0">
                <a:latin typeface="Cascadia Mono Light" pitchFamily="49" charset="0"/>
                <a:cs typeface="Cascadia Mono Light" pitchFamily="49" charset="0"/>
              </a:rPr>
              <a:t> — 16 640 значений, по одному на объект.</a:t>
            </a:r>
          </a:p>
          <a:p>
            <a:r>
              <a:rPr lang="ru-RU" sz="1400" dirty="0" smtClean="0">
                <a:latin typeface="Cascadia Mono Light" pitchFamily="49" charset="0"/>
                <a:cs typeface="Cascadia Mono Light" pitchFamily="49" charset="0"/>
              </a:rPr>
              <a:t>Формы согласованы: сколько строк в X, столько элементов в </a:t>
            </a:r>
            <a:r>
              <a:rPr lang="ru-RU" sz="1400" dirty="0" err="1" smtClean="0">
                <a:latin typeface="Cascadia Mono Light" pitchFamily="49" charset="0"/>
                <a:cs typeface="Cascadia Mono Light" pitchFamily="49" charset="0"/>
              </a:rPr>
              <a:t>y</a:t>
            </a:r>
            <a:r>
              <a:rPr lang="ru-RU" sz="1400" dirty="0" smtClean="0">
                <a:latin typeface="Cascadia Mono Light" pitchFamily="49" charset="0"/>
                <a:cs typeface="Cascadia Mono Light" pitchFamily="49" charset="0"/>
              </a:rPr>
              <a:t>.</a:t>
            </a:r>
            <a:endParaRPr lang="ru-RU" sz="1400" dirty="0" smtClean="0">
              <a:latin typeface="Cascadia Mono Light" pitchFamily="49" charset="0"/>
              <a:cs typeface="Cascadia Mono Light" pitchFamily="49" charset="0"/>
            </a:endParaRPr>
          </a:p>
          <a:p>
            <a:endParaRPr lang="ru-RU" sz="1400" dirty="0" smtClean="0">
              <a:latin typeface="Cascadia Mono Light" pitchFamily="49" charset="0"/>
              <a:cs typeface="Cascadia Mono Light" pitchFamily="49" charset="0"/>
            </a:endParaRPr>
          </a:p>
          <a:p>
            <a:endParaRPr lang="ru-RU" sz="1400" dirty="0">
              <a:latin typeface="Cascadia Mono Light" pitchFamily="49" charset="0"/>
              <a:cs typeface="Cascadia Mono Light" pitchFamily="49" charset="0"/>
            </a:endParaRPr>
          </a:p>
        </p:txBody>
      </p:sp>
      <p:pic>
        <p:nvPicPr>
          <p:cNvPr id="69634" name="Picture 2"/>
          <p:cNvPicPr>
            <a:picLocks noChangeAspect="1" noChangeArrowheads="1"/>
          </p:cNvPicPr>
          <p:nvPr/>
        </p:nvPicPr>
        <p:blipFill>
          <a:blip r:embed="rId2" cstate="print"/>
          <a:srcRect l="3714" t="14680" r="8383" b="49396"/>
          <a:stretch>
            <a:fillRect/>
          </a:stretch>
        </p:blipFill>
        <p:spPr bwMode="auto">
          <a:xfrm>
            <a:off x="990600" y="4419600"/>
            <a:ext cx="10144123" cy="228600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52400" y="2514600"/>
            <a:ext cx="8534400" cy="4191000"/>
          </a:xfrm>
        </p:spPr>
        <p:txBody>
          <a:bodyPr>
            <a:noAutofit/>
          </a:bodyPr>
          <a:lstStyle/>
          <a:p>
            <a:r>
              <a:rPr lang="ru-RU" sz="1050" dirty="0" smtClean="0">
                <a:latin typeface="Cascadia Mono Light" pitchFamily="49" charset="0"/>
                <a:cs typeface="Cascadia Mono Light" pitchFamily="49" charset="0"/>
              </a:rPr>
              <a:t> делим данные на две части:</a:t>
            </a:r>
          </a:p>
          <a:p>
            <a:r>
              <a:rPr lang="ru-RU" sz="1050" dirty="0" err="1" smtClean="0">
                <a:latin typeface="Cascadia Mono Light" pitchFamily="49" charset="0"/>
                <a:cs typeface="Cascadia Mono Light" pitchFamily="49" charset="0"/>
              </a:rPr>
              <a:t>Train</a:t>
            </a:r>
            <a:r>
              <a:rPr lang="ru-RU" sz="1050" dirty="0" smtClean="0">
                <a:latin typeface="Cascadia Mono Light" pitchFamily="49" charset="0"/>
                <a:cs typeface="Cascadia Mono Light" pitchFamily="49" charset="0"/>
              </a:rPr>
              <a:t> (80%) — на ней модель будет </a:t>
            </a:r>
            <a:r>
              <a:rPr lang="ru-RU" sz="1050" dirty="0" smtClean="0">
                <a:latin typeface="Cascadia Mono Light" pitchFamily="49" charset="0"/>
                <a:cs typeface="Cascadia Mono Light" pitchFamily="49" charset="0"/>
              </a:rPr>
              <a:t>учиться. </a:t>
            </a:r>
            <a:r>
              <a:rPr lang="ru-RU" sz="1050" dirty="0" err="1" smtClean="0">
                <a:latin typeface="Cascadia Mono Light" pitchFamily="49" charset="0"/>
                <a:cs typeface="Cascadia Mono Light" pitchFamily="49" charset="0"/>
              </a:rPr>
              <a:t>Test</a:t>
            </a:r>
            <a:r>
              <a:rPr lang="ru-RU" sz="1050" dirty="0" smtClean="0">
                <a:latin typeface="Cascadia Mono Light" pitchFamily="49" charset="0"/>
                <a:cs typeface="Cascadia Mono Light" pitchFamily="49" charset="0"/>
              </a:rPr>
              <a:t> </a:t>
            </a:r>
            <a:r>
              <a:rPr lang="ru-RU" sz="1050" dirty="0" smtClean="0">
                <a:latin typeface="Cascadia Mono Light" pitchFamily="49" charset="0"/>
                <a:cs typeface="Cascadia Mono Light" pitchFamily="49" charset="0"/>
              </a:rPr>
              <a:t>(20%) — на ней проверим, как модель справляется с новыми данными.</a:t>
            </a:r>
          </a:p>
          <a:p>
            <a:r>
              <a:rPr lang="ru-RU" sz="1050" b="1" dirty="0" err="1" smtClean="0">
                <a:latin typeface="Cascadia Mono Light" pitchFamily="49" charset="0"/>
                <a:cs typeface="Cascadia Mono Light" pitchFamily="49" charset="0"/>
              </a:rPr>
              <a:t>train_test_split</a:t>
            </a:r>
            <a:r>
              <a:rPr lang="ru-RU" sz="1050" dirty="0" smtClean="0">
                <a:latin typeface="Cascadia Mono Light" pitchFamily="49" charset="0"/>
                <a:cs typeface="Cascadia Mono Light" pitchFamily="49" charset="0"/>
              </a:rPr>
              <a:t> </a:t>
            </a:r>
            <a:r>
              <a:rPr lang="ru-RU" sz="1050" dirty="0" smtClean="0">
                <a:latin typeface="Cascadia Mono Light" pitchFamily="49" charset="0"/>
                <a:cs typeface="Cascadia Mono Light" pitchFamily="49" charset="0"/>
              </a:rPr>
              <a:t>— функция из </a:t>
            </a:r>
            <a:r>
              <a:rPr lang="ru-RU" sz="1050" dirty="0" err="1" smtClean="0">
                <a:latin typeface="Cascadia Mono Light" pitchFamily="49" charset="0"/>
                <a:cs typeface="Cascadia Mono Light" pitchFamily="49" charset="0"/>
              </a:rPr>
              <a:t>sklearn.model_selection</a:t>
            </a:r>
            <a:r>
              <a:rPr lang="ru-RU" sz="1050" dirty="0" smtClean="0">
                <a:latin typeface="Cascadia Mono Light" pitchFamily="49" charset="0"/>
                <a:cs typeface="Cascadia Mono Light" pitchFamily="49" charset="0"/>
              </a:rPr>
              <a:t>, которую мы импортировали в самом начале.</a:t>
            </a:r>
          </a:p>
          <a:p>
            <a:r>
              <a:rPr lang="ru-RU" sz="1050" b="1" dirty="0" smtClean="0">
                <a:latin typeface="Cascadia Mono Light" pitchFamily="49" charset="0"/>
                <a:cs typeface="Cascadia Mono Light" pitchFamily="49" charset="0"/>
              </a:rPr>
              <a:t>Аргументы:</a:t>
            </a:r>
          </a:p>
          <a:p>
            <a:r>
              <a:rPr lang="ru-RU" sz="1050" dirty="0" smtClean="0">
                <a:latin typeface="Cascadia Mono Light" pitchFamily="49" charset="0"/>
                <a:cs typeface="Cascadia Mono Light" pitchFamily="49" charset="0"/>
              </a:rPr>
              <a:t>X, </a:t>
            </a:r>
            <a:r>
              <a:rPr lang="ru-RU" sz="1050" dirty="0" err="1" smtClean="0">
                <a:latin typeface="Cascadia Mono Light" pitchFamily="49" charset="0"/>
                <a:cs typeface="Cascadia Mono Light" pitchFamily="49" charset="0"/>
              </a:rPr>
              <a:t>y</a:t>
            </a:r>
            <a:r>
              <a:rPr lang="ru-RU" sz="1050" dirty="0" smtClean="0">
                <a:latin typeface="Cascadia Mono Light" pitchFamily="49" charset="0"/>
                <a:cs typeface="Cascadia Mono Light" pitchFamily="49" charset="0"/>
              </a:rPr>
              <a:t> — что разбиваем. Функция делит их синхронно: каждая пара (X[</a:t>
            </a:r>
            <a:r>
              <a:rPr lang="ru-RU" sz="1050" dirty="0" err="1" smtClean="0">
                <a:latin typeface="Cascadia Mono Light" pitchFamily="49" charset="0"/>
                <a:cs typeface="Cascadia Mono Light" pitchFamily="49" charset="0"/>
              </a:rPr>
              <a:t>i</a:t>
            </a:r>
            <a:r>
              <a:rPr lang="ru-RU" sz="1050" dirty="0" smtClean="0">
                <a:latin typeface="Cascadia Mono Light" pitchFamily="49" charset="0"/>
                <a:cs typeface="Cascadia Mono Light" pitchFamily="49" charset="0"/>
              </a:rPr>
              <a:t>], </a:t>
            </a:r>
            <a:r>
              <a:rPr lang="ru-RU" sz="1050" dirty="0" err="1" smtClean="0">
                <a:latin typeface="Cascadia Mono Light" pitchFamily="49" charset="0"/>
                <a:cs typeface="Cascadia Mono Light" pitchFamily="49" charset="0"/>
              </a:rPr>
              <a:t>y</a:t>
            </a:r>
            <a:r>
              <a:rPr lang="ru-RU" sz="1050" dirty="0" smtClean="0">
                <a:latin typeface="Cascadia Mono Light" pitchFamily="49" charset="0"/>
                <a:cs typeface="Cascadia Mono Light" pitchFamily="49" charset="0"/>
              </a:rPr>
              <a:t>[</a:t>
            </a:r>
            <a:r>
              <a:rPr lang="ru-RU" sz="1050" dirty="0" err="1" smtClean="0">
                <a:latin typeface="Cascadia Mono Light" pitchFamily="49" charset="0"/>
                <a:cs typeface="Cascadia Mono Light" pitchFamily="49" charset="0"/>
              </a:rPr>
              <a:t>i</a:t>
            </a:r>
            <a:r>
              <a:rPr lang="ru-RU" sz="1050" dirty="0" smtClean="0">
                <a:latin typeface="Cascadia Mono Light" pitchFamily="49" charset="0"/>
                <a:cs typeface="Cascadia Mono Light" pitchFamily="49" charset="0"/>
              </a:rPr>
              <a:t>]) попадает в одну и ту же выборку. Если строка с домом попала в </a:t>
            </a:r>
            <a:r>
              <a:rPr lang="ru-RU" sz="1050" dirty="0" err="1" smtClean="0">
                <a:latin typeface="Cascadia Mono Light" pitchFamily="49" charset="0"/>
                <a:cs typeface="Cascadia Mono Light" pitchFamily="49" charset="0"/>
              </a:rPr>
              <a:t>train</a:t>
            </a:r>
            <a:r>
              <a:rPr lang="ru-RU" sz="1050" dirty="0" smtClean="0">
                <a:latin typeface="Cascadia Mono Light" pitchFamily="49" charset="0"/>
                <a:cs typeface="Cascadia Mono Light" pitchFamily="49" charset="0"/>
              </a:rPr>
              <a:t>, то и его цена тоже попала в </a:t>
            </a:r>
            <a:r>
              <a:rPr lang="ru-RU" sz="1050" dirty="0" err="1" smtClean="0">
                <a:latin typeface="Cascadia Mono Light" pitchFamily="49" charset="0"/>
                <a:cs typeface="Cascadia Mono Light" pitchFamily="49" charset="0"/>
              </a:rPr>
              <a:t>train</a:t>
            </a:r>
            <a:r>
              <a:rPr lang="ru-RU" sz="1050" dirty="0" smtClean="0">
                <a:latin typeface="Cascadia Mono Light" pitchFamily="49" charset="0"/>
                <a:cs typeface="Cascadia Mono Light" pitchFamily="49" charset="0"/>
              </a:rPr>
              <a:t> — они не разъедутся.</a:t>
            </a:r>
          </a:p>
          <a:p>
            <a:r>
              <a:rPr lang="ru-RU" sz="1050" dirty="0" smtClean="0">
                <a:latin typeface="Cascadia Mono Light" pitchFamily="49" charset="0"/>
                <a:cs typeface="Cascadia Mono Light" pitchFamily="49" charset="0"/>
              </a:rPr>
              <a:t>test_size=0.2 — размер тестовой выборки: 20%. То есть </a:t>
            </a:r>
            <a:r>
              <a:rPr lang="ru-RU" sz="1050" dirty="0" err="1" smtClean="0">
                <a:latin typeface="Cascadia Mono Light" pitchFamily="49" charset="0"/>
                <a:cs typeface="Cascadia Mono Light" pitchFamily="49" charset="0"/>
              </a:rPr>
              <a:t>train</a:t>
            </a:r>
            <a:r>
              <a:rPr lang="ru-RU" sz="1050" dirty="0" smtClean="0">
                <a:latin typeface="Cascadia Mono Light" pitchFamily="49" charset="0"/>
                <a:cs typeface="Cascadia Mono Light" pitchFamily="49" charset="0"/>
              </a:rPr>
              <a:t> получает 80%.</a:t>
            </a:r>
          </a:p>
          <a:p>
            <a:r>
              <a:rPr lang="ru-RU" sz="1050" dirty="0" smtClean="0">
                <a:latin typeface="Cascadia Mono Light" pitchFamily="49" charset="0"/>
                <a:cs typeface="Cascadia Mono Light" pitchFamily="49" charset="0"/>
              </a:rPr>
              <a:t>random_state=42 — фиксирует </a:t>
            </a:r>
            <a:r>
              <a:rPr lang="ru-RU" sz="1050" dirty="0" err="1" smtClean="0">
                <a:latin typeface="Cascadia Mono Light" pitchFamily="49" charset="0"/>
                <a:cs typeface="Cascadia Mono Light" pitchFamily="49" charset="0"/>
              </a:rPr>
              <a:t>seed</a:t>
            </a:r>
            <a:r>
              <a:rPr lang="ru-RU" sz="1050" dirty="0" smtClean="0">
                <a:latin typeface="Cascadia Mono Light" pitchFamily="49" charset="0"/>
                <a:cs typeface="Cascadia Mono Light" pitchFamily="49" charset="0"/>
              </a:rPr>
              <a:t> генератора случайных чисел. Без него каждый запуск давал бы разное разбиение. С ним — всегда одинаковое</a:t>
            </a:r>
            <a:r>
              <a:rPr lang="ru-RU" sz="1050" dirty="0" smtClean="0">
                <a:latin typeface="Cascadia Mono Light" pitchFamily="49" charset="0"/>
                <a:cs typeface="Cascadia Mono Light" pitchFamily="49" charset="0"/>
              </a:rPr>
              <a:t>.</a:t>
            </a:r>
          </a:p>
          <a:p>
            <a:endParaRPr lang="ru-RU" sz="1050" dirty="0" smtClean="0">
              <a:latin typeface="Cascadia Mono Light" pitchFamily="49" charset="0"/>
              <a:cs typeface="Cascadia Mono Light" pitchFamily="49" charset="0"/>
            </a:endParaRPr>
          </a:p>
          <a:p>
            <a:r>
              <a:rPr lang="ru-RU" sz="1050" b="1" dirty="0" smtClean="0">
                <a:latin typeface="Cascadia Mono Light" pitchFamily="49" charset="0"/>
                <a:cs typeface="Cascadia Mono Light" pitchFamily="49" charset="0"/>
              </a:rPr>
              <a:t>Что возвращает: </a:t>
            </a:r>
            <a:r>
              <a:rPr lang="ru-RU" sz="1050" dirty="0" err="1" smtClean="0">
                <a:latin typeface="Cascadia Mono Light" pitchFamily="49" charset="0"/>
                <a:cs typeface="Cascadia Mono Light" pitchFamily="49" charset="0"/>
              </a:rPr>
              <a:t>train_test_split</a:t>
            </a:r>
            <a:r>
              <a:rPr lang="ru-RU" sz="1050" dirty="0" smtClean="0">
                <a:latin typeface="Cascadia Mono Light" pitchFamily="49" charset="0"/>
                <a:cs typeface="Cascadia Mono Light" pitchFamily="49" charset="0"/>
              </a:rPr>
              <a:t> возвращает четыре объекта — сразу в правильном порядке:</a:t>
            </a:r>
          </a:p>
          <a:p>
            <a:r>
              <a:rPr lang="ru-RU" sz="1050" dirty="0" err="1" smtClean="0">
                <a:latin typeface="Cascadia Mono Light" pitchFamily="49" charset="0"/>
                <a:cs typeface="Cascadia Mono Light" pitchFamily="49" charset="0"/>
              </a:rPr>
              <a:t>X_train</a:t>
            </a:r>
            <a:r>
              <a:rPr lang="ru-RU" sz="1050" dirty="0" smtClean="0">
                <a:latin typeface="Cascadia Mono Light" pitchFamily="49" charset="0"/>
                <a:cs typeface="Cascadia Mono Light" pitchFamily="49" charset="0"/>
              </a:rPr>
              <a:t> — признаки для обучения;</a:t>
            </a:r>
          </a:p>
          <a:p>
            <a:r>
              <a:rPr lang="ru-RU" sz="1050" dirty="0" err="1" smtClean="0">
                <a:latin typeface="Cascadia Mono Light" pitchFamily="49" charset="0"/>
                <a:cs typeface="Cascadia Mono Light" pitchFamily="49" charset="0"/>
              </a:rPr>
              <a:t>X_test</a:t>
            </a:r>
            <a:r>
              <a:rPr lang="ru-RU" sz="1050" dirty="0" smtClean="0">
                <a:latin typeface="Cascadia Mono Light" pitchFamily="49" charset="0"/>
                <a:cs typeface="Cascadia Mono Light" pitchFamily="49" charset="0"/>
              </a:rPr>
              <a:t> — признаки для теста;</a:t>
            </a:r>
          </a:p>
          <a:p>
            <a:r>
              <a:rPr lang="ru-RU" sz="1050" dirty="0" err="1" smtClean="0">
                <a:latin typeface="Cascadia Mono Light" pitchFamily="49" charset="0"/>
                <a:cs typeface="Cascadia Mono Light" pitchFamily="49" charset="0"/>
              </a:rPr>
              <a:t>y_train</a:t>
            </a:r>
            <a:r>
              <a:rPr lang="ru-RU" sz="1050" dirty="0" smtClean="0">
                <a:latin typeface="Cascadia Mono Light" pitchFamily="49" charset="0"/>
                <a:cs typeface="Cascadia Mono Light" pitchFamily="49" charset="0"/>
              </a:rPr>
              <a:t> — ответы для обучения;</a:t>
            </a:r>
          </a:p>
          <a:p>
            <a:r>
              <a:rPr lang="ru-RU" sz="1050" dirty="0" err="1" smtClean="0">
                <a:latin typeface="Cascadia Mono Light" pitchFamily="49" charset="0"/>
                <a:cs typeface="Cascadia Mono Light" pitchFamily="49" charset="0"/>
              </a:rPr>
              <a:t>y_test</a:t>
            </a:r>
            <a:r>
              <a:rPr lang="ru-RU" sz="1050" dirty="0" smtClean="0">
                <a:latin typeface="Cascadia Mono Light" pitchFamily="49" charset="0"/>
                <a:cs typeface="Cascadia Mono Light" pitchFamily="49" charset="0"/>
              </a:rPr>
              <a:t> — ответы для теста.</a:t>
            </a:r>
          </a:p>
          <a:p>
            <a:r>
              <a:rPr lang="ru-RU" sz="1050" dirty="0" smtClean="0">
                <a:latin typeface="Cascadia Mono Light" pitchFamily="49" charset="0"/>
                <a:cs typeface="Cascadia Mono Light" pitchFamily="49" charset="0"/>
              </a:rPr>
              <a:t>Мы присваиваем их четырём переменным через распаковку.</a:t>
            </a:r>
          </a:p>
          <a:p>
            <a:r>
              <a:rPr lang="ru-RU" sz="1050" dirty="0" smtClean="0">
                <a:latin typeface="Cascadia Mono Light" pitchFamily="49" charset="0"/>
                <a:cs typeface="Cascadia Mono Light" pitchFamily="49" charset="0"/>
              </a:rPr>
              <a:t>Почему важно, что разбиение синхронное: если бы X и </a:t>
            </a:r>
            <a:r>
              <a:rPr lang="ru-RU" sz="1050" dirty="0" err="1" smtClean="0">
                <a:latin typeface="Cascadia Mono Light" pitchFamily="49" charset="0"/>
                <a:cs typeface="Cascadia Mono Light" pitchFamily="49" charset="0"/>
              </a:rPr>
              <a:t>y</a:t>
            </a:r>
            <a:r>
              <a:rPr lang="ru-RU" sz="1050" dirty="0" smtClean="0">
                <a:latin typeface="Cascadia Mono Light" pitchFamily="49" charset="0"/>
                <a:cs typeface="Cascadia Mono Light" pitchFamily="49" charset="0"/>
              </a:rPr>
              <a:t> делились независимо, могла бы возникнуть ситуация, когда признаки одного дома попали в </a:t>
            </a:r>
            <a:r>
              <a:rPr lang="ru-RU" sz="1050" dirty="0" err="1" smtClean="0">
                <a:latin typeface="Cascadia Mono Light" pitchFamily="49" charset="0"/>
                <a:cs typeface="Cascadia Mono Light" pitchFamily="49" charset="0"/>
              </a:rPr>
              <a:t>train</a:t>
            </a:r>
            <a:r>
              <a:rPr lang="ru-RU" sz="1050" dirty="0" smtClean="0">
                <a:latin typeface="Cascadia Mono Light" pitchFamily="49" charset="0"/>
                <a:cs typeface="Cascadia Mono Light" pitchFamily="49" charset="0"/>
              </a:rPr>
              <a:t>, а его цена — в </a:t>
            </a:r>
            <a:r>
              <a:rPr lang="ru-RU" sz="1050" dirty="0" err="1" smtClean="0">
                <a:latin typeface="Cascadia Mono Light" pitchFamily="49" charset="0"/>
                <a:cs typeface="Cascadia Mono Light" pitchFamily="49" charset="0"/>
              </a:rPr>
              <a:t>test</a:t>
            </a:r>
            <a:r>
              <a:rPr lang="ru-RU" sz="1050" dirty="0" smtClean="0">
                <a:latin typeface="Cascadia Mono Light" pitchFamily="49" charset="0"/>
                <a:cs typeface="Cascadia Mono Light" pitchFamily="49" charset="0"/>
              </a:rPr>
              <a:t>. Модель бы тогда «училась» на несогласованных данных. </a:t>
            </a:r>
            <a:r>
              <a:rPr lang="ru-RU" sz="1050" dirty="0" err="1" smtClean="0">
                <a:latin typeface="Cascadia Mono Light" pitchFamily="49" charset="0"/>
                <a:cs typeface="Cascadia Mono Light" pitchFamily="49" charset="0"/>
              </a:rPr>
              <a:t>train_test_split</a:t>
            </a:r>
            <a:r>
              <a:rPr lang="ru-RU" sz="1050" dirty="0" smtClean="0">
                <a:latin typeface="Cascadia Mono Light" pitchFamily="49" charset="0"/>
                <a:cs typeface="Cascadia Mono Light" pitchFamily="49" charset="0"/>
              </a:rPr>
              <a:t> гарантирует, что пары (X[</a:t>
            </a:r>
            <a:r>
              <a:rPr lang="ru-RU" sz="1050" dirty="0" err="1" smtClean="0">
                <a:latin typeface="Cascadia Mono Light" pitchFamily="49" charset="0"/>
                <a:cs typeface="Cascadia Mono Light" pitchFamily="49" charset="0"/>
              </a:rPr>
              <a:t>i</a:t>
            </a:r>
            <a:r>
              <a:rPr lang="ru-RU" sz="1050" dirty="0" smtClean="0">
                <a:latin typeface="Cascadia Mono Light" pitchFamily="49" charset="0"/>
                <a:cs typeface="Cascadia Mono Light" pitchFamily="49" charset="0"/>
              </a:rPr>
              <a:t>], </a:t>
            </a:r>
            <a:r>
              <a:rPr lang="ru-RU" sz="1050" dirty="0" err="1" smtClean="0">
                <a:latin typeface="Cascadia Mono Light" pitchFamily="49" charset="0"/>
                <a:cs typeface="Cascadia Mono Light" pitchFamily="49" charset="0"/>
              </a:rPr>
              <a:t>y</a:t>
            </a:r>
            <a:r>
              <a:rPr lang="ru-RU" sz="1050" dirty="0" smtClean="0">
                <a:latin typeface="Cascadia Mono Light" pitchFamily="49" charset="0"/>
                <a:cs typeface="Cascadia Mono Light" pitchFamily="49" charset="0"/>
              </a:rPr>
              <a:t>[</a:t>
            </a:r>
            <a:r>
              <a:rPr lang="ru-RU" sz="1050" dirty="0" err="1" smtClean="0">
                <a:latin typeface="Cascadia Mono Light" pitchFamily="49" charset="0"/>
                <a:cs typeface="Cascadia Mono Light" pitchFamily="49" charset="0"/>
              </a:rPr>
              <a:t>i</a:t>
            </a:r>
            <a:r>
              <a:rPr lang="ru-RU" sz="1050" dirty="0" smtClean="0">
                <a:latin typeface="Cascadia Mono Light" pitchFamily="49" charset="0"/>
                <a:cs typeface="Cascadia Mono Light" pitchFamily="49" charset="0"/>
              </a:rPr>
              <a:t>]) всегда остаются вместе.</a:t>
            </a:r>
          </a:p>
          <a:p>
            <a:r>
              <a:rPr lang="ru-RU" sz="1050" dirty="0" smtClean="0">
                <a:latin typeface="Cascadia Mono Light" pitchFamily="49" charset="0"/>
                <a:cs typeface="Cascadia Mono Light" pitchFamily="49" charset="0"/>
              </a:rPr>
              <a:t>Почему random_state=42: </a:t>
            </a:r>
            <a:r>
              <a:rPr lang="ru-RU" sz="1050" dirty="0" err="1" smtClean="0">
                <a:latin typeface="Cascadia Mono Light" pitchFamily="49" charset="0"/>
                <a:cs typeface="Cascadia Mono Light" pitchFamily="49" charset="0"/>
              </a:rPr>
              <a:t>воспроизводимость</a:t>
            </a:r>
            <a:r>
              <a:rPr lang="ru-RU" sz="1050" dirty="0" smtClean="0">
                <a:latin typeface="Cascadia Mono Light" pitchFamily="49" charset="0"/>
                <a:cs typeface="Cascadia Mono Light" pitchFamily="49" charset="0"/>
              </a:rPr>
              <a:t>. Если запустить код повторно — получим тот же самый набор </a:t>
            </a:r>
            <a:r>
              <a:rPr lang="ru-RU" sz="1050" dirty="0" err="1" smtClean="0">
                <a:latin typeface="Cascadia Mono Light" pitchFamily="49" charset="0"/>
                <a:cs typeface="Cascadia Mono Light" pitchFamily="49" charset="0"/>
              </a:rPr>
              <a:t>train</a:t>
            </a:r>
            <a:r>
              <a:rPr lang="ru-RU" sz="1050" dirty="0" smtClean="0">
                <a:latin typeface="Cascadia Mono Light" pitchFamily="49" charset="0"/>
                <a:cs typeface="Cascadia Mono Light" pitchFamily="49" charset="0"/>
              </a:rPr>
              <a:t> и </a:t>
            </a:r>
            <a:r>
              <a:rPr lang="ru-RU" sz="1050" dirty="0" err="1" smtClean="0">
                <a:latin typeface="Cascadia Mono Light" pitchFamily="49" charset="0"/>
                <a:cs typeface="Cascadia Mono Light" pitchFamily="49" charset="0"/>
              </a:rPr>
              <a:t>test</a:t>
            </a:r>
            <a:r>
              <a:rPr lang="ru-RU" sz="1050" dirty="0" smtClean="0">
                <a:latin typeface="Cascadia Mono Light" pitchFamily="49" charset="0"/>
                <a:cs typeface="Cascadia Mono Light" pitchFamily="49" charset="0"/>
              </a:rPr>
              <a:t>. Если бы </a:t>
            </a:r>
            <a:r>
              <a:rPr lang="ru-RU" sz="1050" dirty="0" err="1" smtClean="0">
                <a:latin typeface="Cascadia Mono Light" pitchFamily="49" charset="0"/>
                <a:cs typeface="Cascadia Mono Light" pitchFamily="49" charset="0"/>
              </a:rPr>
              <a:t>seed</a:t>
            </a:r>
            <a:r>
              <a:rPr lang="ru-RU" sz="1050" dirty="0" smtClean="0">
                <a:latin typeface="Cascadia Mono Light" pitchFamily="49" charset="0"/>
                <a:cs typeface="Cascadia Mono Light" pitchFamily="49" charset="0"/>
              </a:rPr>
              <a:t> не фиксировался, каждый запуск давал бы разные выборки, и результаты нельзя было бы сравнивать между запусками.</a:t>
            </a:r>
          </a:p>
          <a:p>
            <a:r>
              <a:rPr lang="ru-RU" sz="1050" dirty="0" smtClean="0">
                <a:latin typeface="Cascadia Mono Light" pitchFamily="49" charset="0"/>
                <a:cs typeface="Cascadia Mono Light" pitchFamily="49" charset="0"/>
              </a:rPr>
              <a:t/>
            </a:r>
            <a:br>
              <a:rPr lang="ru-RU" sz="1050" dirty="0" smtClean="0">
                <a:latin typeface="Cascadia Mono Light" pitchFamily="49" charset="0"/>
                <a:cs typeface="Cascadia Mono Light" pitchFamily="49" charset="0"/>
              </a:rPr>
            </a:br>
            <a:endParaRPr lang="ru-RU" sz="1050" dirty="0">
              <a:latin typeface="Cascadia Mono Light" pitchFamily="49" charset="0"/>
              <a:cs typeface="Cascadia Mono Light" pitchFamily="49" charset="0"/>
            </a:endParaRPr>
          </a:p>
        </p:txBody>
      </p:sp>
      <p:pic>
        <p:nvPicPr>
          <p:cNvPr id="74754" name="Picture 2"/>
          <p:cNvPicPr>
            <a:picLocks noChangeAspect="1" noChangeArrowheads="1"/>
          </p:cNvPicPr>
          <p:nvPr/>
        </p:nvPicPr>
        <p:blipFill>
          <a:blip r:embed="rId2" cstate="print"/>
          <a:srcRect/>
          <a:stretch>
            <a:fillRect/>
          </a:stretch>
        </p:blipFill>
        <p:spPr bwMode="auto">
          <a:xfrm>
            <a:off x="838200" y="0"/>
            <a:ext cx="7250113" cy="2441152"/>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8686800" cy="944562"/>
          </a:xfrm>
        </p:spPr>
        <p:txBody>
          <a:bodyPr/>
          <a:lstStyle/>
          <a:p>
            <a:r>
              <a:rPr lang="ru-RU" dirty="0" smtClean="0">
                <a:latin typeface="Cascadia Mono Light" pitchFamily="49" charset="0"/>
                <a:cs typeface="Cascadia Mono Light" pitchFamily="49" charset="0"/>
              </a:rPr>
              <a:t>4. Предобработка данных</a:t>
            </a:r>
            <a:endParaRPr lang="ru-RU" dirty="0">
              <a:latin typeface="Cascadia Mono Light" pitchFamily="49" charset="0"/>
              <a:cs typeface="Cascadia Mono Light" pitchFamily="49" charset="0"/>
            </a:endParaRPr>
          </a:p>
        </p:txBody>
      </p:sp>
      <p:sp>
        <p:nvSpPr>
          <p:cNvPr id="3" name="Содержимое 2"/>
          <p:cNvSpPr>
            <a:spLocks noGrp="1"/>
          </p:cNvSpPr>
          <p:nvPr>
            <p:ph idx="1"/>
          </p:nvPr>
        </p:nvSpPr>
        <p:spPr>
          <a:xfrm>
            <a:off x="228600" y="1143000"/>
            <a:ext cx="8458200" cy="3657600"/>
          </a:xfrm>
        </p:spPr>
        <p:txBody>
          <a:bodyPr>
            <a:noAutofit/>
          </a:bodyPr>
          <a:lstStyle/>
          <a:p>
            <a:r>
              <a:rPr lang="ru-RU" sz="1400" dirty="0" smtClean="0">
                <a:latin typeface="Cascadia Mono Light" pitchFamily="49" charset="0"/>
                <a:cs typeface="Cascadia Mono Light" pitchFamily="49" charset="0"/>
              </a:rPr>
              <a:t>В </a:t>
            </a:r>
            <a:r>
              <a:rPr lang="ru-RU" sz="1400" dirty="0" err="1" smtClean="0">
                <a:latin typeface="Cascadia Mono Light" pitchFamily="49" charset="0"/>
                <a:cs typeface="Cascadia Mono Light" pitchFamily="49" charset="0"/>
              </a:rPr>
              <a:t>датасете</a:t>
            </a:r>
            <a:r>
              <a:rPr lang="ru-RU" sz="1400" dirty="0" smtClean="0">
                <a:latin typeface="Cascadia Mono Light" pitchFamily="49" charset="0"/>
                <a:cs typeface="Cascadia Mono Light" pitchFamily="49" charset="0"/>
              </a:rPr>
              <a:t> признаки измеряются в совершенно разных единицах:</a:t>
            </a:r>
          </a:p>
          <a:p>
            <a:r>
              <a:rPr lang="ru-RU" sz="1400" dirty="0" err="1" smtClean="0">
                <a:latin typeface="Cascadia Mono Light" pitchFamily="49" charset="0"/>
                <a:cs typeface="Cascadia Mono Light" pitchFamily="49" charset="0"/>
              </a:rPr>
              <a:t>MedInc</a:t>
            </a:r>
            <a:r>
              <a:rPr lang="ru-RU" sz="1400" dirty="0" smtClean="0">
                <a:latin typeface="Cascadia Mono Light" pitchFamily="49" charset="0"/>
                <a:cs typeface="Cascadia Mono Light" pitchFamily="49" charset="0"/>
              </a:rPr>
              <a:t> (доход) — от 0.5 до </a:t>
            </a:r>
            <a:r>
              <a:rPr lang="ru-RU" sz="1400" dirty="0" smtClean="0">
                <a:latin typeface="Cascadia Mono Light" pitchFamily="49" charset="0"/>
                <a:cs typeface="Cascadia Mono Light" pitchFamily="49" charset="0"/>
              </a:rPr>
              <a:t>15; </a:t>
            </a:r>
            <a:r>
              <a:rPr lang="ru-RU" sz="1400" dirty="0" err="1" smtClean="0">
                <a:latin typeface="Cascadia Mono Light" pitchFamily="49" charset="0"/>
                <a:cs typeface="Cascadia Mono Light" pitchFamily="49" charset="0"/>
              </a:rPr>
              <a:t>Population</a:t>
            </a:r>
            <a:r>
              <a:rPr lang="ru-RU" sz="1400" dirty="0" smtClean="0">
                <a:latin typeface="Cascadia Mono Light" pitchFamily="49" charset="0"/>
                <a:cs typeface="Cascadia Mono Light" pitchFamily="49" charset="0"/>
              </a:rPr>
              <a:t> </a:t>
            </a:r>
            <a:r>
              <a:rPr lang="ru-RU" sz="1400" dirty="0" smtClean="0">
                <a:latin typeface="Cascadia Mono Light" pitchFamily="49" charset="0"/>
                <a:cs typeface="Cascadia Mono Light" pitchFamily="49" charset="0"/>
              </a:rPr>
              <a:t>(население) — от 3 до 35 682;</a:t>
            </a:r>
          </a:p>
          <a:p>
            <a:r>
              <a:rPr lang="ru-RU" sz="1400" dirty="0" err="1" smtClean="0">
                <a:latin typeface="Cascadia Mono Light" pitchFamily="49" charset="0"/>
                <a:cs typeface="Cascadia Mono Light" pitchFamily="49" charset="0"/>
              </a:rPr>
              <a:t>Population</a:t>
            </a:r>
            <a:r>
              <a:rPr lang="ru-RU" sz="1400" dirty="0" smtClean="0">
                <a:latin typeface="Cascadia Mono Light" pitchFamily="49" charset="0"/>
                <a:cs typeface="Cascadia Mono Light" pitchFamily="49" charset="0"/>
              </a:rPr>
              <a:t> </a:t>
            </a:r>
            <a:r>
              <a:rPr lang="ru-RU" sz="1400" dirty="0" smtClean="0">
                <a:latin typeface="Cascadia Mono Light" pitchFamily="49" charset="0"/>
                <a:cs typeface="Cascadia Mono Light" pitchFamily="49" charset="0"/>
              </a:rPr>
              <a:t>в тысячи раз больше </a:t>
            </a:r>
            <a:r>
              <a:rPr lang="ru-RU" sz="1400" dirty="0" err="1" smtClean="0">
                <a:latin typeface="Cascadia Mono Light" pitchFamily="49" charset="0"/>
                <a:cs typeface="Cascadia Mono Light" pitchFamily="49" charset="0"/>
              </a:rPr>
              <a:t>MedInc</a:t>
            </a:r>
            <a:r>
              <a:rPr lang="ru-RU" sz="1400" dirty="0" smtClean="0">
                <a:latin typeface="Cascadia Mono Light" pitchFamily="49" charset="0"/>
                <a:cs typeface="Cascadia Mono Light" pitchFamily="49" charset="0"/>
              </a:rPr>
              <a:t>. Для </a:t>
            </a:r>
            <a:r>
              <a:rPr lang="ru-RU" sz="1400" dirty="0" err="1" smtClean="0">
                <a:latin typeface="Cascadia Mono Light" pitchFamily="49" charset="0"/>
                <a:cs typeface="Cascadia Mono Light" pitchFamily="49" charset="0"/>
              </a:rPr>
              <a:t>нейросети</a:t>
            </a:r>
            <a:r>
              <a:rPr lang="ru-RU" sz="1400" dirty="0" smtClean="0">
                <a:latin typeface="Cascadia Mono Light" pitchFamily="49" charset="0"/>
                <a:cs typeface="Cascadia Mono Light" pitchFamily="49" charset="0"/>
              </a:rPr>
              <a:t> это </a:t>
            </a:r>
            <a:r>
              <a:rPr lang="ru-RU" sz="1400" dirty="0" smtClean="0">
                <a:latin typeface="Cascadia Mono Light" pitchFamily="49" charset="0"/>
                <a:cs typeface="Cascadia Mono Light" pitchFamily="49" charset="0"/>
              </a:rPr>
              <a:t>катастрофа: признак </a:t>
            </a:r>
            <a:r>
              <a:rPr lang="ru-RU" sz="1400" dirty="0" smtClean="0">
                <a:latin typeface="Cascadia Mono Light" pitchFamily="49" charset="0"/>
                <a:cs typeface="Cascadia Mono Light" pitchFamily="49" charset="0"/>
              </a:rPr>
              <a:t>с большим </a:t>
            </a:r>
            <a:r>
              <a:rPr lang="ru-RU" sz="1400" dirty="0" smtClean="0">
                <a:latin typeface="Cascadia Mono Light" pitchFamily="49" charset="0"/>
                <a:cs typeface="Cascadia Mono Light" pitchFamily="49" charset="0"/>
              </a:rPr>
              <a:t>масштабом даёт </a:t>
            </a:r>
            <a:r>
              <a:rPr lang="ru-RU" sz="1400" dirty="0" smtClean="0">
                <a:latin typeface="Cascadia Mono Light" pitchFamily="49" charset="0"/>
                <a:cs typeface="Cascadia Mono Light" pitchFamily="49" charset="0"/>
              </a:rPr>
              <a:t>большой </a:t>
            </a:r>
            <a:r>
              <a:rPr lang="ru-RU" sz="1400" dirty="0" smtClean="0">
                <a:latin typeface="Cascadia Mono Light" pitchFamily="49" charset="0"/>
                <a:cs typeface="Cascadia Mono Light" pitchFamily="49" charset="0"/>
              </a:rPr>
              <a:t>градиент; веса </a:t>
            </a:r>
            <a:r>
              <a:rPr lang="ru-RU" sz="1400" dirty="0" smtClean="0">
                <a:latin typeface="Cascadia Mono Light" pitchFamily="49" charset="0"/>
                <a:cs typeface="Cascadia Mono Light" pitchFamily="49" charset="0"/>
              </a:rPr>
              <a:t>для него будут «прыгать</a:t>
            </a:r>
            <a:r>
              <a:rPr lang="ru-RU" sz="1400" dirty="0" smtClean="0">
                <a:latin typeface="Cascadia Mono Light" pitchFamily="49" charset="0"/>
                <a:cs typeface="Cascadia Mono Light" pitchFamily="49" charset="0"/>
              </a:rPr>
              <a:t>»; обучение </a:t>
            </a:r>
            <a:r>
              <a:rPr lang="ru-RU" sz="1400" dirty="0" smtClean="0">
                <a:latin typeface="Cascadia Mono Light" pitchFamily="49" charset="0"/>
                <a:cs typeface="Cascadia Mono Light" pitchFamily="49" charset="0"/>
              </a:rPr>
              <a:t>становится нестабильным или расходится</a:t>
            </a:r>
            <a:r>
              <a:rPr lang="ru-RU" sz="1400" dirty="0" smtClean="0">
                <a:latin typeface="Cascadia Mono Light" pitchFamily="49" charset="0"/>
                <a:cs typeface="Cascadia Mono Light" pitchFamily="49" charset="0"/>
              </a:rPr>
              <a:t>.</a:t>
            </a:r>
          </a:p>
          <a:p>
            <a:endParaRPr lang="ru-RU" sz="1400" dirty="0" smtClean="0">
              <a:latin typeface="Cascadia Mono Light" pitchFamily="49" charset="0"/>
              <a:cs typeface="Cascadia Mono Light" pitchFamily="49" charset="0"/>
            </a:endParaRPr>
          </a:p>
          <a:p>
            <a:r>
              <a:rPr lang="ru-RU" sz="1400" dirty="0" smtClean="0">
                <a:latin typeface="Cascadia Mono Light" pitchFamily="49" charset="0"/>
                <a:cs typeface="Cascadia Mono Light" pitchFamily="49" charset="0"/>
              </a:rPr>
              <a:t>Решение: привести к одному масштабу</a:t>
            </a:r>
          </a:p>
          <a:p>
            <a:r>
              <a:rPr lang="ru-RU" sz="1400" dirty="0" err="1" smtClean="0">
                <a:latin typeface="Cascadia Mono Light" pitchFamily="49" charset="0"/>
                <a:cs typeface="Cascadia Mono Light" pitchFamily="49" charset="0"/>
              </a:rPr>
              <a:t>StandardScaler</a:t>
            </a:r>
            <a:r>
              <a:rPr lang="ru-RU" sz="1400" dirty="0" smtClean="0">
                <a:latin typeface="Cascadia Mono Light" pitchFamily="49" charset="0"/>
                <a:cs typeface="Cascadia Mono Light" pitchFamily="49" charset="0"/>
              </a:rPr>
              <a:t> преобразует каждый признак так, чтобы у него было:</a:t>
            </a:r>
          </a:p>
          <a:p>
            <a:r>
              <a:rPr lang="ru-RU" sz="1400" dirty="0" smtClean="0">
                <a:latin typeface="Cascadia Mono Light" pitchFamily="49" charset="0"/>
                <a:cs typeface="Cascadia Mono Light" pitchFamily="49" charset="0"/>
              </a:rPr>
              <a:t>среднее = 0;</a:t>
            </a:r>
          </a:p>
          <a:p>
            <a:r>
              <a:rPr lang="ru-RU" sz="1400" dirty="0" smtClean="0">
                <a:latin typeface="Cascadia Mono Light" pitchFamily="49" charset="0"/>
                <a:cs typeface="Cascadia Mono Light" pitchFamily="49" charset="0"/>
              </a:rPr>
              <a:t>стандартное отклонение = 1.</a:t>
            </a:r>
          </a:p>
          <a:p>
            <a:r>
              <a:rPr lang="ru-RU" sz="1400" dirty="0" smtClean="0">
                <a:latin typeface="Cascadia Mono Light" pitchFamily="49" charset="0"/>
                <a:cs typeface="Cascadia Mono Light" pitchFamily="49" charset="0"/>
              </a:rPr>
              <a:t>Формула для каждого </a:t>
            </a:r>
            <a:r>
              <a:rPr lang="ru-RU" sz="1400" dirty="0" smtClean="0">
                <a:latin typeface="Cascadia Mono Light" pitchFamily="49" charset="0"/>
                <a:cs typeface="Cascadia Mono Light" pitchFamily="49" charset="0"/>
              </a:rPr>
              <a:t>значения: </a:t>
            </a:r>
            <a:r>
              <a:rPr lang="ru-RU" sz="1400" dirty="0" err="1" smtClean="0">
                <a:latin typeface="Cascadia Mono Light" pitchFamily="49" charset="0"/>
                <a:cs typeface="Cascadia Mono Light" pitchFamily="49" charset="0"/>
              </a:rPr>
              <a:t>x_new</a:t>
            </a:r>
            <a:r>
              <a:rPr lang="ru-RU" sz="1400" dirty="0" smtClean="0">
                <a:latin typeface="Cascadia Mono Light" pitchFamily="49" charset="0"/>
                <a:cs typeface="Cascadia Mono Light" pitchFamily="49" charset="0"/>
              </a:rPr>
              <a:t> </a:t>
            </a:r>
            <a:r>
              <a:rPr lang="ru-RU" sz="1400" dirty="0" smtClean="0">
                <a:latin typeface="Cascadia Mono Light" pitchFamily="49" charset="0"/>
                <a:cs typeface="Cascadia Mono Light" pitchFamily="49" charset="0"/>
              </a:rPr>
              <a:t>= (</a:t>
            </a:r>
            <a:r>
              <a:rPr lang="ru-RU" sz="1400" dirty="0" err="1" smtClean="0">
                <a:latin typeface="Cascadia Mono Light" pitchFamily="49" charset="0"/>
                <a:cs typeface="Cascadia Mono Light" pitchFamily="49" charset="0"/>
              </a:rPr>
              <a:t>x</a:t>
            </a:r>
            <a:r>
              <a:rPr lang="ru-RU" sz="1400" dirty="0" smtClean="0">
                <a:latin typeface="Cascadia Mono Light" pitchFamily="49" charset="0"/>
                <a:cs typeface="Cascadia Mono Light" pitchFamily="49" charset="0"/>
              </a:rPr>
              <a:t> - </a:t>
            </a:r>
            <a:r>
              <a:rPr lang="ru-RU" sz="1400" dirty="0" err="1" smtClean="0">
                <a:latin typeface="Cascadia Mono Light" pitchFamily="49" charset="0"/>
                <a:cs typeface="Cascadia Mono Light" pitchFamily="49" charset="0"/>
              </a:rPr>
              <a:t>mean</a:t>
            </a:r>
            <a:r>
              <a:rPr lang="ru-RU" sz="1400" dirty="0" smtClean="0">
                <a:latin typeface="Cascadia Mono Light" pitchFamily="49" charset="0"/>
                <a:cs typeface="Cascadia Mono Light" pitchFamily="49" charset="0"/>
              </a:rPr>
              <a:t>) / </a:t>
            </a:r>
            <a:r>
              <a:rPr lang="ru-RU" sz="1400" dirty="0" err="1" smtClean="0">
                <a:latin typeface="Cascadia Mono Light" pitchFamily="49" charset="0"/>
                <a:cs typeface="Cascadia Mono Light" pitchFamily="49" charset="0"/>
              </a:rPr>
              <a:t>std</a:t>
            </a:r>
            <a:r>
              <a:rPr lang="ru-RU" sz="1400" dirty="0" smtClean="0">
                <a:latin typeface="Cascadia Mono Light" pitchFamily="49" charset="0"/>
                <a:cs typeface="Cascadia Mono Light" pitchFamily="49" charset="0"/>
              </a:rPr>
              <a:t> Где: </a:t>
            </a:r>
            <a:r>
              <a:rPr lang="ru-RU" sz="1400" dirty="0" err="1" smtClean="0">
                <a:latin typeface="Cascadia Mono Light" pitchFamily="49" charset="0"/>
                <a:cs typeface="Cascadia Mono Light" pitchFamily="49" charset="0"/>
              </a:rPr>
              <a:t>mean</a:t>
            </a:r>
            <a:r>
              <a:rPr lang="ru-RU" sz="1400" dirty="0" smtClean="0">
                <a:latin typeface="Cascadia Mono Light" pitchFamily="49" charset="0"/>
                <a:cs typeface="Cascadia Mono Light" pitchFamily="49" charset="0"/>
              </a:rPr>
              <a:t> </a:t>
            </a:r>
            <a:r>
              <a:rPr lang="ru-RU" sz="1400" dirty="0" smtClean="0">
                <a:latin typeface="Cascadia Mono Light" pitchFamily="49" charset="0"/>
                <a:cs typeface="Cascadia Mono Light" pitchFamily="49" charset="0"/>
              </a:rPr>
              <a:t>— среднее по </a:t>
            </a:r>
            <a:r>
              <a:rPr lang="ru-RU" sz="1400" dirty="0" smtClean="0">
                <a:latin typeface="Cascadia Mono Light" pitchFamily="49" charset="0"/>
                <a:cs typeface="Cascadia Mono Light" pitchFamily="49" charset="0"/>
              </a:rPr>
              <a:t>столбцу; </a:t>
            </a:r>
            <a:r>
              <a:rPr lang="ru-RU" sz="1400" dirty="0" err="1" smtClean="0">
                <a:latin typeface="Cascadia Mono Light" pitchFamily="49" charset="0"/>
                <a:cs typeface="Cascadia Mono Light" pitchFamily="49" charset="0"/>
              </a:rPr>
              <a:t>std</a:t>
            </a:r>
            <a:r>
              <a:rPr lang="ru-RU" sz="1400" dirty="0" smtClean="0">
                <a:latin typeface="Cascadia Mono Light" pitchFamily="49" charset="0"/>
                <a:cs typeface="Cascadia Mono Light" pitchFamily="49" charset="0"/>
              </a:rPr>
              <a:t> </a:t>
            </a:r>
            <a:r>
              <a:rPr lang="ru-RU" sz="1400" dirty="0" smtClean="0">
                <a:latin typeface="Cascadia Mono Light" pitchFamily="49" charset="0"/>
                <a:cs typeface="Cascadia Mono Light" pitchFamily="49" charset="0"/>
              </a:rPr>
              <a:t>— стандартное отклонение по столбцу.</a:t>
            </a:r>
          </a:p>
          <a:p>
            <a:r>
              <a:rPr lang="ru-RU" sz="1400" dirty="0" smtClean="0">
                <a:latin typeface="Cascadia Mono Light" pitchFamily="49" charset="0"/>
                <a:cs typeface="Cascadia Mono Light" pitchFamily="49" charset="0"/>
              </a:rPr>
              <a:t>Все значения теперь в диапазоне [-1.5, +1.5], независимо от исходных единиц. После масштабирования все признаки сопоставимы — и GD работает стабильно.</a:t>
            </a:r>
          </a:p>
          <a:p>
            <a:endParaRPr lang="ru-RU" sz="1400" dirty="0">
              <a:latin typeface="Cascadia Mono Light" pitchFamily="49" charset="0"/>
              <a:cs typeface="Cascadia Mono Light" pitchFamily="49" charset="0"/>
            </a:endParaRPr>
          </a:p>
        </p:txBody>
      </p:sp>
      <p:pic>
        <p:nvPicPr>
          <p:cNvPr id="75778" name="Picture 2"/>
          <p:cNvPicPr>
            <a:picLocks noChangeAspect="1" noChangeArrowheads="1"/>
          </p:cNvPicPr>
          <p:nvPr/>
        </p:nvPicPr>
        <p:blipFill>
          <a:blip r:embed="rId2" cstate="print"/>
          <a:srcRect/>
          <a:stretch>
            <a:fillRect/>
          </a:stretch>
        </p:blipFill>
        <p:spPr bwMode="auto">
          <a:xfrm>
            <a:off x="1828800" y="4800600"/>
            <a:ext cx="5811838" cy="1840487"/>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52400" y="152400"/>
            <a:ext cx="8458200" cy="4343400"/>
          </a:xfrm>
        </p:spPr>
        <p:txBody>
          <a:bodyPr>
            <a:noAutofit/>
          </a:bodyPr>
          <a:lstStyle/>
          <a:p>
            <a:r>
              <a:rPr lang="ru-RU" sz="1200" dirty="0" err="1" smtClean="0">
                <a:latin typeface="Cascadia Mono Light" pitchFamily="49" charset="0"/>
                <a:cs typeface="Cascadia Mono Light" pitchFamily="49" charset="0"/>
              </a:rPr>
              <a:t>scaler</a:t>
            </a:r>
            <a:r>
              <a:rPr lang="ru-RU" sz="1200" dirty="0" smtClean="0">
                <a:latin typeface="Cascadia Mono Light" pitchFamily="49" charset="0"/>
                <a:cs typeface="Cascadia Mono Light" pitchFamily="49" charset="0"/>
              </a:rPr>
              <a:t> = </a:t>
            </a:r>
            <a:r>
              <a:rPr lang="ru-RU" sz="1200" dirty="0" err="1" smtClean="0">
                <a:latin typeface="Cascadia Mono Light" pitchFamily="49" charset="0"/>
                <a:cs typeface="Cascadia Mono Light" pitchFamily="49" charset="0"/>
              </a:rPr>
              <a:t>StandardScaler</a:t>
            </a:r>
            <a:r>
              <a:rPr lang="ru-RU" sz="1200" dirty="0" smtClean="0">
                <a:latin typeface="Cascadia Mono Light" pitchFamily="49" charset="0"/>
                <a:cs typeface="Cascadia Mono Light" pitchFamily="49" charset="0"/>
              </a:rPr>
              <a:t>() - создаём </a:t>
            </a:r>
            <a:r>
              <a:rPr lang="ru-RU" sz="1200" dirty="0" smtClean="0">
                <a:latin typeface="Cascadia Mono Light" pitchFamily="49" charset="0"/>
                <a:cs typeface="Cascadia Mono Light" pitchFamily="49" charset="0"/>
              </a:rPr>
              <a:t>объект класса </a:t>
            </a:r>
            <a:r>
              <a:rPr lang="ru-RU" sz="1200" dirty="0" err="1" smtClean="0">
                <a:latin typeface="Cascadia Mono Light" pitchFamily="49" charset="0"/>
                <a:cs typeface="Cascadia Mono Light" pitchFamily="49" charset="0"/>
              </a:rPr>
              <a:t>StandardScaler</a:t>
            </a:r>
            <a:r>
              <a:rPr lang="ru-RU" sz="1200" dirty="0" smtClean="0">
                <a:latin typeface="Cascadia Mono Light" pitchFamily="49" charset="0"/>
                <a:cs typeface="Cascadia Mono Light" pitchFamily="49" charset="0"/>
              </a:rPr>
              <a:t>. Пока он пустой — не знает ни средних, ни </a:t>
            </a:r>
            <a:r>
              <a:rPr lang="ru-RU" sz="1200" dirty="0" err="1" smtClean="0">
                <a:latin typeface="Cascadia Mono Light" pitchFamily="49" charset="0"/>
                <a:cs typeface="Cascadia Mono Light" pitchFamily="49" charset="0"/>
              </a:rPr>
              <a:t>std</a:t>
            </a:r>
            <a:r>
              <a:rPr lang="ru-RU" sz="1200" dirty="0" smtClean="0">
                <a:latin typeface="Cascadia Mono Light" pitchFamily="49" charset="0"/>
                <a:cs typeface="Cascadia Mono Light" pitchFamily="49" charset="0"/>
              </a:rPr>
              <a:t>. Просто «коробка с инструментами», готовая к работе.</a:t>
            </a:r>
          </a:p>
          <a:p>
            <a:r>
              <a:rPr lang="ru-RU" sz="1200" dirty="0" err="1" smtClean="0">
                <a:latin typeface="Cascadia Mono Light" pitchFamily="49" charset="0"/>
                <a:cs typeface="Cascadia Mono Light" pitchFamily="49" charset="0"/>
              </a:rPr>
              <a:t>StandardScaler</a:t>
            </a:r>
            <a:r>
              <a:rPr lang="ru-RU" sz="1200" dirty="0" smtClean="0">
                <a:latin typeface="Cascadia Mono Light" pitchFamily="49" charset="0"/>
                <a:cs typeface="Cascadia Mono Light" pitchFamily="49" charset="0"/>
              </a:rPr>
              <a:t>() — вызов конструктора класса. Создаёт новый </a:t>
            </a:r>
            <a:r>
              <a:rPr lang="ru-RU" sz="1200" dirty="0" smtClean="0">
                <a:latin typeface="Cascadia Mono Light" pitchFamily="49" charset="0"/>
                <a:cs typeface="Cascadia Mono Light" pitchFamily="49" charset="0"/>
              </a:rPr>
              <a:t>экземпляр. </a:t>
            </a:r>
            <a:r>
              <a:rPr lang="ru-RU" sz="1200" dirty="0" err="1" smtClean="0">
                <a:latin typeface="Cascadia Mono Light" pitchFamily="49" charset="0"/>
                <a:cs typeface="Cascadia Mono Light" pitchFamily="49" charset="0"/>
              </a:rPr>
              <a:t>scaler</a:t>
            </a:r>
            <a:r>
              <a:rPr lang="ru-RU" sz="1200" dirty="0" smtClean="0">
                <a:latin typeface="Cascadia Mono Light" pitchFamily="49" charset="0"/>
                <a:cs typeface="Cascadia Mono Light" pitchFamily="49" charset="0"/>
              </a:rPr>
              <a:t> </a:t>
            </a:r>
            <a:r>
              <a:rPr lang="ru-RU" sz="1200" dirty="0" smtClean="0">
                <a:latin typeface="Cascadia Mono Light" pitchFamily="49" charset="0"/>
                <a:cs typeface="Cascadia Mono Light" pitchFamily="49" charset="0"/>
              </a:rPr>
              <a:t>— имя переменной. </a:t>
            </a:r>
            <a:r>
              <a:rPr lang="ru-RU" sz="1200" dirty="0" err="1" smtClean="0">
                <a:latin typeface="Cascadia Mono Light" pitchFamily="49" charset="0"/>
                <a:cs typeface="Cascadia Mono Light" pitchFamily="49" charset="0"/>
              </a:rPr>
              <a:t>scaler</a:t>
            </a:r>
            <a:r>
              <a:rPr lang="ru-RU" sz="1200" dirty="0" smtClean="0">
                <a:latin typeface="Cascadia Mono Light" pitchFamily="49" charset="0"/>
                <a:cs typeface="Cascadia Mono Light" pitchFamily="49" charset="0"/>
              </a:rPr>
              <a:t> </a:t>
            </a:r>
            <a:r>
              <a:rPr lang="ru-RU" sz="1200" dirty="0" smtClean="0">
                <a:latin typeface="Cascadia Mono Light" pitchFamily="49" charset="0"/>
                <a:cs typeface="Cascadia Mono Light" pitchFamily="49" charset="0"/>
              </a:rPr>
              <a:t>– как переводчик, который еще не знает языка и его требуется обучить.</a:t>
            </a:r>
          </a:p>
          <a:p>
            <a:endParaRPr lang="ru-RU" sz="1200" dirty="0" smtClean="0">
              <a:latin typeface="Cascadia Mono Light" pitchFamily="49" charset="0"/>
              <a:cs typeface="Cascadia Mono Light" pitchFamily="49" charset="0"/>
            </a:endParaRPr>
          </a:p>
          <a:p>
            <a:r>
              <a:rPr lang="ru-RU" sz="1200" dirty="0" err="1" smtClean="0">
                <a:latin typeface="Cascadia Mono Light" pitchFamily="49" charset="0"/>
                <a:cs typeface="Cascadia Mono Light" pitchFamily="49" charset="0"/>
              </a:rPr>
              <a:t>X_train</a:t>
            </a:r>
            <a:r>
              <a:rPr lang="ru-RU" sz="1200" dirty="0" smtClean="0">
                <a:latin typeface="Cascadia Mono Light" pitchFamily="49" charset="0"/>
                <a:cs typeface="Cascadia Mono Light" pitchFamily="49" charset="0"/>
              </a:rPr>
              <a:t> </a:t>
            </a:r>
            <a:r>
              <a:rPr lang="ru-RU" sz="1200" dirty="0" smtClean="0">
                <a:latin typeface="Cascadia Mono Light" pitchFamily="49" charset="0"/>
                <a:cs typeface="Cascadia Mono Light" pitchFamily="49" charset="0"/>
              </a:rPr>
              <a:t>= </a:t>
            </a:r>
            <a:r>
              <a:rPr lang="ru-RU" sz="1200" dirty="0" err="1" smtClean="0">
                <a:latin typeface="Cascadia Mono Light" pitchFamily="49" charset="0"/>
                <a:cs typeface="Cascadia Mono Light" pitchFamily="49" charset="0"/>
              </a:rPr>
              <a:t>scaler.fit_transform</a:t>
            </a:r>
            <a:r>
              <a:rPr lang="ru-RU" sz="1200" dirty="0" smtClean="0">
                <a:latin typeface="Cascadia Mono Light" pitchFamily="49" charset="0"/>
                <a:cs typeface="Cascadia Mono Light" pitchFamily="49" charset="0"/>
              </a:rPr>
              <a:t>(</a:t>
            </a:r>
            <a:r>
              <a:rPr lang="ru-RU" sz="1200" dirty="0" err="1" smtClean="0">
                <a:latin typeface="Cascadia Mono Light" pitchFamily="49" charset="0"/>
                <a:cs typeface="Cascadia Mono Light" pitchFamily="49" charset="0"/>
              </a:rPr>
              <a:t>X_train</a:t>
            </a:r>
            <a:r>
              <a:rPr lang="ru-RU" sz="1200" dirty="0" smtClean="0">
                <a:latin typeface="Cascadia Mono Light" pitchFamily="49" charset="0"/>
                <a:cs typeface="Cascadia Mono Light" pitchFamily="49" charset="0"/>
              </a:rPr>
              <a:t>)</a:t>
            </a:r>
          </a:p>
          <a:p>
            <a:r>
              <a:rPr lang="ru-RU" sz="1200" dirty="0" smtClean="0">
                <a:latin typeface="Cascadia Mono Light" pitchFamily="49" charset="0"/>
                <a:cs typeface="Cascadia Mono Light" pitchFamily="49" charset="0"/>
              </a:rPr>
              <a:t>Идейно: это два действия в одном вызове.</a:t>
            </a:r>
          </a:p>
          <a:p>
            <a:r>
              <a:rPr lang="ru-RU" sz="1200" dirty="0" err="1" smtClean="0">
                <a:latin typeface="Cascadia Mono Light" pitchFamily="49" charset="0"/>
                <a:cs typeface="Cascadia Mono Light" pitchFamily="49" charset="0"/>
              </a:rPr>
              <a:t>fit</a:t>
            </a:r>
            <a:r>
              <a:rPr lang="ru-RU" sz="1200" dirty="0" smtClean="0">
                <a:latin typeface="Cascadia Mono Light" pitchFamily="49" charset="0"/>
                <a:cs typeface="Cascadia Mono Light" pitchFamily="49" charset="0"/>
              </a:rPr>
              <a:t>: </a:t>
            </a:r>
            <a:r>
              <a:rPr lang="ru-RU" sz="1200" dirty="0" err="1" smtClean="0">
                <a:latin typeface="Cascadia Mono Light" pitchFamily="49" charset="0"/>
                <a:cs typeface="Cascadia Mono Light" pitchFamily="49" charset="0"/>
              </a:rPr>
              <a:t>scaler</a:t>
            </a:r>
            <a:r>
              <a:rPr lang="ru-RU" sz="1200" dirty="0" smtClean="0">
                <a:latin typeface="Cascadia Mono Light" pitchFamily="49" charset="0"/>
                <a:cs typeface="Cascadia Mono Light" pitchFamily="49" charset="0"/>
              </a:rPr>
              <a:t> вычисляет </a:t>
            </a:r>
            <a:r>
              <a:rPr lang="ru-RU" sz="1200" dirty="0" err="1" smtClean="0">
                <a:latin typeface="Cascadia Mono Light" pitchFamily="49" charset="0"/>
                <a:cs typeface="Cascadia Mono Light" pitchFamily="49" charset="0"/>
              </a:rPr>
              <a:t>mean</a:t>
            </a:r>
            <a:r>
              <a:rPr lang="ru-RU" sz="1200" dirty="0" smtClean="0">
                <a:latin typeface="Cascadia Mono Light" pitchFamily="49" charset="0"/>
                <a:cs typeface="Cascadia Mono Light" pitchFamily="49" charset="0"/>
              </a:rPr>
              <a:t> и </a:t>
            </a:r>
            <a:r>
              <a:rPr lang="ru-RU" sz="1200" dirty="0" err="1" smtClean="0">
                <a:latin typeface="Cascadia Mono Light" pitchFamily="49" charset="0"/>
                <a:cs typeface="Cascadia Mono Light" pitchFamily="49" charset="0"/>
              </a:rPr>
              <a:t>std</a:t>
            </a:r>
            <a:r>
              <a:rPr lang="ru-RU" sz="1200" dirty="0" smtClean="0">
                <a:latin typeface="Cascadia Mono Light" pitchFamily="49" charset="0"/>
                <a:cs typeface="Cascadia Mono Light" pitchFamily="49" charset="0"/>
              </a:rPr>
              <a:t> по каждому признаку из </a:t>
            </a:r>
            <a:r>
              <a:rPr lang="ru-RU" sz="1200" dirty="0" err="1" smtClean="0">
                <a:latin typeface="Cascadia Mono Light" pitchFamily="49" charset="0"/>
                <a:cs typeface="Cascadia Mono Light" pitchFamily="49" charset="0"/>
              </a:rPr>
              <a:t>X_train</a:t>
            </a:r>
            <a:r>
              <a:rPr lang="ru-RU" sz="1200" dirty="0" smtClean="0">
                <a:latin typeface="Cascadia Mono Light" pitchFamily="49" charset="0"/>
                <a:cs typeface="Cascadia Mono Light" pitchFamily="49" charset="0"/>
              </a:rPr>
              <a:t> и запоминает их.</a:t>
            </a:r>
          </a:p>
          <a:p>
            <a:r>
              <a:rPr lang="ru-RU" sz="1200" dirty="0" err="1" smtClean="0">
                <a:latin typeface="Cascadia Mono Light" pitchFamily="49" charset="0"/>
                <a:cs typeface="Cascadia Mono Light" pitchFamily="49" charset="0"/>
              </a:rPr>
              <a:t>transform</a:t>
            </a:r>
            <a:r>
              <a:rPr lang="ru-RU" sz="1200" dirty="0" smtClean="0">
                <a:latin typeface="Cascadia Mono Light" pitchFamily="49" charset="0"/>
                <a:cs typeface="Cascadia Mono Light" pitchFamily="49" charset="0"/>
              </a:rPr>
              <a:t>: тут же применяет формулу (</a:t>
            </a:r>
            <a:r>
              <a:rPr lang="ru-RU" sz="1200" dirty="0" err="1" smtClean="0">
                <a:latin typeface="Cascadia Mono Light" pitchFamily="49" charset="0"/>
                <a:cs typeface="Cascadia Mono Light" pitchFamily="49" charset="0"/>
              </a:rPr>
              <a:t>x</a:t>
            </a:r>
            <a:r>
              <a:rPr lang="ru-RU" sz="1200" dirty="0" smtClean="0">
                <a:latin typeface="Cascadia Mono Light" pitchFamily="49" charset="0"/>
                <a:cs typeface="Cascadia Mono Light" pitchFamily="49" charset="0"/>
              </a:rPr>
              <a:t> - </a:t>
            </a:r>
            <a:r>
              <a:rPr lang="ru-RU" sz="1200" dirty="0" err="1" smtClean="0">
                <a:latin typeface="Cascadia Mono Light" pitchFamily="49" charset="0"/>
                <a:cs typeface="Cascadia Mono Light" pitchFamily="49" charset="0"/>
              </a:rPr>
              <a:t>mean</a:t>
            </a:r>
            <a:r>
              <a:rPr lang="ru-RU" sz="1200" dirty="0" smtClean="0">
                <a:latin typeface="Cascadia Mono Light" pitchFamily="49" charset="0"/>
                <a:cs typeface="Cascadia Mono Light" pitchFamily="49" charset="0"/>
              </a:rPr>
              <a:t>) / </a:t>
            </a:r>
            <a:r>
              <a:rPr lang="ru-RU" sz="1200" dirty="0" err="1" smtClean="0">
                <a:latin typeface="Cascadia Mono Light" pitchFamily="49" charset="0"/>
                <a:cs typeface="Cascadia Mono Light" pitchFamily="49" charset="0"/>
              </a:rPr>
              <a:t>std</a:t>
            </a:r>
            <a:r>
              <a:rPr lang="ru-RU" sz="1200" dirty="0" smtClean="0">
                <a:latin typeface="Cascadia Mono Light" pitchFamily="49" charset="0"/>
                <a:cs typeface="Cascadia Mono Light" pitchFamily="49" charset="0"/>
              </a:rPr>
              <a:t> к </a:t>
            </a:r>
            <a:r>
              <a:rPr lang="ru-RU" sz="1200" dirty="0" err="1" smtClean="0">
                <a:latin typeface="Cascadia Mono Light" pitchFamily="49" charset="0"/>
                <a:cs typeface="Cascadia Mono Light" pitchFamily="49" charset="0"/>
              </a:rPr>
              <a:t>X_train</a:t>
            </a:r>
            <a:r>
              <a:rPr lang="ru-RU" sz="1200" dirty="0" smtClean="0">
                <a:latin typeface="Cascadia Mono Light" pitchFamily="49" charset="0"/>
                <a:cs typeface="Cascadia Mono Light" pitchFamily="49" charset="0"/>
              </a:rPr>
              <a:t>.</a:t>
            </a:r>
          </a:p>
          <a:p>
            <a:r>
              <a:rPr lang="ru-RU" sz="1200" dirty="0" smtClean="0">
                <a:latin typeface="Cascadia Mono Light" pitchFamily="49" charset="0"/>
                <a:cs typeface="Cascadia Mono Light" pitchFamily="49" charset="0"/>
              </a:rPr>
              <a:t>Результат: </a:t>
            </a:r>
            <a:r>
              <a:rPr lang="ru-RU" sz="1200" dirty="0" err="1" smtClean="0">
                <a:latin typeface="Cascadia Mono Light" pitchFamily="49" charset="0"/>
                <a:cs typeface="Cascadia Mono Light" pitchFamily="49" charset="0"/>
              </a:rPr>
              <a:t>X_train</a:t>
            </a:r>
            <a:r>
              <a:rPr lang="ru-RU" sz="1200" dirty="0" smtClean="0">
                <a:latin typeface="Cascadia Mono Light" pitchFamily="49" charset="0"/>
                <a:cs typeface="Cascadia Mono Light" pitchFamily="49" charset="0"/>
              </a:rPr>
              <a:t> перезаписывается масштабированным. Все признаки теперь со средним 0 и </a:t>
            </a:r>
            <a:r>
              <a:rPr lang="ru-RU" sz="1200" dirty="0" err="1" smtClean="0">
                <a:latin typeface="Cascadia Mono Light" pitchFamily="49" charset="0"/>
                <a:cs typeface="Cascadia Mono Light" pitchFamily="49" charset="0"/>
              </a:rPr>
              <a:t>std</a:t>
            </a:r>
            <a:r>
              <a:rPr lang="ru-RU" sz="1200" dirty="0" smtClean="0">
                <a:latin typeface="Cascadia Mono Light" pitchFamily="49" charset="0"/>
                <a:cs typeface="Cascadia Mono Light" pitchFamily="49" charset="0"/>
              </a:rPr>
              <a:t> 1.</a:t>
            </a:r>
          </a:p>
          <a:p>
            <a:endParaRPr lang="ru-RU" sz="1200" dirty="0" smtClean="0">
              <a:latin typeface="Cascadia Mono Light" pitchFamily="49" charset="0"/>
              <a:cs typeface="Cascadia Mono Light" pitchFamily="49" charset="0"/>
            </a:endParaRPr>
          </a:p>
          <a:p>
            <a:r>
              <a:rPr lang="ru-RU" sz="1200" dirty="0" err="1" smtClean="0">
                <a:latin typeface="Cascadia Mono Light" pitchFamily="49" charset="0"/>
                <a:cs typeface="Cascadia Mono Light" pitchFamily="49" charset="0"/>
              </a:rPr>
              <a:t>fit_transform</a:t>
            </a:r>
            <a:r>
              <a:rPr lang="ru-RU" sz="1200" dirty="0" smtClean="0">
                <a:latin typeface="Cascadia Mono Light" pitchFamily="49" charset="0"/>
                <a:cs typeface="Cascadia Mono Light" pitchFamily="49" charset="0"/>
              </a:rPr>
              <a:t> </a:t>
            </a:r>
            <a:r>
              <a:rPr lang="ru-RU" sz="1200" dirty="0" smtClean="0">
                <a:latin typeface="Cascadia Mono Light" pitchFamily="49" charset="0"/>
                <a:cs typeface="Cascadia Mono Light" pitchFamily="49" charset="0"/>
              </a:rPr>
              <a:t>— метод объекта </a:t>
            </a:r>
            <a:r>
              <a:rPr lang="ru-RU" sz="1200" dirty="0" err="1" smtClean="0">
                <a:latin typeface="Cascadia Mono Light" pitchFamily="49" charset="0"/>
                <a:cs typeface="Cascadia Mono Light" pitchFamily="49" charset="0"/>
              </a:rPr>
              <a:t>scaler</a:t>
            </a:r>
            <a:r>
              <a:rPr lang="ru-RU" sz="1200" dirty="0" smtClean="0">
                <a:latin typeface="Cascadia Mono Light" pitchFamily="49" charset="0"/>
                <a:cs typeface="Cascadia Mono Light" pitchFamily="49" charset="0"/>
              </a:rPr>
              <a:t>, объединяющий </a:t>
            </a:r>
            <a:r>
              <a:rPr lang="ru-RU" sz="1200" dirty="0" err="1" smtClean="0">
                <a:latin typeface="Cascadia Mono Light" pitchFamily="49" charset="0"/>
                <a:cs typeface="Cascadia Mono Light" pitchFamily="49" charset="0"/>
              </a:rPr>
              <a:t>fit</a:t>
            </a:r>
            <a:r>
              <a:rPr lang="ru-RU" sz="1200" dirty="0" smtClean="0">
                <a:latin typeface="Cascadia Mono Light" pitchFamily="49" charset="0"/>
                <a:cs typeface="Cascadia Mono Light" pitchFamily="49" charset="0"/>
              </a:rPr>
              <a:t> и </a:t>
            </a:r>
            <a:r>
              <a:rPr lang="ru-RU" sz="1200" dirty="0" err="1" smtClean="0">
                <a:latin typeface="Cascadia Mono Light" pitchFamily="49" charset="0"/>
                <a:cs typeface="Cascadia Mono Light" pitchFamily="49" charset="0"/>
              </a:rPr>
              <a:t>transform</a:t>
            </a:r>
            <a:r>
              <a:rPr lang="ru-RU" sz="1200" dirty="0" smtClean="0">
                <a:latin typeface="Cascadia Mono Light" pitchFamily="49" charset="0"/>
                <a:cs typeface="Cascadia Mono Light" pitchFamily="49" charset="0"/>
              </a:rPr>
              <a:t>.</a:t>
            </a:r>
          </a:p>
          <a:p>
            <a:r>
              <a:rPr lang="ru-RU" sz="1200" dirty="0" smtClean="0">
                <a:latin typeface="Cascadia Mono Light" pitchFamily="49" charset="0"/>
                <a:cs typeface="Cascadia Mono Light" pitchFamily="49" charset="0"/>
              </a:rPr>
              <a:t>Возвращает новый массив, который мы присваиваем обратно в </a:t>
            </a:r>
            <a:r>
              <a:rPr lang="ru-RU" sz="1200" dirty="0" err="1" smtClean="0">
                <a:latin typeface="Cascadia Mono Light" pitchFamily="49" charset="0"/>
                <a:cs typeface="Cascadia Mono Light" pitchFamily="49" charset="0"/>
              </a:rPr>
              <a:t>X_train</a:t>
            </a:r>
            <a:r>
              <a:rPr lang="ru-RU" sz="1200" dirty="0" smtClean="0">
                <a:latin typeface="Cascadia Mono Light" pitchFamily="49" charset="0"/>
                <a:cs typeface="Cascadia Mono Light" pitchFamily="49" charset="0"/>
              </a:rPr>
              <a:t>.</a:t>
            </a:r>
          </a:p>
          <a:p>
            <a:r>
              <a:rPr lang="ru-RU" sz="1200" dirty="0" smtClean="0">
                <a:latin typeface="Cascadia Mono Light" pitchFamily="49" charset="0"/>
                <a:cs typeface="Cascadia Mono Light" pitchFamily="49" charset="0"/>
              </a:rPr>
              <a:t>Почему </a:t>
            </a:r>
            <a:r>
              <a:rPr lang="ru-RU" sz="1200" dirty="0" err="1" smtClean="0">
                <a:latin typeface="Cascadia Mono Light" pitchFamily="49" charset="0"/>
                <a:cs typeface="Cascadia Mono Light" pitchFamily="49" charset="0"/>
              </a:rPr>
              <a:t>X_train</a:t>
            </a:r>
            <a:r>
              <a:rPr lang="ru-RU" sz="1200" dirty="0" smtClean="0">
                <a:latin typeface="Cascadia Mono Light" pitchFamily="49" charset="0"/>
                <a:cs typeface="Cascadia Mono Light" pitchFamily="49" charset="0"/>
              </a:rPr>
              <a:t> = ...: мы заменяем старую матрицу новой. Если бы написали просто </a:t>
            </a:r>
            <a:r>
              <a:rPr lang="ru-RU" sz="1200" dirty="0" err="1" smtClean="0">
                <a:latin typeface="Cascadia Mono Light" pitchFamily="49" charset="0"/>
                <a:cs typeface="Cascadia Mono Light" pitchFamily="49" charset="0"/>
              </a:rPr>
              <a:t>scaler.fit_transform</a:t>
            </a:r>
            <a:r>
              <a:rPr lang="ru-RU" sz="1200" dirty="0" smtClean="0">
                <a:latin typeface="Cascadia Mono Light" pitchFamily="49" charset="0"/>
                <a:cs typeface="Cascadia Mono Light" pitchFamily="49" charset="0"/>
              </a:rPr>
              <a:t>(</a:t>
            </a:r>
            <a:r>
              <a:rPr lang="ru-RU" sz="1200" dirty="0" err="1" smtClean="0">
                <a:latin typeface="Cascadia Mono Light" pitchFamily="49" charset="0"/>
                <a:cs typeface="Cascadia Mono Light" pitchFamily="49" charset="0"/>
              </a:rPr>
              <a:t>X_train</a:t>
            </a:r>
            <a:r>
              <a:rPr lang="ru-RU" sz="1200" dirty="0" smtClean="0">
                <a:latin typeface="Cascadia Mono Light" pitchFamily="49" charset="0"/>
                <a:cs typeface="Cascadia Mono Light" pitchFamily="49" charset="0"/>
              </a:rPr>
              <a:t>) — результат бы потерялся.</a:t>
            </a:r>
          </a:p>
          <a:p>
            <a:r>
              <a:rPr lang="ru-RU" sz="1200" dirty="0" smtClean="0">
                <a:latin typeface="Cascadia Mono Light" pitchFamily="49" charset="0"/>
                <a:cs typeface="Cascadia Mono Light" pitchFamily="49" charset="0"/>
              </a:rPr>
              <a:t>Что запомнил </a:t>
            </a:r>
            <a:r>
              <a:rPr lang="ru-RU" sz="1200" dirty="0" err="1" smtClean="0">
                <a:latin typeface="Cascadia Mono Light" pitchFamily="49" charset="0"/>
                <a:cs typeface="Cascadia Mono Light" pitchFamily="49" charset="0"/>
              </a:rPr>
              <a:t>scaler</a:t>
            </a:r>
            <a:r>
              <a:rPr lang="ru-RU" sz="1200" dirty="0" smtClean="0">
                <a:latin typeface="Cascadia Mono Light" pitchFamily="49" charset="0"/>
                <a:cs typeface="Cascadia Mono Light" pitchFamily="49" charset="0"/>
              </a:rPr>
              <a:t>:</a:t>
            </a:r>
            <a:br>
              <a:rPr lang="ru-RU" sz="1200" dirty="0" smtClean="0">
                <a:latin typeface="Cascadia Mono Light" pitchFamily="49" charset="0"/>
                <a:cs typeface="Cascadia Mono Light" pitchFamily="49" charset="0"/>
              </a:rPr>
            </a:br>
            <a:r>
              <a:rPr lang="ru-RU" sz="1200" dirty="0" smtClean="0">
                <a:latin typeface="Cascadia Mono Light" pitchFamily="49" charset="0"/>
                <a:cs typeface="Cascadia Mono Light" pitchFamily="49" charset="0"/>
              </a:rPr>
              <a:t>После </a:t>
            </a:r>
            <a:r>
              <a:rPr lang="ru-RU" sz="1200" dirty="0" err="1" smtClean="0">
                <a:latin typeface="Cascadia Mono Light" pitchFamily="49" charset="0"/>
                <a:cs typeface="Cascadia Mono Light" pitchFamily="49" charset="0"/>
              </a:rPr>
              <a:t>fit</a:t>
            </a:r>
            <a:r>
              <a:rPr lang="ru-RU" sz="1200" dirty="0" smtClean="0">
                <a:latin typeface="Cascadia Mono Light" pitchFamily="49" charset="0"/>
                <a:cs typeface="Cascadia Mono Light" pitchFamily="49" charset="0"/>
              </a:rPr>
              <a:t> внутри объекта </a:t>
            </a:r>
            <a:r>
              <a:rPr lang="ru-RU" sz="1200" dirty="0" err="1" smtClean="0">
                <a:latin typeface="Cascadia Mono Light" pitchFamily="49" charset="0"/>
                <a:cs typeface="Cascadia Mono Light" pitchFamily="49" charset="0"/>
              </a:rPr>
              <a:t>scaler</a:t>
            </a:r>
            <a:r>
              <a:rPr lang="ru-RU" sz="1200" dirty="0" smtClean="0">
                <a:latin typeface="Cascadia Mono Light" pitchFamily="49" charset="0"/>
                <a:cs typeface="Cascadia Mono Light" pitchFamily="49" charset="0"/>
              </a:rPr>
              <a:t> появились атрибуты:</a:t>
            </a:r>
          </a:p>
          <a:p>
            <a:r>
              <a:rPr lang="ru-RU" sz="1200" dirty="0" err="1" smtClean="0">
                <a:latin typeface="Cascadia Mono Light" pitchFamily="49" charset="0"/>
                <a:cs typeface="Cascadia Mono Light" pitchFamily="49" charset="0"/>
              </a:rPr>
              <a:t>scaler.mean_</a:t>
            </a:r>
            <a:r>
              <a:rPr lang="ru-RU" sz="1200" dirty="0" smtClean="0">
                <a:latin typeface="Cascadia Mono Light" pitchFamily="49" charset="0"/>
                <a:cs typeface="Cascadia Mono Light" pitchFamily="49" charset="0"/>
              </a:rPr>
              <a:t> — массив средних по каждому признаку;</a:t>
            </a:r>
          </a:p>
          <a:p>
            <a:r>
              <a:rPr lang="ru-RU" sz="1200" dirty="0" err="1" smtClean="0">
                <a:latin typeface="Cascadia Mono Light" pitchFamily="49" charset="0"/>
                <a:cs typeface="Cascadia Mono Light" pitchFamily="49" charset="0"/>
              </a:rPr>
              <a:t>scaler.scale_</a:t>
            </a:r>
            <a:r>
              <a:rPr lang="ru-RU" sz="1200" dirty="0" smtClean="0">
                <a:latin typeface="Cascadia Mono Light" pitchFamily="49" charset="0"/>
                <a:cs typeface="Cascadia Mono Light" pitchFamily="49" charset="0"/>
              </a:rPr>
              <a:t> — массив </a:t>
            </a:r>
            <a:r>
              <a:rPr lang="ru-RU" sz="1200" dirty="0" err="1" smtClean="0">
                <a:latin typeface="Cascadia Mono Light" pitchFamily="49" charset="0"/>
                <a:cs typeface="Cascadia Mono Light" pitchFamily="49" charset="0"/>
              </a:rPr>
              <a:t>std</a:t>
            </a:r>
            <a:r>
              <a:rPr lang="ru-RU" sz="1200" dirty="0" smtClean="0">
                <a:latin typeface="Cascadia Mono Light" pitchFamily="49" charset="0"/>
                <a:cs typeface="Cascadia Mono Light" pitchFamily="49" charset="0"/>
              </a:rPr>
              <a:t> по каждому признаку.</a:t>
            </a:r>
          </a:p>
          <a:p>
            <a:r>
              <a:rPr lang="ru-RU" sz="1200" dirty="0" smtClean="0">
                <a:latin typeface="Cascadia Mono Light" pitchFamily="49" charset="0"/>
                <a:cs typeface="Cascadia Mono Light" pitchFamily="49" charset="0"/>
              </a:rPr>
              <a:t>Именно эти значения будут использоваться при </a:t>
            </a:r>
            <a:r>
              <a:rPr lang="ru-RU" sz="1200" dirty="0" err="1" smtClean="0">
                <a:latin typeface="Cascadia Mono Light" pitchFamily="49" charset="0"/>
                <a:cs typeface="Cascadia Mono Light" pitchFamily="49" charset="0"/>
              </a:rPr>
              <a:t>transform</a:t>
            </a:r>
            <a:endParaRPr lang="ru-RU" sz="1200" dirty="0" smtClean="0">
              <a:latin typeface="Cascadia Mono Light" pitchFamily="49" charset="0"/>
              <a:cs typeface="Cascadia Mono Light" pitchFamily="49" charset="0"/>
            </a:endParaRPr>
          </a:p>
          <a:p>
            <a:endParaRPr lang="ru-RU" sz="1200" dirty="0">
              <a:latin typeface="Cascadia Mono Light" pitchFamily="49" charset="0"/>
              <a:cs typeface="Cascadia Mono Light" pitchFamily="49" charset="0"/>
            </a:endParaRPr>
          </a:p>
        </p:txBody>
      </p:sp>
      <p:pic>
        <p:nvPicPr>
          <p:cNvPr id="76802" name="Picture 2"/>
          <p:cNvPicPr>
            <a:picLocks noChangeAspect="1" noChangeArrowheads="1"/>
          </p:cNvPicPr>
          <p:nvPr/>
        </p:nvPicPr>
        <p:blipFill>
          <a:blip r:embed="rId2" cstate="print"/>
          <a:srcRect/>
          <a:stretch>
            <a:fillRect/>
          </a:stretch>
        </p:blipFill>
        <p:spPr bwMode="auto">
          <a:xfrm>
            <a:off x="838200" y="5029200"/>
            <a:ext cx="7554912" cy="1219200"/>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52400" y="152400"/>
            <a:ext cx="8458200" cy="4343400"/>
          </a:xfrm>
        </p:spPr>
        <p:txBody>
          <a:bodyPr>
            <a:noAutofit/>
          </a:bodyPr>
          <a:lstStyle/>
          <a:p>
            <a:r>
              <a:rPr lang="ru-RU" sz="1600" b="1" dirty="0" err="1" smtClean="0">
                <a:latin typeface="Cascadia Mono Light" pitchFamily="49" charset="0"/>
                <a:cs typeface="Cascadia Mono Light" pitchFamily="49" charset="0"/>
              </a:rPr>
              <a:t>X_test</a:t>
            </a:r>
            <a:r>
              <a:rPr lang="ru-RU" sz="1600" b="1" dirty="0" smtClean="0">
                <a:latin typeface="Cascadia Mono Light" pitchFamily="49" charset="0"/>
                <a:cs typeface="Cascadia Mono Light" pitchFamily="49" charset="0"/>
              </a:rPr>
              <a:t> = </a:t>
            </a:r>
            <a:r>
              <a:rPr lang="ru-RU" sz="1600" b="1" dirty="0" err="1" smtClean="0">
                <a:latin typeface="Cascadia Mono Light" pitchFamily="49" charset="0"/>
                <a:cs typeface="Cascadia Mono Light" pitchFamily="49" charset="0"/>
              </a:rPr>
              <a:t>scaler.transform</a:t>
            </a:r>
            <a:r>
              <a:rPr lang="ru-RU" sz="1600" b="1" dirty="0" smtClean="0">
                <a:latin typeface="Cascadia Mono Light" pitchFamily="49" charset="0"/>
                <a:cs typeface="Cascadia Mono Light" pitchFamily="49" charset="0"/>
              </a:rPr>
              <a:t>(</a:t>
            </a:r>
            <a:r>
              <a:rPr lang="ru-RU" sz="1600" b="1" dirty="0" err="1" smtClean="0">
                <a:latin typeface="Cascadia Mono Light" pitchFamily="49" charset="0"/>
                <a:cs typeface="Cascadia Mono Light" pitchFamily="49" charset="0"/>
              </a:rPr>
              <a:t>X_test</a:t>
            </a:r>
            <a:r>
              <a:rPr lang="ru-RU" sz="1600" b="1" dirty="0" smtClean="0">
                <a:latin typeface="Cascadia Mono Light" pitchFamily="49" charset="0"/>
                <a:cs typeface="Cascadia Mono Light" pitchFamily="49" charset="0"/>
              </a:rPr>
              <a:t>) </a:t>
            </a:r>
            <a:r>
              <a:rPr lang="ru-RU" sz="1600" dirty="0" smtClean="0">
                <a:latin typeface="Cascadia Mono Light" pitchFamily="49" charset="0"/>
                <a:cs typeface="Cascadia Mono Light" pitchFamily="49" charset="0"/>
              </a:rPr>
              <a:t>- применяем </a:t>
            </a:r>
            <a:r>
              <a:rPr lang="ru-RU" sz="1600" dirty="0" smtClean="0">
                <a:latin typeface="Cascadia Mono Light" pitchFamily="49" charset="0"/>
                <a:cs typeface="Cascadia Mono Light" pitchFamily="49" charset="0"/>
              </a:rPr>
              <a:t>те же самые </a:t>
            </a:r>
            <a:r>
              <a:rPr lang="ru-RU" sz="1600" dirty="0" err="1" smtClean="0">
                <a:latin typeface="Cascadia Mono Light" pitchFamily="49" charset="0"/>
                <a:cs typeface="Cascadia Mono Light" pitchFamily="49" charset="0"/>
              </a:rPr>
              <a:t>mean</a:t>
            </a:r>
            <a:r>
              <a:rPr lang="ru-RU" sz="1600" dirty="0" smtClean="0">
                <a:latin typeface="Cascadia Mono Light" pitchFamily="49" charset="0"/>
                <a:cs typeface="Cascadia Mono Light" pitchFamily="49" charset="0"/>
              </a:rPr>
              <a:t> и </a:t>
            </a:r>
            <a:r>
              <a:rPr lang="ru-RU" sz="1600" dirty="0" err="1" smtClean="0">
                <a:latin typeface="Cascadia Mono Light" pitchFamily="49" charset="0"/>
                <a:cs typeface="Cascadia Mono Light" pitchFamily="49" charset="0"/>
              </a:rPr>
              <a:t>std</a:t>
            </a:r>
            <a:r>
              <a:rPr lang="ru-RU" sz="1600" dirty="0" smtClean="0">
                <a:latin typeface="Cascadia Mono Light" pitchFamily="49" charset="0"/>
                <a:cs typeface="Cascadia Mono Light" pitchFamily="49" charset="0"/>
              </a:rPr>
              <a:t>, что были вычислены на </a:t>
            </a:r>
            <a:r>
              <a:rPr lang="ru-RU" sz="1600" dirty="0" err="1" smtClean="0">
                <a:latin typeface="Cascadia Mono Light" pitchFamily="49" charset="0"/>
                <a:cs typeface="Cascadia Mono Light" pitchFamily="49" charset="0"/>
              </a:rPr>
              <a:t>train</a:t>
            </a:r>
            <a:r>
              <a:rPr lang="ru-RU" sz="1600" dirty="0" smtClean="0">
                <a:latin typeface="Cascadia Mono Light" pitchFamily="49" charset="0"/>
                <a:cs typeface="Cascadia Mono Light" pitchFamily="49" charset="0"/>
              </a:rPr>
              <a:t>, к тестовым данным.</a:t>
            </a:r>
          </a:p>
          <a:p>
            <a:r>
              <a:rPr lang="ru-RU" sz="1600" dirty="0" err="1" smtClean="0">
                <a:latin typeface="Cascadia Mono Light" pitchFamily="49" charset="0"/>
                <a:cs typeface="Cascadia Mono Light" pitchFamily="49" charset="0"/>
              </a:rPr>
              <a:t>transform</a:t>
            </a:r>
            <a:r>
              <a:rPr lang="ru-RU" sz="1600" dirty="0" smtClean="0">
                <a:latin typeface="Cascadia Mono Light" pitchFamily="49" charset="0"/>
                <a:cs typeface="Cascadia Mono Light" pitchFamily="49" charset="0"/>
              </a:rPr>
              <a:t> </a:t>
            </a:r>
            <a:r>
              <a:rPr lang="ru-RU" sz="1600" dirty="0" smtClean="0">
                <a:latin typeface="Cascadia Mono Light" pitchFamily="49" charset="0"/>
                <a:cs typeface="Cascadia Mono Light" pitchFamily="49" charset="0"/>
              </a:rPr>
              <a:t>— только преобразование, без вычисления новых параметров.</a:t>
            </a:r>
          </a:p>
          <a:p>
            <a:r>
              <a:rPr lang="ru-RU" sz="1600" dirty="0" smtClean="0">
                <a:latin typeface="Cascadia Mono Light" pitchFamily="49" charset="0"/>
                <a:cs typeface="Cascadia Mono Light" pitchFamily="49" charset="0"/>
              </a:rPr>
              <a:t>Использует </a:t>
            </a:r>
            <a:r>
              <a:rPr lang="ru-RU" sz="1600" dirty="0" err="1" smtClean="0">
                <a:latin typeface="Cascadia Mono Light" pitchFamily="49" charset="0"/>
                <a:cs typeface="Cascadia Mono Light" pitchFamily="49" charset="0"/>
              </a:rPr>
              <a:t>scaler.mean_</a:t>
            </a:r>
            <a:r>
              <a:rPr lang="ru-RU" sz="1600" dirty="0" smtClean="0">
                <a:latin typeface="Cascadia Mono Light" pitchFamily="49" charset="0"/>
                <a:cs typeface="Cascadia Mono Light" pitchFamily="49" charset="0"/>
              </a:rPr>
              <a:t> и </a:t>
            </a:r>
            <a:r>
              <a:rPr lang="ru-RU" sz="1600" dirty="0" err="1" smtClean="0">
                <a:latin typeface="Cascadia Mono Light" pitchFamily="49" charset="0"/>
                <a:cs typeface="Cascadia Mono Light" pitchFamily="49" charset="0"/>
              </a:rPr>
              <a:t>scaler.scale_</a:t>
            </a:r>
            <a:r>
              <a:rPr lang="ru-RU" sz="1600" dirty="0" smtClean="0">
                <a:latin typeface="Cascadia Mono Light" pitchFamily="49" charset="0"/>
                <a:cs typeface="Cascadia Mono Light" pitchFamily="49" charset="0"/>
              </a:rPr>
              <a:t>, запомненные ранее.</a:t>
            </a:r>
          </a:p>
          <a:p>
            <a:r>
              <a:rPr lang="ru-RU" sz="1600" dirty="0" smtClean="0">
                <a:latin typeface="Cascadia Mono Light" pitchFamily="49" charset="0"/>
                <a:cs typeface="Cascadia Mono Light" pitchFamily="49" charset="0"/>
              </a:rPr>
              <a:t>Не смотрит на тестовые данные для вычисления </a:t>
            </a:r>
            <a:r>
              <a:rPr lang="ru-RU" sz="1600" dirty="0" smtClean="0">
                <a:latin typeface="Cascadia Mono Light" pitchFamily="49" charset="0"/>
                <a:cs typeface="Cascadia Mono Light" pitchFamily="49" charset="0"/>
              </a:rPr>
              <a:t>статистик.</a:t>
            </a:r>
          </a:p>
          <a:p>
            <a:endParaRPr lang="ru-RU" sz="1600" dirty="0" smtClean="0">
              <a:latin typeface="Cascadia Mono Light" pitchFamily="49" charset="0"/>
              <a:cs typeface="Cascadia Mono Light" pitchFamily="49" charset="0"/>
            </a:endParaRPr>
          </a:p>
          <a:p>
            <a:r>
              <a:rPr lang="ru-RU" sz="1600" b="1" dirty="0" smtClean="0">
                <a:latin typeface="Cascadia Mono Light" pitchFamily="49" charset="0"/>
                <a:cs typeface="Cascadia Mono Light" pitchFamily="49" charset="0"/>
              </a:rPr>
              <a:t>Почему </a:t>
            </a:r>
            <a:r>
              <a:rPr lang="ru-RU" sz="1600" b="1" dirty="0" err="1" smtClean="0">
                <a:latin typeface="Cascadia Mono Light" pitchFamily="49" charset="0"/>
                <a:cs typeface="Cascadia Mono Light" pitchFamily="49" charset="0"/>
              </a:rPr>
              <a:t>fit</a:t>
            </a:r>
            <a:r>
              <a:rPr lang="ru-RU" sz="1600" b="1" dirty="0" smtClean="0">
                <a:latin typeface="Cascadia Mono Light" pitchFamily="49" charset="0"/>
                <a:cs typeface="Cascadia Mono Light" pitchFamily="49" charset="0"/>
              </a:rPr>
              <a:t> только на </a:t>
            </a:r>
            <a:r>
              <a:rPr lang="ru-RU" sz="1600" b="1" dirty="0" err="1" smtClean="0">
                <a:latin typeface="Cascadia Mono Light" pitchFamily="49" charset="0"/>
                <a:cs typeface="Cascadia Mono Light" pitchFamily="49" charset="0"/>
              </a:rPr>
              <a:t>train</a:t>
            </a:r>
            <a:r>
              <a:rPr lang="ru-RU" sz="1600" b="1" dirty="0" smtClean="0">
                <a:latin typeface="Cascadia Mono Light" pitchFamily="49" charset="0"/>
                <a:cs typeface="Cascadia Mono Light" pitchFamily="49" charset="0"/>
              </a:rPr>
              <a:t>, а </a:t>
            </a:r>
            <a:r>
              <a:rPr lang="ru-RU" sz="1600" b="1" dirty="0" err="1" smtClean="0">
                <a:latin typeface="Cascadia Mono Light" pitchFamily="49" charset="0"/>
                <a:cs typeface="Cascadia Mono Light" pitchFamily="49" charset="0"/>
              </a:rPr>
              <a:t>transform</a:t>
            </a:r>
            <a:r>
              <a:rPr lang="ru-RU" sz="1600" b="1" dirty="0" smtClean="0">
                <a:latin typeface="Cascadia Mono Light" pitchFamily="49" charset="0"/>
                <a:cs typeface="Cascadia Mono Light" pitchFamily="49" charset="0"/>
              </a:rPr>
              <a:t> на </a:t>
            </a:r>
            <a:r>
              <a:rPr lang="ru-RU" sz="1600" b="1" dirty="0" err="1" smtClean="0">
                <a:latin typeface="Cascadia Mono Light" pitchFamily="49" charset="0"/>
                <a:cs typeface="Cascadia Mono Light" pitchFamily="49" charset="0"/>
              </a:rPr>
              <a:t>test</a:t>
            </a:r>
            <a:endParaRPr lang="ru-RU" sz="1600" b="1" dirty="0" smtClean="0">
              <a:latin typeface="Cascadia Mono Light" pitchFamily="49" charset="0"/>
              <a:cs typeface="Cascadia Mono Light" pitchFamily="49" charset="0"/>
            </a:endParaRPr>
          </a:p>
          <a:p>
            <a:r>
              <a:rPr lang="ru-RU" sz="1600" dirty="0" smtClean="0">
                <a:latin typeface="Cascadia Mono Light" pitchFamily="49" charset="0"/>
                <a:cs typeface="Cascadia Mono Light" pitchFamily="49" charset="0"/>
              </a:rPr>
              <a:t>Тогда </a:t>
            </a:r>
            <a:r>
              <a:rPr lang="ru-RU" sz="1600" dirty="0" err="1" smtClean="0">
                <a:latin typeface="Cascadia Mono Light" pitchFamily="49" charset="0"/>
                <a:cs typeface="Cascadia Mono Light" pitchFamily="49" charset="0"/>
              </a:rPr>
              <a:t>scaler</a:t>
            </a:r>
            <a:r>
              <a:rPr lang="ru-RU" sz="1600" dirty="0" smtClean="0">
                <a:latin typeface="Cascadia Mono Light" pitchFamily="49" charset="0"/>
                <a:cs typeface="Cascadia Mono Light" pitchFamily="49" charset="0"/>
              </a:rPr>
              <a:t> вычислил бы новые </a:t>
            </a:r>
            <a:r>
              <a:rPr lang="ru-RU" sz="1600" dirty="0" err="1" smtClean="0">
                <a:latin typeface="Cascadia Mono Light" pitchFamily="49" charset="0"/>
                <a:cs typeface="Cascadia Mono Light" pitchFamily="49" charset="0"/>
              </a:rPr>
              <a:t>mean</a:t>
            </a:r>
            <a:r>
              <a:rPr lang="ru-RU" sz="1600" dirty="0" smtClean="0">
                <a:latin typeface="Cascadia Mono Light" pitchFamily="49" charset="0"/>
                <a:cs typeface="Cascadia Mono Light" pitchFamily="49" charset="0"/>
              </a:rPr>
              <a:t> и </a:t>
            </a:r>
            <a:r>
              <a:rPr lang="ru-RU" sz="1600" dirty="0" err="1" smtClean="0">
                <a:latin typeface="Cascadia Mono Light" pitchFamily="49" charset="0"/>
                <a:cs typeface="Cascadia Mono Light" pitchFamily="49" charset="0"/>
              </a:rPr>
              <a:t>std</a:t>
            </a:r>
            <a:r>
              <a:rPr lang="ru-RU" sz="1600" dirty="0" smtClean="0">
                <a:latin typeface="Cascadia Mono Light" pitchFamily="49" charset="0"/>
                <a:cs typeface="Cascadia Mono Light" pitchFamily="49" charset="0"/>
              </a:rPr>
              <a:t> — уже по тестовой выборке. Получилось бы:</a:t>
            </a:r>
          </a:p>
          <a:p>
            <a:r>
              <a:rPr lang="ru-RU" sz="1600" dirty="0" err="1" smtClean="0">
                <a:latin typeface="Cascadia Mono Light" pitchFamily="49" charset="0"/>
                <a:cs typeface="Cascadia Mono Light" pitchFamily="49" charset="0"/>
              </a:rPr>
              <a:t>train</a:t>
            </a:r>
            <a:r>
              <a:rPr lang="ru-RU" sz="1600" dirty="0" smtClean="0">
                <a:latin typeface="Cascadia Mono Light" pitchFamily="49" charset="0"/>
                <a:cs typeface="Cascadia Mono Light" pitchFamily="49" charset="0"/>
              </a:rPr>
              <a:t> масштабирован параметрами </a:t>
            </a:r>
            <a:r>
              <a:rPr lang="ru-RU" sz="1600" dirty="0" err="1" smtClean="0">
                <a:latin typeface="Cascadia Mono Light" pitchFamily="49" charset="0"/>
                <a:cs typeface="Cascadia Mono Light" pitchFamily="49" charset="0"/>
              </a:rPr>
              <a:t>train</a:t>
            </a:r>
            <a:r>
              <a:rPr lang="ru-RU" sz="1600" dirty="0" smtClean="0">
                <a:latin typeface="Cascadia Mono Light" pitchFamily="49" charset="0"/>
                <a:cs typeface="Cascadia Mono Light" pitchFamily="49" charset="0"/>
              </a:rPr>
              <a:t>;</a:t>
            </a:r>
          </a:p>
          <a:p>
            <a:r>
              <a:rPr lang="ru-RU" sz="1600" dirty="0" err="1" smtClean="0">
                <a:latin typeface="Cascadia Mono Light" pitchFamily="49" charset="0"/>
                <a:cs typeface="Cascadia Mono Light" pitchFamily="49" charset="0"/>
              </a:rPr>
              <a:t>test</a:t>
            </a:r>
            <a:r>
              <a:rPr lang="ru-RU" sz="1600" dirty="0" smtClean="0">
                <a:latin typeface="Cascadia Mono Light" pitchFamily="49" charset="0"/>
                <a:cs typeface="Cascadia Mono Light" pitchFamily="49" charset="0"/>
              </a:rPr>
              <a:t> масштабирован параметрами </a:t>
            </a:r>
            <a:r>
              <a:rPr lang="ru-RU" sz="1600" dirty="0" err="1" smtClean="0">
                <a:latin typeface="Cascadia Mono Light" pitchFamily="49" charset="0"/>
                <a:cs typeface="Cascadia Mono Light" pitchFamily="49" charset="0"/>
              </a:rPr>
              <a:t>test</a:t>
            </a:r>
            <a:r>
              <a:rPr lang="ru-RU" sz="1600" dirty="0" smtClean="0">
                <a:latin typeface="Cascadia Mono Light" pitchFamily="49" charset="0"/>
                <a:cs typeface="Cascadia Mono Light" pitchFamily="49" charset="0"/>
              </a:rPr>
              <a:t>;</a:t>
            </a:r>
          </a:p>
          <a:p>
            <a:r>
              <a:rPr lang="ru-RU" sz="1600" dirty="0" smtClean="0">
                <a:latin typeface="Cascadia Mono Light" pitchFamily="49" charset="0"/>
                <a:cs typeface="Cascadia Mono Light" pitchFamily="49" charset="0"/>
              </a:rPr>
              <a:t>шкалы разные → модель обучалась на одной шкале, а тестируется на другой;</a:t>
            </a:r>
          </a:p>
          <a:p>
            <a:r>
              <a:rPr lang="ru-RU" sz="1600" dirty="0" smtClean="0">
                <a:latin typeface="Cascadia Mono Light" pitchFamily="49" charset="0"/>
                <a:cs typeface="Cascadia Mono Light" pitchFamily="49" charset="0"/>
              </a:rPr>
              <a:t>результат нечестный — модель «подглядывает» в тест.</a:t>
            </a:r>
          </a:p>
          <a:p>
            <a:r>
              <a:rPr lang="ru-RU" sz="1600" b="1" dirty="0" smtClean="0">
                <a:latin typeface="Cascadia Mono Light" pitchFamily="49" charset="0"/>
                <a:cs typeface="Cascadia Mono Light" pitchFamily="49" charset="0"/>
              </a:rPr>
              <a:t>Правило: Все </a:t>
            </a:r>
            <a:r>
              <a:rPr lang="ru-RU" sz="1600" b="1" dirty="0" smtClean="0">
                <a:latin typeface="Cascadia Mono Light" pitchFamily="49" charset="0"/>
                <a:cs typeface="Cascadia Mono Light" pitchFamily="49" charset="0"/>
              </a:rPr>
              <a:t>параметры предобработки (средние, </a:t>
            </a:r>
            <a:r>
              <a:rPr lang="ru-RU" sz="1600" b="1" dirty="0" err="1" smtClean="0">
                <a:latin typeface="Cascadia Mono Light" pitchFamily="49" charset="0"/>
                <a:cs typeface="Cascadia Mono Light" pitchFamily="49" charset="0"/>
              </a:rPr>
              <a:t>std</a:t>
            </a:r>
            <a:r>
              <a:rPr lang="ru-RU" sz="1600" b="1" dirty="0" smtClean="0">
                <a:latin typeface="Cascadia Mono Light" pitchFamily="49" charset="0"/>
                <a:cs typeface="Cascadia Mono Light" pitchFamily="49" charset="0"/>
              </a:rPr>
              <a:t>, </a:t>
            </a:r>
            <a:r>
              <a:rPr lang="ru-RU" sz="1600" b="1" dirty="0" err="1" smtClean="0">
                <a:latin typeface="Cascadia Mono Light" pitchFamily="49" charset="0"/>
                <a:cs typeface="Cascadia Mono Light" pitchFamily="49" charset="0"/>
              </a:rPr>
              <a:t>min</a:t>
            </a:r>
            <a:r>
              <a:rPr lang="ru-RU" sz="1600" b="1" dirty="0" smtClean="0">
                <a:latin typeface="Cascadia Mono Light" pitchFamily="49" charset="0"/>
                <a:cs typeface="Cascadia Mono Light" pitchFamily="49" charset="0"/>
              </a:rPr>
              <a:t>/</a:t>
            </a:r>
            <a:r>
              <a:rPr lang="ru-RU" sz="1600" b="1" dirty="0" err="1" smtClean="0">
                <a:latin typeface="Cascadia Mono Light" pitchFamily="49" charset="0"/>
                <a:cs typeface="Cascadia Mono Light" pitchFamily="49" charset="0"/>
              </a:rPr>
              <a:t>max</a:t>
            </a:r>
            <a:r>
              <a:rPr lang="ru-RU" sz="1600" b="1" dirty="0" smtClean="0">
                <a:latin typeface="Cascadia Mono Light" pitchFamily="49" charset="0"/>
                <a:cs typeface="Cascadia Mono Light" pitchFamily="49" charset="0"/>
              </a:rPr>
              <a:t>, категории) вычисляются только на </a:t>
            </a:r>
            <a:r>
              <a:rPr lang="ru-RU" sz="1600" b="1" dirty="0" err="1" smtClean="0">
                <a:latin typeface="Cascadia Mono Light" pitchFamily="49" charset="0"/>
                <a:cs typeface="Cascadia Mono Light" pitchFamily="49" charset="0"/>
              </a:rPr>
              <a:t>train</a:t>
            </a:r>
            <a:r>
              <a:rPr lang="ru-RU" sz="1600" b="1" dirty="0" smtClean="0">
                <a:latin typeface="Cascadia Mono Light" pitchFamily="49" charset="0"/>
                <a:cs typeface="Cascadia Mono Light" pitchFamily="49" charset="0"/>
              </a:rPr>
              <a:t> и применяются к </a:t>
            </a:r>
            <a:r>
              <a:rPr lang="ru-RU" sz="1600" b="1" dirty="0" err="1" smtClean="0">
                <a:latin typeface="Cascadia Mono Light" pitchFamily="49" charset="0"/>
                <a:cs typeface="Cascadia Mono Light" pitchFamily="49" charset="0"/>
              </a:rPr>
              <a:t>test</a:t>
            </a:r>
            <a:r>
              <a:rPr lang="ru-RU" sz="1600" b="1" dirty="0" smtClean="0">
                <a:latin typeface="Cascadia Mono Light" pitchFamily="49" charset="0"/>
                <a:cs typeface="Cascadia Mono Light" pitchFamily="49" charset="0"/>
              </a:rPr>
              <a:t>.</a:t>
            </a:r>
          </a:p>
          <a:p>
            <a:endParaRPr lang="ru-RU" sz="1600" dirty="0">
              <a:latin typeface="Cascadia Mono Light" pitchFamily="49" charset="0"/>
              <a:cs typeface="Cascadia Mono Light" pitchFamily="49" charset="0"/>
            </a:endParaRPr>
          </a:p>
        </p:txBody>
      </p:sp>
      <p:pic>
        <p:nvPicPr>
          <p:cNvPr id="76802" name="Picture 2"/>
          <p:cNvPicPr>
            <a:picLocks noChangeAspect="1" noChangeArrowheads="1"/>
          </p:cNvPicPr>
          <p:nvPr/>
        </p:nvPicPr>
        <p:blipFill>
          <a:blip r:embed="rId2" cstate="print"/>
          <a:srcRect/>
          <a:stretch>
            <a:fillRect/>
          </a:stretch>
        </p:blipFill>
        <p:spPr bwMode="auto">
          <a:xfrm>
            <a:off x="914400" y="5257800"/>
            <a:ext cx="7554912" cy="121920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2800" dirty="0" smtClean="0">
                <a:latin typeface="Cascadia Mono Light" pitchFamily="49" charset="0"/>
                <a:cs typeface="Cascadia Mono Light" pitchFamily="49" charset="0"/>
              </a:rPr>
              <a:t>5. Создаем </a:t>
            </a:r>
            <a:r>
              <a:rPr lang="ru-RU" sz="2800" dirty="0" err="1" smtClean="0">
                <a:latin typeface="Cascadia Mono Light" pitchFamily="49" charset="0"/>
                <a:cs typeface="Cascadia Mono Light" pitchFamily="49" charset="0"/>
              </a:rPr>
              <a:t>нейросеть</a:t>
            </a:r>
            <a:r>
              <a:rPr lang="ru-RU" sz="2800" dirty="0" smtClean="0">
                <a:latin typeface="Cascadia Mono Light" pitchFamily="49" charset="0"/>
                <a:cs typeface="Cascadia Mono Light" pitchFamily="49" charset="0"/>
              </a:rPr>
              <a:t>! Ура, товарищи!</a:t>
            </a:r>
            <a:endParaRPr lang="ru-RU" sz="2800" dirty="0">
              <a:latin typeface="Cascadia Mono Light" pitchFamily="49" charset="0"/>
              <a:cs typeface="Cascadia Mono Light" pitchFamily="49" charset="0"/>
            </a:endParaRPr>
          </a:p>
        </p:txBody>
      </p:sp>
      <p:sp>
        <p:nvSpPr>
          <p:cNvPr id="3" name="Содержимое 2"/>
          <p:cNvSpPr>
            <a:spLocks noGrp="1"/>
          </p:cNvSpPr>
          <p:nvPr>
            <p:ph idx="1"/>
          </p:nvPr>
        </p:nvSpPr>
        <p:spPr>
          <a:xfrm>
            <a:off x="381000" y="4038600"/>
            <a:ext cx="8305800" cy="2392363"/>
          </a:xfrm>
        </p:spPr>
        <p:txBody>
          <a:bodyPr>
            <a:noAutofit/>
          </a:bodyPr>
          <a:lstStyle/>
          <a:p>
            <a:r>
              <a:rPr lang="ru-RU" sz="1100" dirty="0" smtClean="0">
                <a:latin typeface="Cascadia Mono Light" pitchFamily="49" charset="0"/>
                <a:cs typeface="Cascadia Mono Light" pitchFamily="49" charset="0"/>
              </a:rPr>
              <a:t>Наша задача — линейная регрессия: предсказать одно число (цену дома) по 8 признакам. Математически </a:t>
            </a:r>
            <a:r>
              <a:rPr lang="ru-RU" sz="1100" dirty="0" smtClean="0">
                <a:latin typeface="Cascadia Mono Light" pitchFamily="49" charset="0"/>
                <a:cs typeface="Cascadia Mono Light" pitchFamily="49" charset="0"/>
              </a:rPr>
              <a:t>это: </a:t>
            </a:r>
            <a:r>
              <a:rPr lang="ru-RU" sz="1100" dirty="0" err="1" smtClean="0">
                <a:latin typeface="Cascadia Mono Light" pitchFamily="49" charset="0"/>
                <a:cs typeface="Cascadia Mono Light" pitchFamily="49" charset="0"/>
              </a:rPr>
              <a:t>ŷ</a:t>
            </a:r>
            <a:r>
              <a:rPr lang="ru-RU" sz="1100" dirty="0" smtClean="0">
                <a:latin typeface="Cascadia Mono Light" pitchFamily="49" charset="0"/>
                <a:cs typeface="Cascadia Mono Light" pitchFamily="49" charset="0"/>
              </a:rPr>
              <a:t> </a:t>
            </a:r>
            <a:r>
              <a:rPr lang="ru-RU" sz="1100" dirty="0" smtClean="0">
                <a:latin typeface="Cascadia Mono Light" pitchFamily="49" charset="0"/>
                <a:cs typeface="Cascadia Mono Light" pitchFamily="49" charset="0"/>
              </a:rPr>
              <a:t>= </a:t>
            </a:r>
            <a:r>
              <a:rPr lang="ru-RU" sz="1100" dirty="0" err="1" smtClean="0">
                <a:latin typeface="Cascadia Mono Light" pitchFamily="49" charset="0"/>
                <a:cs typeface="Cascadia Mono Light" pitchFamily="49" charset="0"/>
              </a:rPr>
              <a:t>w₁x</a:t>
            </a:r>
            <a:r>
              <a:rPr lang="ru-RU" sz="1100" dirty="0" smtClean="0">
                <a:latin typeface="Cascadia Mono Light" pitchFamily="49" charset="0"/>
                <a:cs typeface="Cascadia Mono Light" pitchFamily="49" charset="0"/>
              </a:rPr>
              <a:t>₁ + </a:t>
            </a:r>
            <a:r>
              <a:rPr lang="ru-RU" sz="1100" dirty="0" err="1" smtClean="0">
                <a:latin typeface="Cascadia Mono Light" pitchFamily="49" charset="0"/>
                <a:cs typeface="Cascadia Mono Light" pitchFamily="49" charset="0"/>
              </a:rPr>
              <a:t>w₂x</a:t>
            </a:r>
            <a:r>
              <a:rPr lang="ru-RU" sz="1100" dirty="0" smtClean="0">
                <a:latin typeface="Cascadia Mono Light" pitchFamily="49" charset="0"/>
                <a:cs typeface="Cascadia Mono Light" pitchFamily="49" charset="0"/>
              </a:rPr>
              <a:t>₂ + ... + </a:t>
            </a:r>
            <a:r>
              <a:rPr lang="ru-RU" sz="1100" dirty="0" err="1" smtClean="0">
                <a:latin typeface="Cascadia Mono Light" pitchFamily="49" charset="0"/>
                <a:cs typeface="Cascadia Mono Light" pitchFamily="49" charset="0"/>
              </a:rPr>
              <a:t>w₈x</a:t>
            </a:r>
            <a:r>
              <a:rPr lang="ru-RU" sz="1100" dirty="0" smtClean="0">
                <a:latin typeface="Cascadia Mono Light" pitchFamily="49" charset="0"/>
                <a:cs typeface="Cascadia Mono Light" pitchFamily="49" charset="0"/>
              </a:rPr>
              <a:t>₈ + </a:t>
            </a:r>
            <a:r>
              <a:rPr lang="ru-RU" sz="1100" dirty="0" err="1" smtClean="0">
                <a:latin typeface="Cascadia Mono Light" pitchFamily="49" charset="0"/>
                <a:cs typeface="Cascadia Mono Light" pitchFamily="49" charset="0"/>
              </a:rPr>
              <a:t>b</a:t>
            </a:r>
            <a:r>
              <a:rPr lang="ru-RU" sz="1100" dirty="0" smtClean="0">
                <a:latin typeface="Cascadia Mono Light" pitchFamily="49" charset="0"/>
                <a:cs typeface="Cascadia Mono Light" pitchFamily="49" charset="0"/>
              </a:rPr>
              <a:t>. </a:t>
            </a:r>
            <a:r>
              <a:rPr lang="ru-RU" sz="1100" dirty="0" smtClean="0">
                <a:latin typeface="Cascadia Mono Light" pitchFamily="49" charset="0"/>
                <a:cs typeface="Cascadia Mono Light" pitchFamily="49" charset="0"/>
              </a:rPr>
              <a:t>В терминах </a:t>
            </a:r>
            <a:r>
              <a:rPr lang="ru-RU" sz="1100" dirty="0" err="1" smtClean="0">
                <a:latin typeface="Cascadia Mono Light" pitchFamily="49" charset="0"/>
                <a:cs typeface="Cascadia Mono Light" pitchFamily="49" charset="0"/>
              </a:rPr>
              <a:t>нейросетей</a:t>
            </a:r>
            <a:r>
              <a:rPr lang="ru-RU" sz="1100" dirty="0" smtClean="0">
                <a:latin typeface="Cascadia Mono Light" pitchFamily="49" charset="0"/>
                <a:cs typeface="Cascadia Mono Light" pitchFamily="49" charset="0"/>
              </a:rPr>
              <a:t> это один нейрон с линейной активацией. Поэтому модель будет максимально простой: один слой </a:t>
            </a:r>
            <a:r>
              <a:rPr lang="ru-RU" sz="1100" dirty="0" err="1" smtClean="0">
                <a:latin typeface="Cascadia Mono Light" pitchFamily="49" charset="0"/>
                <a:cs typeface="Cascadia Mono Light" pitchFamily="49" charset="0"/>
              </a:rPr>
              <a:t>Dense</a:t>
            </a:r>
            <a:r>
              <a:rPr lang="ru-RU" sz="1100" dirty="0" smtClean="0">
                <a:latin typeface="Cascadia Mono Light" pitchFamily="49" charset="0"/>
                <a:cs typeface="Cascadia Mono Light" pitchFamily="49" charset="0"/>
              </a:rPr>
              <a:t>(1).</a:t>
            </a:r>
          </a:p>
          <a:p>
            <a:r>
              <a:rPr lang="ru-RU" sz="1100" dirty="0" smtClean="0">
                <a:latin typeface="Cascadia Mono Light" pitchFamily="49" charset="0"/>
                <a:cs typeface="Cascadia Mono Light" pitchFamily="49" charset="0"/>
              </a:rPr>
              <a:t>Этот блок — конструирование модели. Мы описываем её структуру, но пока не обучаем. Обучение будет в следующем блоке через </a:t>
            </a:r>
            <a:r>
              <a:rPr lang="ru-RU" sz="1100" dirty="0" err="1" smtClean="0">
                <a:latin typeface="Cascadia Mono Light" pitchFamily="49" charset="0"/>
                <a:cs typeface="Cascadia Mono Light" pitchFamily="49" charset="0"/>
              </a:rPr>
              <a:t>compile</a:t>
            </a:r>
            <a:r>
              <a:rPr lang="ru-RU" sz="1100" dirty="0" smtClean="0">
                <a:latin typeface="Cascadia Mono Light" pitchFamily="49" charset="0"/>
                <a:cs typeface="Cascadia Mono Light" pitchFamily="49" charset="0"/>
              </a:rPr>
              <a:t> и </a:t>
            </a:r>
            <a:r>
              <a:rPr lang="ru-RU" sz="1100" dirty="0" err="1" smtClean="0">
                <a:latin typeface="Cascadia Mono Light" pitchFamily="49" charset="0"/>
                <a:cs typeface="Cascadia Mono Light" pitchFamily="49" charset="0"/>
              </a:rPr>
              <a:t>fit</a:t>
            </a:r>
            <a:r>
              <a:rPr lang="ru-RU" sz="1100" dirty="0" smtClean="0">
                <a:latin typeface="Cascadia Mono Light" pitchFamily="49" charset="0"/>
                <a:cs typeface="Cascadia Mono Light" pitchFamily="49" charset="0"/>
              </a:rPr>
              <a:t>.</a:t>
            </a:r>
          </a:p>
          <a:p>
            <a:r>
              <a:rPr lang="ru-RU" sz="1100" b="1" dirty="0" err="1" smtClean="0">
                <a:latin typeface="Cascadia Mono Light" pitchFamily="49" charset="0"/>
                <a:cs typeface="Cascadia Mono Light" pitchFamily="49" charset="0"/>
              </a:rPr>
              <a:t>n_features</a:t>
            </a:r>
            <a:r>
              <a:rPr lang="ru-RU" sz="1100" b="1" dirty="0" smtClean="0">
                <a:latin typeface="Cascadia Mono Light" pitchFamily="49" charset="0"/>
                <a:cs typeface="Cascadia Mono Light" pitchFamily="49" charset="0"/>
              </a:rPr>
              <a:t> = </a:t>
            </a:r>
            <a:r>
              <a:rPr lang="ru-RU" sz="1100" b="1" dirty="0" err="1" smtClean="0">
                <a:latin typeface="Cascadia Mono Light" pitchFamily="49" charset="0"/>
                <a:cs typeface="Cascadia Mono Light" pitchFamily="49" charset="0"/>
              </a:rPr>
              <a:t>X_train.shape</a:t>
            </a:r>
            <a:r>
              <a:rPr lang="ru-RU" sz="1100" b="1" dirty="0" smtClean="0">
                <a:latin typeface="Cascadia Mono Light" pitchFamily="49" charset="0"/>
                <a:cs typeface="Cascadia Mono Light" pitchFamily="49" charset="0"/>
              </a:rPr>
              <a:t>[1] </a:t>
            </a:r>
            <a:r>
              <a:rPr lang="ru-RU" sz="1100" b="1" i="1" dirty="0" smtClean="0">
                <a:latin typeface="Cascadia Mono Light" pitchFamily="49" charset="0"/>
                <a:cs typeface="Cascadia Mono Light" pitchFamily="49" charset="0"/>
              </a:rPr>
              <a:t># =</a:t>
            </a:r>
            <a:r>
              <a:rPr lang="ru-RU" sz="1100" b="1" i="1" dirty="0" smtClean="0">
                <a:latin typeface="Cascadia Mono Light" pitchFamily="49" charset="0"/>
                <a:cs typeface="Cascadia Mono Light" pitchFamily="49" charset="0"/>
              </a:rPr>
              <a:t>8</a:t>
            </a:r>
            <a:r>
              <a:rPr lang="ru-RU" sz="1100" b="1" dirty="0" smtClean="0">
                <a:latin typeface="Cascadia Mono Light" pitchFamily="49" charset="0"/>
                <a:cs typeface="Cascadia Mono Light" pitchFamily="49" charset="0"/>
              </a:rPr>
              <a:t> - </a:t>
            </a:r>
            <a:r>
              <a:rPr lang="ru-RU" sz="1100" dirty="0" smtClean="0">
                <a:latin typeface="Cascadia Mono Light" pitchFamily="49" charset="0"/>
                <a:cs typeface="Cascadia Mono Light" pitchFamily="49" charset="0"/>
              </a:rPr>
              <a:t>нам </a:t>
            </a:r>
            <a:r>
              <a:rPr lang="ru-RU" sz="1100" dirty="0" smtClean="0">
                <a:latin typeface="Cascadia Mono Light" pitchFamily="49" charset="0"/>
                <a:cs typeface="Cascadia Mono Light" pitchFamily="49" charset="0"/>
              </a:rPr>
              <a:t>нужно знать, сколько признаков подаётся на вход модели. Это определяет размер входного слоя.</a:t>
            </a:r>
          </a:p>
          <a:p>
            <a:r>
              <a:rPr lang="ru-RU" sz="1100" dirty="0" err="1" smtClean="0">
                <a:latin typeface="Cascadia Mono Light" pitchFamily="49" charset="0"/>
                <a:cs typeface="Cascadia Mono Light" pitchFamily="49" charset="0"/>
              </a:rPr>
              <a:t>X_train.shape</a:t>
            </a:r>
            <a:r>
              <a:rPr lang="ru-RU" sz="1100" dirty="0" smtClean="0">
                <a:latin typeface="Cascadia Mono Light" pitchFamily="49" charset="0"/>
                <a:cs typeface="Cascadia Mono Light" pitchFamily="49" charset="0"/>
              </a:rPr>
              <a:t> </a:t>
            </a:r>
            <a:r>
              <a:rPr lang="ru-RU" sz="1100" dirty="0" smtClean="0">
                <a:latin typeface="Cascadia Mono Light" pitchFamily="49" charset="0"/>
                <a:cs typeface="Cascadia Mono Light" pitchFamily="49" charset="0"/>
              </a:rPr>
              <a:t>— кортеж формы, например (13312, 8).</a:t>
            </a:r>
          </a:p>
          <a:p>
            <a:r>
              <a:rPr lang="ru-RU" sz="1100" dirty="0" smtClean="0">
                <a:latin typeface="Cascadia Mono Light" pitchFamily="49" charset="0"/>
                <a:cs typeface="Cascadia Mono Light" pitchFamily="49" charset="0"/>
              </a:rPr>
              <a:t>[1] — берём второй элемент кортежа (индексация с нуля: [0] — строки, [1] — столбцы).</a:t>
            </a:r>
          </a:p>
          <a:p>
            <a:r>
              <a:rPr lang="ru-RU" sz="1100" dirty="0" smtClean="0">
                <a:latin typeface="Cascadia Mono Light" pitchFamily="49" charset="0"/>
                <a:cs typeface="Cascadia Mono Light" pitchFamily="49" charset="0"/>
              </a:rPr>
              <a:t>Результат: </a:t>
            </a:r>
            <a:r>
              <a:rPr lang="ru-RU" sz="1100" dirty="0" err="1" smtClean="0">
                <a:latin typeface="Cascadia Mono Light" pitchFamily="49" charset="0"/>
                <a:cs typeface="Cascadia Mono Light" pitchFamily="49" charset="0"/>
              </a:rPr>
              <a:t>n_features</a:t>
            </a:r>
            <a:r>
              <a:rPr lang="ru-RU" sz="1100" dirty="0" smtClean="0">
                <a:latin typeface="Cascadia Mono Light" pitchFamily="49" charset="0"/>
                <a:cs typeface="Cascadia Mono Light" pitchFamily="49" charset="0"/>
              </a:rPr>
              <a:t> = 8.</a:t>
            </a:r>
          </a:p>
          <a:p>
            <a:r>
              <a:rPr lang="ru-RU" sz="1100" dirty="0" smtClean="0">
                <a:latin typeface="Cascadia Mono Light" pitchFamily="49" charset="0"/>
                <a:cs typeface="Cascadia Mono Light" pitchFamily="49" charset="0"/>
              </a:rPr>
              <a:t>Зачем переменная: дальше мы будем использовать </a:t>
            </a:r>
            <a:r>
              <a:rPr lang="ru-RU" sz="1100" dirty="0" err="1" smtClean="0">
                <a:latin typeface="Cascadia Mono Light" pitchFamily="49" charset="0"/>
                <a:cs typeface="Cascadia Mono Light" pitchFamily="49" charset="0"/>
              </a:rPr>
              <a:t>n_features</a:t>
            </a:r>
            <a:r>
              <a:rPr lang="ru-RU" sz="1100" dirty="0" smtClean="0">
                <a:latin typeface="Cascadia Mono Light" pitchFamily="49" charset="0"/>
                <a:cs typeface="Cascadia Mono Light" pitchFamily="49" charset="0"/>
              </a:rPr>
              <a:t> в аргументе </a:t>
            </a:r>
            <a:r>
              <a:rPr lang="ru-RU" sz="1100" dirty="0" err="1" smtClean="0">
                <a:latin typeface="Cascadia Mono Light" pitchFamily="49" charset="0"/>
                <a:cs typeface="Cascadia Mono Light" pitchFamily="49" charset="0"/>
              </a:rPr>
              <a:t>input_shape</a:t>
            </a:r>
            <a:r>
              <a:rPr lang="ru-RU" sz="1100" dirty="0" smtClean="0">
                <a:latin typeface="Cascadia Mono Light" pitchFamily="49" charset="0"/>
                <a:cs typeface="Cascadia Mono Light" pitchFamily="49" charset="0"/>
              </a:rPr>
              <a:t>. Если завтра добавим ещё признак — менять придётся только в одном месте, всё остальное подхватит автоматически.</a:t>
            </a:r>
          </a:p>
          <a:p>
            <a:endParaRPr lang="ru-RU" sz="1100" dirty="0" smtClean="0">
              <a:latin typeface="Cascadia Mono Light" pitchFamily="49" charset="0"/>
              <a:cs typeface="Cascadia Mono Light" pitchFamily="49" charset="0"/>
            </a:endParaRPr>
          </a:p>
          <a:p>
            <a:endParaRPr lang="ru-RU" sz="1100" dirty="0" smtClean="0">
              <a:latin typeface="Cascadia Mono Light" pitchFamily="49" charset="0"/>
              <a:cs typeface="Cascadia Mono Light" pitchFamily="49" charset="0"/>
            </a:endParaRPr>
          </a:p>
          <a:p>
            <a:endParaRPr lang="ru-RU" sz="1100" dirty="0">
              <a:latin typeface="Cascadia Mono Light" pitchFamily="49" charset="0"/>
              <a:cs typeface="Cascadia Mono Light" pitchFamily="49" charset="0"/>
            </a:endParaRPr>
          </a:p>
        </p:txBody>
      </p:sp>
      <p:pic>
        <p:nvPicPr>
          <p:cNvPr id="77826" name="Picture 2"/>
          <p:cNvPicPr>
            <a:picLocks noChangeAspect="1" noChangeArrowheads="1"/>
          </p:cNvPicPr>
          <p:nvPr/>
        </p:nvPicPr>
        <p:blipFill>
          <a:blip r:embed="rId2" cstate="print"/>
          <a:srcRect/>
          <a:stretch>
            <a:fillRect/>
          </a:stretch>
        </p:blipFill>
        <p:spPr bwMode="auto">
          <a:xfrm>
            <a:off x="2286000" y="1066801"/>
            <a:ext cx="4459288" cy="2600842"/>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2800" dirty="0" smtClean="0">
                <a:latin typeface="Cascadia Mono Light" pitchFamily="49" charset="0"/>
                <a:cs typeface="Cascadia Mono Light" pitchFamily="49" charset="0"/>
              </a:rPr>
              <a:t>5. Создаем </a:t>
            </a:r>
            <a:r>
              <a:rPr lang="ru-RU" sz="2800" dirty="0" err="1" smtClean="0">
                <a:latin typeface="Cascadia Mono Light" pitchFamily="49" charset="0"/>
                <a:cs typeface="Cascadia Mono Light" pitchFamily="49" charset="0"/>
              </a:rPr>
              <a:t>нейросеть</a:t>
            </a:r>
            <a:r>
              <a:rPr lang="ru-RU" sz="2800" dirty="0" smtClean="0">
                <a:latin typeface="Cascadia Mono Light" pitchFamily="49" charset="0"/>
                <a:cs typeface="Cascadia Mono Light" pitchFamily="49" charset="0"/>
              </a:rPr>
              <a:t>! Ура, товарищи!</a:t>
            </a:r>
            <a:endParaRPr lang="ru-RU" sz="2800" dirty="0">
              <a:latin typeface="Cascadia Mono Light" pitchFamily="49" charset="0"/>
              <a:cs typeface="Cascadia Mono Light" pitchFamily="49" charset="0"/>
            </a:endParaRPr>
          </a:p>
        </p:txBody>
      </p:sp>
      <p:sp>
        <p:nvSpPr>
          <p:cNvPr id="3" name="Содержимое 2"/>
          <p:cNvSpPr>
            <a:spLocks noGrp="1"/>
          </p:cNvSpPr>
          <p:nvPr>
            <p:ph idx="1"/>
          </p:nvPr>
        </p:nvSpPr>
        <p:spPr>
          <a:xfrm>
            <a:off x="228600" y="2209800"/>
            <a:ext cx="8458200" cy="4221163"/>
          </a:xfrm>
        </p:spPr>
        <p:txBody>
          <a:bodyPr>
            <a:noAutofit/>
          </a:bodyPr>
          <a:lstStyle/>
          <a:p>
            <a:r>
              <a:rPr lang="ru-RU" sz="1200" dirty="0" smtClean="0">
                <a:latin typeface="Cascadia Mono Light" pitchFamily="49" charset="0"/>
                <a:cs typeface="Cascadia Mono Light" pitchFamily="49" charset="0"/>
              </a:rPr>
              <a:t>Создаем переменную и нарекаем ее </a:t>
            </a:r>
            <a:r>
              <a:rPr lang="en-US" sz="1200" b="1" dirty="0" smtClean="0">
                <a:latin typeface="Cascadia Mono Light" pitchFamily="49" charset="0"/>
                <a:cs typeface="Cascadia Mono Light" pitchFamily="49" charset="0"/>
              </a:rPr>
              <a:t>model</a:t>
            </a:r>
            <a:r>
              <a:rPr lang="ru-RU" sz="1200" dirty="0" smtClean="0">
                <a:latin typeface="Cascadia Mono Light" pitchFamily="49" charset="0"/>
                <a:cs typeface="Cascadia Mono Light" pitchFamily="49" charset="0"/>
              </a:rPr>
              <a:t> – эта переменная будет хранить объект нашей </a:t>
            </a:r>
            <a:r>
              <a:rPr lang="ru-RU" sz="1200" dirty="0" err="1" smtClean="0">
                <a:latin typeface="Cascadia Mono Light" pitchFamily="49" charset="0"/>
                <a:cs typeface="Cascadia Mono Light" pitchFamily="49" charset="0"/>
              </a:rPr>
              <a:t>моедли</a:t>
            </a:r>
            <a:r>
              <a:rPr lang="ru-RU" sz="1200" dirty="0" smtClean="0">
                <a:latin typeface="Cascadia Mono Light" pitchFamily="49" charset="0"/>
                <a:cs typeface="Cascadia Mono Light" pitchFamily="49" charset="0"/>
              </a:rPr>
              <a:t>.</a:t>
            </a:r>
          </a:p>
          <a:p>
            <a:r>
              <a:rPr lang="ru-RU" sz="1200" b="1" dirty="0" err="1" smtClean="0">
                <a:latin typeface="Cascadia Mono Light" pitchFamily="49" charset="0"/>
                <a:cs typeface="Cascadia Mono Light" pitchFamily="49" charset="0"/>
              </a:rPr>
              <a:t>Sequential</a:t>
            </a:r>
            <a:r>
              <a:rPr lang="ru-RU" sz="1200" dirty="0" smtClean="0">
                <a:latin typeface="Cascadia Mono Light" pitchFamily="49" charset="0"/>
                <a:cs typeface="Cascadia Mono Light" pitchFamily="49" charset="0"/>
              </a:rPr>
              <a:t> — класс-контейнер из </a:t>
            </a:r>
            <a:r>
              <a:rPr lang="ru-RU" sz="1200" dirty="0" err="1" smtClean="0">
                <a:latin typeface="Cascadia Mono Light" pitchFamily="49" charset="0"/>
                <a:cs typeface="Cascadia Mono Light" pitchFamily="49" charset="0"/>
              </a:rPr>
              <a:t>Keras</a:t>
            </a:r>
            <a:r>
              <a:rPr lang="ru-RU" sz="1200" dirty="0" smtClean="0">
                <a:latin typeface="Cascadia Mono Light" pitchFamily="49" charset="0"/>
                <a:cs typeface="Cascadia Mono Light" pitchFamily="49" charset="0"/>
              </a:rPr>
              <a:t>. Создаёт модель, в которой слои идут последовательно.</a:t>
            </a:r>
          </a:p>
          <a:p>
            <a:r>
              <a:rPr lang="ru-RU" sz="1200" dirty="0" smtClean="0">
                <a:latin typeface="Cascadia Mono Light" pitchFamily="49" charset="0"/>
                <a:cs typeface="Cascadia Mono Light" pitchFamily="49" charset="0"/>
              </a:rPr>
              <a:t>[...] — список слоёв. У нас в списке только один слой</a:t>
            </a:r>
            <a:r>
              <a:rPr lang="ru-RU" sz="1200" dirty="0" smtClean="0">
                <a:latin typeface="Cascadia Mono Light" pitchFamily="49" charset="0"/>
                <a:cs typeface="Cascadia Mono Light" pitchFamily="49" charset="0"/>
              </a:rPr>
              <a:t>.</a:t>
            </a:r>
          </a:p>
          <a:p>
            <a:endParaRPr lang="ru-RU" sz="1200" dirty="0" smtClean="0">
              <a:latin typeface="Cascadia Mono Light" pitchFamily="49" charset="0"/>
              <a:cs typeface="Cascadia Mono Light" pitchFamily="49" charset="0"/>
            </a:endParaRPr>
          </a:p>
          <a:p>
            <a:r>
              <a:rPr lang="ru-RU" sz="1200" b="1" dirty="0" err="1" smtClean="0">
                <a:latin typeface="Cascadia Mono Light" pitchFamily="49" charset="0"/>
                <a:cs typeface="Cascadia Mono Light" pitchFamily="49" charset="0"/>
              </a:rPr>
              <a:t>Dense</a:t>
            </a:r>
            <a:r>
              <a:rPr lang="ru-RU" sz="1200" dirty="0" smtClean="0">
                <a:latin typeface="Cascadia Mono Light" pitchFamily="49" charset="0"/>
                <a:cs typeface="Cascadia Mono Light" pitchFamily="49" charset="0"/>
              </a:rPr>
              <a:t> — </a:t>
            </a:r>
            <a:r>
              <a:rPr lang="ru-RU" sz="1200" dirty="0" err="1" smtClean="0">
                <a:latin typeface="Cascadia Mono Light" pitchFamily="49" charset="0"/>
                <a:cs typeface="Cascadia Mono Light" pitchFamily="49" charset="0"/>
              </a:rPr>
              <a:t>полносвязный</a:t>
            </a:r>
            <a:r>
              <a:rPr lang="ru-RU" sz="1200" dirty="0" smtClean="0">
                <a:latin typeface="Cascadia Mono Light" pitchFamily="49" charset="0"/>
                <a:cs typeface="Cascadia Mono Light" pitchFamily="49" charset="0"/>
              </a:rPr>
              <a:t> слой. Каждый нейрон получает входы от всех предыдущих нейронов.</a:t>
            </a:r>
          </a:p>
          <a:p>
            <a:r>
              <a:rPr lang="ru-RU" sz="1200" dirty="0" smtClean="0">
                <a:latin typeface="Cascadia Mono Light" pitchFamily="49" charset="0"/>
                <a:cs typeface="Cascadia Mono Light" pitchFamily="49" charset="0"/>
              </a:rPr>
              <a:t>1 — число нейронов. У нас один нейрон — потому что предсказываем одно число (цену).</a:t>
            </a:r>
          </a:p>
          <a:p>
            <a:r>
              <a:rPr lang="ru-RU" sz="1200" b="1" dirty="0" err="1" smtClean="0">
                <a:latin typeface="Cascadia Mono Light" pitchFamily="49" charset="0"/>
                <a:cs typeface="Cascadia Mono Light" pitchFamily="49" charset="0"/>
              </a:rPr>
              <a:t>input_shape=</a:t>
            </a:r>
            <a:r>
              <a:rPr lang="ru-RU" sz="1200" b="1" dirty="0" smtClean="0">
                <a:latin typeface="Cascadia Mono Light" pitchFamily="49" charset="0"/>
                <a:cs typeface="Cascadia Mono Light" pitchFamily="49" charset="0"/>
              </a:rPr>
              <a:t>(</a:t>
            </a:r>
            <a:r>
              <a:rPr lang="ru-RU" sz="1200" b="1" dirty="0" err="1" smtClean="0">
                <a:latin typeface="Cascadia Mono Light" pitchFamily="49" charset="0"/>
                <a:cs typeface="Cascadia Mono Light" pitchFamily="49" charset="0"/>
              </a:rPr>
              <a:t>n_features</a:t>
            </a:r>
            <a:r>
              <a:rPr lang="ru-RU" sz="1200" b="1" dirty="0" smtClean="0">
                <a:latin typeface="Cascadia Mono Light" pitchFamily="49" charset="0"/>
                <a:cs typeface="Cascadia Mono Light" pitchFamily="49" charset="0"/>
              </a:rPr>
              <a:t>,): </a:t>
            </a:r>
            <a:r>
              <a:rPr lang="ru-RU" sz="1200" dirty="0" smtClean="0">
                <a:latin typeface="Cascadia Mono Light" pitchFamily="49" charset="0"/>
                <a:cs typeface="Cascadia Mono Light" pitchFamily="49" charset="0"/>
              </a:rPr>
              <a:t>Указывает </a:t>
            </a:r>
            <a:r>
              <a:rPr lang="ru-RU" sz="1200" dirty="0" smtClean="0">
                <a:latin typeface="Cascadia Mono Light" pitchFamily="49" charset="0"/>
                <a:cs typeface="Cascadia Mono Light" pitchFamily="49" charset="0"/>
              </a:rPr>
              <a:t>форму входа — сколько признаков подаётся.</a:t>
            </a:r>
          </a:p>
          <a:p>
            <a:r>
              <a:rPr lang="ru-RU" sz="1200" dirty="0" smtClean="0">
                <a:latin typeface="Cascadia Mono Light" pitchFamily="49" charset="0"/>
                <a:cs typeface="Cascadia Mono Light" pitchFamily="49" charset="0"/>
              </a:rPr>
              <a:t>(8,) — кортеж из одного элемента: 8 </a:t>
            </a:r>
            <a:r>
              <a:rPr lang="ru-RU" sz="1200" dirty="0" smtClean="0">
                <a:latin typeface="Cascadia Mono Light" pitchFamily="49" charset="0"/>
                <a:cs typeface="Cascadia Mono Light" pitchFamily="49" charset="0"/>
              </a:rPr>
              <a:t>признаков</a:t>
            </a:r>
          </a:p>
          <a:p>
            <a:r>
              <a:rPr lang="ru-RU" sz="1200" dirty="0" smtClean="0">
                <a:latin typeface="Cascadia Mono Light" pitchFamily="49" charset="0"/>
                <a:cs typeface="Cascadia Mono Light" pitchFamily="49" charset="0"/>
              </a:rPr>
              <a:t>П</a:t>
            </a:r>
            <a:r>
              <a:rPr lang="ru-RU" sz="1200" dirty="0" smtClean="0">
                <a:latin typeface="Cascadia Mono Light" pitchFamily="49" charset="0"/>
                <a:cs typeface="Cascadia Mono Light" pitchFamily="49" charset="0"/>
              </a:rPr>
              <a:t>оследующие </a:t>
            </a:r>
            <a:r>
              <a:rPr lang="ru-RU" sz="1200" dirty="0" smtClean="0">
                <a:latin typeface="Cascadia Mono Light" pitchFamily="49" charset="0"/>
                <a:cs typeface="Cascadia Mono Light" pitchFamily="49" charset="0"/>
              </a:rPr>
              <a:t>слои автоматически получают форму от предыдущих. </a:t>
            </a:r>
            <a:r>
              <a:rPr lang="ru-RU" sz="1200" dirty="0" smtClean="0">
                <a:latin typeface="Cascadia Mono Light" pitchFamily="49" charset="0"/>
                <a:cs typeface="Cascadia Mono Light" pitchFamily="49" charset="0"/>
              </a:rPr>
              <a:t>Будь они тут, тоже бы получили.</a:t>
            </a:r>
          </a:p>
          <a:p>
            <a:endParaRPr lang="ru-RU" sz="1200" dirty="0" smtClean="0">
              <a:latin typeface="Cascadia Mono Light" pitchFamily="49" charset="0"/>
              <a:cs typeface="Cascadia Mono Light" pitchFamily="49" charset="0"/>
            </a:endParaRPr>
          </a:p>
          <a:p>
            <a:r>
              <a:rPr lang="ru-RU" sz="1200" dirty="0" err="1" smtClean="0">
                <a:latin typeface="Cascadia Mono Light" pitchFamily="49" charset="0"/>
                <a:cs typeface="Cascadia Mono Light" pitchFamily="49" charset="0"/>
              </a:rPr>
              <a:t>activation='linear</a:t>
            </a:r>
            <a:r>
              <a:rPr lang="ru-RU" sz="1200" dirty="0" smtClean="0">
                <a:latin typeface="Cascadia Mono Light" pitchFamily="49" charset="0"/>
                <a:cs typeface="Cascadia Mono Light" pitchFamily="49" charset="0"/>
              </a:rPr>
              <a:t>': </a:t>
            </a:r>
            <a:r>
              <a:rPr lang="ru-RU" sz="1200" dirty="0" smtClean="0">
                <a:latin typeface="Cascadia Mono Light" pitchFamily="49" charset="0"/>
                <a:cs typeface="Cascadia Mono Light" pitchFamily="49" charset="0"/>
              </a:rPr>
              <a:t>Линейная активация: </a:t>
            </a:r>
            <a:r>
              <a:rPr lang="ru-RU" sz="1200" dirty="0" err="1" smtClean="0">
                <a:latin typeface="Cascadia Mono Light" pitchFamily="49" charset="0"/>
                <a:cs typeface="Cascadia Mono Light" pitchFamily="49" charset="0"/>
              </a:rPr>
              <a:t>f</a:t>
            </a:r>
            <a:r>
              <a:rPr lang="ru-RU" sz="1200" dirty="0" smtClean="0">
                <a:latin typeface="Cascadia Mono Light" pitchFamily="49" charset="0"/>
                <a:cs typeface="Cascadia Mono Light" pitchFamily="49" charset="0"/>
              </a:rPr>
              <a:t>(</a:t>
            </a:r>
            <a:r>
              <a:rPr lang="ru-RU" sz="1200" dirty="0" err="1" smtClean="0">
                <a:latin typeface="Cascadia Mono Light" pitchFamily="49" charset="0"/>
                <a:cs typeface="Cascadia Mono Light" pitchFamily="49" charset="0"/>
              </a:rPr>
              <a:t>x</a:t>
            </a:r>
            <a:r>
              <a:rPr lang="ru-RU" sz="1200" dirty="0" smtClean="0">
                <a:latin typeface="Cascadia Mono Light" pitchFamily="49" charset="0"/>
                <a:cs typeface="Cascadia Mono Light" pitchFamily="49" charset="0"/>
              </a:rPr>
              <a:t>) = </a:t>
            </a:r>
            <a:r>
              <a:rPr lang="ru-RU" sz="1200" dirty="0" err="1" smtClean="0">
                <a:latin typeface="Cascadia Mono Light" pitchFamily="49" charset="0"/>
                <a:cs typeface="Cascadia Mono Light" pitchFamily="49" charset="0"/>
              </a:rPr>
              <a:t>x</a:t>
            </a:r>
            <a:r>
              <a:rPr lang="ru-RU" sz="1200" dirty="0" smtClean="0">
                <a:latin typeface="Cascadia Mono Light" pitchFamily="49" charset="0"/>
                <a:cs typeface="Cascadia Mono Light" pitchFamily="49" charset="0"/>
              </a:rPr>
              <a:t>. Ничего не меняет.</a:t>
            </a:r>
          </a:p>
          <a:p>
            <a:endParaRPr lang="ru-RU" sz="1200" dirty="0" smtClean="0">
              <a:latin typeface="Cascadia Mono Light" pitchFamily="49" charset="0"/>
              <a:cs typeface="Cascadia Mono Light" pitchFamily="49" charset="0"/>
            </a:endParaRPr>
          </a:p>
          <a:p>
            <a:r>
              <a:rPr lang="ru-RU" sz="1200" dirty="0" err="1" smtClean="0">
                <a:latin typeface="Cascadia Mono Light" pitchFamily="49" charset="0"/>
                <a:cs typeface="Cascadia Mono Light" pitchFamily="49" charset="0"/>
              </a:rPr>
              <a:t>model.summary</a:t>
            </a:r>
            <a:r>
              <a:rPr lang="ru-RU" sz="1200" dirty="0" smtClean="0">
                <a:latin typeface="Cascadia Mono Light" pitchFamily="49" charset="0"/>
                <a:cs typeface="Cascadia Mono Light" pitchFamily="49" charset="0"/>
              </a:rPr>
              <a:t>() - печатаем </a:t>
            </a:r>
            <a:r>
              <a:rPr lang="ru-RU" sz="1200" dirty="0" smtClean="0">
                <a:latin typeface="Cascadia Mono Light" pitchFamily="49" charset="0"/>
                <a:cs typeface="Cascadia Mono Light" pitchFamily="49" charset="0"/>
              </a:rPr>
              <a:t>краткое описание модели — какие слои, какие формы выходов, сколько параметров. Это как «паспорт» модели.</a:t>
            </a:r>
          </a:p>
          <a:p>
            <a:r>
              <a:rPr lang="ru-RU" sz="1200" dirty="0" smtClean="0">
                <a:latin typeface="Cascadia Mono Light" pitchFamily="49" charset="0"/>
                <a:cs typeface="Cascadia Mono Light" pitchFamily="49" charset="0"/>
              </a:rPr>
              <a:t>.</a:t>
            </a:r>
            <a:r>
              <a:rPr lang="ru-RU" sz="1200" dirty="0" err="1" smtClean="0">
                <a:latin typeface="Cascadia Mono Light" pitchFamily="49" charset="0"/>
                <a:cs typeface="Cascadia Mono Light" pitchFamily="49" charset="0"/>
              </a:rPr>
              <a:t>summary</a:t>
            </a:r>
            <a:r>
              <a:rPr lang="ru-RU" sz="1200" dirty="0" smtClean="0">
                <a:latin typeface="Cascadia Mono Light" pitchFamily="49" charset="0"/>
                <a:cs typeface="Cascadia Mono Light" pitchFamily="49" charset="0"/>
              </a:rPr>
              <a:t>() — метод объекта модели. </a:t>
            </a:r>
          </a:p>
          <a:p>
            <a:endParaRPr lang="ru-RU" sz="1200" dirty="0" smtClean="0">
              <a:latin typeface="Cascadia Mono Light" pitchFamily="49" charset="0"/>
              <a:cs typeface="Cascadia Mono Light" pitchFamily="49" charset="0"/>
            </a:endParaRPr>
          </a:p>
          <a:p>
            <a:endParaRPr lang="ru-RU" sz="1200" dirty="0" smtClean="0">
              <a:latin typeface="Cascadia Mono Light" pitchFamily="49" charset="0"/>
              <a:cs typeface="Cascadia Mono Light" pitchFamily="49" charset="0"/>
            </a:endParaRPr>
          </a:p>
          <a:p>
            <a:endParaRPr lang="ru-RU" sz="1200" dirty="0">
              <a:latin typeface="Cascadia Mono Light" pitchFamily="49" charset="0"/>
              <a:cs typeface="Cascadia Mono Light" pitchFamily="49" charset="0"/>
            </a:endParaRPr>
          </a:p>
        </p:txBody>
      </p:sp>
      <p:pic>
        <p:nvPicPr>
          <p:cNvPr id="77826" name="Picture 2"/>
          <p:cNvPicPr>
            <a:picLocks noChangeAspect="1" noChangeArrowheads="1"/>
          </p:cNvPicPr>
          <p:nvPr/>
        </p:nvPicPr>
        <p:blipFill>
          <a:blip r:embed="rId2" cstate="print"/>
          <a:srcRect l="5126" t="23439" b="58982"/>
          <a:stretch>
            <a:fillRect/>
          </a:stretch>
        </p:blipFill>
        <p:spPr bwMode="auto">
          <a:xfrm>
            <a:off x="381000" y="1143000"/>
            <a:ext cx="10576724" cy="1143000"/>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3200" dirty="0" smtClean="0">
                <a:latin typeface="Cascadia Mono Light" pitchFamily="49" charset="0"/>
                <a:cs typeface="Cascadia Mono Light" pitchFamily="49" charset="0"/>
              </a:rPr>
              <a:t>6. Подготовка к обучению. </a:t>
            </a:r>
            <a:r>
              <a:rPr lang="en-US" sz="3200" dirty="0" smtClean="0">
                <a:latin typeface="Cascadia Mono Light" pitchFamily="49" charset="0"/>
                <a:cs typeface="Cascadia Mono Light" pitchFamily="49" charset="0"/>
              </a:rPr>
              <a:t>Compile</a:t>
            </a:r>
            <a:r>
              <a:rPr lang="ru-RU" sz="3200" dirty="0" smtClean="0">
                <a:latin typeface="Cascadia Mono Light" pitchFamily="49" charset="0"/>
                <a:cs typeface="Cascadia Mono Light" pitchFamily="49" charset="0"/>
              </a:rPr>
              <a:t> </a:t>
            </a:r>
            <a:endParaRPr lang="ru-RU" sz="3200" dirty="0">
              <a:latin typeface="Cascadia Mono Light" pitchFamily="49" charset="0"/>
              <a:cs typeface="Cascadia Mono Light" pitchFamily="49" charset="0"/>
            </a:endParaRPr>
          </a:p>
        </p:txBody>
      </p:sp>
      <p:sp>
        <p:nvSpPr>
          <p:cNvPr id="3" name="Содержимое 2"/>
          <p:cNvSpPr>
            <a:spLocks noGrp="1"/>
          </p:cNvSpPr>
          <p:nvPr>
            <p:ph idx="1"/>
          </p:nvPr>
        </p:nvSpPr>
        <p:spPr>
          <a:xfrm>
            <a:off x="533400" y="1371600"/>
            <a:ext cx="8077200" cy="5135563"/>
          </a:xfrm>
        </p:spPr>
        <p:txBody>
          <a:bodyPr>
            <a:noAutofit/>
          </a:bodyPr>
          <a:lstStyle/>
          <a:p>
            <a:r>
              <a:rPr lang="ru-RU" sz="2400" dirty="0" smtClean="0">
                <a:latin typeface="Cascadia Mono Light" pitchFamily="49" charset="0"/>
                <a:cs typeface="Cascadia Mono Light" pitchFamily="49" charset="0"/>
              </a:rPr>
              <a:t>Модель </a:t>
            </a:r>
            <a:r>
              <a:rPr lang="ru-RU" sz="2400" dirty="0" smtClean="0">
                <a:latin typeface="Cascadia Mono Light" pitchFamily="49" charset="0"/>
                <a:cs typeface="Cascadia Mono Light" pitchFamily="49" charset="0"/>
              </a:rPr>
              <a:t>создана</a:t>
            </a:r>
            <a:r>
              <a:rPr lang="en-US" sz="2400" dirty="0" smtClean="0">
                <a:latin typeface="Cascadia Mono Light" pitchFamily="49" charset="0"/>
                <a:cs typeface="Cascadia Mono Light" pitchFamily="49" charset="0"/>
              </a:rPr>
              <a:t>. </a:t>
            </a:r>
            <a:r>
              <a:rPr lang="ru-RU" sz="2400" dirty="0" smtClean="0">
                <a:latin typeface="Cascadia Mono Light" pitchFamily="49" charset="0"/>
                <a:cs typeface="Cascadia Mono Light" pitchFamily="49" charset="0"/>
              </a:rPr>
              <a:t>Но </a:t>
            </a:r>
            <a:r>
              <a:rPr lang="ru-RU" sz="2400" dirty="0" smtClean="0">
                <a:latin typeface="Cascadia Mono Light" pitchFamily="49" charset="0"/>
                <a:cs typeface="Cascadia Mono Light" pitchFamily="49" charset="0"/>
              </a:rPr>
              <a:t>она ещё не готова к обучению. Мы описали её структуру, но не сказали:</a:t>
            </a:r>
          </a:p>
          <a:p>
            <a:r>
              <a:rPr lang="ru-RU" sz="2400" dirty="0" smtClean="0">
                <a:latin typeface="Cascadia Mono Light" pitchFamily="49" charset="0"/>
                <a:cs typeface="Cascadia Mono Light" pitchFamily="49" charset="0"/>
              </a:rPr>
              <a:t>Как обновлять веса во время обучения;</a:t>
            </a:r>
          </a:p>
          <a:p>
            <a:r>
              <a:rPr lang="ru-RU" sz="2400" dirty="0" smtClean="0">
                <a:latin typeface="Cascadia Mono Light" pitchFamily="49" charset="0"/>
                <a:cs typeface="Cascadia Mono Light" pitchFamily="49" charset="0"/>
              </a:rPr>
              <a:t>Что именно минимизировать — какую ошибку;</a:t>
            </a:r>
          </a:p>
          <a:p>
            <a:r>
              <a:rPr lang="ru-RU" sz="2400" dirty="0" smtClean="0">
                <a:latin typeface="Cascadia Mono Light" pitchFamily="49" charset="0"/>
                <a:cs typeface="Cascadia Mono Light" pitchFamily="49" charset="0"/>
              </a:rPr>
              <a:t>Что показывать нам, чтобы мы могли следить за процессом.</a:t>
            </a:r>
          </a:p>
          <a:p>
            <a:r>
              <a:rPr lang="ru-RU" sz="2400" dirty="0" err="1" smtClean="0">
                <a:latin typeface="Cascadia Mono Light" pitchFamily="49" charset="0"/>
                <a:cs typeface="Cascadia Mono Light" pitchFamily="49" charset="0"/>
              </a:rPr>
              <a:t>compile</a:t>
            </a:r>
            <a:r>
              <a:rPr lang="ru-RU" sz="2400" dirty="0" smtClean="0">
                <a:latin typeface="Cascadia Mono Light" pitchFamily="49" charset="0"/>
                <a:cs typeface="Cascadia Mono Light" pitchFamily="49" charset="0"/>
              </a:rPr>
              <a:t> — это этап настройки обучения. Мы сообщаем </a:t>
            </a:r>
            <a:r>
              <a:rPr lang="ru-RU" sz="2400" dirty="0" err="1" smtClean="0">
                <a:latin typeface="Cascadia Mono Light" pitchFamily="49" charset="0"/>
                <a:cs typeface="Cascadia Mono Light" pitchFamily="49" charset="0"/>
              </a:rPr>
              <a:t>Keras</a:t>
            </a:r>
            <a:r>
              <a:rPr lang="ru-RU" sz="2400" dirty="0" smtClean="0">
                <a:latin typeface="Cascadia Mono Light" pitchFamily="49" charset="0"/>
                <a:cs typeface="Cascadia Mono Light" pitchFamily="49" charset="0"/>
              </a:rPr>
              <a:t> три вещи, и после этого модель становится готовой к </a:t>
            </a:r>
            <a:r>
              <a:rPr lang="ru-RU" sz="2400" dirty="0" err="1" smtClean="0">
                <a:latin typeface="Cascadia Mono Light" pitchFamily="49" charset="0"/>
                <a:cs typeface="Cascadia Mono Light" pitchFamily="49" charset="0"/>
              </a:rPr>
              <a:t>fit</a:t>
            </a:r>
            <a:r>
              <a:rPr lang="ru-RU" sz="2400" dirty="0" smtClean="0">
                <a:latin typeface="Cascadia Mono Light" pitchFamily="49" charset="0"/>
                <a:cs typeface="Cascadia Mono Light" pitchFamily="49" charset="0"/>
              </a:rPr>
              <a:t>.</a:t>
            </a:r>
          </a:p>
          <a:p>
            <a:endParaRPr lang="ru-RU" sz="2400" dirty="0">
              <a:latin typeface="Cascadia Mono Light" pitchFamily="49" charset="0"/>
              <a:cs typeface="Cascadia Mono Light" pitchFamily="49"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57200" y="2209800"/>
            <a:ext cx="8153400" cy="4297363"/>
          </a:xfrm>
        </p:spPr>
        <p:txBody>
          <a:bodyPr>
            <a:noAutofit/>
          </a:bodyPr>
          <a:lstStyle/>
          <a:p>
            <a:r>
              <a:rPr lang="ru-RU" sz="1400" dirty="0" err="1" smtClean="0">
                <a:latin typeface="Cascadia Mono Light" pitchFamily="49" charset="0"/>
                <a:cs typeface="Cascadia Mono Light" pitchFamily="49" charset="0"/>
              </a:rPr>
              <a:t>model.compile</a:t>
            </a:r>
            <a:r>
              <a:rPr lang="ru-RU" sz="1400" dirty="0" smtClean="0">
                <a:latin typeface="Cascadia Mono Light" pitchFamily="49" charset="0"/>
                <a:cs typeface="Cascadia Mono Light" pitchFamily="49" charset="0"/>
              </a:rPr>
              <a:t>(...) — метод объекта модели. Принимает три именованных аргумента: </a:t>
            </a:r>
            <a:r>
              <a:rPr lang="ru-RU" sz="1400" dirty="0" err="1" smtClean="0">
                <a:latin typeface="Cascadia Mono Light" pitchFamily="49" charset="0"/>
                <a:cs typeface="Cascadia Mono Light" pitchFamily="49" charset="0"/>
              </a:rPr>
              <a:t>optimizer</a:t>
            </a:r>
            <a:r>
              <a:rPr lang="ru-RU" sz="1400" dirty="0" smtClean="0">
                <a:latin typeface="Cascadia Mono Light" pitchFamily="49" charset="0"/>
                <a:cs typeface="Cascadia Mono Light" pitchFamily="49" charset="0"/>
              </a:rPr>
              <a:t>, </a:t>
            </a:r>
            <a:r>
              <a:rPr lang="ru-RU" sz="1400" dirty="0" err="1" smtClean="0">
                <a:latin typeface="Cascadia Mono Light" pitchFamily="49" charset="0"/>
                <a:cs typeface="Cascadia Mono Light" pitchFamily="49" charset="0"/>
              </a:rPr>
              <a:t>loss</a:t>
            </a:r>
            <a:r>
              <a:rPr lang="ru-RU" sz="1400" dirty="0" smtClean="0">
                <a:latin typeface="Cascadia Mono Light" pitchFamily="49" charset="0"/>
                <a:cs typeface="Cascadia Mono Light" pitchFamily="49" charset="0"/>
              </a:rPr>
              <a:t>, </a:t>
            </a:r>
            <a:r>
              <a:rPr lang="ru-RU" sz="1400" dirty="0" err="1" smtClean="0">
                <a:latin typeface="Cascadia Mono Light" pitchFamily="49" charset="0"/>
                <a:cs typeface="Cascadia Mono Light" pitchFamily="49" charset="0"/>
              </a:rPr>
              <a:t>metrics</a:t>
            </a:r>
            <a:endParaRPr lang="en-US" sz="1400" dirty="0" smtClean="0">
              <a:latin typeface="Cascadia Mono Light" pitchFamily="49" charset="0"/>
              <a:cs typeface="Cascadia Mono Light" pitchFamily="49" charset="0"/>
            </a:endParaRPr>
          </a:p>
          <a:p>
            <a:r>
              <a:rPr lang="ru-RU" sz="1400" b="1" dirty="0" smtClean="0">
                <a:latin typeface="Cascadia Mono Light" pitchFamily="49" charset="0"/>
                <a:cs typeface="Cascadia Mono Light" pitchFamily="49" charset="0"/>
              </a:rPr>
              <a:t>Аргумент 1. </a:t>
            </a:r>
            <a:r>
              <a:rPr lang="ru-RU" sz="1400" b="1" dirty="0" err="1" smtClean="0">
                <a:latin typeface="Cascadia Mono Light" pitchFamily="49" charset="0"/>
                <a:cs typeface="Cascadia Mono Light" pitchFamily="49" charset="0"/>
              </a:rPr>
              <a:t>optimizer</a:t>
            </a:r>
            <a:endParaRPr lang="ru-RU" sz="1400" b="1" dirty="0" smtClean="0">
              <a:latin typeface="Cascadia Mono Light" pitchFamily="49" charset="0"/>
              <a:cs typeface="Cascadia Mono Light" pitchFamily="49" charset="0"/>
            </a:endParaRPr>
          </a:p>
          <a:p>
            <a:r>
              <a:rPr lang="ru-RU" sz="1400" dirty="0" err="1" smtClean="0">
                <a:latin typeface="Cascadia Mono Light" pitchFamily="49" charset="0"/>
                <a:cs typeface="Cascadia Mono Light" pitchFamily="49" charset="0"/>
              </a:rPr>
              <a:t>optimizer=Adam</a:t>
            </a:r>
            <a:r>
              <a:rPr lang="ru-RU" sz="1400" dirty="0" smtClean="0">
                <a:latin typeface="Cascadia Mono Light" pitchFamily="49" charset="0"/>
                <a:cs typeface="Cascadia Mono Light" pitchFamily="49" charset="0"/>
              </a:rPr>
              <a:t>(learning_rate=0.01),</a:t>
            </a:r>
            <a:r>
              <a:rPr lang="en-US" sz="1400" dirty="0" smtClean="0">
                <a:latin typeface="Cascadia Mono Light" pitchFamily="49" charset="0"/>
                <a:cs typeface="Cascadia Mono Light" pitchFamily="49" charset="0"/>
              </a:rPr>
              <a:t> - </a:t>
            </a:r>
            <a:r>
              <a:rPr lang="ru-RU" sz="1400" dirty="0" smtClean="0">
                <a:latin typeface="Cascadia Mono Light" pitchFamily="49" charset="0"/>
                <a:cs typeface="Cascadia Mono Light" pitchFamily="49" charset="0"/>
              </a:rPr>
              <a:t>определяет</a:t>
            </a:r>
            <a:r>
              <a:rPr lang="ru-RU" sz="1400" dirty="0" smtClean="0">
                <a:latin typeface="Cascadia Mono Light" pitchFamily="49" charset="0"/>
                <a:cs typeface="Cascadia Mono Light" pitchFamily="49" charset="0"/>
              </a:rPr>
              <a:t>, как обновлять веса на основе </a:t>
            </a:r>
            <a:r>
              <a:rPr lang="ru-RU" sz="1400" dirty="0" smtClean="0">
                <a:latin typeface="Cascadia Mono Light" pitchFamily="49" charset="0"/>
                <a:cs typeface="Cascadia Mono Light" pitchFamily="49" charset="0"/>
              </a:rPr>
              <a:t>градиентов.</a:t>
            </a:r>
            <a:r>
              <a:rPr lang="en-US" sz="1400" dirty="0" smtClean="0">
                <a:latin typeface="Cascadia Mono Light" pitchFamily="49" charset="0"/>
                <a:cs typeface="Cascadia Mono Light" pitchFamily="49" charset="0"/>
              </a:rPr>
              <a:t> </a:t>
            </a:r>
            <a:r>
              <a:rPr lang="ru-RU" sz="1400" dirty="0" err="1" smtClean="0">
                <a:latin typeface="Cascadia Mono Light" pitchFamily="49" charset="0"/>
                <a:cs typeface="Cascadia Mono Light" pitchFamily="49" charset="0"/>
              </a:rPr>
              <a:t>Adam</a:t>
            </a:r>
            <a:r>
              <a:rPr lang="ru-RU" sz="1400" dirty="0" smtClean="0">
                <a:latin typeface="Cascadia Mono Light" pitchFamily="49" charset="0"/>
                <a:cs typeface="Cascadia Mono Light" pitchFamily="49" charset="0"/>
              </a:rPr>
              <a:t> </a:t>
            </a:r>
            <a:r>
              <a:rPr lang="ru-RU" sz="1400" dirty="0" smtClean="0">
                <a:latin typeface="Cascadia Mono Light" pitchFamily="49" charset="0"/>
                <a:cs typeface="Cascadia Mono Light" pitchFamily="49" charset="0"/>
              </a:rPr>
              <a:t>— тот самый адаптивный оптимизатор с импульсом, который сам подбирает шаг для каждого веса</a:t>
            </a:r>
            <a:r>
              <a:rPr lang="ru-RU" sz="1400" dirty="0" smtClean="0">
                <a:latin typeface="Cascadia Mono Light" pitchFamily="49" charset="0"/>
                <a:cs typeface="Cascadia Mono Light" pitchFamily="49" charset="0"/>
              </a:rPr>
              <a:t>.</a:t>
            </a:r>
            <a:endParaRPr lang="en-US" sz="1400" dirty="0" smtClean="0">
              <a:latin typeface="Cascadia Mono Light" pitchFamily="49" charset="0"/>
              <a:cs typeface="Cascadia Mono Light" pitchFamily="49" charset="0"/>
            </a:endParaRPr>
          </a:p>
          <a:p>
            <a:r>
              <a:rPr lang="ru-RU" sz="1400" b="1" dirty="0" smtClean="0">
                <a:latin typeface="Cascadia Mono Light" pitchFamily="49" charset="0"/>
                <a:cs typeface="Cascadia Mono Light" pitchFamily="49" charset="0"/>
              </a:rPr>
              <a:t>Аргумент 2. </a:t>
            </a:r>
            <a:r>
              <a:rPr lang="ru-RU" sz="1400" b="1" dirty="0" err="1" smtClean="0">
                <a:latin typeface="Cascadia Mono Light" pitchFamily="49" charset="0"/>
                <a:cs typeface="Cascadia Mono Light" pitchFamily="49" charset="0"/>
              </a:rPr>
              <a:t>loss</a:t>
            </a:r>
            <a:endParaRPr lang="ru-RU" sz="1400" b="1" dirty="0" smtClean="0">
              <a:latin typeface="Cascadia Mono Light" pitchFamily="49" charset="0"/>
              <a:cs typeface="Cascadia Mono Light" pitchFamily="49" charset="0"/>
            </a:endParaRPr>
          </a:p>
          <a:p>
            <a:r>
              <a:rPr lang="ru-RU" sz="1400" dirty="0" err="1" smtClean="0">
                <a:latin typeface="Cascadia Mono Light" pitchFamily="49" charset="0"/>
                <a:cs typeface="Cascadia Mono Light" pitchFamily="49" charset="0"/>
              </a:rPr>
              <a:t>loss</a:t>
            </a:r>
            <a:r>
              <a:rPr lang="ru-RU" sz="1400" dirty="0" err="1" smtClean="0">
                <a:latin typeface="Cascadia Mono Light" pitchFamily="49" charset="0"/>
                <a:cs typeface="Cascadia Mono Light" pitchFamily="49" charset="0"/>
              </a:rPr>
              <a:t>='mse</a:t>
            </a:r>
            <a:r>
              <a:rPr lang="ru-RU" sz="1400" dirty="0" smtClean="0">
                <a:latin typeface="Cascadia Mono Light" pitchFamily="49" charset="0"/>
                <a:cs typeface="Cascadia Mono Light" pitchFamily="49" charset="0"/>
              </a:rPr>
              <a:t>',</a:t>
            </a:r>
            <a:r>
              <a:rPr lang="en-US" sz="1400" dirty="0" smtClean="0">
                <a:latin typeface="Cascadia Mono Light" pitchFamily="49" charset="0"/>
                <a:cs typeface="Cascadia Mono Light" pitchFamily="49" charset="0"/>
              </a:rPr>
              <a:t> - </a:t>
            </a:r>
            <a:r>
              <a:rPr lang="ru-RU" sz="1400" dirty="0" smtClean="0">
                <a:latin typeface="Cascadia Mono Light" pitchFamily="49" charset="0"/>
                <a:cs typeface="Cascadia Mono Light" pitchFamily="49" charset="0"/>
              </a:rPr>
              <a:t>определяет</a:t>
            </a:r>
            <a:r>
              <a:rPr lang="ru-RU" sz="1400" dirty="0" smtClean="0">
                <a:latin typeface="Cascadia Mono Light" pitchFamily="49" charset="0"/>
                <a:cs typeface="Cascadia Mono Light" pitchFamily="49" charset="0"/>
              </a:rPr>
              <a:t>, что именно минимизировать во время </a:t>
            </a:r>
            <a:r>
              <a:rPr lang="ru-RU" sz="1400" dirty="0" smtClean="0">
                <a:latin typeface="Cascadia Mono Light" pitchFamily="49" charset="0"/>
                <a:cs typeface="Cascadia Mono Light" pitchFamily="49" charset="0"/>
              </a:rPr>
              <a:t>обучения.</a:t>
            </a:r>
            <a:r>
              <a:rPr lang="en-US" sz="1400" dirty="0" smtClean="0">
                <a:latin typeface="Cascadia Mono Light" pitchFamily="49" charset="0"/>
                <a:cs typeface="Cascadia Mono Light" pitchFamily="49" charset="0"/>
              </a:rPr>
              <a:t> </a:t>
            </a:r>
            <a:r>
              <a:rPr lang="ru-RU" sz="1400" dirty="0" err="1" smtClean="0">
                <a:latin typeface="Cascadia Mono Light" pitchFamily="49" charset="0"/>
                <a:cs typeface="Cascadia Mono Light" pitchFamily="49" charset="0"/>
              </a:rPr>
              <a:t>mse</a:t>
            </a:r>
            <a:r>
              <a:rPr lang="ru-RU" sz="1400" dirty="0" smtClean="0">
                <a:latin typeface="Cascadia Mono Light" pitchFamily="49" charset="0"/>
                <a:cs typeface="Cascadia Mono Light" pitchFamily="49" charset="0"/>
              </a:rPr>
              <a:t> </a:t>
            </a:r>
            <a:r>
              <a:rPr lang="ru-RU" sz="1400" dirty="0" smtClean="0">
                <a:latin typeface="Cascadia Mono Light" pitchFamily="49" charset="0"/>
                <a:cs typeface="Cascadia Mono Light" pitchFamily="49" charset="0"/>
              </a:rPr>
              <a:t>= </a:t>
            </a:r>
            <a:r>
              <a:rPr lang="ru-RU" sz="1400" dirty="0" err="1" smtClean="0">
                <a:latin typeface="Cascadia Mono Light" pitchFamily="49" charset="0"/>
                <a:cs typeface="Cascadia Mono Light" pitchFamily="49" charset="0"/>
              </a:rPr>
              <a:t>Mean</a:t>
            </a:r>
            <a:r>
              <a:rPr lang="ru-RU" sz="1400" dirty="0" smtClean="0">
                <a:latin typeface="Cascadia Mono Light" pitchFamily="49" charset="0"/>
                <a:cs typeface="Cascadia Mono Light" pitchFamily="49" charset="0"/>
              </a:rPr>
              <a:t> </a:t>
            </a:r>
            <a:r>
              <a:rPr lang="ru-RU" sz="1400" dirty="0" err="1" smtClean="0">
                <a:latin typeface="Cascadia Mono Light" pitchFamily="49" charset="0"/>
                <a:cs typeface="Cascadia Mono Light" pitchFamily="49" charset="0"/>
              </a:rPr>
              <a:t>Squared</a:t>
            </a:r>
            <a:r>
              <a:rPr lang="ru-RU" sz="1400" dirty="0" smtClean="0">
                <a:latin typeface="Cascadia Mono Light" pitchFamily="49" charset="0"/>
                <a:cs typeface="Cascadia Mono Light" pitchFamily="49" charset="0"/>
              </a:rPr>
              <a:t> </a:t>
            </a:r>
            <a:r>
              <a:rPr lang="ru-RU" sz="1400" dirty="0" err="1" smtClean="0">
                <a:latin typeface="Cascadia Mono Light" pitchFamily="49" charset="0"/>
                <a:cs typeface="Cascadia Mono Light" pitchFamily="49" charset="0"/>
              </a:rPr>
              <a:t>Error</a:t>
            </a:r>
            <a:r>
              <a:rPr lang="ru-RU" sz="1400" dirty="0" smtClean="0">
                <a:latin typeface="Cascadia Mono Light" pitchFamily="49" charset="0"/>
                <a:cs typeface="Cascadia Mono Light" pitchFamily="49" charset="0"/>
              </a:rPr>
              <a:t> — среднеквадратичная ошибка. Именно эту функцию потерь модель будет уменьшать, обновляя веса</a:t>
            </a:r>
            <a:r>
              <a:rPr lang="ru-RU" sz="1400" dirty="0" smtClean="0">
                <a:latin typeface="Cascadia Mono Light" pitchFamily="49" charset="0"/>
                <a:cs typeface="Cascadia Mono Light" pitchFamily="49" charset="0"/>
              </a:rPr>
              <a:t>.</a:t>
            </a:r>
            <a:endParaRPr lang="en-US" sz="1400" dirty="0" smtClean="0">
              <a:latin typeface="Cascadia Mono Light" pitchFamily="49" charset="0"/>
              <a:cs typeface="Cascadia Mono Light" pitchFamily="49" charset="0"/>
            </a:endParaRPr>
          </a:p>
          <a:p>
            <a:r>
              <a:rPr lang="ru-RU" sz="1400" b="1" dirty="0" smtClean="0">
                <a:latin typeface="Cascadia Mono Light" pitchFamily="49" charset="0"/>
                <a:cs typeface="Cascadia Mono Light" pitchFamily="49" charset="0"/>
              </a:rPr>
              <a:t>Аргумент 3. </a:t>
            </a:r>
            <a:r>
              <a:rPr lang="ru-RU" sz="1400" b="1" dirty="0" err="1" smtClean="0">
                <a:latin typeface="Cascadia Mono Light" pitchFamily="49" charset="0"/>
                <a:cs typeface="Cascadia Mono Light" pitchFamily="49" charset="0"/>
              </a:rPr>
              <a:t>metrics</a:t>
            </a:r>
            <a:endParaRPr lang="ru-RU" sz="1400" b="1" dirty="0" smtClean="0">
              <a:latin typeface="Cascadia Mono Light" pitchFamily="49" charset="0"/>
              <a:cs typeface="Cascadia Mono Light" pitchFamily="49" charset="0"/>
            </a:endParaRPr>
          </a:p>
          <a:p>
            <a:r>
              <a:rPr lang="ru-RU" sz="1400" dirty="0" err="1" smtClean="0">
                <a:latin typeface="Cascadia Mono Light" pitchFamily="49" charset="0"/>
                <a:cs typeface="Cascadia Mono Light" pitchFamily="49" charset="0"/>
              </a:rPr>
              <a:t>metrics</a:t>
            </a:r>
            <a:r>
              <a:rPr lang="ru-RU" sz="1400" dirty="0" err="1" smtClean="0">
                <a:latin typeface="Cascadia Mono Light" pitchFamily="49" charset="0"/>
                <a:cs typeface="Cascadia Mono Light" pitchFamily="49" charset="0"/>
              </a:rPr>
              <a:t>=</a:t>
            </a:r>
            <a:r>
              <a:rPr lang="ru-RU" sz="1400" dirty="0" smtClean="0">
                <a:latin typeface="Cascadia Mono Light" pitchFamily="49" charset="0"/>
                <a:cs typeface="Cascadia Mono Light" pitchFamily="49" charset="0"/>
              </a:rPr>
              <a:t>['</a:t>
            </a:r>
            <a:r>
              <a:rPr lang="ru-RU" sz="1400" dirty="0" err="1" smtClean="0">
                <a:latin typeface="Cascadia Mono Light" pitchFamily="49" charset="0"/>
                <a:cs typeface="Cascadia Mono Light" pitchFamily="49" charset="0"/>
              </a:rPr>
              <a:t>mae</a:t>
            </a:r>
            <a:r>
              <a:rPr lang="ru-RU" sz="1400" dirty="0" smtClean="0">
                <a:latin typeface="Cascadia Mono Light" pitchFamily="49" charset="0"/>
                <a:cs typeface="Cascadia Mono Light" pitchFamily="49" charset="0"/>
              </a:rPr>
              <a:t>']</a:t>
            </a:r>
            <a:r>
              <a:rPr lang="en-US" sz="1400" dirty="0" smtClean="0">
                <a:latin typeface="Cascadia Mono Light" pitchFamily="49" charset="0"/>
                <a:cs typeface="Cascadia Mono Light" pitchFamily="49" charset="0"/>
              </a:rPr>
              <a:t> - </a:t>
            </a:r>
            <a:r>
              <a:rPr lang="ru-RU" sz="1400" dirty="0" smtClean="0">
                <a:latin typeface="Cascadia Mono Light" pitchFamily="49" charset="0"/>
                <a:cs typeface="Cascadia Mono Light" pitchFamily="49" charset="0"/>
              </a:rPr>
              <a:t>определяет, что показывать нам во время обучения — в дополнение к </a:t>
            </a:r>
            <a:r>
              <a:rPr lang="ru-RU" sz="1400" dirty="0" err="1" smtClean="0">
                <a:latin typeface="Cascadia Mono Light" pitchFamily="49" charset="0"/>
                <a:cs typeface="Cascadia Mono Light" pitchFamily="49" charset="0"/>
              </a:rPr>
              <a:t>loss</a:t>
            </a:r>
            <a:r>
              <a:rPr lang="ru-RU" sz="1400" dirty="0" smtClean="0">
                <a:latin typeface="Cascadia Mono Light" pitchFamily="49" charset="0"/>
                <a:cs typeface="Cascadia Mono Light" pitchFamily="49" charset="0"/>
              </a:rPr>
              <a:t>.</a:t>
            </a:r>
          </a:p>
          <a:p>
            <a:r>
              <a:rPr lang="ru-RU" sz="1400" dirty="0" err="1" smtClean="0">
                <a:latin typeface="Cascadia Mono Light" pitchFamily="49" charset="0"/>
                <a:cs typeface="Cascadia Mono Light" pitchFamily="49" charset="0"/>
              </a:rPr>
              <a:t>mae</a:t>
            </a:r>
            <a:r>
              <a:rPr lang="ru-RU" sz="1400" dirty="0" smtClean="0">
                <a:latin typeface="Cascadia Mono Light" pitchFamily="49" charset="0"/>
                <a:cs typeface="Cascadia Mono Light" pitchFamily="49" charset="0"/>
              </a:rPr>
              <a:t> </a:t>
            </a:r>
            <a:r>
              <a:rPr lang="ru-RU" sz="1400" dirty="0" smtClean="0">
                <a:latin typeface="Cascadia Mono Light" pitchFamily="49" charset="0"/>
                <a:cs typeface="Cascadia Mono Light" pitchFamily="49" charset="0"/>
              </a:rPr>
              <a:t>= </a:t>
            </a:r>
            <a:r>
              <a:rPr lang="ru-RU" sz="1400" dirty="0" err="1" smtClean="0">
                <a:latin typeface="Cascadia Mono Light" pitchFamily="49" charset="0"/>
                <a:cs typeface="Cascadia Mono Light" pitchFamily="49" charset="0"/>
              </a:rPr>
              <a:t>Mean</a:t>
            </a:r>
            <a:r>
              <a:rPr lang="ru-RU" sz="1400" dirty="0" smtClean="0">
                <a:latin typeface="Cascadia Mono Light" pitchFamily="49" charset="0"/>
                <a:cs typeface="Cascadia Mono Light" pitchFamily="49" charset="0"/>
              </a:rPr>
              <a:t> </a:t>
            </a:r>
            <a:r>
              <a:rPr lang="ru-RU" sz="1400" dirty="0" err="1" smtClean="0">
                <a:latin typeface="Cascadia Mono Light" pitchFamily="49" charset="0"/>
                <a:cs typeface="Cascadia Mono Light" pitchFamily="49" charset="0"/>
              </a:rPr>
              <a:t>Absolute</a:t>
            </a:r>
            <a:r>
              <a:rPr lang="ru-RU" sz="1400" dirty="0" smtClean="0">
                <a:latin typeface="Cascadia Mono Light" pitchFamily="49" charset="0"/>
                <a:cs typeface="Cascadia Mono Light" pitchFamily="49" charset="0"/>
              </a:rPr>
              <a:t> </a:t>
            </a:r>
            <a:r>
              <a:rPr lang="ru-RU" sz="1400" dirty="0" err="1" smtClean="0">
                <a:latin typeface="Cascadia Mono Light" pitchFamily="49" charset="0"/>
                <a:cs typeface="Cascadia Mono Light" pitchFamily="49" charset="0"/>
              </a:rPr>
              <a:t>Error</a:t>
            </a:r>
            <a:r>
              <a:rPr lang="ru-RU" sz="1400" dirty="0" smtClean="0">
                <a:latin typeface="Cascadia Mono Light" pitchFamily="49" charset="0"/>
                <a:cs typeface="Cascadia Mono Light" pitchFamily="49" charset="0"/>
              </a:rPr>
              <a:t> — средняя абсолютная ошибка.</a:t>
            </a:r>
          </a:p>
          <a:p>
            <a:r>
              <a:rPr lang="ru-RU" sz="1400" dirty="0" smtClean="0">
                <a:latin typeface="Cascadia Mono Light" pitchFamily="49" charset="0"/>
                <a:cs typeface="Cascadia Mono Light" pitchFamily="49" charset="0"/>
              </a:rPr>
              <a:t>Метрики </a:t>
            </a:r>
            <a:r>
              <a:rPr lang="ru-RU" sz="1400" dirty="0" smtClean="0">
                <a:latin typeface="Cascadia Mono Light" pitchFamily="49" charset="0"/>
                <a:cs typeface="Cascadia Mono Light" pitchFamily="49" charset="0"/>
              </a:rPr>
              <a:t>не влияют на обучение. Они просто вычисляются и выводятся. Веса обновляются по </a:t>
            </a:r>
            <a:r>
              <a:rPr lang="ru-RU" sz="1400" dirty="0" err="1" smtClean="0">
                <a:latin typeface="Cascadia Mono Light" pitchFamily="49" charset="0"/>
                <a:cs typeface="Cascadia Mono Light" pitchFamily="49" charset="0"/>
              </a:rPr>
              <a:t>loss</a:t>
            </a:r>
            <a:r>
              <a:rPr lang="ru-RU" sz="1400" dirty="0" smtClean="0">
                <a:latin typeface="Cascadia Mono Light" pitchFamily="49" charset="0"/>
                <a:cs typeface="Cascadia Mono Light" pitchFamily="49" charset="0"/>
              </a:rPr>
              <a:t>, а </a:t>
            </a:r>
            <a:r>
              <a:rPr lang="ru-RU" sz="1400" dirty="0" err="1" smtClean="0">
                <a:latin typeface="Cascadia Mono Light" pitchFamily="49" charset="0"/>
                <a:cs typeface="Cascadia Mono Light" pitchFamily="49" charset="0"/>
              </a:rPr>
              <a:t>metrics</a:t>
            </a:r>
            <a:r>
              <a:rPr lang="ru-RU" sz="1400" dirty="0" smtClean="0">
                <a:latin typeface="Cascadia Mono Light" pitchFamily="49" charset="0"/>
                <a:cs typeface="Cascadia Mono Light" pitchFamily="49" charset="0"/>
              </a:rPr>
              <a:t> — для нашего удобства.</a:t>
            </a:r>
          </a:p>
          <a:p>
            <a:endParaRPr lang="ru-RU" sz="1400" dirty="0" smtClean="0">
              <a:latin typeface="Cascadia Mono Light" pitchFamily="49" charset="0"/>
              <a:cs typeface="Cascadia Mono Light" pitchFamily="49" charset="0"/>
            </a:endParaRPr>
          </a:p>
          <a:p>
            <a:endParaRPr lang="en-US" sz="1400" dirty="0" smtClean="0">
              <a:latin typeface="Cascadia Mono Light" pitchFamily="49" charset="0"/>
              <a:cs typeface="Cascadia Mono Light" pitchFamily="49" charset="0"/>
            </a:endParaRPr>
          </a:p>
          <a:p>
            <a:endParaRPr lang="ru-RU" sz="1400" dirty="0">
              <a:latin typeface="Cascadia Mono Light" pitchFamily="49" charset="0"/>
              <a:cs typeface="Cascadia Mono Light" pitchFamily="49" charset="0"/>
            </a:endParaRPr>
          </a:p>
        </p:txBody>
      </p:sp>
      <p:pic>
        <p:nvPicPr>
          <p:cNvPr id="78850" name="Picture 2"/>
          <p:cNvPicPr>
            <a:picLocks noChangeAspect="1" noChangeArrowheads="1"/>
          </p:cNvPicPr>
          <p:nvPr/>
        </p:nvPicPr>
        <p:blipFill>
          <a:blip r:embed="rId2" cstate="print"/>
          <a:srcRect l="2064" t="56693"/>
          <a:stretch>
            <a:fillRect/>
          </a:stretch>
        </p:blipFill>
        <p:spPr bwMode="auto">
          <a:xfrm>
            <a:off x="381000" y="152400"/>
            <a:ext cx="9896446" cy="1752600"/>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7. Обучение! </a:t>
            </a:r>
            <a:r>
              <a:rPr lang="en-US" dirty="0" smtClean="0"/>
              <a:t>Fit()</a:t>
            </a:r>
            <a:endParaRPr lang="ru-RU" dirty="0"/>
          </a:p>
        </p:txBody>
      </p:sp>
      <p:sp>
        <p:nvSpPr>
          <p:cNvPr id="3" name="Содержимое 2"/>
          <p:cNvSpPr>
            <a:spLocks noGrp="1"/>
          </p:cNvSpPr>
          <p:nvPr>
            <p:ph idx="1"/>
          </p:nvPr>
        </p:nvSpPr>
        <p:spPr/>
        <p:txBody>
          <a:bodyPr>
            <a:normAutofit lnSpcReduction="10000"/>
          </a:bodyPr>
          <a:lstStyle/>
          <a:p>
            <a:r>
              <a:rPr lang="ru-RU" dirty="0" smtClean="0">
                <a:latin typeface="Cascadia Mono Light" pitchFamily="49" charset="0"/>
                <a:cs typeface="Cascadia Mono Light" pitchFamily="49" charset="0"/>
              </a:rPr>
              <a:t>Модель скомпилирована: известен оптимизатор, </a:t>
            </a:r>
            <a:r>
              <a:rPr lang="ru-RU" dirty="0" err="1" smtClean="0">
                <a:latin typeface="Cascadia Mono Light" pitchFamily="49" charset="0"/>
                <a:cs typeface="Cascadia Mono Light" pitchFamily="49" charset="0"/>
              </a:rPr>
              <a:t>loss</a:t>
            </a:r>
            <a:r>
              <a:rPr lang="ru-RU" dirty="0" smtClean="0">
                <a:latin typeface="Cascadia Mono Light" pitchFamily="49" charset="0"/>
                <a:cs typeface="Cascadia Mono Light" pitchFamily="49" charset="0"/>
              </a:rPr>
              <a:t> и метрики. Теперь — главный момент: запускаем обучение.</a:t>
            </a:r>
          </a:p>
          <a:p>
            <a:r>
              <a:rPr lang="ru-RU" dirty="0" err="1" smtClean="0">
                <a:latin typeface="Cascadia Mono Light" pitchFamily="49" charset="0"/>
                <a:cs typeface="Cascadia Mono Light" pitchFamily="49" charset="0"/>
              </a:rPr>
              <a:t>model.fit</a:t>
            </a:r>
            <a:r>
              <a:rPr lang="ru-RU" dirty="0" smtClean="0">
                <a:latin typeface="Cascadia Mono Light" pitchFamily="49" charset="0"/>
                <a:cs typeface="Cascadia Mono Light" pitchFamily="49" charset="0"/>
              </a:rPr>
              <a:t>(...) — это команда «обучайся»</a:t>
            </a:r>
          </a:p>
          <a:p>
            <a:r>
              <a:rPr lang="ru-RU" dirty="0" smtClean="0">
                <a:latin typeface="Cascadia Mono Light" pitchFamily="49" charset="0"/>
                <a:cs typeface="Cascadia Mono Light" pitchFamily="49" charset="0"/>
              </a:rPr>
              <a:t>После этого блока у модели будут подобраны веса. Она станет готовой к предсказаниям.</a:t>
            </a:r>
            <a:endParaRPr lang="ru-RU" dirty="0">
              <a:latin typeface="Cascadia Mono Light" pitchFamily="49" charset="0"/>
              <a:cs typeface="Cascadia Mono Light" pitchFamily="49"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228600" y="152400"/>
            <a:ext cx="8763000" cy="4038600"/>
          </a:xfrm>
        </p:spPr>
        <p:txBody>
          <a:bodyPr>
            <a:noAutofit/>
          </a:bodyPr>
          <a:lstStyle/>
          <a:p>
            <a:r>
              <a:rPr lang="ru-RU" sz="1600" dirty="0" err="1" smtClean="0">
                <a:latin typeface="Cascadia Mono Light" pitchFamily="49" charset="0"/>
                <a:cs typeface="Cascadia Mono Light" pitchFamily="49" charset="0"/>
              </a:rPr>
              <a:t>fit</a:t>
            </a:r>
            <a:r>
              <a:rPr lang="ru-RU" sz="1600" dirty="0" smtClean="0">
                <a:latin typeface="Cascadia Mono Light" pitchFamily="49" charset="0"/>
                <a:cs typeface="Cascadia Mono Light" pitchFamily="49" charset="0"/>
              </a:rPr>
              <a:t> возвращает объект </a:t>
            </a:r>
            <a:r>
              <a:rPr lang="ru-RU" sz="1600" dirty="0" err="1" smtClean="0">
                <a:latin typeface="Cascadia Mono Light" pitchFamily="49" charset="0"/>
                <a:cs typeface="Cascadia Mono Light" pitchFamily="49" charset="0"/>
              </a:rPr>
              <a:t>history</a:t>
            </a:r>
            <a:r>
              <a:rPr lang="ru-RU" sz="1600" dirty="0" smtClean="0">
                <a:latin typeface="Cascadia Mono Light" pitchFamily="49" charset="0"/>
                <a:cs typeface="Cascadia Mono Light" pitchFamily="49" charset="0"/>
              </a:rPr>
              <a:t> — журнал обучения</a:t>
            </a:r>
            <a:r>
              <a:rPr lang="ru-RU" sz="1600" dirty="0" smtClean="0">
                <a:latin typeface="Cascadia Mono Light" pitchFamily="49" charset="0"/>
                <a:cs typeface="Cascadia Mono Light" pitchFamily="49" charset="0"/>
              </a:rPr>
              <a:t>.</a:t>
            </a:r>
            <a:r>
              <a:rPr lang="ru-RU" sz="1600" dirty="0" smtClean="0">
                <a:latin typeface="Cascadia Mono Light" pitchFamily="49" charset="0"/>
                <a:cs typeface="Cascadia Mono Light" pitchFamily="49" charset="0"/>
              </a:rPr>
              <a:t> Внутри — словарь </a:t>
            </a:r>
            <a:r>
              <a:rPr lang="en-US" sz="1600" dirty="0" err="1" smtClean="0">
                <a:latin typeface="Cascadia Mono Light" pitchFamily="49" charset="0"/>
                <a:cs typeface="Cascadia Mono Light" pitchFamily="49" charset="0"/>
              </a:rPr>
              <a:t>history.history</a:t>
            </a:r>
            <a:r>
              <a:rPr lang="en-US" sz="1600" dirty="0" smtClean="0">
                <a:latin typeface="Cascadia Mono Light" pitchFamily="49" charset="0"/>
                <a:cs typeface="Cascadia Mono Light" pitchFamily="49" charset="0"/>
              </a:rPr>
              <a:t> </a:t>
            </a:r>
            <a:r>
              <a:rPr lang="ru-RU" sz="1600" dirty="0" smtClean="0">
                <a:latin typeface="Cascadia Mono Light" pitchFamily="49" charset="0"/>
                <a:cs typeface="Cascadia Mono Light" pitchFamily="49" charset="0"/>
              </a:rPr>
              <a:t>с ключами </a:t>
            </a:r>
            <a:r>
              <a:rPr lang="en-US" sz="1600" dirty="0" smtClean="0">
                <a:latin typeface="Cascadia Mono Light" pitchFamily="49" charset="0"/>
                <a:cs typeface="Cascadia Mono Light" pitchFamily="49" charset="0"/>
              </a:rPr>
              <a:t>loss, </a:t>
            </a:r>
            <a:r>
              <a:rPr lang="en-US" sz="1600" dirty="0" err="1" smtClean="0">
                <a:latin typeface="Cascadia Mono Light" pitchFamily="49" charset="0"/>
                <a:cs typeface="Cascadia Mono Light" pitchFamily="49" charset="0"/>
              </a:rPr>
              <a:t>mae</a:t>
            </a:r>
            <a:r>
              <a:rPr lang="en-US" sz="1600" dirty="0" smtClean="0">
                <a:latin typeface="Cascadia Mono Light" pitchFamily="49" charset="0"/>
                <a:cs typeface="Cascadia Mono Light" pitchFamily="49" charset="0"/>
              </a:rPr>
              <a:t>, </a:t>
            </a:r>
            <a:r>
              <a:rPr lang="en-US" sz="1600" dirty="0" err="1" smtClean="0">
                <a:latin typeface="Cascadia Mono Light" pitchFamily="49" charset="0"/>
                <a:cs typeface="Cascadia Mono Light" pitchFamily="49" charset="0"/>
              </a:rPr>
              <a:t>val_loss</a:t>
            </a:r>
            <a:r>
              <a:rPr lang="en-US" sz="1600" dirty="0" smtClean="0">
                <a:latin typeface="Cascadia Mono Light" pitchFamily="49" charset="0"/>
                <a:cs typeface="Cascadia Mono Light" pitchFamily="49" charset="0"/>
              </a:rPr>
              <a:t>, </a:t>
            </a:r>
            <a:r>
              <a:rPr lang="en-US" sz="1600" dirty="0" err="1" smtClean="0">
                <a:latin typeface="Cascadia Mono Light" pitchFamily="49" charset="0"/>
                <a:cs typeface="Cascadia Mono Light" pitchFamily="49" charset="0"/>
              </a:rPr>
              <a:t>val_mae</a:t>
            </a:r>
            <a:r>
              <a:rPr lang="en-US" sz="1600" dirty="0" smtClean="0">
                <a:latin typeface="Cascadia Mono Light" pitchFamily="49" charset="0"/>
                <a:cs typeface="Cascadia Mono Light" pitchFamily="49" charset="0"/>
              </a:rPr>
              <a:t>.</a:t>
            </a:r>
          </a:p>
          <a:p>
            <a:r>
              <a:rPr lang="ru-RU" sz="1600" dirty="0" smtClean="0">
                <a:latin typeface="Cascadia Mono Light" pitchFamily="49" charset="0"/>
                <a:cs typeface="Cascadia Mono Light" pitchFamily="49" charset="0"/>
              </a:rPr>
              <a:t> </a:t>
            </a:r>
            <a:r>
              <a:rPr lang="ru-RU" sz="1600" dirty="0" smtClean="0">
                <a:latin typeface="Cascadia Mono Light" pitchFamily="49" charset="0"/>
                <a:cs typeface="Cascadia Mono Light" pitchFamily="49" charset="0"/>
              </a:rPr>
              <a:t>Там хранится, как менялся </a:t>
            </a:r>
            <a:r>
              <a:rPr lang="ru-RU" sz="1600" dirty="0" err="1" smtClean="0">
                <a:latin typeface="Cascadia Mono Light" pitchFamily="49" charset="0"/>
                <a:cs typeface="Cascadia Mono Light" pitchFamily="49" charset="0"/>
              </a:rPr>
              <a:t>loss</a:t>
            </a:r>
            <a:r>
              <a:rPr lang="ru-RU" sz="1600" dirty="0" smtClean="0">
                <a:latin typeface="Cascadia Mono Light" pitchFamily="49" charset="0"/>
                <a:cs typeface="Cascadia Mono Light" pitchFamily="49" charset="0"/>
              </a:rPr>
              <a:t> и </a:t>
            </a:r>
            <a:r>
              <a:rPr lang="ru-RU" sz="1600" dirty="0" err="1" smtClean="0">
                <a:latin typeface="Cascadia Mono Light" pitchFamily="49" charset="0"/>
                <a:cs typeface="Cascadia Mono Light" pitchFamily="49" charset="0"/>
              </a:rPr>
              <a:t>metrics</a:t>
            </a:r>
            <a:r>
              <a:rPr lang="ru-RU" sz="1600" dirty="0" smtClean="0">
                <a:latin typeface="Cascadia Mono Light" pitchFamily="49" charset="0"/>
                <a:cs typeface="Cascadia Mono Light" pitchFamily="49" charset="0"/>
              </a:rPr>
              <a:t> по эпохам. Это нужно, чтобы потом строить графики</a:t>
            </a:r>
            <a:r>
              <a:rPr lang="ru-RU" sz="1600" dirty="0" smtClean="0">
                <a:latin typeface="Cascadia Mono Light" pitchFamily="49" charset="0"/>
                <a:cs typeface="Cascadia Mono Light" pitchFamily="49" charset="0"/>
              </a:rPr>
              <a:t>.</a:t>
            </a:r>
          </a:p>
          <a:p>
            <a:r>
              <a:rPr lang="ru-RU" sz="1600" dirty="0" smtClean="0">
                <a:latin typeface="Cascadia Mono Light" pitchFamily="49" charset="0"/>
                <a:cs typeface="Cascadia Mono Light" pitchFamily="49" charset="0"/>
              </a:rPr>
              <a:t>Что передаем в метод </a:t>
            </a:r>
            <a:r>
              <a:rPr lang="en-US" sz="1600" dirty="0" smtClean="0">
                <a:latin typeface="Cascadia Mono Light" pitchFamily="49" charset="0"/>
                <a:cs typeface="Cascadia Mono Light" pitchFamily="49" charset="0"/>
              </a:rPr>
              <a:t>fit </a:t>
            </a:r>
            <a:r>
              <a:rPr lang="ru-RU" sz="1600" dirty="0" smtClean="0">
                <a:latin typeface="Cascadia Mono Light" pitchFamily="49" charset="0"/>
                <a:cs typeface="Cascadia Mono Light" pitchFamily="49" charset="0"/>
              </a:rPr>
              <a:t>в качестве аргументов:</a:t>
            </a:r>
          </a:p>
          <a:p>
            <a:r>
              <a:rPr lang="ru-RU" sz="1600" dirty="0" smtClean="0">
                <a:latin typeface="Cascadia Mono Light" pitchFamily="49" charset="0"/>
                <a:cs typeface="Cascadia Mono Light" pitchFamily="49" charset="0"/>
              </a:rPr>
              <a:t>Данные для обучения: задачи (</a:t>
            </a:r>
            <a:r>
              <a:rPr lang="en-US" sz="1600" dirty="0" err="1" smtClean="0">
                <a:latin typeface="Cascadia Mono Light" pitchFamily="49" charset="0"/>
                <a:cs typeface="Cascadia Mono Light" pitchFamily="49" charset="0"/>
              </a:rPr>
              <a:t>X_train</a:t>
            </a:r>
            <a:r>
              <a:rPr lang="ru-RU" sz="1600" dirty="0" smtClean="0">
                <a:latin typeface="Cascadia Mono Light" pitchFamily="49" charset="0"/>
                <a:cs typeface="Cascadia Mono Light" pitchFamily="49" charset="0"/>
              </a:rPr>
              <a:t>) и ответы (</a:t>
            </a:r>
            <a:r>
              <a:rPr lang="en-US" sz="1600" dirty="0" err="1" smtClean="0">
                <a:latin typeface="Cascadia Mono Light" pitchFamily="49" charset="0"/>
                <a:cs typeface="Cascadia Mono Light" pitchFamily="49" charset="0"/>
              </a:rPr>
              <a:t>y_train</a:t>
            </a:r>
            <a:r>
              <a:rPr lang="ru-RU" sz="1600" dirty="0" smtClean="0">
                <a:latin typeface="Cascadia Mono Light" pitchFamily="49" charset="0"/>
                <a:cs typeface="Cascadia Mono Light" pitchFamily="49" charset="0"/>
              </a:rPr>
              <a:t>)</a:t>
            </a:r>
          </a:p>
          <a:p>
            <a:r>
              <a:rPr lang="ru-RU" sz="1600" dirty="0" smtClean="0">
                <a:latin typeface="Cascadia Mono Light" pitchFamily="49" charset="0"/>
                <a:cs typeface="Cascadia Mono Light" pitchFamily="49" charset="0"/>
              </a:rPr>
              <a:t>Число эпох – сколько проходок по данным у нас будет</a:t>
            </a:r>
          </a:p>
          <a:p>
            <a:r>
              <a:rPr lang="ru-RU" sz="1600" dirty="0" smtClean="0">
                <a:latin typeface="Cascadia Mono Light" pitchFamily="49" charset="0"/>
                <a:cs typeface="Cascadia Mono Light" pitchFamily="49" charset="0"/>
              </a:rPr>
              <a:t>Размер </a:t>
            </a:r>
            <a:r>
              <a:rPr lang="ru-RU" sz="1600" dirty="0" err="1" smtClean="0">
                <a:latin typeface="Cascadia Mono Light" pitchFamily="49" charset="0"/>
                <a:cs typeface="Cascadia Mono Light" pitchFamily="49" charset="0"/>
              </a:rPr>
              <a:t>батча</a:t>
            </a:r>
            <a:r>
              <a:rPr lang="ru-RU" sz="1600" dirty="0" smtClean="0">
                <a:latin typeface="Cascadia Mono Light" pitchFamily="49" charset="0"/>
                <a:cs typeface="Cascadia Mono Light" pitchFamily="49" charset="0"/>
              </a:rPr>
              <a:t> – сколько объектов используется за один шаг обновления весов</a:t>
            </a:r>
          </a:p>
          <a:p>
            <a:r>
              <a:rPr lang="ru-RU" sz="1600" dirty="0" smtClean="0">
                <a:latin typeface="Cascadia Mono Light" pitchFamily="49" charset="0"/>
                <a:cs typeface="Cascadia Mono Light" pitchFamily="49" charset="0"/>
              </a:rPr>
              <a:t>alidation_split=0.2 - отрезать </a:t>
            </a:r>
            <a:r>
              <a:rPr lang="ru-RU" sz="1600" dirty="0" smtClean="0">
                <a:latin typeface="Cascadia Mono Light" pitchFamily="49" charset="0"/>
                <a:cs typeface="Cascadia Mono Light" pitchFamily="49" charset="0"/>
              </a:rPr>
              <a:t>20% от </a:t>
            </a:r>
            <a:r>
              <a:rPr lang="ru-RU" sz="1600" dirty="0" err="1" smtClean="0">
                <a:latin typeface="Cascadia Mono Light" pitchFamily="49" charset="0"/>
                <a:cs typeface="Cascadia Mono Light" pitchFamily="49" charset="0"/>
              </a:rPr>
              <a:t>train</a:t>
            </a:r>
            <a:r>
              <a:rPr lang="ru-RU" sz="1600" dirty="0" smtClean="0">
                <a:latin typeface="Cascadia Mono Light" pitchFamily="49" charset="0"/>
                <a:cs typeface="Cascadia Mono Light" pitchFamily="49" charset="0"/>
              </a:rPr>
              <a:t> на </a:t>
            </a:r>
            <a:r>
              <a:rPr lang="ru-RU" sz="1600" dirty="0" err="1" smtClean="0">
                <a:latin typeface="Cascadia Mono Light" pitchFamily="49" charset="0"/>
                <a:cs typeface="Cascadia Mono Light" pitchFamily="49" charset="0"/>
              </a:rPr>
              <a:t>валидацию</a:t>
            </a:r>
            <a:r>
              <a:rPr lang="ru-RU" sz="1600" dirty="0" smtClean="0">
                <a:latin typeface="Cascadia Mono Light" pitchFamily="49" charset="0"/>
                <a:cs typeface="Cascadia Mono Light" pitchFamily="49" charset="0"/>
              </a:rPr>
              <a:t>. Эта часть не используется для обновления весов — на ней мы просто проверяем после каждой </a:t>
            </a:r>
            <a:r>
              <a:rPr lang="ru-RU" sz="1600" dirty="0" smtClean="0">
                <a:latin typeface="Cascadia Mono Light" pitchFamily="49" charset="0"/>
                <a:cs typeface="Cascadia Mono Light" pitchFamily="49" charset="0"/>
              </a:rPr>
              <a:t>эпохи, чтобы </a:t>
            </a:r>
            <a:r>
              <a:rPr lang="ru-RU" sz="1600" dirty="0" smtClean="0">
                <a:latin typeface="Cascadia Mono Light" pitchFamily="49" charset="0"/>
                <a:cs typeface="Cascadia Mono Light" pitchFamily="49" charset="0"/>
              </a:rPr>
              <a:t>поймать переобучение. Если </a:t>
            </a:r>
            <a:r>
              <a:rPr lang="ru-RU" sz="1600" dirty="0" err="1" smtClean="0">
                <a:latin typeface="Cascadia Mono Light" pitchFamily="49" charset="0"/>
                <a:cs typeface="Cascadia Mono Light" pitchFamily="49" charset="0"/>
              </a:rPr>
              <a:t>val_loss</a:t>
            </a:r>
            <a:r>
              <a:rPr lang="ru-RU" sz="1600" dirty="0" smtClean="0">
                <a:latin typeface="Cascadia Mono Light" pitchFamily="49" charset="0"/>
                <a:cs typeface="Cascadia Mono Light" pitchFamily="49" charset="0"/>
              </a:rPr>
              <a:t> начнёт расти, а </a:t>
            </a:r>
            <a:r>
              <a:rPr lang="ru-RU" sz="1600" dirty="0" err="1" smtClean="0">
                <a:latin typeface="Cascadia Mono Light" pitchFamily="49" charset="0"/>
                <a:cs typeface="Cascadia Mono Light" pitchFamily="49" charset="0"/>
              </a:rPr>
              <a:t>loss</a:t>
            </a:r>
            <a:r>
              <a:rPr lang="ru-RU" sz="1600" dirty="0" smtClean="0">
                <a:latin typeface="Cascadia Mono Light" pitchFamily="49" charset="0"/>
                <a:cs typeface="Cascadia Mono Light" pitchFamily="49" charset="0"/>
              </a:rPr>
              <a:t> продолжит падать — модель запоминает </a:t>
            </a:r>
            <a:r>
              <a:rPr lang="ru-RU" sz="1600" dirty="0" err="1" smtClean="0">
                <a:latin typeface="Cascadia Mono Light" pitchFamily="49" charset="0"/>
                <a:cs typeface="Cascadia Mono Light" pitchFamily="49" charset="0"/>
              </a:rPr>
              <a:t>train</a:t>
            </a:r>
            <a:r>
              <a:rPr lang="ru-RU" sz="1600" dirty="0" smtClean="0">
                <a:latin typeface="Cascadia Mono Light" pitchFamily="49" charset="0"/>
                <a:cs typeface="Cascadia Mono Light" pitchFamily="49" charset="0"/>
              </a:rPr>
              <a:t> вместо </a:t>
            </a:r>
            <a:r>
              <a:rPr lang="ru-RU" sz="1600" dirty="0" smtClean="0">
                <a:latin typeface="Cascadia Mono Light" pitchFamily="49" charset="0"/>
                <a:cs typeface="Cascadia Mono Light" pitchFamily="49" charset="0"/>
              </a:rPr>
              <a:t>поиска закономерности</a:t>
            </a:r>
            <a:r>
              <a:rPr lang="ru-RU" sz="1600" dirty="0" smtClean="0">
                <a:latin typeface="Cascadia Mono Light" pitchFamily="49" charset="0"/>
                <a:cs typeface="Cascadia Mono Light" pitchFamily="49" charset="0"/>
              </a:rPr>
              <a:t>.</a:t>
            </a:r>
          </a:p>
          <a:p>
            <a:endParaRPr lang="ru-RU" sz="1600" dirty="0" smtClean="0">
              <a:latin typeface="Cascadia Mono Light" pitchFamily="49" charset="0"/>
              <a:cs typeface="Cascadia Mono Light" pitchFamily="49" charset="0"/>
            </a:endParaRPr>
          </a:p>
          <a:p>
            <a:endParaRPr lang="ru-RU" sz="1600" dirty="0">
              <a:latin typeface="Cascadia Mono Light" pitchFamily="49" charset="0"/>
              <a:cs typeface="Cascadia Mono Light" pitchFamily="49" charset="0"/>
            </a:endParaRPr>
          </a:p>
        </p:txBody>
      </p:sp>
      <p:sp>
        <p:nvSpPr>
          <p:cNvPr id="79874" name="AutoShape 2" descr="https://files.deepseeksvc.com/api/file?file_id=7f4326c8-9541-4bd5-a800-3ff506bc83d4&amp;state=euFyIE5sqi3Zbj%2B2hLIteW1zbCodpc7mabBK0%2FQeAArnBDXyHjP838LiGByOJ2%2B2bJq7dtoJUROOigtsohqxPsyrS5FfrD%2FI3Kq4ip3dRb6%2F5a2ABnK3G4L%2B6jrIH%2B1dIc9nfOAypb%2FRWWk3KybHhhEV6U79syeECYUG0HFE7MviLyHsS0Myi5ZjtO3SplLddOIzHlsYdRJoO9Z4vBebvhmVbFRxzDFMoVJ13zYP2MhJZtU3olefeDw96HCaZksYHXcu0qLNYWyZzd4EezfSCrXGmqLrBsOBYVEPnnzPML%2BCpgQcgnkZUqBfTbo6%2FtVxntO0AEjTMtbq73xlzJ1nYeLakKOpXY9xLucl%2FeXiUbuiU676oGO9INRz&amp;ty=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79876" name="AutoShape 4" descr="https://files.deepseeksvc.com/api/file?file_id=7f4326c8-9541-4bd5-a800-3ff506bc83d4&amp;state=euFyIE5sqi3Zbj%2B2hLIteW1zbCodpc7mabBK0%2FQeAArnBDXyHjP838LiGByOJ2%2B2bJq7dtoJUROOigtsohqxPsyrS5FfrD%2FI3Kq4ip3dRb6%2F5a2ABnK3G4L%2B6jrIH%2B1dIc9nfOAypb%2FRWWk3KybHhhEV6U79syeECYUG0HFE7MviLyHsS0Myi5ZjtO3SplLddOIzHlsYdRJoO9Z4vBebvhmVbFRxzDFMoVJ13zYP2MhJZtU3olefeDw96HCaZksYHXcu0qLNYWyZzd4EezfSCrXGmqLrBsOBYVEPnnzPML%2BCpgQcgnkZUqBfTbo6%2FtVxntO0AEjTMtbq73xlzJ1nYeLakKOpXY9xLucl%2FeXiUbuiU676oGO9INRz&amp;ty=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79878" name="AutoShape 6" descr="https://files.deepseeksvc.com/api/file?file_id=7f4326c8-9541-4bd5-a800-3ff506bc83d4&amp;state=euFyIE5sqi3Zbj%2B2hLIteW1zbCodpc7mabBK0%2FQeAArnBDXyHjP838LiGByOJ2%2B2bJq7dtoJUROOigtsohqxPsyrS5FfrD%2FI3Kq4ip3dRb6%2F5a2ABnK3G4L%2B6jrIH%2B1dIc9nfOAypb%2FRWWk3KybHhhEV6U79syeECYUG0HFE7MviLyHsS0Myi5ZjtO3SplLddOIzHlsYdRJoO9Z4vBebvhmVbFRxzDFMoVJ13zYP2MhJZtU3olefeDw96HCaZksYHXcu0qLNYWyZzd4EezfSCrXGmqLrBsOBYVEPnnzPML%2BCpgQcgnkZUqBfTbo6%2FtVxntO0AEjTMtbq73xlzJ1nYeLakKOpXY9xLucl%2FeXiUbuiU676oGO9INRz&amp;ty=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79879" name="Picture 7"/>
          <p:cNvPicPr>
            <a:picLocks noChangeAspect="1" noChangeArrowheads="1"/>
          </p:cNvPicPr>
          <p:nvPr/>
        </p:nvPicPr>
        <p:blipFill>
          <a:blip r:embed="rId2" cstate="print"/>
          <a:srcRect/>
          <a:stretch>
            <a:fillRect/>
          </a:stretch>
        </p:blipFill>
        <p:spPr bwMode="auto">
          <a:xfrm>
            <a:off x="2286000" y="4572168"/>
            <a:ext cx="4646791" cy="2285832"/>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639762"/>
          </a:xfrm>
        </p:spPr>
        <p:txBody>
          <a:bodyPr>
            <a:normAutofit fontScale="90000"/>
          </a:bodyPr>
          <a:lstStyle/>
          <a:p>
            <a:r>
              <a:rPr lang="ru-RU" dirty="0" smtClean="0">
                <a:latin typeface="Cascadia Mono Light" pitchFamily="49" charset="0"/>
                <a:cs typeface="Cascadia Mono Light" pitchFamily="49" charset="0"/>
              </a:rPr>
              <a:t>8. Визуализация </a:t>
            </a:r>
            <a:endParaRPr lang="ru-RU" dirty="0">
              <a:latin typeface="Cascadia Mono Light" pitchFamily="49" charset="0"/>
              <a:cs typeface="Cascadia Mono Light" pitchFamily="49" charset="0"/>
            </a:endParaRPr>
          </a:p>
        </p:txBody>
      </p:sp>
      <p:sp>
        <p:nvSpPr>
          <p:cNvPr id="3" name="Содержимое 2"/>
          <p:cNvSpPr>
            <a:spLocks noGrp="1"/>
          </p:cNvSpPr>
          <p:nvPr>
            <p:ph idx="1"/>
          </p:nvPr>
        </p:nvSpPr>
        <p:spPr>
          <a:xfrm>
            <a:off x="5029200" y="1219200"/>
            <a:ext cx="4114800" cy="5486400"/>
          </a:xfrm>
        </p:spPr>
        <p:txBody>
          <a:bodyPr>
            <a:normAutofit fontScale="32500" lnSpcReduction="20000"/>
          </a:bodyPr>
          <a:lstStyle/>
          <a:p>
            <a:pPr>
              <a:buNone/>
            </a:pPr>
            <a:r>
              <a:rPr lang="ru-RU" dirty="0" smtClean="0">
                <a:latin typeface="Cascadia Mono Light" pitchFamily="49" charset="0"/>
                <a:cs typeface="Cascadia Mono Light" pitchFamily="49" charset="0"/>
              </a:rPr>
              <a:t>Что </a:t>
            </a:r>
            <a:r>
              <a:rPr lang="ru-RU" dirty="0" smtClean="0">
                <a:latin typeface="Cascadia Mono Light" pitchFamily="49" charset="0"/>
                <a:cs typeface="Cascadia Mono Light" pitchFamily="49" charset="0"/>
              </a:rPr>
              <a:t>мы хотим </a:t>
            </a:r>
            <a:r>
              <a:rPr lang="ru-RU" dirty="0" smtClean="0">
                <a:latin typeface="Cascadia Mono Light" pitchFamily="49" charset="0"/>
                <a:cs typeface="Cascadia Mono Light" pitchFamily="49" charset="0"/>
              </a:rPr>
              <a:t>увидеть:</a:t>
            </a:r>
          </a:p>
          <a:p>
            <a:pPr>
              <a:buNone/>
            </a:pPr>
            <a:r>
              <a:rPr lang="ru-RU" dirty="0" smtClean="0">
                <a:latin typeface="Cascadia Mono Light" pitchFamily="49" charset="0"/>
                <a:cs typeface="Cascadia Mono Light" pitchFamily="49" charset="0"/>
              </a:rPr>
              <a:t>1) Обе </a:t>
            </a:r>
            <a:r>
              <a:rPr lang="ru-RU" dirty="0" smtClean="0">
                <a:latin typeface="Cascadia Mono Light" pitchFamily="49" charset="0"/>
                <a:cs typeface="Cascadia Mono Light" pitchFamily="49" charset="0"/>
              </a:rPr>
              <a:t>кривые падают — модель учится, всё идёт хорошо;</a:t>
            </a:r>
          </a:p>
          <a:p>
            <a:pPr>
              <a:buNone/>
            </a:pPr>
            <a:r>
              <a:rPr lang="ru-RU" dirty="0" smtClean="0">
                <a:latin typeface="Cascadia Mono Light" pitchFamily="49" charset="0"/>
                <a:cs typeface="Cascadia Mono Light" pitchFamily="49" charset="0"/>
              </a:rPr>
              <a:t>2) Кривые </a:t>
            </a:r>
            <a:r>
              <a:rPr lang="ru-RU" dirty="0" smtClean="0">
                <a:latin typeface="Cascadia Mono Light" pitchFamily="49" charset="0"/>
                <a:cs typeface="Cascadia Mono Light" pitchFamily="49" charset="0"/>
              </a:rPr>
              <a:t>выходят на плато — обучение </a:t>
            </a:r>
            <a:r>
              <a:rPr lang="ru-RU" dirty="0" smtClean="0">
                <a:latin typeface="Cascadia Mono Light" pitchFamily="49" charset="0"/>
                <a:cs typeface="Cascadia Mono Light" pitchFamily="49" charset="0"/>
              </a:rPr>
              <a:t>сошлось, дальше </a:t>
            </a:r>
            <a:r>
              <a:rPr lang="ru-RU" dirty="0" smtClean="0">
                <a:latin typeface="Cascadia Mono Light" pitchFamily="49" charset="0"/>
                <a:cs typeface="Cascadia Mono Light" pitchFamily="49" charset="0"/>
              </a:rPr>
              <a:t>улучшений не будет;</a:t>
            </a:r>
          </a:p>
          <a:p>
            <a:pPr>
              <a:buNone/>
            </a:pPr>
            <a:r>
              <a:rPr lang="ru-RU" dirty="0" smtClean="0">
                <a:latin typeface="Cascadia Mono Light" pitchFamily="49" charset="0"/>
                <a:cs typeface="Cascadia Mono Light" pitchFamily="49" charset="0"/>
              </a:rPr>
              <a:t>3) </a:t>
            </a:r>
            <a:r>
              <a:rPr lang="ru-RU" dirty="0" err="1" smtClean="0">
                <a:latin typeface="Cascadia Mono Light" pitchFamily="49" charset="0"/>
                <a:cs typeface="Cascadia Mono Light" pitchFamily="49" charset="0"/>
              </a:rPr>
              <a:t>val_loss</a:t>
            </a:r>
            <a:r>
              <a:rPr lang="ru-RU" dirty="0" smtClean="0">
                <a:latin typeface="Cascadia Mono Light" pitchFamily="49" charset="0"/>
                <a:cs typeface="Cascadia Mono Light" pitchFamily="49" charset="0"/>
              </a:rPr>
              <a:t> </a:t>
            </a:r>
            <a:r>
              <a:rPr lang="ru-RU" dirty="0" smtClean="0">
                <a:latin typeface="Cascadia Mono Light" pitchFamily="49" charset="0"/>
                <a:cs typeface="Cascadia Mono Light" pitchFamily="49" charset="0"/>
              </a:rPr>
              <a:t>не растёт — переобучения нет</a:t>
            </a:r>
            <a:r>
              <a:rPr lang="ru-RU" dirty="0" smtClean="0">
                <a:latin typeface="Cascadia Mono Light" pitchFamily="49" charset="0"/>
                <a:cs typeface="Cascadia Mono Light" pitchFamily="49" charset="0"/>
              </a:rPr>
              <a:t>.</a:t>
            </a:r>
          </a:p>
          <a:p>
            <a:endParaRPr lang="ru-RU" dirty="0" smtClean="0">
              <a:latin typeface="Cascadia Mono Light" pitchFamily="49" charset="0"/>
              <a:cs typeface="Cascadia Mono Light" pitchFamily="49" charset="0"/>
            </a:endParaRPr>
          </a:p>
          <a:p>
            <a:pPr>
              <a:buNone/>
            </a:pPr>
            <a:r>
              <a:rPr lang="ru-RU" b="1" dirty="0" smtClean="0">
                <a:latin typeface="Cascadia Mono Light" pitchFamily="49" charset="0"/>
                <a:cs typeface="Cascadia Mono Light" pitchFamily="49" charset="0"/>
              </a:rPr>
              <a:t>Что показывает график</a:t>
            </a:r>
          </a:p>
          <a:p>
            <a:pPr>
              <a:buNone/>
            </a:pPr>
            <a:r>
              <a:rPr lang="ru-RU" dirty="0" smtClean="0">
                <a:latin typeface="Cascadia Mono Light" pitchFamily="49" charset="0"/>
                <a:cs typeface="Cascadia Mono Light" pitchFamily="49" charset="0"/>
              </a:rPr>
              <a:t>1) </a:t>
            </a:r>
            <a:r>
              <a:rPr lang="ru-RU" dirty="0" err="1" smtClean="0">
                <a:latin typeface="Cascadia Mono Light" pitchFamily="49" charset="0"/>
                <a:cs typeface="Cascadia Mono Light" pitchFamily="49" charset="0"/>
              </a:rPr>
              <a:t>train</a:t>
            </a:r>
            <a:r>
              <a:rPr lang="ru-RU" dirty="0" smtClean="0">
                <a:latin typeface="Cascadia Mono Light" pitchFamily="49" charset="0"/>
                <a:cs typeface="Cascadia Mono Light" pitchFamily="49" charset="0"/>
              </a:rPr>
              <a:t> </a:t>
            </a:r>
            <a:r>
              <a:rPr lang="ru-RU" dirty="0" err="1" smtClean="0">
                <a:latin typeface="Cascadia Mono Light" pitchFamily="49" charset="0"/>
                <a:cs typeface="Cascadia Mono Light" pitchFamily="49" charset="0"/>
              </a:rPr>
              <a:t>loss</a:t>
            </a:r>
            <a:r>
              <a:rPr lang="ru-RU" dirty="0" smtClean="0">
                <a:latin typeface="Cascadia Mono Light" pitchFamily="49" charset="0"/>
                <a:cs typeface="Cascadia Mono Light" pitchFamily="49" charset="0"/>
              </a:rPr>
              <a:t> (синяя) — ошибка на </a:t>
            </a:r>
            <a:r>
              <a:rPr lang="ru-RU" dirty="0" smtClean="0">
                <a:latin typeface="Cascadia Mono Light" pitchFamily="49" charset="0"/>
                <a:cs typeface="Cascadia Mono Light" pitchFamily="49" charset="0"/>
              </a:rPr>
              <a:t>обучающей выборке</a:t>
            </a:r>
            <a:r>
              <a:rPr lang="ru-RU" dirty="0" smtClean="0">
                <a:latin typeface="Cascadia Mono Light" pitchFamily="49" charset="0"/>
                <a:cs typeface="Cascadia Mono Light" pitchFamily="49" charset="0"/>
              </a:rPr>
              <a:t>. Та, по которой обновляются веса.</a:t>
            </a:r>
          </a:p>
          <a:p>
            <a:pPr>
              <a:buNone/>
            </a:pPr>
            <a:r>
              <a:rPr lang="ru-RU" dirty="0" smtClean="0">
                <a:latin typeface="Cascadia Mono Light" pitchFamily="49" charset="0"/>
                <a:cs typeface="Cascadia Mono Light" pitchFamily="49" charset="0"/>
              </a:rPr>
              <a:t>2) </a:t>
            </a:r>
            <a:r>
              <a:rPr lang="ru-RU" dirty="0" err="1" smtClean="0">
                <a:latin typeface="Cascadia Mono Light" pitchFamily="49" charset="0"/>
                <a:cs typeface="Cascadia Mono Light" pitchFamily="49" charset="0"/>
              </a:rPr>
              <a:t>val</a:t>
            </a:r>
            <a:r>
              <a:rPr lang="ru-RU" dirty="0" smtClean="0">
                <a:latin typeface="Cascadia Mono Light" pitchFamily="49" charset="0"/>
                <a:cs typeface="Cascadia Mono Light" pitchFamily="49" charset="0"/>
              </a:rPr>
              <a:t> </a:t>
            </a:r>
            <a:r>
              <a:rPr lang="ru-RU" dirty="0" err="1" smtClean="0">
                <a:latin typeface="Cascadia Mono Light" pitchFamily="49" charset="0"/>
                <a:cs typeface="Cascadia Mono Light" pitchFamily="49" charset="0"/>
              </a:rPr>
              <a:t>loss</a:t>
            </a:r>
            <a:r>
              <a:rPr lang="ru-RU" dirty="0" smtClean="0">
                <a:latin typeface="Cascadia Mono Light" pitchFamily="49" charset="0"/>
                <a:cs typeface="Cascadia Mono Light" pitchFamily="49" charset="0"/>
              </a:rPr>
              <a:t> (оранжевая) — ошибка на </a:t>
            </a:r>
            <a:r>
              <a:rPr lang="ru-RU" dirty="0" err="1" smtClean="0">
                <a:latin typeface="Cascadia Mono Light" pitchFamily="49" charset="0"/>
                <a:cs typeface="Cascadia Mono Light" pitchFamily="49" charset="0"/>
              </a:rPr>
              <a:t>валидационной</a:t>
            </a:r>
            <a:r>
              <a:rPr lang="ru-RU" dirty="0" smtClean="0">
                <a:latin typeface="Cascadia Mono Light" pitchFamily="49" charset="0"/>
                <a:cs typeface="Cascadia Mono Light" pitchFamily="49" charset="0"/>
              </a:rPr>
              <a:t> выборке. Та, которую модель не видела при обучении.</a:t>
            </a:r>
          </a:p>
          <a:p>
            <a:pPr>
              <a:buNone/>
            </a:pPr>
            <a:r>
              <a:rPr lang="ru-RU" dirty="0" smtClean="0">
                <a:latin typeface="Cascadia Mono Light" pitchFamily="49" charset="0"/>
                <a:cs typeface="Cascadia Mono Light" pitchFamily="49" charset="0"/>
              </a:rPr>
              <a:t>3) По </a:t>
            </a:r>
            <a:r>
              <a:rPr lang="ru-RU" dirty="0" smtClean="0">
                <a:latin typeface="Cascadia Mono Light" pitchFamily="49" charset="0"/>
                <a:cs typeface="Cascadia Mono Light" pitchFamily="49" charset="0"/>
              </a:rPr>
              <a:t>оси X — эпохи (от 0 до 50</a:t>
            </a:r>
            <a:r>
              <a:rPr lang="ru-RU" dirty="0" smtClean="0">
                <a:latin typeface="Cascadia Mono Light" pitchFamily="49" charset="0"/>
                <a:cs typeface="Cascadia Mono Light" pitchFamily="49" charset="0"/>
              </a:rPr>
              <a:t>).</a:t>
            </a:r>
          </a:p>
          <a:p>
            <a:pPr>
              <a:buNone/>
            </a:pPr>
            <a:r>
              <a:rPr lang="ru-RU" dirty="0" smtClean="0">
                <a:latin typeface="Cascadia Mono Light" pitchFamily="49" charset="0"/>
                <a:cs typeface="Cascadia Mono Light" pitchFamily="49" charset="0"/>
              </a:rPr>
              <a:t> </a:t>
            </a:r>
            <a:r>
              <a:rPr lang="ru-RU" dirty="0" smtClean="0">
                <a:latin typeface="Cascadia Mono Light" pitchFamily="49" charset="0"/>
                <a:cs typeface="Cascadia Mono Light" pitchFamily="49" charset="0"/>
              </a:rPr>
              <a:t>  По </a:t>
            </a:r>
            <a:r>
              <a:rPr lang="ru-RU" dirty="0" smtClean="0">
                <a:latin typeface="Cascadia Mono Light" pitchFamily="49" charset="0"/>
                <a:cs typeface="Cascadia Mono Light" pitchFamily="49" charset="0"/>
              </a:rPr>
              <a:t>оси Y — MSE. Шкала логарифмическая — это важно для интерпретации</a:t>
            </a:r>
            <a:r>
              <a:rPr lang="ru-RU" dirty="0" smtClean="0">
                <a:latin typeface="Cascadia Mono Light" pitchFamily="49" charset="0"/>
                <a:cs typeface="Cascadia Mono Light" pitchFamily="49" charset="0"/>
              </a:rPr>
              <a:t>.</a:t>
            </a:r>
          </a:p>
          <a:p>
            <a:endParaRPr lang="ru-RU" dirty="0" smtClean="0">
              <a:latin typeface="Cascadia Mono Light" pitchFamily="49" charset="0"/>
              <a:cs typeface="Cascadia Mono Light" pitchFamily="49" charset="0"/>
            </a:endParaRPr>
          </a:p>
          <a:p>
            <a:pPr>
              <a:buNone/>
            </a:pPr>
            <a:r>
              <a:rPr lang="ru-RU" b="1" dirty="0" smtClean="0">
                <a:latin typeface="Cascadia Mono Light" pitchFamily="49" charset="0"/>
                <a:cs typeface="Cascadia Mono Light" pitchFamily="49" charset="0"/>
              </a:rPr>
              <a:t>Разбор результата</a:t>
            </a:r>
          </a:p>
          <a:p>
            <a:pPr>
              <a:buNone/>
            </a:pPr>
            <a:r>
              <a:rPr lang="ru-RU" b="1" dirty="0" smtClean="0">
                <a:latin typeface="Cascadia Mono Light" pitchFamily="49" charset="0"/>
                <a:cs typeface="Cascadia Mono Light" pitchFamily="49" charset="0"/>
              </a:rPr>
              <a:t>Синяя </a:t>
            </a:r>
            <a:r>
              <a:rPr lang="ru-RU" b="1" dirty="0" smtClean="0">
                <a:latin typeface="Cascadia Mono Light" pitchFamily="49" charset="0"/>
                <a:cs typeface="Cascadia Mono Light" pitchFamily="49" charset="0"/>
              </a:rPr>
              <a:t>кривая (</a:t>
            </a:r>
            <a:r>
              <a:rPr lang="ru-RU" b="1" dirty="0" err="1" smtClean="0">
                <a:latin typeface="Cascadia Mono Light" pitchFamily="49" charset="0"/>
                <a:cs typeface="Cascadia Mono Light" pitchFamily="49" charset="0"/>
              </a:rPr>
              <a:t>train</a:t>
            </a:r>
            <a:r>
              <a:rPr lang="ru-RU" b="1" dirty="0" smtClean="0">
                <a:latin typeface="Cascadia Mono Light" pitchFamily="49" charset="0"/>
                <a:cs typeface="Cascadia Mono Light" pitchFamily="49" charset="0"/>
              </a:rPr>
              <a:t> </a:t>
            </a:r>
            <a:r>
              <a:rPr lang="ru-RU" b="1" dirty="0" err="1" smtClean="0">
                <a:latin typeface="Cascadia Mono Light" pitchFamily="49" charset="0"/>
                <a:cs typeface="Cascadia Mono Light" pitchFamily="49" charset="0"/>
              </a:rPr>
              <a:t>loss</a:t>
            </a:r>
            <a:r>
              <a:rPr lang="ru-RU" b="1" dirty="0" smtClean="0">
                <a:latin typeface="Cascadia Mono Light" pitchFamily="49" charset="0"/>
                <a:cs typeface="Cascadia Mono Light" pitchFamily="49" charset="0"/>
              </a:rPr>
              <a:t>)</a:t>
            </a:r>
          </a:p>
          <a:p>
            <a:pPr>
              <a:buNone/>
            </a:pPr>
            <a:r>
              <a:rPr lang="ru-RU" dirty="0" smtClean="0">
                <a:latin typeface="Cascadia Mono Light" pitchFamily="49" charset="0"/>
                <a:cs typeface="Cascadia Mono Light" pitchFamily="49" charset="0"/>
              </a:rPr>
              <a:t>1) Стартует </a:t>
            </a:r>
            <a:r>
              <a:rPr lang="ru-RU" dirty="0" smtClean="0">
                <a:latin typeface="Cascadia Mono Light" pitchFamily="49" charset="0"/>
                <a:cs typeface="Cascadia Mono Light" pitchFamily="49" charset="0"/>
              </a:rPr>
              <a:t>около 3.0 (эпоха 0);</a:t>
            </a:r>
          </a:p>
          <a:p>
            <a:pPr>
              <a:buNone/>
            </a:pPr>
            <a:r>
              <a:rPr lang="ru-RU" dirty="0" smtClean="0">
                <a:latin typeface="Cascadia Mono Light" pitchFamily="49" charset="0"/>
                <a:cs typeface="Cascadia Mono Light" pitchFamily="49" charset="0"/>
              </a:rPr>
              <a:t>2) Резко </a:t>
            </a:r>
            <a:r>
              <a:rPr lang="ru-RU" dirty="0" smtClean="0">
                <a:latin typeface="Cascadia Mono Light" pitchFamily="49" charset="0"/>
                <a:cs typeface="Cascadia Mono Light" pitchFamily="49" charset="0"/>
              </a:rPr>
              <a:t>падает до 0.6 за первые 5 </a:t>
            </a:r>
            <a:r>
              <a:rPr lang="ru-RU" dirty="0" smtClean="0">
                <a:latin typeface="Cascadia Mono Light" pitchFamily="49" charset="0"/>
                <a:cs typeface="Cascadia Mono Light" pitchFamily="49" charset="0"/>
              </a:rPr>
              <a:t>эпох; Дальше </a:t>
            </a:r>
            <a:r>
              <a:rPr lang="ru-RU" dirty="0" smtClean="0">
                <a:latin typeface="Cascadia Mono Light" pitchFamily="49" charset="0"/>
                <a:cs typeface="Cascadia Mono Light" pitchFamily="49" charset="0"/>
              </a:rPr>
              <a:t>— плато до конца.</a:t>
            </a:r>
          </a:p>
          <a:p>
            <a:pPr>
              <a:buNone/>
            </a:pPr>
            <a:r>
              <a:rPr lang="ru-RU" b="1" dirty="0" smtClean="0">
                <a:latin typeface="Cascadia Mono Light" pitchFamily="49" charset="0"/>
                <a:cs typeface="Cascadia Mono Light" pitchFamily="49" charset="0"/>
              </a:rPr>
              <a:t>Что это значит:</a:t>
            </a:r>
          </a:p>
          <a:p>
            <a:pPr>
              <a:buNone/>
            </a:pPr>
            <a:r>
              <a:rPr lang="ru-RU" dirty="0" smtClean="0">
                <a:latin typeface="Cascadia Mono Light" pitchFamily="49" charset="0"/>
                <a:cs typeface="Cascadia Mono Light" pitchFamily="49" charset="0"/>
              </a:rPr>
              <a:t>В начале веса почти случайные, ошибка большая;</a:t>
            </a:r>
          </a:p>
          <a:p>
            <a:pPr>
              <a:buNone/>
            </a:pPr>
            <a:r>
              <a:rPr lang="ru-RU" dirty="0" smtClean="0">
                <a:latin typeface="Cascadia Mono Light" pitchFamily="49" charset="0"/>
                <a:cs typeface="Cascadia Mono Light" pitchFamily="49" charset="0"/>
              </a:rPr>
              <a:t>За первые эпохи модель быстро находит основную закономерность — связь между признаками и ценой;</a:t>
            </a:r>
          </a:p>
          <a:p>
            <a:pPr>
              <a:buNone/>
            </a:pPr>
            <a:r>
              <a:rPr lang="ru-RU" dirty="0" smtClean="0">
                <a:latin typeface="Cascadia Mono Light" pitchFamily="49" charset="0"/>
                <a:cs typeface="Cascadia Mono Light" pitchFamily="49" charset="0"/>
              </a:rPr>
              <a:t>После 5–6 эпох дальнейшие улучшения минимальны — модель вышла на свой потолок.</a:t>
            </a:r>
          </a:p>
          <a:p>
            <a:pPr>
              <a:buNone/>
            </a:pPr>
            <a:r>
              <a:rPr lang="ru-RU" b="1" dirty="0" smtClean="0">
                <a:latin typeface="Cascadia Mono Light" pitchFamily="49" charset="0"/>
                <a:cs typeface="Cascadia Mono Light" pitchFamily="49" charset="0"/>
              </a:rPr>
              <a:t>Оранжевая </a:t>
            </a:r>
            <a:r>
              <a:rPr lang="ru-RU" b="1" dirty="0" smtClean="0">
                <a:latin typeface="Cascadia Mono Light" pitchFamily="49" charset="0"/>
                <a:cs typeface="Cascadia Mono Light" pitchFamily="49" charset="0"/>
              </a:rPr>
              <a:t>кривая (</a:t>
            </a:r>
            <a:r>
              <a:rPr lang="ru-RU" b="1" dirty="0" err="1" smtClean="0">
                <a:latin typeface="Cascadia Mono Light" pitchFamily="49" charset="0"/>
                <a:cs typeface="Cascadia Mono Light" pitchFamily="49" charset="0"/>
              </a:rPr>
              <a:t>val</a:t>
            </a:r>
            <a:r>
              <a:rPr lang="ru-RU" b="1" dirty="0" smtClean="0">
                <a:latin typeface="Cascadia Mono Light" pitchFamily="49" charset="0"/>
                <a:cs typeface="Cascadia Mono Light" pitchFamily="49" charset="0"/>
              </a:rPr>
              <a:t> </a:t>
            </a:r>
            <a:r>
              <a:rPr lang="ru-RU" b="1" dirty="0" err="1" smtClean="0">
                <a:latin typeface="Cascadia Mono Light" pitchFamily="49" charset="0"/>
                <a:cs typeface="Cascadia Mono Light" pitchFamily="49" charset="0"/>
              </a:rPr>
              <a:t>loss</a:t>
            </a:r>
            <a:r>
              <a:rPr lang="ru-RU" b="1" dirty="0" smtClean="0">
                <a:latin typeface="Cascadia Mono Light" pitchFamily="49" charset="0"/>
                <a:cs typeface="Cascadia Mono Light" pitchFamily="49" charset="0"/>
              </a:rPr>
              <a:t>)</a:t>
            </a:r>
          </a:p>
          <a:p>
            <a:pPr>
              <a:buNone/>
            </a:pPr>
            <a:r>
              <a:rPr lang="ru-RU" dirty="0" smtClean="0">
                <a:latin typeface="Cascadia Mono Light" pitchFamily="49" charset="0"/>
                <a:cs typeface="Cascadia Mono Light" pitchFamily="49" charset="0"/>
              </a:rPr>
              <a:t>1) Стартует </a:t>
            </a:r>
            <a:r>
              <a:rPr lang="ru-RU" dirty="0" smtClean="0">
                <a:latin typeface="Cascadia Mono Light" pitchFamily="49" charset="0"/>
                <a:cs typeface="Cascadia Mono Light" pitchFamily="49" charset="0"/>
              </a:rPr>
              <a:t>ниже синей (~0.65);</a:t>
            </a:r>
          </a:p>
          <a:p>
            <a:pPr>
              <a:buNone/>
            </a:pPr>
            <a:r>
              <a:rPr lang="ru-RU" dirty="0" smtClean="0">
                <a:latin typeface="Cascadia Mono Light" pitchFamily="49" charset="0"/>
                <a:cs typeface="Cascadia Mono Light" pitchFamily="49" charset="0"/>
              </a:rPr>
              <a:t>2) Быстро </a:t>
            </a:r>
            <a:r>
              <a:rPr lang="ru-RU" dirty="0" smtClean="0">
                <a:latin typeface="Cascadia Mono Light" pitchFamily="49" charset="0"/>
                <a:cs typeface="Cascadia Mono Light" pitchFamily="49" charset="0"/>
              </a:rPr>
              <a:t>стабилизируется около </a:t>
            </a:r>
            <a:r>
              <a:rPr lang="ru-RU" dirty="0" smtClean="0">
                <a:latin typeface="Cascadia Mono Light" pitchFamily="49" charset="0"/>
                <a:cs typeface="Cascadia Mono Light" pitchFamily="49" charset="0"/>
              </a:rPr>
              <a:t>0.55; Дальше </a:t>
            </a:r>
            <a:r>
              <a:rPr lang="ru-RU" dirty="0" smtClean="0">
                <a:latin typeface="Cascadia Mono Light" pitchFamily="49" charset="0"/>
                <a:cs typeface="Cascadia Mono Light" pitchFamily="49" charset="0"/>
              </a:rPr>
              <a:t>идёт параллельно синей, чуть ниже.</a:t>
            </a:r>
          </a:p>
          <a:p>
            <a:pPr>
              <a:buNone/>
            </a:pPr>
            <a:r>
              <a:rPr lang="ru-RU" b="1" dirty="0" smtClean="0">
                <a:latin typeface="Cascadia Mono Light" pitchFamily="49" charset="0"/>
                <a:cs typeface="Cascadia Mono Light" pitchFamily="49" charset="0"/>
              </a:rPr>
              <a:t>Что это значит:</a:t>
            </a:r>
          </a:p>
          <a:p>
            <a:pPr>
              <a:buNone/>
            </a:pPr>
            <a:r>
              <a:rPr lang="ru-RU" dirty="0" smtClean="0">
                <a:latin typeface="Cascadia Mono Light" pitchFamily="49" charset="0"/>
                <a:cs typeface="Cascadia Mono Light" pitchFamily="49" charset="0"/>
              </a:rPr>
              <a:t>1) Модель </a:t>
            </a:r>
            <a:r>
              <a:rPr lang="ru-RU" dirty="0" smtClean="0">
                <a:latin typeface="Cascadia Mono Light" pitchFamily="49" charset="0"/>
                <a:cs typeface="Cascadia Mono Light" pitchFamily="49" charset="0"/>
              </a:rPr>
              <a:t>на </a:t>
            </a:r>
            <a:r>
              <a:rPr lang="ru-RU" dirty="0" err="1" smtClean="0">
                <a:latin typeface="Cascadia Mono Light" pitchFamily="49" charset="0"/>
                <a:cs typeface="Cascadia Mono Light" pitchFamily="49" charset="0"/>
              </a:rPr>
              <a:t>валидации</a:t>
            </a:r>
            <a:r>
              <a:rPr lang="ru-RU" dirty="0" smtClean="0">
                <a:latin typeface="Cascadia Mono Light" pitchFamily="49" charset="0"/>
                <a:cs typeface="Cascadia Mono Light" pitchFamily="49" charset="0"/>
              </a:rPr>
              <a:t> ведёт себя так же хорошо, как на </a:t>
            </a:r>
            <a:r>
              <a:rPr lang="ru-RU" dirty="0" err="1" smtClean="0">
                <a:latin typeface="Cascadia Mono Light" pitchFamily="49" charset="0"/>
                <a:cs typeface="Cascadia Mono Light" pitchFamily="49" charset="0"/>
              </a:rPr>
              <a:t>train</a:t>
            </a:r>
            <a:r>
              <a:rPr lang="ru-RU" dirty="0" smtClean="0">
                <a:latin typeface="Cascadia Mono Light" pitchFamily="49" charset="0"/>
                <a:cs typeface="Cascadia Mono Light" pitchFamily="49" charset="0"/>
              </a:rPr>
              <a:t>;</a:t>
            </a:r>
          </a:p>
          <a:p>
            <a:pPr>
              <a:buNone/>
            </a:pPr>
            <a:r>
              <a:rPr lang="ru-RU" dirty="0" smtClean="0">
                <a:latin typeface="Cascadia Mono Light" pitchFamily="49" charset="0"/>
                <a:cs typeface="Cascadia Mono Light" pitchFamily="49" charset="0"/>
              </a:rPr>
              <a:t>2) Никакого </a:t>
            </a:r>
            <a:r>
              <a:rPr lang="ru-RU" dirty="0" smtClean="0">
                <a:latin typeface="Cascadia Mono Light" pitchFamily="49" charset="0"/>
                <a:cs typeface="Cascadia Mono Light" pitchFamily="49" charset="0"/>
              </a:rPr>
              <a:t>переобучения </a:t>
            </a:r>
            <a:r>
              <a:rPr lang="ru-RU" dirty="0" smtClean="0">
                <a:latin typeface="Cascadia Mono Light" pitchFamily="49" charset="0"/>
                <a:cs typeface="Cascadia Mono Light" pitchFamily="49" charset="0"/>
              </a:rPr>
              <a:t>нет; Модель </a:t>
            </a:r>
            <a:r>
              <a:rPr lang="ru-RU" dirty="0" smtClean="0">
                <a:latin typeface="Cascadia Mono Light" pitchFamily="49" charset="0"/>
                <a:cs typeface="Cascadia Mono Light" pitchFamily="49" charset="0"/>
              </a:rPr>
              <a:t>обобщает — то есть учит закономерность, а не запоминает данные.</a:t>
            </a:r>
          </a:p>
          <a:p>
            <a:endParaRPr lang="ru-RU" dirty="0" smtClean="0">
              <a:latin typeface="Cascadia Mono Light" pitchFamily="49" charset="0"/>
              <a:cs typeface="Cascadia Mono Light" pitchFamily="49" charset="0"/>
            </a:endParaRPr>
          </a:p>
          <a:p>
            <a:endParaRPr lang="ru-RU" dirty="0" smtClean="0">
              <a:latin typeface="Cascadia Mono Light" pitchFamily="49" charset="0"/>
              <a:cs typeface="Cascadia Mono Light" pitchFamily="49" charset="0"/>
            </a:endParaRPr>
          </a:p>
          <a:p>
            <a:endParaRPr lang="ru-RU" dirty="0" smtClean="0">
              <a:latin typeface="Cascadia Mono Light" pitchFamily="49" charset="0"/>
              <a:cs typeface="Cascadia Mono Light" pitchFamily="49" charset="0"/>
            </a:endParaRPr>
          </a:p>
          <a:p>
            <a:endParaRPr lang="ru-RU" dirty="0">
              <a:latin typeface="Cascadia Mono Light" pitchFamily="49" charset="0"/>
              <a:cs typeface="Cascadia Mono Light" pitchFamily="49" charset="0"/>
            </a:endParaRPr>
          </a:p>
        </p:txBody>
      </p:sp>
      <p:pic>
        <p:nvPicPr>
          <p:cNvPr id="86018" name="Picture 2"/>
          <p:cNvPicPr>
            <a:picLocks noChangeAspect="1" noChangeArrowheads="1"/>
          </p:cNvPicPr>
          <p:nvPr/>
        </p:nvPicPr>
        <p:blipFill>
          <a:blip r:embed="rId2" cstate="print"/>
          <a:srcRect/>
          <a:stretch>
            <a:fillRect/>
          </a:stretch>
        </p:blipFill>
        <p:spPr bwMode="auto">
          <a:xfrm>
            <a:off x="152400" y="1752600"/>
            <a:ext cx="4590543" cy="4343400"/>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33400"/>
            <a:ext cx="8229600" cy="487362"/>
          </a:xfrm>
        </p:spPr>
        <p:txBody>
          <a:bodyPr>
            <a:noAutofit/>
          </a:bodyPr>
          <a:lstStyle/>
          <a:p>
            <a:r>
              <a:rPr lang="ru-RU" sz="2800" dirty="0" smtClean="0">
                <a:latin typeface="Cascadia Mono Light" pitchFamily="49" charset="0"/>
                <a:cs typeface="Cascadia Mono Light" pitchFamily="49" charset="0"/>
              </a:rPr>
              <a:t>9. Попробуем заставить модель поработать гадалкой. Предсказываем цены</a:t>
            </a:r>
            <a:endParaRPr lang="ru-RU" sz="2800" dirty="0">
              <a:latin typeface="Cascadia Mono Light" pitchFamily="49" charset="0"/>
              <a:cs typeface="Cascadia Mono Light" pitchFamily="49" charset="0"/>
            </a:endParaRPr>
          </a:p>
        </p:txBody>
      </p:sp>
      <p:sp>
        <p:nvSpPr>
          <p:cNvPr id="3" name="Содержимое 2"/>
          <p:cNvSpPr>
            <a:spLocks noGrp="1"/>
          </p:cNvSpPr>
          <p:nvPr>
            <p:ph idx="1"/>
          </p:nvPr>
        </p:nvSpPr>
        <p:spPr>
          <a:xfrm>
            <a:off x="381000" y="1676400"/>
            <a:ext cx="8153400" cy="4495800"/>
          </a:xfrm>
        </p:spPr>
        <p:txBody>
          <a:bodyPr>
            <a:normAutofit/>
          </a:bodyPr>
          <a:lstStyle/>
          <a:p>
            <a:r>
              <a:rPr lang="ru-RU" dirty="0" smtClean="0">
                <a:latin typeface="Cascadia Mono Light" pitchFamily="49" charset="0"/>
                <a:cs typeface="Cascadia Mono Light" pitchFamily="49" charset="0"/>
              </a:rPr>
              <a:t>Мы берём </a:t>
            </a:r>
            <a:r>
              <a:rPr lang="ru-RU" dirty="0" err="1" smtClean="0">
                <a:latin typeface="Cascadia Mono Light" pitchFamily="49" charset="0"/>
                <a:cs typeface="Cascadia Mono Light" pitchFamily="49" charset="0"/>
              </a:rPr>
              <a:t>X_test</a:t>
            </a:r>
            <a:r>
              <a:rPr lang="ru-RU" dirty="0" smtClean="0">
                <a:latin typeface="Cascadia Mono Light" pitchFamily="49" charset="0"/>
                <a:cs typeface="Cascadia Mono Light" pitchFamily="49" charset="0"/>
              </a:rPr>
              <a:t> — данные, которых модель </a:t>
            </a:r>
            <a:r>
              <a:rPr lang="ru-RU" b="1" dirty="0" smtClean="0">
                <a:latin typeface="Cascadia Mono Light" pitchFamily="49" charset="0"/>
                <a:cs typeface="Cascadia Mono Light" pitchFamily="49" charset="0"/>
              </a:rPr>
              <a:t>никогда не видела</a:t>
            </a:r>
            <a:r>
              <a:rPr lang="ru-RU" dirty="0" smtClean="0">
                <a:latin typeface="Cascadia Mono Light" pitchFamily="49" charset="0"/>
                <a:cs typeface="Cascadia Mono Light" pitchFamily="49" charset="0"/>
              </a:rPr>
              <a:t> при обучении. Прогоняем их через модель. Получаем предсказания </a:t>
            </a:r>
            <a:r>
              <a:rPr lang="ru-RU" dirty="0" err="1" smtClean="0">
                <a:latin typeface="Cascadia Mono Light" pitchFamily="49" charset="0"/>
                <a:cs typeface="Cascadia Mono Light" pitchFamily="49" charset="0"/>
              </a:rPr>
              <a:t>y_pred</a:t>
            </a:r>
            <a:r>
              <a:rPr lang="ru-RU" dirty="0" smtClean="0">
                <a:latin typeface="Cascadia Mono Light" pitchFamily="49" charset="0"/>
                <a:cs typeface="Cascadia Mono Light" pitchFamily="49" charset="0"/>
              </a:rPr>
              <a:t>. Сравниваем с реальными значениями </a:t>
            </a:r>
            <a:r>
              <a:rPr lang="ru-RU" dirty="0" err="1" smtClean="0">
                <a:latin typeface="Cascadia Mono Light" pitchFamily="49" charset="0"/>
                <a:cs typeface="Cascadia Mono Light" pitchFamily="49" charset="0"/>
              </a:rPr>
              <a:t>y_test</a:t>
            </a:r>
            <a:r>
              <a:rPr lang="ru-RU" dirty="0" smtClean="0">
                <a:latin typeface="Cascadia Mono Light" pitchFamily="49" charset="0"/>
                <a:cs typeface="Cascadia Mono Light" pitchFamily="49" charset="0"/>
              </a:rPr>
              <a:t>. Посмотрим на первые 10.</a:t>
            </a:r>
          </a:p>
          <a:p>
            <a:endParaRPr lang="ru-RU" dirty="0">
              <a:latin typeface="Cascadia Mono Light" pitchFamily="49" charset="0"/>
              <a:cs typeface="Cascadia Mono Light" pitchFamily="49"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52400" y="838200"/>
            <a:ext cx="4724400" cy="4953000"/>
          </a:xfrm>
        </p:spPr>
        <p:txBody>
          <a:bodyPr>
            <a:noAutofit/>
          </a:bodyPr>
          <a:lstStyle/>
          <a:p>
            <a:r>
              <a:rPr lang="en-US" sz="1400" dirty="0" err="1" smtClean="0">
                <a:latin typeface="Cascadia Mono Light" pitchFamily="49" charset="0"/>
                <a:cs typeface="Cascadia Mono Light" pitchFamily="49" charset="0"/>
              </a:rPr>
              <a:t>y_pred</a:t>
            </a:r>
            <a:r>
              <a:rPr lang="ru-RU" sz="1400" dirty="0" smtClean="0">
                <a:latin typeface="Cascadia Mono Light" pitchFamily="49" charset="0"/>
                <a:cs typeface="Cascadia Mono Light" pitchFamily="49" charset="0"/>
              </a:rPr>
              <a:t> = </a:t>
            </a:r>
            <a:r>
              <a:rPr lang="en-US" sz="1400" dirty="0" err="1" smtClean="0">
                <a:latin typeface="Cascadia Mono Light" pitchFamily="49" charset="0"/>
                <a:cs typeface="Cascadia Mono Light" pitchFamily="49" charset="0"/>
              </a:rPr>
              <a:t>model.predict</a:t>
            </a:r>
            <a:r>
              <a:rPr lang="en-US" sz="1400" dirty="0" smtClean="0">
                <a:latin typeface="Cascadia Mono Light" pitchFamily="49" charset="0"/>
                <a:cs typeface="Cascadia Mono Light" pitchFamily="49" charset="0"/>
              </a:rPr>
              <a:t>(</a:t>
            </a:r>
            <a:r>
              <a:rPr lang="en-US" sz="1400" dirty="0" err="1" smtClean="0">
                <a:latin typeface="Cascadia Mono Light" pitchFamily="49" charset="0"/>
                <a:cs typeface="Cascadia Mono Light" pitchFamily="49" charset="0"/>
              </a:rPr>
              <a:t>X_test</a:t>
            </a:r>
            <a:r>
              <a:rPr lang="en-US" sz="1400" dirty="0" smtClean="0">
                <a:latin typeface="Cascadia Mono Light" pitchFamily="49" charset="0"/>
                <a:cs typeface="Cascadia Mono Light" pitchFamily="49" charset="0"/>
              </a:rPr>
              <a:t>).flatten</a:t>
            </a:r>
            <a:r>
              <a:rPr lang="en-US" sz="1400" dirty="0" smtClean="0">
                <a:latin typeface="Cascadia Mono Light" pitchFamily="49" charset="0"/>
                <a:cs typeface="Cascadia Mono Light" pitchFamily="49" charset="0"/>
              </a:rPr>
              <a:t>()</a:t>
            </a:r>
            <a:r>
              <a:rPr lang="ru-RU" sz="1400" dirty="0" smtClean="0">
                <a:latin typeface="Cascadia Mono Light" pitchFamily="49" charset="0"/>
                <a:cs typeface="Cascadia Mono Light" pitchFamily="49" charset="0"/>
              </a:rPr>
              <a:t> - </a:t>
            </a:r>
            <a:r>
              <a:rPr lang="ru-RU" sz="1400" dirty="0" smtClean="0">
                <a:latin typeface="Cascadia Mono Light" pitchFamily="49" charset="0"/>
                <a:cs typeface="Cascadia Mono Light" pitchFamily="49" charset="0"/>
              </a:rPr>
              <a:t>прогоняем тестовые данные через обученную модель и получаем предсказанные цены</a:t>
            </a:r>
            <a:r>
              <a:rPr lang="ru-RU" sz="1400" dirty="0" smtClean="0">
                <a:latin typeface="Cascadia Mono Light" pitchFamily="49" charset="0"/>
                <a:cs typeface="Cascadia Mono Light" pitchFamily="49" charset="0"/>
              </a:rPr>
              <a:t>.</a:t>
            </a:r>
          </a:p>
          <a:p>
            <a:r>
              <a:rPr lang="ru-RU" sz="1400" b="1" dirty="0" smtClean="0">
                <a:latin typeface="Cascadia Mono Light" pitchFamily="49" charset="0"/>
                <a:cs typeface="Cascadia Mono Light" pitchFamily="49" charset="0"/>
              </a:rPr>
              <a:t>Разберём цепочку вызовов:</a:t>
            </a:r>
          </a:p>
          <a:p>
            <a:r>
              <a:rPr lang="ru-RU" sz="1400" b="1" dirty="0" err="1" smtClean="0">
                <a:latin typeface="Cascadia Mono Light" pitchFamily="49" charset="0"/>
                <a:cs typeface="Cascadia Mono Light" pitchFamily="49" charset="0"/>
              </a:rPr>
              <a:t>model.predict</a:t>
            </a:r>
            <a:r>
              <a:rPr lang="ru-RU" sz="1400" b="1" dirty="0" smtClean="0">
                <a:latin typeface="Cascadia Mono Light" pitchFamily="49" charset="0"/>
                <a:cs typeface="Cascadia Mono Light" pitchFamily="49" charset="0"/>
              </a:rPr>
              <a:t>(</a:t>
            </a:r>
            <a:r>
              <a:rPr lang="ru-RU" sz="1400" b="1" dirty="0" err="1" smtClean="0">
                <a:latin typeface="Cascadia Mono Light" pitchFamily="49" charset="0"/>
                <a:cs typeface="Cascadia Mono Light" pitchFamily="49" charset="0"/>
              </a:rPr>
              <a:t>X_test</a:t>
            </a:r>
            <a:r>
              <a:rPr lang="ru-RU" sz="1400" b="1" dirty="0" smtClean="0">
                <a:latin typeface="Cascadia Mono Light" pitchFamily="49" charset="0"/>
                <a:cs typeface="Cascadia Mono Light" pitchFamily="49" charset="0"/>
              </a:rPr>
              <a:t>):</a:t>
            </a:r>
          </a:p>
          <a:p>
            <a:r>
              <a:rPr lang="ru-RU" sz="1400" dirty="0" err="1" smtClean="0">
                <a:latin typeface="Cascadia Mono Light" pitchFamily="49" charset="0"/>
                <a:cs typeface="Cascadia Mono Light" pitchFamily="49" charset="0"/>
              </a:rPr>
              <a:t>predict</a:t>
            </a:r>
            <a:r>
              <a:rPr lang="ru-RU" sz="1400" dirty="0" smtClean="0">
                <a:latin typeface="Cascadia Mono Light" pitchFamily="49" charset="0"/>
                <a:cs typeface="Cascadia Mono Light" pitchFamily="49" charset="0"/>
              </a:rPr>
              <a:t> — метод объекта модели. Прогоняет данные через неё.</a:t>
            </a:r>
          </a:p>
          <a:p>
            <a:r>
              <a:rPr lang="ru-RU" sz="1400" dirty="0" smtClean="0">
                <a:latin typeface="Cascadia Mono Light" pitchFamily="49" charset="0"/>
                <a:cs typeface="Cascadia Mono Light" pitchFamily="49" charset="0"/>
              </a:rPr>
              <a:t>Вход: </a:t>
            </a:r>
            <a:r>
              <a:rPr lang="ru-RU" sz="1400" dirty="0" err="1" smtClean="0">
                <a:latin typeface="Cascadia Mono Light" pitchFamily="49" charset="0"/>
                <a:cs typeface="Cascadia Mono Light" pitchFamily="49" charset="0"/>
              </a:rPr>
              <a:t>X_test</a:t>
            </a:r>
            <a:r>
              <a:rPr lang="ru-RU" sz="1400" dirty="0" smtClean="0">
                <a:latin typeface="Cascadia Mono Light" pitchFamily="49" charset="0"/>
                <a:cs typeface="Cascadia Mono Light" pitchFamily="49" charset="0"/>
              </a:rPr>
              <a:t> формы (3328, 8).</a:t>
            </a:r>
          </a:p>
          <a:p>
            <a:r>
              <a:rPr lang="ru-RU" sz="1400" dirty="0" smtClean="0">
                <a:latin typeface="Cascadia Mono Light" pitchFamily="49" charset="0"/>
                <a:cs typeface="Cascadia Mono Light" pitchFamily="49" charset="0"/>
              </a:rPr>
              <a:t>Выход: NumPy-массив формы (3328, 1) — по одному предсказанию на каждый объект. Форма (</a:t>
            </a:r>
            <a:r>
              <a:rPr lang="ru-RU" sz="1400" dirty="0" err="1" smtClean="0">
                <a:latin typeface="Cascadia Mono Light" pitchFamily="49" charset="0"/>
                <a:cs typeface="Cascadia Mono Light" pitchFamily="49" charset="0"/>
              </a:rPr>
              <a:t>n</a:t>
            </a:r>
            <a:r>
              <a:rPr lang="ru-RU" sz="1400" dirty="0" smtClean="0">
                <a:latin typeface="Cascadia Mono Light" pitchFamily="49" charset="0"/>
                <a:cs typeface="Cascadia Mono Light" pitchFamily="49" charset="0"/>
              </a:rPr>
              <a:t>, 1) — потому что слой </a:t>
            </a:r>
            <a:r>
              <a:rPr lang="ru-RU" sz="1400" dirty="0" err="1" smtClean="0">
                <a:latin typeface="Cascadia Mono Light" pitchFamily="49" charset="0"/>
                <a:cs typeface="Cascadia Mono Light" pitchFamily="49" charset="0"/>
              </a:rPr>
              <a:t>Dense</a:t>
            </a:r>
            <a:r>
              <a:rPr lang="ru-RU" sz="1400" dirty="0" smtClean="0">
                <a:latin typeface="Cascadia Mono Light" pitchFamily="49" charset="0"/>
                <a:cs typeface="Cascadia Mono Light" pitchFamily="49" charset="0"/>
              </a:rPr>
              <a:t>(1) выдаёт столбец</a:t>
            </a:r>
            <a:r>
              <a:rPr lang="ru-RU" sz="1400" dirty="0" smtClean="0">
                <a:latin typeface="Cascadia Mono Light" pitchFamily="49" charset="0"/>
                <a:cs typeface="Cascadia Mono Light" pitchFamily="49" charset="0"/>
              </a:rPr>
              <a:t>. </a:t>
            </a:r>
          </a:p>
          <a:p>
            <a:r>
              <a:rPr lang="ru-RU" sz="1400" dirty="0" smtClean="0">
                <a:latin typeface="Cascadia Mono Light" pitchFamily="49" charset="0"/>
                <a:cs typeface="Cascadia Mono Light" pitchFamily="49" charset="0"/>
              </a:rPr>
              <a:t>.</a:t>
            </a:r>
            <a:r>
              <a:rPr lang="ru-RU" sz="1400" dirty="0" err="1" smtClean="0">
                <a:latin typeface="Cascadia Mono Light" pitchFamily="49" charset="0"/>
                <a:cs typeface="Cascadia Mono Light" pitchFamily="49" charset="0"/>
              </a:rPr>
              <a:t>flatten</a:t>
            </a:r>
            <a:r>
              <a:rPr lang="ru-RU" sz="1400" dirty="0" smtClean="0">
                <a:latin typeface="Cascadia Mono Light" pitchFamily="49" charset="0"/>
                <a:cs typeface="Cascadia Mono Light" pitchFamily="49" charset="0"/>
              </a:rPr>
              <a:t>():</a:t>
            </a:r>
          </a:p>
          <a:p>
            <a:r>
              <a:rPr lang="ru-RU" sz="1400" dirty="0" smtClean="0">
                <a:latin typeface="Cascadia Mono Light" pitchFamily="49" charset="0"/>
                <a:cs typeface="Cascadia Mono Light" pitchFamily="49" charset="0"/>
              </a:rPr>
              <a:t>Преобразует массив формы (3328, 1) → (3328</a:t>
            </a:r>
            <a:r>
              <a:rPr lang="ru-RU" sz="1400" dirty="0" smtClean="0">
                <a:latin typeface="Cascadia Mono Light" pitchFamily="49" charset="0"/>
                <a:cs typeface="Cascadia Mono Light" pitchFamily="49" charset="0"/>
              </a:rPr>
              <a:t>,). Убирает </a:t>
            </a:r>
            <a:r>
              <a:rPr lang="ru-RU" sz="1400" dirty="0" smtClean="0">
                <a:latin typeface="Cascadia Mono Light" pitchFamily="49" charset="0"/>
                <a:cs typeface="Cascadia Mono Light" pitchFamily="49" charset="0"/>
              </a:rPr>
              <a:t>лишнюю ось — «расплющивает» столбец в </a:t>
            </a:r>
            <a:r>
              <a:rPr lang="ru-RU" sz="1400" dirty="0" smtClean="0">
                <a:latin typeface="Cascadia Mono Light" pitchFamily="49" charset="0"/>
                <a:cs typeface="Cascadia Mono Light" pitchFamily="49" charset="0"/>
              </a:rPr>
              <a:t>строку. </a:t>
            </a:r>
            <a:r>
              <a:rPr lang="ru-RU" sz="1400" dirty="0" err="1" smtClean="0">
                <a:latin typeface="Cascadia Mono Light" pitchFamily="49" charset="0"/>
                <a:cs typeface="Cascadia Mono Light" pitchFamily="49" charset="0"/>
              </a:rPr>
              <a:t>Надот.к</a:t>
            </a:r>
            <a:r>
              <a:rPr lang="ru-RU" sz="1400" dirty="0" smtClean="0">
                <a:latin typeface="Cascadia Mono Light" pitchFamily="49" charset="0"/>
                <a:cs typeface="Cascadia Mono Light" pitchFamily="49" charset="0"/>
              </a:rPr>
              <a:t>. у </a:t>
            </a:r>
            <a:r>
              <a:rPr lang="ru-RU" sz="1400" dirty="0" err="1" smtClean="0">
                <a:latin typeface="Cascadia Mono Light" pitchFamily="49" charset="0"/>
                <a:cs typeface="Cascadia Mono Light" pitchFamily="49" charset="0"/>
              </a:rPr>
              <a:t>y_test</a:t>
            </a:r>
            <a:r>
              <a:rPr lang="ru-RU" sz="1400" dirty="0" smtClean="0">
                <a:latin typeface="Cascadia Mono Light" pitchFamily="49" charset="0"/>
                <a:cs typeface="Cascadia Mono Light" pitchFamily="49" charset="0"/>
              </a:rPr>
              <a:t> форма (3328,). Чтобы сравнивать и считать метрики, формы должны совпадать.</a:t>
            </a:r>
          </a:p>
          <a:p>
            <a:r>
              <a:rPr lang="ru-RU" sz="1400" dirty="0" smtClean="0">
                <a:latin typeface="Cascadia Mono Light" pitchFamily="49" charset="0"/>
                <a:cs typeface="Cascadia Mono Light" pitchFamily="49" charset="0"/>
              </a:rPr>
              <a:t>Итог: </a:t>
            </a:r>
            <a:r>
              <a:rPr lang="ru-RU" sz="1400" dirty="0" err="1" smtClean="0">
                <a:latin typeface="Cascadia Mono Light" pitchFamily="49" charset="0"/>
                <a:cs typeface="Cascadia Mono Light" pitchFamily="49" charset="0"/>
              </a:rPr>
              <a:t>y_pred</a:t>
            </a:r>
            <a:r>
              <a:rPr lang="ru-RU" sz="1400" dirty="0" smtClean="0">
                <a:latin typeface="Cascadia Mono Light" pitchFamily="49" charset="0"/>
                <a:cs typeface="Cascadia Mono Light" pitchFamily="49" charset="0"/>
              </a:rPr>
              <a:t> — одномерный массив из 3 328 предсказанных цен.</a:t>
            </a:r>
          </a:p>
          <a:p>
            <a:endParaRPr lang="ru-RU" sz="1400" dirty="0" smtClean="0">
              <a:latin typeface="Cascadia Mono Light" pitchFamily="49" charset="0"/>
              <a:cs typeface="Cascadia Mono Light" pitchFamily="49" charset="0"/>
            </a:endParaRPr>
          </a:p>
          <a:p>
            <a:endParaRPr lang="ru-RU" sz="1400" dirty="0" smtClean="0">
              <a:latin typeface="Cascadia Mono Light" pitchFamily="49" charset="0"/>
              <a:cs typeface="Cascadia Mono Light" pitchFamily="49" charset="0"/>
            </a:endParaRPr>
          </a:p>
        </p:txBody>
      </p:sp>
      <p:pic>
        <p:nvPicPr>
          <p:cNvPr id="87042" name="Picture 2"/>
          <p:cNvPicPr>
            <a:picLocks noChangeAspect="1" noChangeArrowheads="1"/>
          </p:cNvPicPr>
          <p:nvPr/>
        </p:nvPicPr>
        <p:blipFill>
          <a:blip r:embed="rId2" cstate="print"/>
          <a:srcRect/>
          <a:stretch>
            <a:fillRect/>
          </a:stretch>
        </p:blipFill>
        <p:spPr bwMode="auto">
          <a:xfrm>
            <a:off x="5014010" y="1981200"/>
            <a:ext cx="3685736" cy="3073123"/>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52400" y="457200"/>
            <a:ext cx="5105400" cy="5181600"/>
          </a:xfrm>
        </p:spPr>
        <p:txBody>
          <a:bodyPr>
            <a:noAutofit/>
          </a:bodyPr>
          <a:lstStyle/>
          <a:p>
            <a:r>
              <a:rPr lang="ru-RU" sz="1400" dirty="0" smtClean="0">
                <a:latin typeface="Cascadia Mono Light" pitchFamily="49" charset="0"/>
                <a:cs typeface="Cascadia Mono Light" pitchFamily="49" charset="0"/>
              </a:rPr>
              <a:t>Далее печатаем «</a:t>
            </a:r>
            <a:r>
              <a:rPr lang="ru-RU" sz="1400" dirty="0" err="1" smtClean="0">
                <a:latin typeface="Cascadia Mono Light" pitchFamily="49" charset="0"/>
                <a:cs typeface="Cascadia Mono Light" pitchFamily="49" charset="0"/>
              </a:rPr>
              <a:t>аля</a:t>
            </a:r>
            <a:r>
              <a:rPr lang="ru-RU" sz="1400" dirty="0" smtClean="0">
                <a:latin typeface="Cascadia Mono Light" pitchFamily="49" charset="0"/>
                <a:cs typeface="Cascadia Mono Light" pitchFamily="49" charset="0"/>
              </a:rPr>
              <a:t> таблицу» для сравнения </a:t>
            </a:r>
          </a:p>
          <a:p>
            <a:r>
              <a:rPr lang="ru-RU" sz="1400" dirty="0" smtClean="0">
                <a:latin typeface="Cascadia Mono Light" pitchFamily="49" charset="0"/>
                <a:cs typeface="Cascadia Mono Light" pitchFamily="49" charset="0"/>
              </a:rPr>
              <a:t>Создаём </a:t>
            </a:r>
            <a:r>
              <a:rPr lang="ru-RU" sz="1400" dirty="0" smtClean="0">
                <a:latin typeface="Cascadia Mono Light" pitchFamily="49" charset="0"/>
                <a:cs typeface="Cascadia Mono Light" pitchFamily="49" charset="0"/>
              </a:rPr>
              <a:t>таблицу из трёх </a:t>
            </a:r>
            <a:r>
              <a:rPr lang="ru-RU" sz="1400" dirty="0" smtClean="0">
                <a:latin typeface="Cascadia Mono Light" pitchFamily="49" charset="0"/>
                <a:cs typeface="Cascadia Mono Light" pitchFamily="49" charset="0"/>
              </a:rPr>
              <a:t>столбцов: реальные цены; предсказанные цены; разница </a:t>
            </a:r>
            <a:r>
              <a:rPr lang="ru-RU" sz="1400" dirty="0" smtClean="0">
                <a:latin typeface="Cascadia Mono Light" pitchFamily="49" charset="0"/>
                <a:cs typeface="Cascadia Mono Light" pitchFamily="49" charset="0"/>
              </a:rPr>
              <a:t>между ними</a:t>
            </a:r>
            <a:r>
              <a:rPr lang="ru-RU" sz="1400" dirty="0" smtClean="0">
                <a:latin typeface="Cascadia Mono Light" pitchFamily="49" charset="0"/>
                <a:cs typeface="Cascadia Mono Light" pitchFamily="49" charset="0"/>
              </a:rPr>
              <a:t>.</a:t>
            </a:r>
            <a:endParaRPr lang="ru-RU" sz="1400" dirty="0" smtClean="0">
              <a:latin typeface="Cascadia Mono Light" pitchFamily="49" charset="0"/>
              <a:cs typeface="Cascadia Mono Light" pitchFamily="49" charset="0"/>
            </a:endParaRPr>
          </a:p>
          <a:p>
            <a:r>
              <a:rPr lang="en-US" sz="1400" dirty="0" err="1" smtClean="0">
                <a:latin typeface="Cascadia Mono Light" pitchFamily="49" charset="0"/>
                <a:cs typeface="Cascadia Mono Light" pitchFamily="49" charset="0"/>
              </a:rPr>
              <a:t>pd.DataFrame</a:t>
            </a:r>
            <a:r>
              <a:rPr lang="en-US" sz="1400" dirty="0" smtClean="0">
                <a:latin typeface="Cascadia Mono Light" pitchFamily="49" charset="0"/>
                <a:cs typeface="Cascadia Mono Light" pitchFamily="49" charset="0"/>
              </a:rPr>
              <a:t>({...}):</a:t>
            </a:r>
            <a:r>
              <a:rPr lang="ru-RU" sz="1400" dirty="0" smtClean="0">
                <a:latin typeface="Cascadia Mono Light" pitchFamily="49" charset="0"/>
                <a:cs typeface="Cascadia Mono Light" pitchFamily="49" charset="0"/>
              </a:rPr>
              <a:t> </a:t>
            </a:r>
            <a:r>
              <a:rPr lang="en-US" sz="1400" dirty="0" smtClean="0">
                <a:latin typeface="Cascadia Mono Light" pitchFamily="49" charset="0"/>
                <a:cs typeface="Cascadia Mono Light" pitchFamily="49" charset="0"/>
              </a:rPr>
              <a:t>pd </a:t>
            </a:r>
            <a:r>
              <a:rPr lang="en-US" sz="1400" dirty="0" smtClean="0">
                <a:latin typeface="Cascadia Mono Light" pitchFamily="49" charset="0"/>
                <a:cs typeface="Cascadia Mono Light" pitchFamily="49" charset="0"/>
              </a:rPr>
              <a:t>— </a:t>
            </a:r>
            <a:r>
              <a:rPr lang="ru-RU" sz="1400" dirty="0" smtClean="0">
                <a:latin typeface="Cascadia Mono Light" pitchFamily="49" charset="0"/>
                <a:cs typeface="Cascadia Mono Light" pitchFamily="49" charset="0"/>
              </a:rPr>
              <a:t>псевдоним </a:t>
            </a:r>
            <a:r>
              <a:rPr lang="en-US" sz="1400" dirty="0" smtClean="0">
                <a:latin typeface="Cascadia Mono Light" pitchFamily="49" charset="0"/>
                <a:cs typeface="Cascadia Mono Light" pitchFamily="49" charset="0"/>
              </a:rPr>
              <a:t>pandas.</a:t>
            </a:r>
          </a:p>
          <a:p>
            <a:r>
              <a:rPr lang="en-US" sz="1400" dirty="0" err="1" smtClean="0">
                <a:latin typeface="Cascadia Mono Light" pitchFamily="49" charset="0"/>
                <a:cs typeface="Cascadia Mono Light" pitchFamily="49" charset="0"/>
              </a:rPr>
              <a:t>DataFrame</a:t>
            </a:r>
            <a:r>
              <a:rPr lang="en-US" sz="1400" dirty="0" smtClean="0">
                <a:latin typeface="Cascadia Mono Light" pitchFamily="49" charset="0"/>
                <a:cs typeface="Cascadia Mono Light" pitchFamily="49" charset="0"/>
              </a:rPr>
              <a:t> — </a:t>
            </a:r>
            <a:r>
              <a:rPr lang="ru-RU" sz="1400" dirty="0" smtClean="0">
                <a:latin typeface="Cascadia Mono Light" pitchFamily="49" charset="0"/>
                <a:cs typeface="Cascadia Mono Light" pitchFamily="49" charset="0"/>
              </a:rPr>
              <a:t>класс таблицы.</a:t>
            </a:r>
          </a:p>
          <a:p>
            <a:r>
              <a:rPr lang="ru-RU" sz="1400" dirty="0" smtClean="0">
                <a:latin typeface="Cascadia Mono Light" pitchFamily="49" charset="0"/>
                <a:cs typeface="Cascadia Mono Light" pitchFamily="49" charset="0"/>
              </a:rPr>
              <a:t>{...} — словарь. Ключи — имена столбцов, значения — данные.</a:t>
            </a:r>
          </a:p>
          <a:p>
            <a:r>
              <a:rPr lang="ru-RU" sz="1400" dirty="0" err="1" smtClean="0">
                <a:latin typeface="Cascadia Mono Light" pitchFamily="49" charset="0"/>
                <a:cs typeface="Cascadia Mono Light" pitchFamily="49" charset="0"/>
              </a:rPr>
              <a:t>y_test</a:t>
            </a:r>
            <a:r>
              <a:rPr lang="ru-RU" sz="1400" dirty="0" smtClean="0">
                <a:latin typeface="Cascadia Mono Light" pitchFamily="49" charset="0"/>
                <a:cs typeface="Cascadia Mono Light" pitchFamily="49" charset="0"/>
              </a:rPr>
              <a:t>[:10] — берём первые 10 значений из </a:t>
            </a:r>
            <a:r>
              <a:rPr lang="ru-RU" sz="1400" dirty="0" err="1" smtClean="0">
                <a:latin typeface="Cascadia Mono Light" pitchFamily="49" charset="0"/>
                <a:cs typeface="Cascadia Mono Light" pitchFamily="49" charset="0"/>
              </a:rPr>
              <a:t>y_test</a:t>
            </a:r>
            <a:r>
              <a:rPr lang="ru-RU" sz="1400" dirty="0" smtClean="0">
                <a:latin typeface="Cascadia Mono Light" pitchFamily="49" charset="0"/>
                <a:cs typeface="Cascadia Mono Light" pitchFamily="49" charset="0"/>
              </a:rPr>
              <a:t>. Срез [:10] означает «с 0 по 10, не включая 10».</a:t>
            </a:r>
          </a:p>
          <a:p>
            <a:r>
              <a:rPr lang="ru-RU" sz="1400" dirty="0" smtClean="0">
                <a:latin typeface="Cascadia Mono Light" pitchFamily="49" charset="0"/>
                <a:cs typeface="Cascadia Mono Light" pitchFamily="49" charset="0"/>
              </a:rPr>
              <a:t>.</a:t>
            </a:r>
            <a:r>
              <a:rPr lang="ru-RU" sz="1400" dirty="0" err="1" smtClean="0">
                <a:latin typeface="Cascadia Mono Light" pitchFamily="49" charset="0"/>
                <a:cs typeface="Cascadia Mono Light" pitchFamily="49" charset="0"/>
              </a:rPr>
              <a:t>round</a:t>
            </a:r>
            <a:r>
              <a:rPr lang="ru-RU" sz="1400" dirty="0" smtClean="0">
                <a:latin typeface="Cascadia Mono Light" pitchFamily="49" charset="0"/>
                <a:cs typeface="Cascadia Mono Light" pitchFamily="49" charset="0"/>
              </a:rPr>
              <a:t>(3) — округляем до 3 знаков после запятой</a:t>
            </a:r>
          </a:p>
          <a:p>
            <a:endParaRPr lang="ru-RU" sz="1400" dirty="0" smtClean="0">
              <a:latin typeface="Cascadia Mono Light" pitchFamily="49" charset="0"/>
              <a:cs typeface="Cascadia Mono Light" pitchFamily="49" charset="0"/>
            </a:endParaRPr>
          </a:p>
          <a:p>
            <a:r>
              <a:rPr lang="ru-RU" sz="1400" dirty="0" smtClean="0">
                <a:latin typeface="Cascadia Mono Light" pitchFamily="49" charset="0"/>
                <a:cs typeface="Cascadia Mono Light" pitchFamily="49" charset="0"/>
              </a:rPr>
              <a:t>Потом то же самое для предсказаний</a:t>
            </a:r>
          </a:p>
          <a:p>
            <a:r>
              <a:rPr lang="ru-RU" sz="1400" dirty="0" smtClean="0">
                <a:latin typeface="Cascadia Mono Light" pitchFamily="49" charset="0"/>
                <a:cs typeface="Cascadia Mono Light" pitchFamily="49" charset="0"/>
              </a:rPr>
              <a:t>'Ошибка': (</a:t>
            </a:r>
            <a:r>
              <a:rPr lang="ru-RU" sz="1400" dirty="0" err="1" smtClean="0">
                <a:latin typeface="Cascadia Mono Light" pitchFamily="49" charset="0"/>
                <a:cs typeface="Cascadia Mono Light" pitchFamily="49" charset="0"/>
              </a:rPr>
              <a:t>y_pred</a:t>
            </a:r>
            <a:r>
              <a:rPr lang="ru-RU" sz="1400" dirty="0" smtClean="0">
                <a:latin typeface="Cascadia Mono Light" pitchFamily="49" charset="0"/>
                <a:cs typeface="Cascadia Mono Light" pitchFamily="49" charset="0"/>
              </a:rPr>
              <a:t>[:10] - </a:t>
            </a:r>
            <a:r>
              <a:rPr lang="ru-RU" sz="1400" dirty="0" err="1" smtClean="0">
                <a:latin typeface="Cascadia Mono Light" pitchFamily="49" charset="0"/>
                <a:cs typeface="Cascadia Mono Light" pitchFamily="49" charset="0"/>
              </a:rPr>
              <a:t>y_test</a:t>
            </a:r>
            <a:r>
              <a:rPr lang="ru-RU" sz="1400" dirty="0" smtClean="0">
                <a:latin typeface="Cascadia Mono Light" pitchFamily="49" charset="0"/>
                <a:cs typeface="Cascadia Mono Light" pitchFamily="49" charset="0"/>
              </a:rPr>
              <a:t>[:10]).</a:t>
            </a:r>
            <a:r>
              <a:rPr lang="ru-RU" sz="1400" dirty="0" err="1" smtClean="0">
                <a:latin typeface="Cascadia Mono Light" pitchFamily="49" charset="0"/>
                <a:cs typeface="Cascadia Mono Light" pitchFamily="49" charset="0"/>
              </a:rPr>
              <a:t>round</a:t>
            </a:r>
            <a:r>
              <a:rPr lang="ru-RU" sz="1400" dirty="0" smtClean="0">
                <a:latin typeface="Cascadia Mono Light" pitchFamily="49" charset="0"/>
                <a:cs typeface="Cascadia Mono Light" pitchFamily="49" charset="0"/>
              </a:rPr>
              <a:t>(3)</a:t>
            </a:r>
          </a:p>
          <a:p>
            <a:r>
              <a:rPr lang="ru-RU" sz="1400" dirty="0" err="1" smtClean="0">
                <a:latin typeface="Cascadia Mono Light" pitchFamily="49" charset="0"/>
                <a:cs typeface="Cascadia Mono Light" pitchFamily="49" charset="0"/>
              </a:rPr>
              <a:t>y_pred</a:t>
            </a:r>
            <a:r>
              <a:rPr lang="ru-RU" sz="1400" dirty="0" smtClean="0">
                <a:latin typeface="Cascadia Mono Light" pitchFamily="49" charset="0"/>
                <a:cs typeface="Cascadia Mono Light" pitchFamily="49" charset="0"/>
              </a:rPr>
              <a:t>[:10] - </a:t>
            </a:r>
            <a:r>
              <a:rPr lang="ru-RU" sz="1400" dirty="0" err="1" smtClean="0">
                <a:latin typeface="Cascadia Mono Light" pitchFamily="49" charset="0"/>
                <a:cs typeface="Cascadia Mono Light" pitchFamily="49" charset="0"/>
              </a:rPr>
              <a:t>y_test</a:t>
            </a:r>
            <a:r>
              <a:rPr lang="ru-RU" sz="1400" dirty="0" smtClean="0">
                <a:latin typeface="Cascadia Mono Light" pitchFamily="49" charset="0"/>
                <a:cs typeface="Cascadia Mono Light" pitchFamily="49" charset="0"/>
              </a:rPr>
              <a:t>[:10] — поэлементное вычитание: из предсказания вычитаем реальную цену.</a:t>
            </a:r>
          </a:p>
          <a:p>
            <a:r>
              <a:rPr lang="ru-RU" sz="1400" dirty="0" smtClean="0">
                <a:latin typeface="Cascadia Mono Light" pitchFamily="49" charset="0"/>
                <a:cs typeface="Cascadia Mono Light" pitchFamily="49" charset="0"/>
              </a:rPr>
              <a:t>Знак: если результат положительный, модель завысила цену. Если отрицательный — занизила.</a:t>
            </a:r>
          </a:p>
          <a:p>
            <a:r>
              <a:rPr lang="ru-RU" sz="1400" dirty="0" smtClean="0">
                <a:latin typeface="Cascadia Mono Light" pitchFamily="49" charset="0"/>
                <a:cs typeface="Cascadia Mono Light" pitchFamily="49" charset="0"/>
              </a:rPr>
              <a:t>.</a:t>
            </a:r>
            <a:r>
              <a:rPr lang="ru-RU" sz="1400" dirty="0" err="1" smtClean="0">
                <a:latin typeface="Cascadia Mono Light" pitchFamily="49" charset="0"/>
                <a:cs typeface="Cascadia Mono Light" pitchFamily="49" charset="0"/>
              </a:rPr>
              <a:t>round</a:t>
            </a:r>
            <a:r>
              <a:rPr lang="ru-RU" sz="1400" dirty="0" smtClean="0">
                <a:latin typeface="Cascadia Mono Light" pitchFamily="49" charset="0"/>
                <a:cs typeface="Cascadia Mono Light" pitchFamily="49" charset="0"/>
              </a:rPr>
              <a:t>(3) — округляем</a:t>
            </a:r>
            <a:r>
              <a:rPr lang="ru-RU" sz="1400" dirty="0" smtClean="0">
                <a:latin typeface="Cascadia Mono Light" pitchFamily="49" charset="0"/>
                <a:cs typeface="Cascadia Mono Light" pitchFamily="49" charset="0"/>
              </a:rPr>
              <a:t>.</a:t>
            </a:r>
            <a:endParaRPr lang="ru-RU" sz="1400" dirty="0" smtClean="0">
              <a:latin typeface="Cascadia Mono Light" pitchFamily="49" charset="0"/>
              <a:cs typeface="Cascadia Mono Light" pitchFamily="49" charset="0"/>
            </a:endParaRPr>
          </a:p>
          <a:p>
            <a:r>
              <a:rPr lang="ru-RU" sz="1400" dirty="0" smtClean="0">
                <a:latin typeface="Cascadia Mono Light" pitchFamily="49" charset="0"/>
                <a:cs typeface="Cascadia Mono Light" pitchFamily="49" charset="0"/>
              </a:rPr>
              <a:t>Печатаем таблицу, хранящуюся в переменной под именем </a:t>
            </a:r>
            <a:r>
              <a:rPr lang="en-US" sz="1400" dirty="0" smtClean="0">
                <a:latin typeface="Cascadia Mono Light" pitchFamily="49" charset="0"/>
                <a:cs typeface="Cascadia Mono Light" pitchFamily="49" charset="0"/>
              </a:rPr>
              <a:t>comparison</a:t>
            </a:r>
            <a:endParaRPr lang="ru-RU" sz="1400" dirty="0" smtClean="0">
              <a:latin typeface="Cascadia Mono Light" pitchFamily="49" charset="0"/>
              <a:cs typeface="Cascadia Mono Light" pitchFamily="49" charset="0"/>
            </a:endParaRPr>
          </a:p>
          <a:p>
            <a:endParaRPr lang="ru-RU" sz="1400" dirty="0" smtClean="0">
              <a:latin typeface="Cascadia Mono Light" pitchFamily="49" charset="0"/>
              <a:cs typeface="Cascadia Mono Light" pitchFamily="49" charset="0"/>
            </a:endParaRPr>
          </a:p>
          <a:p>
            <a:endParaRPr lang="ru-RU" sz="1400" dirty="0" smtClean="0">
              <a:latin typeface="Cascadia Mono Light" pitchFamily="49" charset="0"/>
              <a:cs typeface="Cascadia Mono Light" pitchFamily="49" charset="0"/>
            </a:endParaRPr>
          </a:p>
        </p:txBody>
      </p:sp>
      <p:pic>
        <p:nvPicPr>
          <p:cNvPr id="87042" name="Picture 2"/>
          <p:cNvPicPr>
            <a:picLocks noChangeAspect="1" noChangeArrowheads="1"/>
          </p:cNvPicPr>
          <p:nvPr/>
        </p:nvPicPr>
        <p:blipFill>
          <a:blip r:embed="rId2" cstate="print"/>
          <a:srcRect/>
          <a:stretch>
            <a:fillRect/>
          </a:stretch>
        </p:blipFill>
        <p:spPr bwMode="auto">
          <a:xfrm>
            <a:off x="5334000" y="1066800"/>
            <a:ext cx="3594346" cy="2996923"/>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p:txBody>
          <a:bodyPr/>
          <a:lstStyle/>
          <a:p>
            <a:endParaRPr lang="ru-RU"/>
          </a:p>
        </p:txBody>
      </p:sp>
      <p:pic>
        <p:nvPicPr>
          <p:cNvPr id="44034" name="Picture 2" descr="https://sun9-59.vkuserphoto.ru/s/v1/ig2/AkDM4Lw0LPyfvNILZS2eLELf4AjQRhF9yvkRuBuDVe4mI1icQtXeT4O0H0_u1wJCi2LVuvKk9hyBB66O6VNQ6TLh.jpg?quality=95&amp;as=32x32,48x48,72x72,108x108,160x160,240x240,360x360,480x480,540x540,640x640,720x720,736x736&amp;from=bu&amp;u=b6pn8Ygm9E5laLOmxZA2tX9V0nDkZ7ZJKLpQtGQ6Pek&amp;cs=736x0"/>
          <p:cNvPicPr>
            <a:picLocks noChangeAspect="1" noChangeArrowheads="1"/>
          </p:cNvPicPr>
          <p:nvPr/>
        </p:nvPicPr>
        <p:blipFill>
          <a:blip r:embed="rId2" cstate="print"/>
          <a:srcRect/>
          <a:stretch>
            <a:fillRect/>
          </a:stretch>
        </p:blipFill>
        <p:spPr bwMode="auto">
          <a:xfrm>
            <a:off x="1066800" y="76199"/>
            <a:ext cx="6781800" cy="6781801"/>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3402</TotalTime>
  <Words>9476</Words>
  <Application>Microsoft Office PowerPoint</Application>
  <PresentationFormat>Экран (4:3)</PresentationFormat>
  <Paragraphs>925</Paragraphs>
  <Slides>58</Slides>
  <Notes>14</Notes>
  <HiddenSlides>0</HiddenSlides>
  <MMClips>0</MMClips>
  <ScaleCrop>false</ScaleCrop>
  <HeadingPairs>
    <vt:vector size="4" baseType="variant">
      <vt:variant>
        <vt:lpstr>Тема</vt:lpstr>
      </vt:variant>
      <vt:variant>
        <vt:i4>1</vt:i4>
      </vt:variant>
      <vt:variant>
        <vt:lpstr>Заголовки слайдов</vt:lpstr>
      </vt:variant>
      <vt:variant>
        <vt:i4>58</vt:i4>
      </vt:variant>
    </vt:vector>
  </HeadingPairs>
  <TitlesOfParts>
    <vt:vector size="59" baseType="lpstr">
      <vt:lpstr>Office Theme</vt:lpstr>
      <vt:lpstr>Занятие 2. Основы основ Посвящение в ML  </vt:lpstr>
      <vt:lpstr>План занятия</vt:lpstr>
      <vt:lpstr>Датасет и все вытекающее </vt:lpstr>
      <vt:lpstr>Нейросеть и слои</vt:lpstr>
      <vt:lpstr>Рассмотрим менее страшное более подробно </vt:lpstr>
      <vt:lpstr>Функция потерь</vt:lpstr>
      <vt:lpstr>Слайд 7</vt:lpstr>
      <vt:lpstr>Слайд 8</vt:lpstr>
      <vt:lpstr>Градиентный спуск. Смысл</vt:lpstr>
      <vt:lpstr>Кодим!</vt:lpstr>
      <vt:lpstr>Шаг 0. Импорты нужных библиотек</vt:lpstr>
      <vt:lpstr>Слайд 12</vt:lpstr>
      <vt:lpstr>Слайд 13</vt:lpstr>
      <vt:lpstr>Слайд 14</vt:lpstr>
      <vt:lpstr>Загрузка датасета для задачи про дома в Калифорнии</vt:lpstr>
      <vt:lpstr>Слайд 16</vt:lpstr>
      <vt:lpstr>Ручная реализация градиентного спуска </vt:lpstr>
      <vt:lpstr>Слайд 18</vt:lpstr>
      <vt:lpstr>Слайд 19</vt:lpstr>
      <vt:lpstr>Слайд 20</vt:lpstr>
      <vt:lpstr>Слайд 21</vt:lpstr>
      <vt:lpstr>Виды градиентного спуска. </vt:lpstr>
      <vt:lpstr>Слайд 23</vt:lpstr>
      <vt:lpstr>Слайд 24</vt:lpstr>
      <vt:lpstr>Оптимизаторы</vt:lpstr>
      <vt:lpstr>RMSprop</vt:lpstr>
      <vt:lpstr>Adam</vt:lpstr>
      <vt:lpstr>Регрессия и классификация</vt:lpstr>
      <vt:lpstr>Линейная регрессия</vt:lpstr>
      <vt:lpstr>Постановка задачи</vt:lpstr>
      <vt:lpstr>Предсказание цен домов в Калифорнии КОДМИМ!)</vt:lpstr>
      <vt:lpstr>1. Загрузка датасета</vt:lpstr>
      <vt:lpstr>Слайд 33</vt:lpstr>
      <vt:lpstr>Слайд 34</vt:lpstr>
      <vt:lpstr>Слайд 35</vt:lpstr>
      <vt:lpstr>Слайд 36</vt:lpstr>
      <vt:lpstr>Слайд 37</vt:lpstr>
      <vt:lpstr>2. Вывод нескольких образцов из датасета</vt:lpstr>
      <vt:lpstr>Слайд 39</vt:lpstr>
      <vt:lpstr>Слайд 40</vt:lpstr>
      <vt:lpstr>3. Разбивка на выборки</vt:lpstr>
      <vt:lpstr>Слайд 42</vt:lpstr>
      <vt:lpstr>Слайд 43</vt:lpstr>
      <vt:lpstr>Слайд 44</vt:lpstr>
      <vt:lpstr>4. Предобработка данных</vt:lpstr>
      <vt:lpstr>Слайд 46</vt:lpstr>
      <vt:lpstr>Слайд 47</vt:lpstr>
      <vt:lpstr>5. Создаем нейросеть! Ура, товарищи!</vt:lpstr>
      <vt:lpstr>5. Создаем нейросеть! Ура, товарищи!</vt:lpstr>
      <vt:lpstr>6. Подготовка к обучению. Compile </vt:lpstr>
      <vt:lpstr>Слайд 51</vt:lpstr>
      <vt:lpstr>7. Обучение! Fit()</vt:lpstr>
      <vt:lpstr>Слайд 53</vt:lpstr>
      <vt:lpstr>8. Визуализация </vt:lpstr>
      <vt:lpstr>9. Попробуем заставить модель поработать гадалкой. Предсказываем цены</vt:lpstr>
      <vt:lpstr>Слайд 56</vt:lpstr>
      <vt:lpstr>Слайд 57</vt:lpstr>
      <vt:lpstr>Слайд 58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Занятие 2. Основы основ. Посвящение в ML Градиентый спуск, нейросети,линейная регрессия</dc:title>
  <dc:creator>Вера Пономаренко</dc:creator>
  <cp:lastModifiedBy>Вера Пономаренко</cp:lastModifiedBy>
  <cp:revision>69</cp:revision>
  <dcterms:created xsi:type="dcterms:W3CDTF">2026-09-26T20:54:10Z</dcterms:created>
  <dcterms:modified xsi:type="dcterms:W3CDTF">2026-10-02T06:58:54Z</dcterms:modified>
</cp:coreProperties>
</file>
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258" r:id="rId3"/>
    <p:sldId id="259" r:id="rId4"/>
    <p:sldId id="268" r:id="rId5"/>
    <p:sldId id="260" r:id="rId6"/>
    <p:sldId id="267" r:id="rId7"/>
    <p:sldId id="263" r:id="rId8"/>
    <p:sldId id="264" r:id="rId9"/>
    <p:sldId id="261" r:id="rId10"/>
    <p:sldId id="262"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Lst>
  <p:sldSz cx="9144000" cy="6858000" type="screen4x3"/>
  <p:notesSz cx="6858000" cy="9144000"/>
  <p:defaultTextStyle>
    <a:defPPr>
      <a:defRPr lang="en-US"/>
    </a:defPPr>
    <a:lvl1pPr marL="0" algn="l" defTabSz="914400" rtl="0" latinLnBrk="0">
      <a:defRPr sz="1800" kern="1200">
        <a:solidFill>
          <a:schemeClr val="tx1"/>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4125" autoAdjust="0"/>
  </p:normalViewPr>
  <p:slideViewPr>
    <p:cSldViewPr>
      <p:cViewPr>
        <p:scale>
          <a:sx n="33" d="100"/>
          <a:sy n="33" d="100"/>
        </p:scale>
        <p:origin x="-3296" y="-412"/>
      </p:cViewPr>
      <p:guideLst>
        <p:guide orient="horz" pos="2160"/>
        <p:guide pos="2880"/>
      </p:guideLst>
    </p:cSldViewPr>
  </p:slideViewPr>
  <p:notesTextViewPr>
    <p:cViewPr>
      <p:scale>
        <a:sx n="33" d="100"/>
        <a:sy n="33"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A7B7837-D660-451D-9D3F-9236AA2B4D1A}" type="datetimeFigureOut">
              <a:rPr lang="ru-RU" smtClean="0"/>
              <a:t>29.10.2026</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2A40295-5C2D-44F9-9666-2230E0FAA04D}" type="slidenum">
              <a:rPr lang="ru-RU" smtClean="0"/>
              <a:t>‹#›</a:t>
            </a:fld>
            <a:endParaRPr lang="ru-R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92500" lnSpcReduction="20000"/>
          </a:bodyPr>
          <a:lstStyle/>
          <a:p>
            <a:r>
              <a:rPr lang="ru-RU" sz="1200" b="0" i="0" kern="1200" dirty="0" smtClean="0">
                <a:solidFill>
                  <a:schemeClr val="tx1"/>
                </a:solidFill>
                <a:latin typeface="+mn-lt"/>
                <a:ea typeface="+mn-ea"/>
                <a:cs typeface="+mn-cs"/>
              </a:rPr>
              <a:t>В отличие от задачи классификации (рассмотренной на примере </a:t>
            </a:r>
            <a:r>
              <a:rPr lang="ru-RU" sz="1200" b="0" i="0" kern="1200" dirty="0" err="1" smtClean="0">
                <a:solidFill>
                  <a:schemeClr val="tx1"/>
                </a:solidFill>
                <a:latin typeface="+mn-lt"/>
                <a:ea typeface="+mn-ea"/>
                <a:cs typeface="+mn-cs"/>
              </a:rPr>
              <a:t>ResNet</a:t>
            </a:r>
            <a:r>
              <a:rPr lang="ru-RU" sz="1200" b="0" i="0" kern="1200" dirty="0" smtClean="0">
                <a:solidFill>
                  <a:schemeClr val="tx1"/>
                </a:solidFill>
                <a:latin typeface="+mn-lt"/>
                <a:ea typeface="+mn-ea"/>
                <a:cs typeface="+mn-cs"/>
              </a:rPr>
              <a:t>), которая определяет лишь факт наличия или отсутствия объекта на изображении, задача </a:t>
            </a:r>
            <a:r>
              <a:rPr lang="ru-RU" sz="1200" b="0" i="0" kern="1200" dirty="0" err="1" smtClean="0">
                <a:solidFill>
                  <a:schemeClr val="tx1"/>
                </a:solidFill>
                <a:latin typeface="+mn-lt"/>
                <a:ea typeface="+mn-ea"/>
                <a:cs typeface="+mn-cs"/>
              </a:rPr>
              <a:t>детекции</a:t>
            </a:r>
            <a:r>
              <a:rPr lang="ru-RU" sz="1200" b="0" i="0" kern="1200" dirty="0" smtClean="0">
                <a:solidFill>
                  <a:schemeClr val="tx1"/>
                </a:solidFill>
                <a:latin typeface="+mn-lt"/>
                <a:ea typeface="+mn-ea"/>
                <a:cs typeface="+mn-cs"/>
              </a:rPr>
              <a:t> требует определения его пространственного положения. В прикладных задачах (например, в системах автономного пилотирования или видеонаблюдения) критически важно не только распознать объект (например, пешехода), но и точно определить, где именно он расположен.</a:t>
            </a:r>
          </a:p>
          <a:p>
            <a:r>
              <a:rPr lang="ru-RU" sz="1200" b="0" i="0" kern="1200" dirty="0" smtClean="0">
                <a:solidFill>
                  <a:schemeClr val="tx1"/>
                </a:solidFill>
                <a:latin typeface="+mn-lt"/>
                <a:ea typeface="+mn-ea"/>
                <a:cs typeface="+mn-cs"/>
              </a:rPr>
              <a:t>Детектор объектов YOLO возвращает список найденных объектов. Для каждого объекта предсказывается его класс и координаты ограничивающей рамки (</a:t>
            </a:r>
            <a:r>
              <a:rPr lang="ru-RU" sz="1200" b="0" i="0" kern="1200" dirty="0" err="1" smtClean="0">
                <a:solidFill>
                  <a:schemeClr val="tx1"/>
                </a:solidFill>
                <a:latin typeface="+mn-lt"/>
                <a:ea typeface="+mn-ea"/>
                <a:cs typeface="+mn-cs"/>
              </a:rPr>
              <a:t>Bounding</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Box</a:t>
            </a:r>
            <a:r>
              <a:rPr lang="ru-RU" sz="1200" b="0" i="0" kern="1200" dirty="0" smtClean="0">
                <a:solidFill>
                  <a:schemeClr val="tx1"/>
                </a:solidFill>
                <a:latin typeface="+mn-lt"/>
                <a:ea typeface="+mn-ea"/>
                <a:cs typeface="+mn-cs"/>
              </a:rPr>
              <a:t>). Таким образом, </a:t>
            </a:r>
            <a:r>
              <a:rPr lang="ru-RU" sz="1200" b="0" i="0" kern="1200" dirty="0" err="1" smtClean="0">
                <a:solidFill>
                  <a:schemeClr val="tx1"/>
                </a:solidFill>
                <a:latin typeface="+mn-lt"/>
                <a:ea typeface="+mn-ea"/>
                <a:cs typeface="+mn-cs"/>
              </a:rPr>
              <a:t>детекция</a:t>
            </a:r>
            <a:r>
              <a:rPr lang="ru-RU" sz="1200" b="0" i="0" kern="1200" dirty="0" smtClean="0">
                <a:solidFill>
                  <a:schemeClr val="tx1"/>
                </a:solidFill>
                <a:latin typeface="+mn-lt"/>
                <a:ea typeface="+mn-ea"/>
                <a:cs typeface="+mn-cs"/>
              </a:rPr>
              <a:t> — это задача одновременного распознавания класса объекта и его локализации на изображении.</a:t>
            </a:r>
          </a:p>
          <a:p>
            <a:r>
              <a:rPr lang="ru-RU" sz="1200" b="0" i="0" kern="1200" dirty="0" smtClean="0">
                <a:solidFill>
                  <a:schemeClr val="tx1"/>
                </a:solidFill>
                <a:latin typeface="+mn-lt"/>
                <a:ea typeface="+mn-ea"/>
                <a:cs typeface="+mn-cs"/>
              </a:rPr>
              <a:t>Пространственное положение объекта задается параметрами его ограничивающей рамки: координатами центра (</a:t>
            </a:r>
            <a:r>
              <a:rPr lang="ru-RU" sz="1200" b="0" i="0" kern="1200" dirty="0" err="1" smtClean="0">
                <a:solidFill>
                  <a:schemeClr val="tx1"/>
                </a:solidFill>
                <a:latin typeface="+mn-lt"/>
                <a:ea typeface="+mn-ea"/>
                <a:cs typeface="+mn-cs"/>
              </a:rPr>
              <a:t>x</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y</a:t>
            </a:r>
            <a:r>
              <a:rPr lang="ru-RU" sz="1200" b="0" i="0" kern="1200" dirty="0" smtClean="0">
                <a:solidFill>
                  <a:schemeClr val="tx1"/>
                </a:solidFill>
                <a:latin typeface="+mn-lt"/>
                <a:ea typeface="+mn-ea"/>
                <a:cs typeface="+mn-cs"/>
              </a:rPr>
              <a:t>), а также её шириной (</a:t>
            </a:r>
            <a:r>
              <a:rPr lang="ru-RU" sz="1200" b="0" i="0" kern="1200" dirty="0" err="1" smtClean="0">
                <a:solidFill>
                  <a:schemeClr val="tx1"/>
                </a:solidFill>
                <a:latin typeface="+mn-lt"/>
                <a:ea typeface="+mn-ea"/>
                <a:cs typeface="+mn-cs"/>
              </a:rPr>
              <a:t>w</a:t>
            </a:r>
            <a:r>
              <a:rPr lang="ru-RU" sz="1200" b="0" i="0" kern="1200" dirty="0" smtClean="0">
                <a:solidFill>
                  <a:schemeClr val="tx1"/>
                </a:solidFill>
                <a:latin typeface="+mn-lt"/>
                <a:ea typeface="+mn-ea"/>
                <a:cs typeface="+mn-cs"/>
              </a:rPr>
              <a:t>) и высотой (</a:t>
            </a:r>
            <a:r>
              <a:rPr lang="ru-RU" sz="1200" b="0" i="0" kern="1200" dirty="0" err="1" smtClean="0">
                <a:solidFill>
                  <a:schemeClr val="tx1"/>
                </a:solidFill>
                <a:latin typeface="+mn-lt"/>
                <a:ea typeface="+mn-ea"/>
                <a:cs typeface="+mn-cs"/>
              </a:rPr>
              <a:t>h</a:t>
            </a:r>
            <a:r>
              <a:rPr lang="ru-RU" sz="1200" b="0" i="0" kern="1200" dirty="0" smtClean="0">
                <a:solidFill>
                  <a:schemeClr val="tx1"/>
                </a:solidFill>
                <a:latin typeface="+mn-lt"/>
                <a:ea typeface="+mn-ea"/>
                <a:cs typeface="+mn-cs"/>
              </a:rPr>
              <a:t>).</a:t>
            </a:r>
          </a:p>
          <a:p>
            <a:r>
              <a:rPr lang="ru-RU" dirty="0" smtClean="0"/>
              <a:t/>
            </a:r>
            <a:br>
              <a:rPr lang="ru-RU" dirty="0" smtClean="0"/>
            </a:br>
            <a:endParaRPr lang="ru-RU" sz="1200" b="0" i="0" kern="120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32A40295-5C2D-44F9-9666-2230E0FAA04D}" type="slidenum">
              <a:rPr lang="ru-RU" smtClean="0"/>
              <a:t>3</a:t>
            </a:fld>
            <a:endParaRPr lang="ru-R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85000" lnSpcReduction="20000"/>
          </a:bodyPr>
          <a:lstStyle/>
          <a:p>
            <a:r>
              <a:rPr lang="ru-RU" sz="1200" b="0" i="0" kern="1200" dirty="0" smtClean="0">
                <a:solidFill>
                  <a:schemeClr val="tx1"/>
                </a:solidFill>
                <a:latin typeface="+mn-lt"/>
                <a:ea typeface="+mn-ea"/>
                <a:cs typeface="+mn-cs"/>
              </a:rPr>
              <a:t>YOLO (</a:t>
            </a:r>
            <a:r>
              <a:rPr lang="ru-RU" sz="1200" b="0" i="0" kern="1200" dirty="0" err="1" smtClean="0">
                <a:solidFill>
                  <a:schemeClr val="tx1"/>
                </a:solidFill>
                <a:latin typeface="+mn-lt"/>
                <a:ea typeface="+mn-ea"/>
                <a:cs typeface="+mn-cs"/>
              </a:rPr>
              <a:t>You</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Only</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Look</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Once</a:t>
            </a:r>
            <a:r>
              <a:rPr lang="ru-RU" sz="1200" b="0" i="0" kern="1200" dirty="0" smtClean="0">
                <a:solidFill>
                  <a:schemeClr val="tx1"/>
                </a:solidFill>
                <a:latin typeface="+mn-lt"/>
                <a:ea typeface="+mn-ea"/>
                <a:cs typeface="+mn-cs"/>
              </a:rPr>
              <a:t> — «Ты смотришь только один раз») отражает ключевой принцип работы данной архитектуры — выполнение всех вычислений за один проход сети. Для понимания этого принципа необходимо рассмотреть эволюцию подходов к задаче </a:t>
            </a:r>
            <a:r>
              <a:rPr lang="ru-RU" sz="1200" b="0" i="0" kern="1200" dirty="0" err="1" smtClean="0">
                <a:solidFill>
                  <a:schemeClr val="tx1"/>
                </a:solidFill>
                <a:latin typeface="+mn-lt"/>
                <a:ea typeface="+mn-ea"/>
                <a:cs typeface="+mn-cs"/>
              </a:rPr>
              <a:t>детекции</a:t>
            </a:r>
            <a:r>
              <a:rPr lang="ru-RU" sz="1200" b="0" i="0" kern="1200" dirty="0" smtClean="0">
                <a:solidFill>
                  <a:schemeClr val="tx1"/>
                </a:solidFill>
                <a:latin typeface="+mn-lt"/>
                <a:ea typeface="+mn-ea"/>
                <a:cs typeface="+mn-cs"/>
              </a:rPr>
              <a:t> объектов.</a:t>
            </a:r>
          </a:p>
          <a:p>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1. </a:t>
            </a:r>
            <a:r>
              <a:rPr lang="ru-RU" sz="1200" b="1" i="0" kern="1200" dirty="0" err="1" smtClean="0">
                <a:solidFill>
                  <a:schemeClr val="tx1"/>
                </a:solidFill>
                <a:latin typeface="+mn-lt"/>
                <a:ea typeface="+mn-ea"/>
                <a:cs typeface="+mn-cs"/>
              </a:rPr>
              <a:t>Двухстадийные</a:t>
            </a:r>
            <a:r>
              <a:rPr lang="ru-RU" sz="1200" b="1" i="0" kern="1200" dirty="0" smtClean="0">
                <a:solidFill>
                  <a:schemeClr val="tx1"/>
                </a:solidFill>
                <a:latin typeface="+mn-lt"/>
                <a:ea typeface="+mn-ea"/>
                <a:cs typeface="+mn-cs"/>
              </a:rPr>
              <a:t> детекторы (</a:t>
            </a:r>
            <a:r>
              <a:rPr lang="ru-RU" sz="1200" b="1" i="0" kern="1200" dirty="0" err="1" smtClean="0">
                <a:solidFill>
                  <a:schemeClr val="tx1"/>
                </a:solidFill>
                <a:latin typeface="+mn-lt"/>
                <a:ea typeface="+mn-ea"/>
                <a:cs typeface="+mn-cs"/>
              </a:rPr>
              <a:t>Two-stage</a:t>
            </a:r>
            <a:r>
              <a:rPr lang="ru-RU" sz="1200" b="1" i="0" kern="1200" dirty="0" smtClean="0">
                <a:solidFill>
                  <a:schemeClr val="tx1"/>
                </a:solidFill>
                <a:latin typeface="+mn-lt"/>
                <a:ea typeface="+mn-ea"/>
                <a:cs typeface="+mn-cs"/>
              </a:rPr>
              <a:t>)</a:t>
            </a:r>
            <a:r>
              <a:rPr lang="ru-RU" sz="1200" b="0" i="0" kern="1200" dirty="0" smtClean="0">
                <a:solidFill>
                  <a:schemeClr val="tx1"/>
                </a:solidFill>
                <a:latin typeface="+mn-lt"/>
                <a:ea typeface="+mn-ea"/>
                <a:cs typeface="+mn-cs"/>
              </a:rPr>
              <a:t/>
            </a:r>
            <a:br>
              <a:rPr lang="ru-RU" sz="1200" b="0" i="0" kern="1200" dirty="0" smtClean="0">
                <a:solidFill>
                  <a:schemeClr val="tx1"/>
                </a:solidFill>
                <a:latin typeface="+mn-lt"/>
                <a:ea typeface="+mn-ea"/>
                <a:cs typeface="+mn-cs"/>
              </a:rPr>
            </a:br>
            <a:r>
              <a:rPr lang="ru-RU" sz="1200" b="0" i="0" kern="1200" dirty="0" smtClean="0">
                <a:solidFill>
                  <a:schemeClr val="tx1"/>
                </a:solidFill>
                <a:latin typeface="+mn-lt"/>
                <a:ea typeface="+mn-ea"/>
                <a:cs typeface="+mn-cs"/>
              </a:rPr>
              <a:t>До появления архитектуры YOLO доминирующим подходом были </a:t>
            </a:r>
            <a:r>
              <a:rPr lang="ru-RU" sz="1200" b="0" i="0" kern="1200" dirty="0" err="1" smtClean="0">
                <a:solidFill>
                  <a:schemeClr val="tx1"/>
                </a:solidFill>
                <a:latin typeface="+mn-lt"/>
                <a:ea typeface="+mn-ea"/>
                <a:cs typeface="+mn-cs"/>
              </a:rPr>
              <a:t>двухстадийные</a:t>
            </a:r>
            <a:r>
              <a:rPr lang="ru-RU" sz="1200" b="0" i="0" kern="1200" dirty="0" smtClean="0">
                <a:solidFill>
                  <a:schemeClr val="tx1"/>
                </a:solidFill>
                <a:latin typeface="+mn-lt"/>
                <a:ea typeface="+mn-ea"/>
                <a:cs typeface="+mn-cs"/>
              </a:rPr>
              <a:t> алгоритмы (например, семейство R-CNN). Их работа была разделена на два последовательных этапа:</a:t>
            </a:r>
          </a:p>
          <a:p>
            <a:r>
              <a:rPr lang="ru-RU" sz="1200" b="1" i="0" kern="1200" dirty="0" smtClean="0">
                <a:solidFill>
                  <a:schemeClr val="tx1"/>
                </a:solidFill>
                <a:latin typeface="+mn-lt"/>
                <a:ea typeface="+mn-ea"/>
                <a:cs typeface="+mn-cs"/>
              </a:rPr>
              <a:t>Первый проход (Поиск регионов):</a:t>
            </a:r>
            <a:r>
              <a:rPr lang="ru-RU" sz="1200" b="0" i="0" kern="1200" dirty="0" smtClean="0">
                <a:solidFill>
                  <a:schemeClr val="tx1"/>
                </a:solidFill>
                <a:latin typeface="+mn-lt"/>
                <a:ea typeface="+mn-ea"/>
                <a:cs typeface="+mn-cs"/>
              </a:rPr>
              <a:t> Специальный алгоритм генерировал на изображении множество ограничивающих рамок-кандидатов (</a:t>
            </a:r>
            <a:r>
              <a:rPr lang="ru-RU" sz="1200" b="0" i="0" kern="1200" dirty="0" err="1" smtClean="0">
                <a:solidFill>
                  <a:schemeClr val="tx1"/>
                </a:solidFill>
                <a:latin typeface="+mn-lt"/>
                <a:ea typeface="+mn-ea"/>
                <a:cs typeface="+mn-cs"/>
              </a:rPr>
              <a:t>Region</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Proposals</a:t>
            </a:r>
            <a:r>
              <a:rPr lang="ru-RU" sz="1200" b="0" i="0" kern="1200" dirty="0" smtClean="0">
                <a:solidFill>
                  <a:schemeClr val="tx1"/>
                </a:solidFill>
                <a:latin typeface="+mn-lt"/>
                <a:ea typeface="+mn-ea"/>
                <a:cs typeface="+mn-cs"/>
              </a:rPr>
              <a:t>), то есть областей, где с высокой долей вероятности мог находиться некоторый объект («подозрительных мест»).</a:t>
            </a:r>
          </a:p>
          <a:p>
            <a:r>
              <a:rPr lang="ru-RU" sz="1200" b="1" i="0" kern="1200" dirty="0" smtClean="0">
                <a:solidFill>
                  <a:schemeClr val="tx1"/>
                </a:solidFill>
                <a:latin typeface="+mn-lt"/>
                <a:ea typeface="+mn-ea"/>
                <a:cs typeface="+mn-cs"/>
              </a:rPr>
              <a:t>Второй проход (Классификация):</a:t>
            </a:r>
            <a:r>
              <a:rPr lang="ru-RU" sz="1200" b="0" i="0" kern="1200" dirty="0" smtClean="0">
                <a:solidFill>
                  <a:schemeClr val="tx1"/>
                </a:solidFill>
                <a:latin typeface="+mn-lt"/>
                <a:ea typeface="+mn-ea"/>
                <a:cs typeface="+mn-cs"/>
              </a:rPr>
              <a:t> Каждый вырезанный регион-кандидат отдельно пропускался через </a:t>
            </a:r>
            <a:r>
              <a:rPr lang="ru-RU" sz="1200" b="0" i="0" kern="1200" dirty="0" err="1" smtClean="0">
                <a:solidFill>
                  <a:schemeClr val="tx1"/>
                </a:solidFill>
                <a:latin typeface="+mn-lt"/>
                <a:ea typeface="+mn-ea"/>
                <a:cs typeface="+mn-cs"/>
              </a:rPr>
              <a:t>нейросеть-классификатор</a:t>
            </a:r>
            <a:r>
              <a:rPr lang="ru-RU" sz="1200" b="0" i="0" kern="1200" dirty="0" smtClean="0">
                <a:solidFill>
                  <a:schemeClr val="tx1"/>
                </a:solidFill>
                <a:latin typeface="+mn-lt"/>
                <a:ea typeface="+mn-ea"/>
                <a:cs typeface="+mn-cs"/>
              </a:rPr>
              <a:t> для определения класса объекта внутри него.</a:t>
            </a:r>
          </a:p>
          <a:p>
            <a:r>
              <a:rPr lang="ru-RU" sz="1200" b="0" i="0" kern="1200" dirty="0" smtClean="0">
                <a:solidFill>
                  <a:schemeClr val="tx1"/>
                </a:solidFill>
                <a:latin typeface="+mn-lt"/>
                <a:ea typeface="+mn-ea"/>
                <a:cs typeface="+mn-cs"/>
              </a:rPr>
              <a:t>Основным недостатком данного подхода является низкая вычислительная эффективность. Генерация и последовательная обработка тысяч регионов требуют значительных ресурсов времени, что делает невозможным применение таких моделей в системах реального времени.</a:t>
            </a:r>
          </a:p>
          <a:p>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2. Одностадийные детекторы (</a:t>
            </a:r>
            <a:r>
              <a:rPr lang="ru-RU" sz="1200" b="1" i="0" kern="1200" dirty="0" err="1" smtClean="0">
                <a:solidFill>
                  <a:schemeClr val="tx1"/>
                </a:solidFill>
                <a:latin typeface="+mn-lt"/>
                <a:ea typeface="+mn-ea"/>
                <a:cs typeface="+mn-cs"/>
              </a:rPr>
              <a:t>One-stage</a:t>
            </a:r>
            <a:r>
              <a:rPr lang="ru-RU" sz="1200" b="1" i="0" kern="1200" dirty="0" smtClean="0">
                <a:solidFill>
                  <a:schemeClr val="tx1"/>
                </a:solidFill>
                <a:latin typeface="+mn-lt"/>
                <a:ea typeface="+mn-ea"/>
                <a:cs typeface="+mn-cs"/>
              </a:rPr>
              <a:t>)</a:t>
            </a:r>
            <a:r>
              <a:rPr lang="ru-RU" sz="1200" b="0" i="0" kern="1200" dirty="0" smtClean="0">
                <a:solidFill>
                  <a:schemeClr val="tx1"/>
                </a:solidFill>
                <a:latin typeface="+mn-lt"/>
                <a:ea typeface="+mn-ea"/>
                <a:cs typeface="+mn-cs"/>
              </a:rPr>
              <a:t/>
            </a:r>
            <a:br>
              <a:rPr lang="ru-RU" sz="1200" b="0" i="0" kern="1200" dirty="0" smtClean="0">
                <a:solidFill>
                  <a:schemeClr val="tx1"/>
                </a:solidFill>
                <a:latin typeface="+mn-lt"/>
                <a:ea typeface="+mn-ea"/>
                <a:cs typeface="+mn-cs"/>
              </a:rPr>
            </a:br>
            <a:r>
              <a:rPr lang="ru-RU" sz="1200" b="0" i="0" kern="1200" dirty="0" smtClean="0">
                <a:solidFill>
                  <a:schemeClr val="tx1"/>
                </a:solidFill>
                <a:latin typeface="+mn-lt"/>
                <a:ea typeface="+mn-ea"/>
                <a:cs typeface="+mn-cs"/>
              </a:rPr>
              <a:t>Архитектура YOLO относится к классу одностадийных детекторов (</a:t>
            </a:r>
            <a:r>
              <a:rPr lang="ru-RU" sz="1200" b="0" i="0" kern="1200" dirty="0" err="1" smtClean="0">
                <a:solidFill>
                  <a:schemeClr val="tx1"/>
                </a:solidFill>
                <a:latin typeface="+mn-lt"/>
                <a:ea typeface="+mn-ea"/>
                <a:cs typeface="+mn-cs"/>
              </a:rPr>
              <a:t>One-stage</a:t>
            </a:r>
            <a:r>
              <a:rPr lang="ru-RU" sz="1200" b="0" i="0" kern="1200" dirty="0" smtClean="0">
                <a:solidFill>
                  <a:schemeClr val="tx1"/>
                </a:solidFill>
                <a:latin typeface="+mn-lt"/>
                <a:ea typeface="+mn-ea"/>
                <a:cs typeface="+mn-cs"/>
              </a:rPr>
              <a:t>). В ней был полностью исключен этап предварительного поиска регионов-кандидатов.</a:t>
            </a:r>
          </a:p>
          <a:p>
            <a:r>
              <a:rPr lang="ru-RU" sz="1200" b="0" i="0" kern="1200" dirty="0" smtClean="0">
                <a:solidFill>
                  <a:schemeClr val="tx1"/>
                </a:solidFill>
                <a:latin typeface="+mn-lt"/>
                <a:ea typeface="+mn-ea"/>
                <a:cs typeface="+mn-cs"/>
              </a:rPr>
              <a:t>Исходное изображение пропускается через </a:t>
            </a:r>
            <a:r>
              <a:rPr lang="ru-RU" sz="1200" b="0" i="0" kern="1200" dirty="0" err="1" smtClean="0">
                <a:solidFill>
                  <a:schemeClr val="tx1"/>
                </a:solidFill>
                <a:latin typeface="+mn-lt"/>
                <a:ea typeface="+mn-ea"/>
                <a:cs typeface="+mn-cs"/>
              </a:rPr>
              <a:t>сверточную</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нейросеть</a:t>
            </a:r>
            <a:r>
              <a:rPr lang="ru-RU" sz="1200" b="0" i="0" kern="1200" dirty="0" smtClean="0">
                <a:solidFill>
                  <a:schemeClr val="tx1"/>
                </a:solidFill>
                <a:latin typeface="+mn-lt"/>
                <a:ea typeface="+mn-ea"/>
                <a:cs typeface="+mn-cs"/>
              </a:rPr>
              <a:t> только один раз.</a:t>
            </a:r>
          </a:p>
          <a:p>
            <a:r>
              <a:rPr lang="ru-RU" sz="1200" b="0" i="0" kern="1200" dirty="0" smtClean="0">
                <a:solidFill>
                  <a:schemeClr val="tx1"/>
                </a:solidFill>
                <a:latin typeface="+mn-lt"/>
                <a:ea typeface="+mn-ea"/>
                <a:cs typeface="+mn-cs"/>
              </a:rPr>
              <a:t>На выходе </a:t>
            </a:r>
            <a:r>
              <a:rPr lang="ru-RU" sz="1200" b="0" i="0" kern="1200" dirty="0" err="1" smtClean="0">
                <a:solidFill>
                  <a:schemeClr val="tx1"/>
                </a:solidFill>
                <a:latin typeface="+mn-lt"/>
                <a:ea typeface="+mn-ea"/>
                <a:cs typeface="+mn-cs"/>
              </a:rPr>
              <a:t>сверточной</a:t>
            </a:r>
            <a:r>
              <a:rPr lang="ru-RU" sz="1200" b="0" i="0" kern="1200" dirty="0" smtClean="0">
                <a:solidFill>
                  <a:schemeClr val="tx1"/>
                </a:solidFill>
                <a:latin typeface="+mn-lt"/>
                <a:ea typeface="+mn-ea"/>
                <a:cs typeface="+mn-cs"/>
              </a:rPr>
              <a:t> нейронной сети формируется карта признаков (</a:t>
            </a:r>
            <a:r>
              <a:rPr lang="ru-RU" sz="1200" b="0" i="0" kern="1200" dirty="0" err="1" smtClean="0">
                <a:solidFill>
                  <a:schemeClr val="tx1"/>
                </a:solidFill>
                <a:latin typeface="+mn-lt"/>
                <a:ea typeface="+mn-ea"/>
                <a:cs typeface="+mn-cs"/>
              </a:rPr>
              <a:t>feature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map</a:t>
            </a:r>
            <a:r>
              <a:rPr lang="ru-RU" sz="1200" b="0" i="0" kern="1200" dirty="0" smtClean="0">
                <a:solidFill>
                  <a:schemeClr val="tx1"/>
                </a:solidFill>
                <a:latin typeface="+mn-lt"/>
                <a:ea typeface="+mn-ea"/>
                <a:cs typeface="+mn-cs"/>
              </a:rPr>
              <a:t>), на основе которой сеть напрямую и параллельно предсказывает как координаты ограничивающих рамок (</a:t>
            </a:r>
            <a:r>
              <a:rPr lang="ru-RU" sz="1200" b="0" i="0" kern="1200" dirty="0" err="1" smtClean="0">
                <a:solidFill>
                  <a:schemeClr val="tx1"/>
                </a:solidFill>
                <a:latin typeface="+mn-lt"/>
                <a:ea typeface="+mn-ea"/>
                <a:cs typeface="+mn-cs"/>
              </a:rPr>
              <a:t>Bounding</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Boxes</a:t>
            </a:r>
            <a:r>
              <a:rPr lang="ru-RU" sz="1200" b="0" i="0" kern="1200" dirty="0" smtClean="0">
                <a:solidFill>
                  <a:schemeClr val="tx1"/>
                </a:solidFill>
                <a:latin typeface="+mn-lt"/>
                <a:ea typeface="+mn-ea"/>
                <a:cs typeface="+mn-cs"/>
              </a:rPr>
              <a:t>), так и вероятности принадлежности объектов к определенным классам.</a:t>
            </a:r>
          </a:p>
          <a:p>
            <a:endParaRPr lang="ru-RU" sz="1200" b="1"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
            </a:r>
            <a:br>
              <a:rPr lang="ru-RU" sz="1200" b="0" i="0" kern="1200" dirty="0" smtClean="0">
                <a:solidFill>
                  <a:schemeClr val="tx1"/>
                </a:solidFill>
                <a:latin typeface="+mn-lt"/>
                <a:ea typeface="+mn-ea"/>
                <a:cs typeface="+mn-cs"/>
              </a:rPr>
            </a:br>
            <a:r>
              <a:rPr lang="ru-RU" sz="1200" b="0" i="0" kern="1200" dirty="0" smtClean="0">
                <a:solidFill>
                  <a:schemeClr val="tx1"/>
                </a:solidFill>
                <a:latin typeface="+mn-lt"/>
                <a:ea typeface="+mn-ea"/>
                <a:cs typeface="+mn-cs"/>
              </a:rPr>
              <a:t>Отказ от генерации и повторной обработки регионов позволил YOLO достичь высокой скорости </a:t>
            </a:r>
            <a:r>
              <a:rPr lang="ru-RU" sz="1200" b="0" i="0" kern="1200" dirty="0" err="1" smtClean="0">
                <a:solidFill>
                  <a:schemeClr val="tx1"/>
                </a:solidFill>
                <a:latin typeface="+mn-lt"/>
                <a:ea typeface="+mn-ea"/>
                <a:cs typeface="+mn-cs"/>
              </a:rPr>
              <a:t>инференса</a:t>
            </a:r>
            <a:r>
              <a:rPr lang="ru-RU" sz="1200" b="0" i="0" kern="1200" dirty="0" smtClean="0">
                <a:solidFill>
                  <a:schemeClr val="tx1"/>
                </a:solidFill>
                <a:latin typeface="+mn-lt"/>
                <a:ea typeface="+mn-ea"/>
                <a:cs typeface="+mn-cs"/>
              </a:rPr>
              <a:t> (выполнения предсказания). Благодаря тому, что вся картинка обрабатывается за один проход, архитектура YOLO способна обеспечивать </a:t>
            </a:r>
            <a:r>
              <a:rPr lang="ru-RU" sz="1200" b="0" i="0" kern="1200" dirty="0" err="1" smtClean="0">
                <a:solidFill>
                  <a:schemeClr val="tx1"/>
                </a:solidFill>
                <a:latin typeface="+mn-lt"/>
                <a:ea typeface="+mn-ea"/>
                <a:cs typeface="+mn-cs"/>
              </a:rPr>
              <a:t>детекцию</a:t>
            </a:r>
            <a:r>
              <a:rPr lang="ru-RU" sz="1200" b="0" i="0" kern="1200" dirty="0" smtClean="0">
                <a:solidFill>
                  <a:schemeClr val="tx1"/>
                </a:solidFill>
                <a:latin typeface="+mn-lt"/>
                <a:ea typeface="+mn-ea"/>
                <a:cs typeface="+mn-cs"/>
              </a:rPr>
              <a:t> объектов в режиме реального времени (в </a:t>
            </a:r>
            <a:r>
              <a:rPr lang="ru-RU" sz="1200" b="0" i="0" kern="1200" dirty="0" err="1" smtClean="0">
                <a:solidFill>
                  <a:schemeClr val="tx1"/>
                </a:solidFill>
                <a:latin typeface="+mn-lt"/>
                <a:ea typeface="+mn-ea"/>
                <a:cs typeface="+mn-cs"/>
              </a:rPr>
              <a:t>видеопотоке</a:t>
            </a:r>
            <a:r>
              <a:rPr lang="ru-RU" sz="1200" b="0" i="0" kern="1200" dirty="0" smtClean="0">
                <a:solidFill>
                  <a:schemeClr val="tx1"/>
                </a:solidFill>
                <a:latin typeface="+mn-lt"/>
                <a:ea typeface="+mn-ea"/>
                <a:cs typeface="+mn-cs"/>
              </a:rPr>
              <a:t>), что делает ее стандартом для применения в беспилотных системах и системах видеонаблюдения.</a:t>
            </a:r>
          </a:p>
          <a:p>
            <a:r>
              <a:rPr lang="ru-RU" dirty="0" smtClean="0"/>
              <a:t/>
            </a:r>
            <a:br>
              <a:rPr lang="ru-RU" dirty="0" smtClean="0"/>
            </a:br>
            <a:endParaRPr lang="ru-RU" dirty="0"/>
          </a:p>
        </p:txBody>
      </p:sp>
      <p:sp>
        <p:nvSpPr>
          <p:cNvPr id="4" name="Номер слайда 3"/>
          <p:cNvSpPr>
            <a:spLocks noGrp="1"/>
          </p:cNvSpPr>
          <p:nvPr>
            <p:ph type="sldNum" sz="quarter" idx="10"/>
          </p:nvPr>
        </p:nvSpPr>
        <p:spPr/>
        <p:txBody>
          <a:bodyPr/>
          <a:lstStyle/>
          <a:p>
            <a:fld id="{32A40295-5C2D-44F9-9666-2230E0FAA04D}" type="slidenum">
              <a:rPr lang="ru-RU" smtClean="0"/>
              <a:t>4</a:t>
            </a:fld>
            <a:endParaRPr lang="ru-R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77500" lnSpcReduction="20000"/>
          </a:bodyPr>
          <a:lstStyle/>
          <a:p>
            <a:r>
              <a:rPr lang="ru-RU" sz="1200" b="1" i="0" kern="1200" dirty="0" smtClean="0">
                <a:solidFill>
                  <a:schemeClr val="tx1"/>
                </a:solidFill>
                <a:latin typeface="+mn-lt"/>
                <a:ea typeface="+mn-ea"/>
                <a:cs typeface="+mn-cs"/>
              </a:rPr>
              <a:t>Механизм «Назначения целей» (</a:t>
            </a:r>
            <a:r>
              <a:rPr lang="ru-RU" sz="1200" b="1" i="0" kern="1200" dirty="0" err="1" smtClean="0">
                <a:solidFill>
                  <a:schemeClr val="tx1"/>
                </a:solidFill>
                <a:latin typeface="+mn-lt"/>
                <a:ea typeface="+mn-ea"/>
                <a:cs typeface="+mn-cs"/>
              </a:rPr>
              <a:t>Target</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Assignment</a:t>
            </a:r>
            <a:r>
              <a:rPr lang="ru-RU" sz="1200" b="1" i="0" kern="1200" dirty="0" smtClean="0">
                <a:solidFill>
                  <a:schemeClr val="tx1"/>
                </a:solidFill>
                <a:latin typeface="+mn-lt"/>
                <a:ea typeface="+mn-ea"/>
                <a:cs typeface="+mn-cs"/>
              </a:rPr>
              <a:t>)</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Для того чтобы </a:t>
            </a:r>
            <a:r>
              <a:rPr lang="ru-RU" sz="1200" b="0" i="0" kern="1200" dirty="0" err="1" smtClean="0">
                <a:solidFill>
                  <a:schemeClr val="tx1"/>
                </a:solidFill>
                <a:latin typeface="+mn-lt"/>
                <a:ea typeface="+mn-ea"/>
                <a:cs typeface="+mn-cs"/>
              </a:rPr>
              <a:t>нейросеть</a:t>
            </a:r>
            <a:r>
              <a:rPr lang="ru-RU" sz="1200" b="0" i="0" kern="1200" dirty="0" smtClean="0">
                <a:solidFill>
                  <a:schemeClr val="tx1"/>
                </a:solidFill>
                <a:latin typeface="+mn-lt"/>
                <a:ea typeface="+mn-ea"/>
                <a:cs typeface="+mn-cs"/>
              </a:rPr>
              <a:t> могла эффективно предсказывать координаты объектов и не выдавала множество дублирующих рамок для одного и того же предмета, в архитектуре YOLO используется механизм «назначения целей» (</a:t>
            </a:r>
            <a:r>
              <a:rPr lang="ru-RU" sz="1200" b="0" i="0" kern="1200" dirty="0" err="1" smtClean="0">
                <a:solidFill>
                  <a:schemeClr val="tx1"/>
                </a:solidFill>
                <a:latin typeface="+mn-lt"/>
                <a:ea typeface="+mn-ea"/>
                <a:cs typeface="+mn-cs"/>
              </a:rPr>
              <a:t>Target</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Assignment</a:t>
            </a:r>
            <a:r>
              <a:rPr lang="ru-RU" sz="1200" b="0" i="0" kern="1200" dirty="0" smtClean="0">
                <a:solidFill>
                  <a:schemeClr val="tx1"/>
                </a:solidFill>
                <a:latin typeface="+mn-lt"/>
                <a:ea typeface="+mn-ea"/>
                <a:cs typeface="+mn-cs"/>
              </a:rPr>
              <a:t>).</a:t>
            </a:r>
          </a:p>
          <a:p>
            <a:r>
              <a:rPr lang="ru-RU" sz="1200" b="1" i="0" kern="1200" dirty="0" smtClean="0">
                <a:solidFill>
                  <a:schemeClr val="tx1"/>
                </a:solidFill>
                <a:latin typeface="+mn-lt"/>
                <a:ea typeface="+mn-ea"/>
                <a:cs typeface="+mn-cs"/>
              </a:rPr>
              <a:t>1. Принцип сетки (</a:t>
            </a:r>
            <a:r>
              <a:rPr lang="ru-RU" sz="1200" b="1" i="0" kern="1200" dirty="0" err="1" smtClean="0">
                <a:solidFill>
                  <a:schemeClr val="tx1"/>
                </a:solidFill>
                <a:latin typeface="+mn-lt"/>
                <a:ea typeface="+mn-ea"/>
                <a:cs typeface="+mn-cs"/>
              </a:rPr>
              <a:t>Grid</a:t>
            </a:r>
            <a:r>
              <a:rPr lang="ru-RU" sz="1200" b="1" i="0" kern="1200" dirty="0" smtClean="0">
                <a:solidFill>
                  <a:schemeClr val="tx1"/>
                </a:solidFill>
                <a:latin typeface="+mn-lt"/>
                <a:ea typeface="+mn-ea"/>
                <a:cs typeface="+mn-cs"/>
              </a:rPr>
              <a:t>)</a:t>
            </a:r>
            <a:r>
              <a:rPr lang="ru-RU" sz="1200" b="0" i="0" kern="1200" dirty="0" smtClean="0">
                <a:solidFill>
                  <a:schemeClr val="tx1"/>
                </a:solidFill>
                <a:latin typeface="+mn-lt"/>
                <a:ea typeface="+mn-ea"/>
                <a:cs typeface="+mn-cs"/>
              </a:rPr>
              <a:t/>
            </a:r>
            <a:br>
              <a:rPr lang="ru-RU" sz="1200" b="0" i="0" kern="1200" dirty="0" smtClean="0">
                <a:solidFill>
                  <a:schemeClr val="tx1"/>
                </a:solidFill>
                <a:latin typeface="+mn-lt"/>
                <a:ea typeface="+mn-ea"/>
                <a:cs typeface="+mn-cs"/>
              </a:rPr>
            </a:br>
            <a:r>
              <a:rPr lang="ru-RU" sz="1200" b="0" i="0" kern="1200" dirty="0" smtClean="0">
                <a:solidFill>
                  <a:schemeClr val="tx1"/>
                </a:solidFill>
                <a:latin typeface="+mn-lt"/>
                <a:ea typeface="+mn-ea"/>
                <a:cs typeface="+mn-cs"/>
              </a:rPr>
              <a:t>В процессе работы сеть мысленно разбивает исходное изображение (или, точнее, итоговую карту признаков) на равномерную сетку (</a:t>
            </a:r>
            <a:r>
              <a:rPr lang="ru-RU" sz="1200" b="0" i="0" kern="1200" dirty="0" err="1" smtClean="0">
                <a:solidFill>
                  <a:schemeClr val="tx1"/>
                </a:solidFill>
                <a:latin typeface="+mn-lt"/>
                <a:ea typeface="+mn-ea"/>
                <a:cs typeface="+mn-cs"/>
              </a:rPr>
              <a:t>Grid</a:t>
            </a:r>
            <a:r>
              <a:rPr lang="ru-RU" sz="1200" b="0" i="0" kern="1200" dirty="0" smtClean="0">
                <a:solidFill>
                  <a:schemeClr val="tx1"/>
                </a:solidFill>
                <a:latin typeface="+mn-lt"/>
                <a:ea typeface="+mn-ea"/>
                <a:cs typeface="+mn-cs"/>
              </a:rPr>
              <a:t>). На представленном слайде для наглядности используется сетка размером 7×7 ячеек.</a:t>
            </a:r>
          </a:p>
          <a:p>
            <a:r>
              <a:rPr lang="ru-RU" sz="1200" b="0" i="0" kern="1200" dirty="0" smtClean="0">
                <a:solidFill>
                  <a:schemeClr val="tx1"/>
                </a:solidFill>
                <a:latin typeface="+mn-lt"/>
                <a:ea typeface="+mn-ea"/>
                <a:cs typeface="+mn-cs"/>
              </a:rPr>
              <a:t>Каждая ячейка этой сетки рассматривается как независимый «наблюдатель», который анализирует строго определенную область исходного изображения.</a:t>
            </a:r>
          </a:p>
          <a:p>
            <a:r>
              <a:rPr lang="ru-RU" sz="1200" b="1" i="0" kern="1200" dirty="0" smtClean="0">
                <a:solidFill>
                  <a:schemeClr val="tx1"/>
                </a:solidFill>
                <a:latin typeface="+mn-lt"/>
                <a:ea typeface="+mn-ea"/>
                <a:cs typeface="+mn-cs"/>
              </a:rPr>
              <a:t>2. Правило центра объекта</a:t>
            </a:r>
            <a:r>
              <a:rPr lang="ru-RU" sz="1200" b="0" i="0" kern="1200" dirty="0" smtClean="0">
                <a:solidFill>
                  <a:schemeClr val="tx1"/>
                </a:solidFill>
                <a:latin typeface="+mn-lt"/>
                <a:ea typeface="+mn-ea"/>
                <a:cs typeface="+mn-cs"/>
              </a:rPr>
              <a:t/>
            </a:r>
            <a:br>
              <a:rPr lang="ru-RU" sz="1200" b="0" i="0" kern="1200" dirty="0" smtClean="0">
                <a:solidFill>
                  <a:schemeClr val="tx1"/>
                </a:solidFill>
                <a:latin typeface="+mn-lt"/>
                <a:ea typeface="+mn-ea"/>
                <a:cs typeface="+mn-cs"/>
              </a:rPr>
            </a:br>
            <a:r>
              <a:rPr lang="ru-RU" sz="1200" b="0" i="0" kern="1200" dirty="0" smtClean="0">
                <a:solidFill>
                  <a:schemeClr val="tx1"/>
                </a:solidFill>
                <a:latin typeface="+mn-lt"/>
                <a:ea typeface="+mn-ea"/>
                <a:cs typeface="+mn-cs"/>
              </a:rPr>
              <a:t>Если бы каждая ячейка, заметившая часть объекта (например, колесо велосипеда или лапу собаки), пыталась предсказать его полную рамку, сеть выдавала бы множество избыточных и конфликтующих предсказаний. Чтобы избежать этого, вводится строгое правило: </a:t>
            </a:r>
            <a:r>
              <a:rPr lang="ru-RU" sz="1200" b="1" i="0" kern="1200" dirty="0" smtClean="0">
                <a:solidFill>
                  <a:schemeClr val="tx1"/>
                </a:solidFill>
                <a:latin typeface="+mn-lt"/>
                <a:ea typeface="+mn-ea"/>
                <a:cs typeface="+mn-cs"/>
              </a:rPr>
              <a:t>ответственность за объект несет только та ячейка, в которую попал центр этого объекта.</a:t>
            </a:r>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В примере на слайде центр собаки находится в ячейке, расположенной в пятой строке - втором</a:t>
            </a:r>
            <a:r>
              <a:rPr lang="ru-RU" sz="1200" b="0" i="0" kern="1200" baseline="0" dirty="0" smtClean="0">
                <a:solidFill>
                  <a:schemeClr val="tx1"/>
                </a:solidFill>
                <a:latin typeface="+mn-lt"/>
                <a:ea typeface="+mn-ea"/>
                <a:cs typeface="+mn-cs"/>
              </a:rPr>
              <a:t> </a:t>
            </a:r>
            <a:r>
              <a:rPr lang="ru-RU" sz="1200" b="0" i="0" kern="1200" dirty="0" smtClean="0">
                <a:solidFill>
                  <a:schemeClr val="tx1"/>
                </a:solidFill>
                <a:latin typeface="+mn-lt"/>
                <a:ea typeface="+mn-ea"/>
                <a:cs typeface="+mn-cs"/>
              </a:rPr>
              <a:t>столбце и шестом ряду (если считать сверху вниз). Именно эта конкретная ячейка назначается «ответственной» за предсказание ограничивающей рамки (</a:t>
            </a:r>
            <a:r>
              <a:rPr lang="ru-RU" sz="1200" b="0" i="0" kern="1200" dirty="0" err="1" smtClean="0">
                <a:solidFill>
                  <a:schemeClr val="tx1"/>
                </a:solidFill>
                <a:latin typeface="+mn-lt"/>
                <a:ea typeface="+mn-ea"/>
                <a:cs typeface="+mn-cs"/>
              </a:rPr>
              <a:t>Bounding</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Box</a:t>
            </a:r>
            <a:r>
              <a:rPr lang="ru-RU" sz="1200" b="0" i="0" kern="1200" dirty="0" smtClean="0">
                <a:solidFill>
                  <a:schemeClr val="tx1"/>
                </a:solidFill>
                <a:latin typeface="+mn-lt"/>
                <a:ea typeface="+mn-ea"/>
                <a:cs typeface="+mn-cs"/>
              </a:rPr>
              <a:t>) вокруг всей собаки, независимо от того, что другие ячейки также содержат пиксели собаки.</a:t>
            </a:r>
          </a:p>
          <a:p>
            <a:r>
              <a:rPr lang="ru-RU" sz="1200" b="1" i="0" kern="1200" dirty="0" smtClean="0">
                <a:solidFill>
                  <a:schemeClr val="tx1"/>
                </a:solidFill>
                <a:latin typeface="+mn-lt"/>
                <a:ea typeface="+mn-ea"/>
                <a:cs typeface="+mn-cs"/>
              </a:rPr>
              <a:t>3. </a:t>
            </a:r>
            <a:r>
              <a:rPr lang="ru-RU" sz="1200" b="0" i="0" kern="1200" dirty="0" smtClean="0">
                <a:solidFill>
                  <a:schemeClr val="tx1"/>
                </a:solidFill>
                <a:latin typeface="+mn-lt"/>
                <a:ea typeface="+mn-ea"/>
                <a:cs typeface="+mn-cs"/>
              </a:rPr>
              <a:t>Получив статус «ответственной», ячейка должна выдать для данного объекта три группы параметров:</a:t>
            </a:r>
          </a:p>
          <a:p>
            <a:r>
              <a:rPr lang="ru-RU" sz="1200" b="1" i="0" kern="1200" dirty="0" smtClean="0">
                <a:solidFill>
                  <a:schemeClr val="tx1"/>
                </a:solidFill>
                <a:latin typeface="+mn-lt"/>
                <a:ea typeface="+mn-ea"/>
                <a:cs typeface="+mn-cs"/>
              </a:rPr>
              <a:t>Координаты рамки:</a:t>
            </a:r>
            <a:r>
              <a:rPr lang="ru-RU" sz="1200" b="0" i="0" kern="1200" dirty="0" smtClean="0">
                <a:solidFill>
                  <a:schemeClr val="tx1"/>
                </a:solidFill>
                <a:latin typeface="+mn-lt"/>
                <a:ea typeface="+mn-ea"/>
                <a:cs typeface="+mn-cs"/>
              </a:rPr>
              <a:t> Смещение центра объекта (</a:t>
            </a:r>
            <a:r>
              <a:rPr lang="ru-RU" sz="1200" b="0" i="0" kern="1200" dirty="0" err="1" smtClean="0">
                <a:solidFill>
                  <a:schemeClr val="tx1"/>
                </a:solidFill>
                <a:latin typeface="+mn-lt"/>
                <a:ea typeface="+mn-ea"/>
                <a:cs typeface="+mn-cs"/>
              </a:rPr>
              <a:t>x</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y</a:t>
            </a:r>
            <a:r>
              <a:rPr lang="ru-RU" sz="1200" b="0" i="0" kern="1200" dirty="0" smtClean="0">
                <a:solidFill>
                  <a:schemeClr val="tx1"/>
                </a:solidFill>
                <a:latin typeface="+mn-lt"/>
                <a:ea typeface="+mn-ea"/>
                <a:cs typeface="+mn-cs"/>
              </a:rPr>
              <a:t>) относительно границ самой ячейки, а также ширину (</a:t>
            </a:r>
            <a:r>
              <a:rPr lang="ru-RU" sz="1200" b="0" i="0" kern="1200" dirty="0" err="1" smtClean="0">
                <a:solidFill>
                  <a:schemeClr val="tx1"/>
                </a:solidFill>
                <a:latin typeface="+mn-lt"/>
                <a:ea typeface="+mn-ea"/>
                <a:cs typeface="+mn-cs"/>
              </a:rPr>
              <a:t>w</a:t>
            </a:r>
            <a:r>
              <a:rPr lang="ru-RU" sz="1200" b="0" i="0" kern="1200" dirty="0" smtClean="0">
                <a:solidFill>
                  <a:schemeClr val="tx1"/>
                </a:solidFill>
                <a:latin typeface="+mn-lt"/>
                <a:ea typeface="+mn-ea"/>
                <a:cs typeface="+mn-cs"/>
              </a:rPr>
              <a:t>) и высоту (</a:t>
            </a:r>
            <a:r>
              <a:rPr lang="ru-RU" sz="1200" b="0" i="0" kern="1200" dirty="0" err="1" smtClean="0">
                <a:solidFill>
                  <a:schemeClr val="tx1"/>
                </a:solidFill>
                <a:latin typeface="+mn-lt"/>
                <a:ea typeface="+mn-ea"/>
                <a:cs typeface="+mn-cs"/>
              </a:rPr>
              <a:t>h</a:t>
            </a:r>
            <a:r>
              <a:rPr lang="ru-RU" sz="1200" b="0" i="0" kern="1200" dirty="0" smtClean="0">
                <a:solidFill>
                  <a:schemeClr val="tx1"/>
                </a:solidFill>
                <a:latin typeface="+mn-lt"/>
                <a:ea typeface="+mn-ea"/>
                <a:cs typeface="+mn-cs"/>
              </a:rPr>
              <a:t>) объекта.</a:t>
            </a:r>
          </a:p>
          <a:p>
            <a:r>
              <a:rPr lang="ru-RU" sz="1200" b="1" i="0" kern="1200" dirty="0" smtClean="0">
                <a:solidFill>
                  <a:schemeClr val="tx1"/>
                </a:solidFill>
                <a:latin typeface="+mn-lt"/>
                <a:ea typeface="+mn-ea"/>
                <a:cs typeface="+mn-cs"/>
              </a:rPr>
              <a:t>Уверенность (</a:t>
            </a:r>
            <a:r>
              <a:rPr lang="ru-RU" sz="1200" b="1" i="0" kern="1200" dirty="0" err="1" smtClean="0">
                <a:solidFill>
                  <a:schemeClr val="tx1"/>
                </a:solidFill>
                <a:latin typeface="+mn-lt"/>
                <a:ea typeface="+mn-ea"/>
                <a:cs typeface="+mn-cs"/>
              </a:rPr>
              <a:t>Confidence</a:t>
            </a:r>
            <a:r>
              <a:rPr lang="ru-RU" sz="1200" b="1" i="0" kern="1200" dirty="0" smtClean="0">
                <a:solidFill>
                  <a:schemeClr val="tx1"/>
                </a:solidFill>
                <a:latin typeface="+mn-lt"/>
                <a:ea typeface="+mn-ea"/>
                <a:cs typeface="+mn-cs"/>
              </a:rPr>
              <a:t>):</a:t>
            </a:r>
            <a:r>
              <a:rPr lang="ru-RU" sz="1200" b="0" i="0" kern="1200" dirty="0" smtClean="0">
                <a:solidFill>
                  <a:schemeClr val="tx1"/>
                </a:solidFill>
                <a:latin typeface="+mn-lt"/>
                <a:ea typeface="+mn-ea"/>
                <a:cs typeface="+mn-cs"/>
              </a:rPr>
              <a:t> Вероятность того, что в данной ячейке действительно находится центр объекта.</a:t>
            </a:r>
          </a:p>
          <a:p>
            <a:r>
              <a:rPr lang="ru-RU" sz="1200" b="1" i="0" kern="1200" dirty="0" smtClean="0">
                <a:solidFill>
                  <a:schemeClr val="tx1"/>
                </a:solidFill>
                <a:latin typeface="+mn-lt"/>
                <a:ea typeface="+mn-ea"/>
                <a:cs typeface="+mn-cs"/>
              </a:rPr>
              <a:t>Класс объекта:</a:t>
            </a:r>
            <a:r>
              <a:rPr lang="ru-RU" sz="1200" b="0" i="0" kern="1200" dirty="0" smtClean="0">
                <a:solidFill>
                  <a:schemeClr val="tx1"/>
                </a:solidFill>
                <a:latin typeface="+mn-lt"/>
                <a:ea typeface="+mn-ea"/>
                <a:cs typeface="+mn-cs"/>
              </a:rPr>
              <a:t> Вероятности принадлежности найденного объекта к каждому из классов (например, вероятность, что это собака — 95%, велосипед — 2% и т.д.).</a:t>
            </a:r>
          </a:p>
          <a:p>
            <a:r>
              <a:rPr lang="ru-RU" sz="1200" b="0" i="0" kern="1200" dirty="0" smtClean="0">
                <a:solidFill>
                  <a:schemeClr val="tx1"/>
                </a:solidFill>
                <a:latin typeface="+mn-lt"/>
                <a:ea typeface="+mn-ea"/>
                <a:cs typeface="+mn-cs"/>
              </a:rPr>
              <a:t/>
            </a:r>
            <a:br>
              <a:rPr lang="ru-RU" sz="1200" b="0" i="0" kern="1200" dirty="0" smtClean="0">
                <a:solidFill>
                  <a:schemeClr val="tx1"/>
                </a:solidFill>
                <a:latin typeface="+mn-lt"/>
                <a:ea typeface="+mn-ea"/>
                <a:cs typeface="+mn-cs"/>
              </a:rPr>
            </a:br>
            <a:r>
              <a:rPr lang="ru-RU" sz="1200" b="0" i="0" kern="1200" dirty="0" smtClean="0">
                <a:solidFill>
                  <a:schemeClr val="tx1"/>
                </a:solidFill>
                <a:latin typeface="+mn-lt"/>
                <a:ea typeface="+mn-ea"/>
                <a:cs typeface="+mn-cs"/>
              </a:rPr>
              <a:t>Использование сетки и назначение единственной ответственной ячейки позволяет алгоритму распараллелить вычисления. </a:t>
            </a:r>
            <a:r>
              <a:rPr lang="ru-RU" sz="1200" b="0" i="0" kern="1200" dirty="0" err="1" smtClean="0">
                <a:solidFill>
                  <a:schemeClr val="tx1"/>
                </a:solidFill>
                <a:latin typeface="+mn-lt"/>
                <a:ea typeface="+mn-ea"/>
                <a:cs typeface="+mn-cs"/>
              </a:rPr>
              <a:t>Нейросеть</a:t>
            </a:r>
            <a:r>
              <a:rPr lang="ru-RU" sz="1200" b="0" i="0" kern="1200" dirty="0" smtClean="0">
                <a:solidFill>
                  <a:schemeClr val="tx1"/>
                </a:solidFill>
                <a:latin typeface="+mn-lt"/>
                <a:ea typeface="+mn-ea"/>
                <a:cs typeface="+mn-cs"/>
              </a:rPr>
              <a:t> одновременно анализирует все участки изображения, а на этапе обучения функция потерь (</a:t>
            </a:r>
            <a:r>
              <a:rPr lang="ru-RU" sz="1200" b="0" i="0" kern="1200" dirty="0" err="1" smtClean="0">
                <a:solidFill>
                  <a:schemeClr val="tx1"/>
                </a:solidFill>
                <a:latin typeface="+mn-lt"/>
                <a:ea typeface="+mn-ea"/>
                <a:cs typeface="+mn-cs"/>
              </a:rPr>
              <a:t>Loss</a:t>
            </a:r>
            <a:r>
              <a:rPr lang="ru-RU" sz="1200" b="0" i="0" kern="1200" dirty="0" smtClean="0">
                <a:solidFill>
                  <a:schemeClr val="tx1"/>
                </a:solidFill>
                <a:latin typeface="+mn-lt"/>
                <a:ea typeface="+mn-ea"/>
                <a:cs typeface="+mn-cs"/>
              </a:rPr>
              <a:t>) сравнивает предсказания только ответственных ячеек с реальными координатами из разметки, что делает процесс обучения стабильным и быстрым.</a:t>
            </a:r>
          </a:p>
          <a:p>
            <a:endParaRPr lang="ru-RU" dirty="0"/>
          </a:p>
        </p:txBody>
      </p:sp>
      <p:sp>
        <p:nvSpPr>
          <p:cNvPr id="4" name="Номер слайда 3"/>
          <p:cNvSpPr>
            <a:spLocks noGrp="1"/>
          </p:cNvSpPr>
          <p:nvPr>
            <p:ph type="sldNum" sz="quarter" idx="10"/>
          </p:nvPr>
        </p:nvSpPr>
        <p:spPr/>
        <p:txBody>
          <a:bodyPr/>
          <a:lstStyle/>
          <a:p>
            <a:fld id="{32A40295-5C2D-44F9-9666-2230E0FAA04D}" type="slidenum">
              <a:rPr lang="ru-RU" smtClean="0"/>
              <a:t>5</a:t>
            </a:fld>
            <a:endParaRPr lang="ru-R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lnSpcReduction="10000"/>
          </a:bodyPr>
          <a:lstStyle/>
          <a:p>
            <a:r>
              <a:rPr lang="ru-RU" sz="1200" b="1" i="0" kern="1200" dirty="0" err="1" smtClean="0">
                <a:solidFill>
                  <a:schemeClr val="tx1"/>
                </a:solidFill>
                <a:latin typeface="+mn-lt"/>
                <a:ea typeface="+mn-ea"/>
                <a:cs typeface="+mn-cs"/>
              </a:rPr>
              <a:t>Target</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Assignment</a:t>
            </a:r>
            <a:r>
              <a:rPr lang="ru-RU" sz="1200" b="1" i="0" kern="1200" dirty="0" smtClean="0">
                <a:solidFill>
                  <a:schemeClr val="tx1"/>
                </a:solidFill>
                <a:latin typeface="+mn-lt"/>
                <a:ea typeface="+mn-ea"/>
                <a:cs typeface="+mn-cs"/>
              </a:rPr>
              <a:t> в обучении YOLO</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В процессе обучения </a:t>
            </a:r>
            <a:r>
              <a:rPr lang="ru-RU" sz="1200" b="0" i="0" kern="1200" dirty="0" err="1" smtClean="0">
                <a:solidFill>
                  <a:schemeClr val="tx1"/>
                </a:solidFill>
                <a:latin typeface="+mn-lt"/>
                <a:ea typeface="+mn-ea"/>
                <a:cs typeface="+mn-cs"/>
              </a:rPr>
              <a:t>нейросеть</a:t>
            </a:r>
            <a:r>
              <a:rPr lang="ru-RU" sz="1200" b="0" i="0" kern="1200" dirty="0" smtClean="0">
                <a:solidFill>
                  <a:schemeClr val="tx1"/>
                </a:solidFill>
                <a:latin typeface="+mn-lt"/>
                <a:ea typeface="+mn-ea"/>
                <a:cs typeface="+mn-cs"/>
              </a:rPr>
              <a:t> должна понять, как правильно сопоставлять свои предсказания с реальными объектами. </a:t>
            </a:r>
          </a:p>
          <a:p>
            <a:r>
              <a:rPr lang="ru-RU" sz="1200" b="0" i="0" kern="1200" dirty="0" smtClean="0">
                <a:solidFill>
                  <a:schemeClr val="tx1"/>
                </a:solidFill>
                <a:latin typeface="+mn-lt"/>
                <a:ea typeface="+mn-ea"/>
                <a:cs typeface="+mn-cs"/>
              </a:rPr>
              <a:t>Как происходит</a:t>
            </a:r>
            <a:r>
              <a:rPr lang="ru-RU" sz="1200" b="0" i="0" kern="1200" baseline="0" dirty="0" smtClean="0">
                <a:solidFill>
                  <a:schemeClr val="tx1"/>
                </a:solidFill>
                <a:latin typeface="+mn-lt"/>
                <a:ea typeface="+mn-ea"/>
                <a:cs typeface="+mn-cs"/>
              </a:rPr>
              <a:t> корректировка весов: </a:t>
            </a:r>
          </a:p>
          <a:p>
            <a:pPr marL="228600" indent="-228600">
              <a:buAutoNum type="arabicParenR"/>
            </a:pPr>
            <a:r>
              <a:rPr lang="ru-RU" sz="1200" b="0" i="0" kern="1200" dirty="0" smtClean="0">
                <a:solidFill>
                  <a:schemeClr val="tx1"/>
                </a:solidFill>
                <a:latin typeface="+mn-lt"/>
                <a:ea typeface="+mn-ea"/>
                <a:cs typeface="+mn-cs"/>
              </a:rPr>
              <a:t>Каждая ячейка на карте признаков (</a:t>
            </a:r>
            <a:r>
              <a:rPr lang="ru-RU" sz="1200" b="0" i="0" kern="1200" dirty="0" err="1" smtClean="0">
                <a:solidFill>
                  <a:schemeClr val="tx1"/>
                </a:solidFill>
                <a:latin typeface="+mn-lt"/>
                <a:ea typeface="+mn-ea"/>
                <a:cs typeface="+mn-cs"/>
              </a:rPr>
              <a:t>Grid</a:t>
            </a:r>
            <a:r>
              <a:rPr lang="ru-RU" sz="1200" b="0" i="0" kern="1200" dirty="0" smtClean="0">
                <a:solidFill>
                  <a:schemeClr val="tx1"/>
                </a:solidFill>
                <a:latin typeface="+mn-lt"/>
                <a:ea typeface="+mn-ea"/>
                <a:cs typeface="+mn-cs"/>
              </a:rPr>
              <a:t>) независимо делает свой прогноз: есть ли в ней центр объекта, каковы его координаты (смещение от центра ячейки и размеры) и к какому классу он относится.</a:t>
            </a:r>
          </a:p>
          <a:p>
            <a:pPr marL="228600" indent="-228600">
              <a:buAutoNum type="arabicParenR"/>
            </a:pPr>
            <a:r>
              <a:rPr lang="ru-RU" sz="1200" b="1" i="0" kern="1200" dirty="0" smtClean="0">
                <a:solidFill>
                  <a:schemeClr val="tx1"/>
                </a:solidFill>
                <a:latin typeface="+mn-lt"/>
                <a:ea typeface="+mn-ea"/>
                <a:cs typeface="+mn-cs"/>
              </a:rPr>
              <a:t>Выбор «ответственной» (</a:t>
            </a:r>
            <a:r>
              <a:rPr lang="ru-RU" sz="1200" b="1" i="0" kern="1200" dirty="0" err="1" smtClean="0">
                <a:solidFill>
                  <a:schemeClr val="tx1"/>
                </a:solidFill>
                <a:latin typeface="+mn-lt"/>
                <a:ea typeface="+mn-ea"/>
                <a:cs typeface="+mn-cs"/>
              </a:rPr>
              <a:t>Positive</a:t>
            </a:r>
            <a:r>
              <a:rPr lang="ru-RU" sz="1200" b="1" i="0" kern="1200" dirty="0" smtClean="0">
                <a:solidFill>
                  <a:schemeClr val="tx1"/>
                </a:solidFill>
                <a:latin typeface="+mn-lt"/>
                <a:ea typeface="+mn-ea"/>
                <a:cs typeface="+mn-cs"/>
              </a:rPr>
              <a:t>) ячейки.</a:t>
            </a:r>
            <a:r>
              <a:rPr lang="ru-RU" sz="1200" b="0" i="0" kern="1200" dirty="0" smtClean="0">
                <a:solidFill>
                  <a:schemeClr val="tx1"/>
                </a:solidFill>
                <a:latin typeface="+mn-lt"/>
                <a:ea typeface="+mn-ea"/>
                <a:cs typeface="+mn-cs"/>
              </a:rPr>
              <a:t> Чтобы сеть не нарисовала сотни рамок вокруг одной собаки, мы используем правильный ответ (разметку). Мы берем точный центр объекта и смотрим, в какую конкретную ячейку он попал. Именно эта ячейка назначается «ответственной». Только для неё мы сравниваем предсказанные координаты с реальными и вычисляем штраф (</a:t>
            </a:r>
            <a:r>
              <a:rPr lang="ru-RU" sz="1200" b="0" i="0" kern="1200" dirty="0" err="1" smtClean="0">
                <a:solidFill>
                  <a:schemeClr val="tx1"/>
                </a:solidFill>
                <a:latin typeface="+mn-lt"/>
                <a:ea typeface="+mn-ea"/>
                <a:cs typeface="+mn-cs"/>
              </a:rPr>
              <a:t>Loss</a:t>
            </a:r>
            <a:r>
              <a:rPr lang="ru-RU" sz="1200" b="0" i="0" kern="1200" dirty="0" smtClean="0">
                <a:solidFill>
                  <a:schemeClr val="tx1"/>
                </a:solidFill>
                <a:latin typeface="+mn-lt"/>
                <a:ea typeface="+mn-ea"/>
                <a:cs typeface="+mn-cs"/>
              </a:rPr>
              <a:t>) за неточность локализации и класса. Если </a:t>
            </a:r>
            <a:r>
              <a:rPr lang="ru-RU" sz="1200" b="0" i="0" kern="1200" dirty="0" err="1" smtClean="0">
                <a:solidFill>
                  <a:schemeClr val="tx1"/>
                </a:solidFill>
                <a:latin typeface="+mn-lt"/>
                <a:ea typeface="+mn-ea"/>
                <a:cs typeface="+mn-cs"/>
              </a:rPr>
              <a:t>ответсвенный</a:t>
            </a:r>
            <a:r>
              <a:rPr lang="ru-RU" sz="1200" b="0" i="0" kern="1200" dirty="0" smtClean="0">
                <a:solidFill>
                  <a:schemeClr val="tx1"/>
                </a:solidFill>
                <a:latin typeface="+mn-lt"/>
                <a:ea typeface="+mn-ea"/>
                <a:cs typeface="+mn-cs"/>
              </a:rPr>
              <a:t> по заветам МИЦ про..</a:t>
            </a:r>
            <a:r>
              <a:rPr lang="ru-RU" sz="1200" b="0" i="0" kern="1200" baseline="0" dirty="0" smtClean="0">
                <a:solidFill>
                  <a:schemeClr val="tx1"/>
                </a:solidFill>
                <a:latin typeface="+mn-lt"/>
                <a:ea typeface="+mn-ea"/>
                <a:cs typeface="+mn-cs"/>
              </a:rPr>
              <a:t> ошибся, и не выполнил задачу, за которую был назначен </a:t>
            </a:r>
            <a:r>
              <a:rPr lang="ru-RU" sz="1200" b="0" i="0" kern="1200" baseline="0" dirty="0" err="1" smtClean="0">
                <a:solidFill>
                  <a:schemeClr val="tx1"/>
                </a:solidFill>
                <a:latin typeface="+mn-lt"/>
                <a:ea typeface="+mn-ea"/>
                <a:cs typeface="+mn-cs"/>
              </a:rPr>
              <a:t>ответсвенным</a:t>
            </a:r>
            <a:r>
              <a:rPr lang="ru-RU" sz="1200" b="0" i="0" kern="1200" baseline="0" dirty="0" smtClean="0">
                <a:solidFill>
                  <a:schemeClr val="tx1"/>
                </a:solidFill>
                <a:latin typeface="+mn-lt"/>
                <a:ea typeface="+mn-ea"/>
                <a:cs typeface="+mn-cs"/>
              </a:rPr>
              <a:t> – его должна постигнуть кара: штраф, увеличивающий веса, чтобы данная ячейка стала чувствительнее</a:t>
            </a:r>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3)</a:t>
            </a:r>
            <a:r>
              <a:rPr lang="ru-RU" sz="1200" b="1" i="0" kern="1200" baseline="0" dirty="0" smtClean="0">
                <a:solidFill>
                  <a:schemeClr val="tx1"/>
                </a:solidFill>
                <a:latin typeface="+mn-lt"/>
                <a:ea typeface="+mn-ea"/>
                <a:cs typeface="+mn-cs"/>
              </a:rPr>
              <a:t> </a:t>
            </a:r>
            <a:r>
              <a:rPr lang="ru-RU" sz="1200" b="1" i="0" kern="1200" dirty="0" smtClean="0">
                <a:solidFill>
                  <a:schemeClr val="tx1"/>
                </a:solidFill>
                <a:latin typeface="+mn-lt"/>
                <a:ea typeface="+mn-ea"/>
                <a:cs typeface="+mn-cs"/>
              </a:rPr>
              <a:t>Роль остальных (</a:t>
            </a:r>
            <a:r>
              <a:rPr lang="ru-RU" sz="1200" b="1" i="0" kern="1200" dirty="0" err="1" smtClean="0">
                <a:solidFill>
                  <a:schemeClr val="tx1"/>
                </a:solidFill>
                <a:latin typeface="+mn-lt"/>
                <a:ea typeface="+mn-ea"/>
                <a:cs typeface="+mn-cs"/>
              </a:rPr>
              <a:t>Negative</a:t>
            </a:r>
            <a:r>
              <a:rPr lang="ru-RU" sz="1200" b="1" i="0" kern="1200" dirty="0" smtClean="0">
                <a:solidFill>
                  <a:schemeClr val="tx1"/>
                </a:solidFill>
                <a:latin typeface="+mn-lt"/>
                <a:ea typeface="+mn-ea"/>
                <a:cs typeface="+mn-cs"/>
              </a:rPr>
              <a:t>) ячеек.</a:t>
            </a:r>
            <a:r>
              <a:rPr lang="ru-RU" sz="1200" b="0" i="0" kern="1200" dirty="0" smtClean="0">
                <a:solidFill>
                  <a:schemeClr val="tx1"/>
                </a:solidFill>
                <a:latin typeface="+mn-lt"/>
                <a:ea typeface="+mn-ea"/>
                <a:cs typeface="+mn-cs"/>
              </a:rPr>
              <a:t> Все остальные ячейки в сетке должны предсказать, что в них находится фон (</a:t>
            </a:r>
            <a:r>
              <a:rPr lang="ru-RU" sz="1200" b="0" i="0" kern="1200" dirty="0" err="1" smtClean="0">
                <a:solidFill>
                  <a:schemeClr val="tx1"/>
                </a:solidFill>
                <a:latin typeface="+mn-lt"/>
                <a:ea typeface="+mn-ea"/>
                <a:cs typeface="+mn-cs"/>
              </a:rPr>
              <a:t>Confidence</a:t>
            </a:r>
            <a:r>
              <a:rPr lang="ru-RU" sz="1200" b="0" i="0" kern="1200" dirty="0" smtClean="0">
                <a:solidFill>
                  <a:schemeClr val="tx1"/>
                </a:solidFill>
                <a:latin typeface="+mn-lt"/>
                <a:ea typeface="+mn-ea"/>
                <a:cs typeface="+mn-cs"/>
              </a:rPr>
              <a:t> стремится к 0). Штраф (</a:t>
            </a:r>
            <a:r>
              <a:rPr lang="ru-RU" sz="1200" b="0" i="0" kern="1200" dirty="0" err="1" smtClean="0">
                <a:solidFill>
                  <a:schemeClr val="tx1"/>
                </a:solidFill>
                <a:latin typeface="+mn-lt"/>
                <a:ea typeface="+mn-ea"/>
                <a:cs typeface="+mn-cs"/>
              </a:rPr>
              <a:t>Loss</a:t>
            </a:r>
            <a:r>
              <a:rPr lang="ru-RU" sz="1200" b="0" i="0" kern="1200" dirty="0" smtClean="0">
                <a:solidFill>
                  <a:schemeClr val="tx1"/>
                </a:solidFill>
                <a:latin typeface="+mn-lt"/>
                <a:ea typeface="+mn-ea"/>
                <a:cs typeface="+mn-cs"/>
              </a:rPr>
              <a:t>) для них начисляется только в том случае, если они ошибочно заявили, что в них тоже есть объект (ложная тревога).</a:t>
            </a:r>
          </a:p>
          <a:p>
            <a:endParaRPr lang="ru-RU" sz="1200" b="1"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Благодаря такому распределению ролей, при обратном распространении ошибки градиенты корректируют веса именно так, чтобы «ответственная» ячейка научилась точно рисовать рамку, а фоновые ячейки перестали генерировать лишние предсказания.</a:t>
            </a:r>
          </a:p>
          <a:p>
            <a:r>
              <a:rPr lang="ru-RU" dirty="0" smtClean="0"/>
              <a:t/>
            </a:r>
            <a:br>
              <a:rPr lang="ru-RU" dirty="0" smtClean="0"/>
            </a:br>
            <a:endParaRPr lang="ru-RU" dirty="0"/>
          </a:p>
        </p:txBody>
      </p:sp>
      <p:sp>
        <p:nvSpPr>
          <p:cNvPr id="4" name="Номер слайда 3"/>
          <p:cNvSpPr>
            <a:spLocks noGrp="1"/>
          </p:cNvSpPr>
          <p:nvPr>
            <p:ph type="sldNum" sz="quarter" idx="10"/>
          </p:nvPr>
        </p:nvSpPr>
        <p:spPr/>
        <p:txBody>
          <a:bodyPr/>
          <a:lstStyle/>
          <a:p>
            <a:fld id="{32A40295-5C2D-44F9-9666-2230E0FAA04D}" type="slidenum">
              <a:rPr lang="ru-RU" smtClean="0"/>
              <a:t>6</a:t>
            </a:fld>
            <a:endParaRPr lang="ru-R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77500" lnSpcReduction="20000"/>
          </a:bodyPr>
          <a:lstStyle/>
          <a:p>
            <a:r>
              <a:rPr lang="ru-RU" sz="1200" b="1" i="0" kern="1200" dirty="0" smtClean="0">
                <a:solidFill>
                  <a:schemeClr val="tx1"/>
                </a:solidFill>
                <a:latin typeface="+mn-lt"/>
                <a:ea typeface="+mn-ea"/>
                <a:cs typeface="+mn-cs"/>
              </a:rPr>
              <a:t>Архитектура YOLO и многомасштабное предсказание (</a:t>
            </a:r>
            <a:r>
              <a:rPr lang="ru-RU" sz="1200" b="1" i="0" kern="1200" dirty="0" err="1" smtClean="0">
                <a:solidFill>
                  <a:schemeClr val="tx1"/>
                </a:solidFill>
                <a:latin typeface="+mn-lt"/>
                <a:ea typeface="+mn-ea"/>
                <a:cs typeface="+mn-cs"/>
              </a:rPr>
              <a:t>Feature</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Pyramid</a:t>
            </a:r>
            <a:r>
              <a:rPr lang="ru-RU" sz="1200" b="1" i="0" kern="1200" dirty="0" smtClean="0">
                <a:solidFill>
                  <a:schemeClr val="tx1"/>
                </a:solidFill>
                <a:latin typeface="+mn-lt"/>
                <a:ea typeface="+mn-ea"/>
                <a:cs typeface="+mn-cs"/>
              </a:rPr>
              <a:t>)</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Одной из главных инженерных проблем компьютерного зрения является </a:t>
            </a:r>
            <a:r>
              <a:rPr lang="ru-RU" sz="1200" b="1" i="0" kern="1200" dirty="0" smtClean="0">
                <a:solidFill>
                  <a:schemeClr val="tx1"/>
                </a:solidFill>
                <a:latin typeface="+mn-lt"/>
                <a:ea typeface="+mn-ea"/>
                <a:cs typeface="+mn-cs"/>
              </a:rPr>
              <a:t>вариативность масштаба</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Scale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Variation</a:t>
            </a:r>
            <a:r>
              <a:rPr lang="ru-RU" sz="1200" b="0" i="0" kern="1200" dirty="0" smtClean="0">
                <a:solidFill>
                  <a:schemeClr val="tx1"/>
                </a:solidFill>
                <a:latin typeface="+mn-lt"/>
                <a:ea typeface="+mn-ea"/>
                <a:cs typeface="+mn-cs"/>
              </a:rPr>
              <a:t>). На одном и том же изображении могут одновременно находиться объекты совершенно разных размеров: слон, занимающий пол-экрана, и маленькая птица на заднем плане. Если использовать для анализа картинки сетку только одного фиксированного размера, </a:t>
            </a:r>
            <a:r>
              <a:rPr lang="ru-RU" sz="1200" b="0" i="0" kern="1200" dirty="0" err="1" smtClean="0">
                <a:solidFill>
                  <a:schemeClr val="tx1"/>
                </a:solidFill>
                <a:latin typeface="+mn-lt"/>
                <a:ea typeface="+mn-ea"/>
                <a:cs typeface="+mn-cs"/>
              </a:rPr>
              <a:t>нейросеть</a:t>
            </a:r>
            <a:r>
              <a:rPr lang="ru-RU" sz="1200" b="0" i="0" kern="1200" dirty="0" smtClean="0">
                <a:solidFill>
                  <a:schemeClr val="tx1"/>
                </a:solidFill>
                <a:latin typeface="+mn-lt"/>
                <a:ea typeface="+mn-ea"/>
                <a:cs typeface="+mn-cs"/>
              </a:rPr>
              <a:t> не сможет эффективно распознавать объекты, размеры которых сильно отличаются от размеров ячейки.</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Для решения этой проблемы в архитектуре YOLO применяется механизм, называемый Пирамидой признаков (</a:t>
            </a:r>
            <a:r>
              <a:rPr lang="ru-RU" sz="1200" b="0" i="0" kern="1200" dirty="0" err="1" smtClean="0">
                <a:solidFill>
                  <a:schemeClr val="tx1"/>
                </a:solidFill>
                <a:latin typeface="+mn-lt"/>
                <a:ea typeface="+mn-ea"/>
                <a:cs typeface="+mn-cs"/>
              </a:rPr>
              <a:t>Feature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Pyramid</a:t>
            </a:r>
            <a:r>
              <a:rPr lang="ru-RU" sz="1200" b="0" i="0" kern="1200" dirty="0" smtClean="0">
                <a:solidFill>
                  <a:schemeClr val="tx1"/>
                </a:solidFill>
                <a:latin typeface="+mn-lt"/>
                <a:ea typeface="+mn-ea"/>
                <a:cs typeface="+mn-cs"/>
              </a:rPr>
              <a:t>) или многомасштабным предсказанием. В процессе обработки изображения сеть формирует не одну, а несколько карт признаков (сеток) разного пространственного разрешения одновременно. Каждая из этих сеток отвечает за </a:t>
            </a:r>
            <a:r>
              <a:rPr lang="ru-RU" sz="1200" b="0" i="0" kern="1200" dirty="0" err="1" smtClean="0">
                <a:solidFill>
                  <a:schemeClr val="tx1"/>
                </a:solidFill>
                <a:latin typeface="+mn-lt"/>
                <a:ea typeface="+mn-ea"/>
                <a:cs typeface="+mn-cs"/>
              </a:rPr>
              <a:t>детекцию</a:t>
            </a:r>
            <a:r>
              <a:rPr lang="ru-RU" sz="1200" b="0" i="0" kern="1200" dirty="0" smtClean="0">
                <a:solidFill>
                  <a:schemeClr val="tx1"/>
                </a:solidFill>
                <a:latin typeface="+mn-lt"/>
                <a:ea typeface="+mn-ea"/>
                <a:cs typeface="+mn-cs"/>
              </a:rPr>
              <a:t> объектов определенного масштаба:</a:t>
            </a:r>
          </a:p>
          <a:p>
            <a:r>
              <a:rPr lang="ru-RU" sz="1200" b="1" i="0" kern="1200" dirty="0" smtClean="0">
                <a:solidFill>
                  <a:schemeClr val="tx1"/>
                </a:solidFill>
                <a:latin typeface="+mn-lt"/>
                <a:ea typeface="+mn-ea"/>
                <a:cs typeface="+mn-cs"/>
              </a:rPr>
              <a:t>Мелкая сетка (</a:t>
            </a:r>
            <a:r>
              <a:rPr lang="ru-RU" sz="1200" b="1" i="0" kern="1200" dirty="0" err="1" smtClean="0">
                <a:solidFill>
                  <a:schemeClr val="tx1"/>
                </a:solidFill>
                <a:latin typeface="+mn-lt"/>
                <a:ea typeface="+mn-ea"/>
                <a:cs typeface="+mn-cs"/>
              </a:rPr>
              <a:t>Fine-grained</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grid</a:t>
            </a:r>
            <a:r>
              <a:rPr lang="ru-RU" sz="1200" b="1" i="0" kern="1200" dirty="0" smtClean="0">
                <a:solidFill>
                  <a:schemeClr val="tx1"/>
                </a:solidFill>
                <a:latin typeface="+mn-lt"/>
                <a:ea typeface="+mn-ea"/>
                <a:cs typeface="+mn-cs"/>
              </a:rPr>
              <a:t>, например, 80×80 ячеек):</a:t>
            </a:r>
            <a:r>
              <a:rPr lang="ru-RU" sz="1200" b="0" i="0" kern="1200" dirty="0" smtClean="0">
                <a:solidFill>
                  <a:schemeClr val="tx1"/>
                </a:solidFill>
                <a:latin typeface="+mn-lt"/>
                <a:ea typeface="+mn-ea"/>
                <a:cs typeface="+mn-cs"/>
              </a:rPr>
              <a:t> Обладает высоким разрешением и отвечает за поиск мелких объектов (птиц, кнопок, машин на заднем плане). Каждая ячейка такой сетки покрывает небольшую область исходного изображения.</a:t>
            </a:r>
          </a:p>
          <a:p>
            <a:r>
              <a:rPr lang="ru-RU" sz="1200" b="1" i="0" kern="1200" dirty="0" smtClean="0">
                <a:solidFill>
                  <a:schemeClr val="tx1"/>
                </a:solidFill>
                <a:latin typeface="+mn-lt"/>
                <a:ea typeface="+mn-ea"/>
                <a:cs typeface="+mn-cs"/>
              </a:rPr>
              <a:t>Средняя сетка (</a:t>
            </a:r>
            <a:r>
              <a:rPr lang="ru-RU" sz="1200" b="1" i="0" kern="1200" dirty="0" err="1" smtClean="0">
                <a:solidFill>
                  <a:schemeClr val="tx1"/>
                </a:solidFill>
                <a:latin typeface="+mn-lt"/>
                <a:ea typeface="+mn-ea"/>
                <a:cs typeface="+mn-cs"/>
              </a:rPr>
              <a:t>Medium</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grid</a:t>
            </a:r>
            <a:r>
              <a:rPr lang="ru-RU" sz="1200" b="1" i="0" kern="1200" dirty="0" smtClean="0">
                <a:solidFill>
                  <a:schemeClr val="tx1"/>
                </a:solidFill>
                <a:latin typeface="+mn-lt"/>
                <a:ea typeface="+mn-ea"/>
                <a:cs typeface="+mn-cs"/>
              </a:rPr>
              <a:t>, например, 40×40 ячеек):</a:t>
            </a:r>
            <a:r>
              <a:rPr lang="ru-RU" sz="1200" b="0" i="0" kern="1200" dirty="0" smtClean="0">
                <a:solidFill>
                  <a:schemeClr val="tx1"/>
                </a:solidFill>
                <a:latin typeface="+mn-lt"/>
                <a:ea typeface="+mn-ea"/>
                <a:cs typeface="+mn-cs"/>
              </a:rPr>
              <a:t> Используется для </a:t>
            </a:r>
            <a:r>
              <a:rPr lang="ru-RU" sz="1200" b="0" i="0" kern="1200" dirty="0" err="1" smtClean="0">
                <a:solidFill>
                  <a:schemeClr val="tx1"/>
                </a:solidFill>
                <a:latin typeface="+mn-lt"/>
                <a:ea typeface="+mn-ea"/>
                <a:cs typeface="+mn-cs"/>
              </a:rPr>
              <a:t>детекции</a:t>
            </a:r>
            <a:r>
              <a:rPr lang="ru-RU" sz="1200" b="0" i="0" kern="1200" dirty="0" smtClean="0">
                <a:solidFill>
                  <a:schemeClr val="tx1"/>
                </a:solidFill>
                <a:latin typeface="+mn-lt"/>
                <a:ea typeface="+mn-ea"/>
                <a:cs typeface="+mn-cs"/>
              </a:rPr>
              <a:t> объектов среднего размера, соизмеримых с размерами типичных бытовых предметов или животных.</a:t>
            </a:r>
          </a:p>
          <a:p>
            <a:r>
              <a:rPr lang="ru-RU" sz="1200" b="1" i="0" kern="1200" dirty="0" smtClean="0">
                <a:solidFill>
                  <a:schemeClr val="tx1"/>
                </a:solidFill>
                <a:latin typeface="+mn-lt"/>
                <a:ea typeface="+mn-ea"/>
                <a:cs typeface="+mn-cs"/>
              </a:rPr>
              <a:t>Крупная сетка (</a:t>
            </a:r>
            <a:r>
              <a:rPr lang="ru-RU" sz="1200" b="1" i="0" kern="1200" dirty="0" err="1" smtClean="0">
                <a:solidFill>
                  <a:schemeClr val="tx1"/>
                </a:solidFill>
                <a:latin typeface="+mn-lt"/>
                <a:ea typeface="+mn-ea"/>
                <a:cs typeface="+mn-cs"/>
              </a:rPr>
              <a:t>Coarse</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grid</a:t>
            </a:r>
            <a:r>
              <a:rPr lang="ru-RU" sz="1200" b="1" i="0" kern="1200" dirty="0" smtClean="0">
                <a:solidFill>
                  <a:schemeClr val="tx1"/>
                </a:solidFill>
                <a:latin typeface="+mn-lt"/>
                <a:ea typeface="+mn-ea"/>
                <a:cs typeface="+mn-cs"/>
              </a:rPr>
              <a:t>, например, 20×20 ячеек):</a:t>
            </a:r>
            <a:r>
              <a:rPr lang="ru-RU" sz="1200" b="0" i="0" kern="1200" dirty="0" smtClean="0">
                <a:solidFill>
                  <a:schemeClr val="tx1"/>
                </a:solidFill>
                <a:latin typeface="+mn-lt"/>
                <a:ea typeface="+mn-ea"/>
                <a:cs typeface="+mn-cs"/>
              </a:rPr>
              <a:t> Обладает низким разрешением, но покрывает большие площади. Она отвечает за поиск крупных объектов (слонов, автобусов, зебр на переднем плане).</a:t>
            </a:r>
          </a:p>
          <a:p>
            <a:endParaRPr lang="ru-RU" sz="1200" b="0" i="0" kern="1200" dirty="0" smtClean="0">
              <a:solidFill>
                <a:schemeClr val="tx1"/>
              </a:solidFill>
              <a:latin typeface="+mn-lt"/>
              <a:ea typeface="+mn-ea"/>
              <a:cs typeface="+mn-cs"/>
            </a:endParaRPr>
          </a:p>
          <a:p>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Глобальная архитектура YOLO: как устроен «двигатель»</a:t>
            </a:r>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Архитектуру YOLO можно представить как работу завода на конвейере, который состоит из трех главных цехов (модулей):</a:t>
            </a:r>
          </a:p>
          <a:p>
            <a:r>
              <a:rPr lang="ru-RU" sz="1200" b="1" i="0" kern="1200" dirty="0" err="1" smtClean="0">
                <a:solidFill>
                  <a:schemeClr val="tx1"/>
                </a:solidFill>
                <a:latin typeface="+mn-lt"/>
                <a:ea typeface="+mn-ea"/>
                <a:cs typeface="+mn-cs"/>
              </a:rPr>
              <a:t>Backbone</a:t>
            </a:r>
            <a:r>
              <a:rPr lang="ru-RU" sz="1200" b="1" i="0" kern="1200" dirty="0" smtClean="0">
                <a:solidFill>
                  <a:schemeClr val="tx1"/>
                </a:solidFill>
                <a:latin typeface="+mn-lt"/>
                <a:ea typeface="+mn-ea"/>
                <a:cs typeface="+mn-cs"/>
              </a:rPr>
              <a:t> (Позвоночник / База):</a:t>
            </a:r>
            <a:r>
              <a:rPr lang="ru-RU" sz="1200" b="0" i="0" kern="1200" dirty="0" smtClean="0">
                <a:solidFill>
                  <a:schemeClr val="tx1"/>
                </a:solidFill>
                <a:latin typeface="+mn-lt"/>
                <a:ea typeface="+mn-ea"/>
                <a:cs typeface="+mn-cs"/>
              </a:rPr>
              <a:t> Это «глаза» </a:t>
            </a:r>
            <a:r>
              <a:rPr lang="ru-RU" sz="1200" b="0" i="0" kern="1200" dirty="0" err="1" smtClean="0">
                <a:solidFill>
                  <a:schemeClr val="tx1"/>
                </a:solidFill>
                <a:latin typeface="+mn-lt"/>
                <a:ea typeface="+mn-ea"/>
                <a:cs typeface="+mn-cs"/>
              </a:rPr>
              <a:t>нейросети</a:t>
            </a:r>
            <a:r>
              <a:rPr lang="ru-RU" sz="1200" b="0" i="0" kern="1200" dirty="0" smtClean="0">
                <a:solidFill>
                  <a:schemeClr val="tx1"/>
                </a:solidFill>
                <a:latin typeface="+mn-lt"/>
                <a:ea typeface="+mn-ea"/>
                <a:cs typeface="+mn-cs"/>
              </a:rPr>
              <a:t>. По сути, это та же </a:t>
            </a:r>
            <a:r>
              <a:rPr lang="ru-RU" sz="1200" b="0" i="0" kern="1200" dirty="0" err="1" smtClean="0">
                <a:solidFill>
                  <a:schemeClr val="tx1"/>
                </a:solidFill>
                <a:latin typeface="+mn-lt"/>
                <a:ea typeface="+mn-ea"/>
                <a:cs typeface="+mn-cs"/>
              </a:rPr>
              <a:t>сверточная</a:t>
            </a:r>
            <a:r>
              <a:rPr lang="ru-RU" sz="1200" b="0" i="0" kern="1200" dirty="0" smtClean="0">
                <a:solidFill>
                  <a:schemeClr val="tx1"/>
                </a:solidFill>
                <a:latin typeface="+mn-lt"/>
                <a:ea typeface="+mn-ea"/>
                <a:cs typeface="+mn-cs"/>
              </a:rPr>
              <a:t> сеть, которую мы проходили. Она смотрит на картинку и ищет базовые признаки: сначала простые линии и границы, потом текстуры (полоски зебры), а затем — сложные формы (голову слона).</a:t>
            </a:r>
          </a:p>
          <a:p>
            <a:r>
              <a:rPr lang="ru-RU" sz="1200" b="1" i="0" kern="1200" dirty="0" err="1" smtClean="0">
                <a:solidFill>
                  <a:schemeClr val="tx1"/>
                </a:solidFill>
                <a:latin typeface="+mn-lt"/>
                <a:ea typeface="+mn-ea"/>
                <a:cs typeface="+mn-cs"/>
              </a:rPr>
              <a:t>Neck</a:t>
            </a:r>
            <a:r>
              <a:rPr lang="ru-RU" sz="1200" b="1" i="0" kern="1200" dirty="0" smtClean="0">
                <a:solidFill>
                  <a:schemeClr val="tx1"/>
                </a:solidFill>
                <a:latin typeface="+mn-lt"/>
                <a:ea typeface="+mn-ea"/>
                <a:cs typeface="+mn-cs"/>
              </a:rPr>
              <a:t> (Шея / Соединитель):</a:t>
            </a:r>
            <a:r>
              <a:rPr lang="ru-RU" sz="1200" b="0" i="0" kern="1200" dirty="0" smtClean="0">
                <a:solidFill>
                  <a:schemeClr val="tx1"/>
                </a:solidFill>
                <a:latin typeface="+mn-lt"/>
                <a:ea typeface="+mn-ea"/>
                <a:cs typeface="+mn-cs"/>
              </a:rPr>
              <a:t> Это «мозг». Он берет признаки с разных уровней </a:t>
            </a:r>
            <a:r>
              <a:rPr lang="ru-RU" sz="1200" b="0" i="0" kern="1200" dirty="0" err="1" smtClean="0">
                <a:solidFill>
                  <a:schemeClr val="tx1"/>
                </a:solidFill>
                <a:latin typeface="+mn-lt"/>
                <a:ea typeface="+mn-ea"/>
                <a:cs typeface="+mn-cs"/>
              </a:rPr>
              <a:t>Backbone</a:t>
            </a:r>
            <a:r>
              <a:rPr lang="ru-RU" sz="1200" b="0" i="0" kern="1200" dirty="0" smtClean="0">
                <a:solidFill>
                  <a:schemeClr val="tx1"/>
                </a:solidFill>
                <a:latin typeface="+mn-lt"/>
                <a:ea typeface="+mn-ea"/>
                <a:cs typeface="+mn-cs"/>
              </a:rPr>
              <a:t> (и мелкие, и крупные) и склеивает их вместе. Именно </a:t>
            </a:r>
            <a:r>
              <a:rPr lang="ru-RU" sz="1200" b="0" i="0" kern="1200" dirty="0" err="1" smtClean="0">
                <a:solidFill>
                  <a:schemeClr val="tx1"/>
                </a:solidFill>
                <a:latin typeface="+mn-lt"/>
                <a:ea typeface="+mn-ea"/>
                <a:cs typeface="+mn-cs"/>
              </a:rPr>
              <a:t>Neck</a:t>
            </a:r>
            <a:r>
              <a:rPr lang="ru-RU" sz="1200" b="0" i="0" kern="1200" dirty="0" smtClean="0">
                <a:solidFill>
                  <a:schemeClr val="tx1"/>
                </a:solidFill>
                <a:latin typeface="+mn-lt"/>
                <a:ea typeface="+mn-ea"/>
                <a:cs typeface="+mn-cs"/>
              </a:rPr>
              <a:t> создает ту самую Пирамиду признаков (</a:t>
            </a:r>
            <a:r>
              <a:rPr lang="ru-RU" sz="1200" b="0" i="0" kern="1200" dirty="0" err="1" smtClean="0">
                <a:solidFill>
                  <a:schemeClr val="tx1"/>
                </a:solidFill>
                <a:latin typeface="+mn-lt"/>
                <a:ea typeface="+mn-ea"/>
                <a:cs typeface="+mn-cs"/>
              </a:rPr>
              <a:t>Feature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Pyramid</a:t>
            </a:r>
            <a:r>
              <a:rPr lang="ru-RU" sz="1200" b="0" i="0" kern="1200" dirty="0" smtClean="0">
                <a:solidFill>
                  <a:schemeClr val="tx1"/>
                </a:solidFill>
                <a:latin typeface="+mn-lt"/>
                <a:ea typeface="+mn-ea"/>
                <a:cs typeface="+mn-cs"/>
              </a:rPr>
              <a:t>) — несколько сеток разного размера, чтобы сеть могла видеть и огромного буйвола, и маленькую птицу на заднем плане одновременно.</a:t>
            </a:r>
          </a:p>
          <a:p>
            <a:r>
              <a:rPr lang="ru-RU" sz="1200" b="1" i="0" kern="1200" dirty="0" err="1" smtClean="0">
                <a:solidFill>
                  <a:schemeClr val="tx1"/>
                </a:solidFill>
                <a:latin typeface="+mn-lt"/>
                <a:ea typeface="+mn-ea"/>
                <a:cs typeface="+mn-cs"/>
              </a:rPr>
              <a:t>Head</a:t>
            </a:r>
            <a:r>
              <a:rPr lang="ru-RU" sz="1200" b="1" i="0" kern="1200" dirty="0" smtClean="0">
                <a:solidFill>
                  <a:schemeClr val="tx1"/>
                </a:solidFill>
                <a:latin typeface="+mn-lt"/>
                <a:ea typeface="+mn-ea"/>
                <a:cs typeface="+mn-cs"/>
              </a:rPr>
              <a:t> (Голова / Предсказатель):</a:t>
            </a:r>
            <a:r>
              <a:rPr lang="ru-RU" sz="1200" b="0" i="0" kern="1200" dirty="0" smtClean="0">
                <a:solidFill>
                  <a:schemeClr val="tx1"/>
                </a:solidFill>
                <a:latin typeface="+mn-lt"/>
                <a:ea typeface="+mn-ea"/>
                <a:cs typeface="+mn-cs"/>
              </a:rPr>
              <a:t> Это «рука», которая выдает финальный результат. Она смотрит на то, что собрал </a:t>
            </a:r>
            <a:r>
              <a:rPr lang="ru-RU" sz="1200" b="0" i="0" kern="1200" dirty="0" err="1" smtClean="0">
                <a:solidFill>
                  <a:schemeClr val="tx1"/>
                </a:solidFill>
                <a:latin typeface="+mn-lt"/>
                <a:ea typeface="+mn-ea"/>
                <a:cs typeface="+mn-cs"/>
              </a:rPr>
              <a:t>Neck</a:t>
            </a:r>
            <a:r>
              <a:rPr lang="ru-RU" sz="1200" b="0" i="0" kern="1200" dirty="0" smtClean="0">
                <a:solidFill>
                  <a:schemeClr val="tx1"/>
                </a:solidFill>
                <a:latin typeface="+mn-lt"/>
                <a:ea typeface="+mn-ea"/>
                <a:cs typeface="+mn-cs"/>
              </a:rPr>
              <a:t>, и высчитывает конкретные цифры: координаты рамки, уверенность и класс объекта.</a:t>
            </a:r>
          </a:p>
          <a:p>
            <a:endParaRPr lang="ru-RU" dirty="0" smtClean="0"/>
          </a:p>
          <a:p>
            <a:endParaRPr lang="ru-RU" dirty="0" smtClean="0"/>
          </a:p>
          <a:p>
            <a:r>
              <a:rPr lang="ru-RU" sz="1200" b="1" i="0" kern="1200" dirty="0" smtClean="0">
                <a:solidFill>
                  <a:schemeClr val="tx1"/>
                </a:solidFill>
                <a:latin typeface="+mn-lt"/>
                <a:ea typeface="+mn-ea"/>
                <a:cs typeface="+mn-cs"/>
              </a:rPr>
              <a:t>Как ячейки формируют предсказания?</a:t>
            </a:r>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Когда картинка прошла через </a:t>
            </a:r>
            <a:r>
              <a:rPr lang="ru-RU" sz="1200" b="0" i="0" kern="1200" dirty="0" err="1" smtClean="0">
                <a:solidFill>
                  <a:schemeClr val="tx1"/>
                </a:solidFill>
                <a:latin typeface="+mn-lt"/>
                <a:ea typeface="+mn-ea"/>
                <a:cs typeface="+mn-cs"/>
              </a:rPr>
              <a:t>Backbone</a:t>
            </a:r>
            <a:r>
              <a:rPr lang="ru-RU" sz="1200" b="0" i="0" kern="1200" dirty="0" smtClean="0">
                <a:solidFill>
                  <a:schemeClr val="tx1"/>
                </a:solidFill>
                <a:latin typeface="+mn-lt"/>
                <a:ea typeface="+mn-ea"/>
                <a:cs typeface="+mn-cs"/>
              </a:rPr>
              <a:t> и </a:t>
            </a:r>
            <a:r>
              <a:rPr lang="ru-RU" sz="1200" b="0" i="0" kern="1200" dirty="0" err="1" smtClean="0">
                <a:solidFill>
                  <a:schemeClr val="tx1"/>
                </a:solidFill>
                <a:latin typeface="+mn-lt"/>
                <a:ea typeface="+mn-ea"/>
                <a:cs typeface="+mn-cs"/>
              </a:rPr>
              <a:t>Neck</a:t>
            </a:r>
            <a:r>
              <a:rPr lang="ru-RU" sz="1200" b="0" i="0" kern="1200" dirty="0" smtClean="0">
                <a:solidFill>
                  <a:schemeClr val="tx1"/>
                </a:solidFill>
                <a:latin typeface="+mn-lt"/>
                <a:ea typeface="+mn-ea"/>
                <a:cs typeface="+mn-cs"/>
              </a:rPr>
              <a:t>, она превращается в набор карт признаков (наших сеток — мелких, средних и крупных). Каждая ячейка на этих сетках «смотрит» на свой кусочек изображения и выдает три типа информации:</a:t>
            </a:r>
          </a:p>
          <a:p>
            <a:endParaRPr lang="ru-RU" sz="1200" b="0" i="0" kern="1200" dirty="0" smtClean="0">
              <a:solidFill>
                <a:schemeClr val="tx1"/>
              </a:solidFill>
              <a:latin typeface="+mn-lt"/>
              <a:ea typeface="+mn-ea"/>
              <a:cs typeface="+mn-cs"/>
            </a:endParaRPr>
          </a:p>
          <a:p>
            <a:pPr marL="228600" indent="-228600">
              <a:buAutoNum type="arabicParenR"/>
            </a:pPr>
            <a:r>
              <a:rPr lang="ru-RU" sz="1200" b="0" i="0" kern="1200" dirty="0" smtClean="0">
                <a:solidFill>
                  <a:schemeClr val="tx1"/>
                </a:solidFill>
                <a:latin typeface="+mn-lt"/>
                <a:ea typeface="+mn-ea"/>
                <a:cs typeface="+mn-cs"/>
              </a:rPr>
              <a:t>Где находится объект (</a:t>
            </a:r>
            <a:r>
              <a:rPr lang="ru-RU" sz="1200" b="0" i="0" kern="1200" dirty="0" err="1" smtClean="0">
                <a:solidFill>
                  <a:schemeClr val="tx1"/>
                </a:solidFill>
                <a:latin typeface="+mn-lt"/>
                <a:ea typeface="+mn-ea"/>
                <a:cs typeface="+mn-cs"/>
              </a:rPr>
              <a:t>Bounding</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Box</a:t>
            </a:r>
            <a:r>
              <a:rPr lang="ru-RU" sz="1200" b="0" i="0" kern="1200" dirty="0" smtClean="0">
                <a:solidFill>
                  <a:schemeClr val="tx1"/>
                </a:solidFill>
                <a:latin typeface="+mn-lt"/>
                <a:ea typeface="+mn-ea"/>
                <a:cs typeface="+mn-cs"/>
              </a:rPr>
              <a:t>): Ячейка не предсказывает точные пиксели. Она выдает нормализованные</a:t>
            </a:r>
            <a:r>
              <a:rPr lang="ru-RU" sz="1200" b="0" i="0" kern="1200" baseline="0" dirty="0" smtClean="0">
                <a:solidFill>
                  <a:schemeClr val="tx1"/>
                </a:solidFill>
                <a:latin typeface="+mn-lt"/>
                <a:ea typeface="+mn-ea"/>
                <a:cs typeface="+mn-cs"/>
              </a:rPr>
              <a:t> числа, т.е. из диапазона 0-1: мы делим координату по </a:t>
            </a:r>
            <a:r>
              <a:rPr lang="ru-RU" sz="1200" b="0" i="0" kern="1200" baseline="0" dirty="0" err="1" smtClean="0">
                <a:solidFill>
                  <a:schemeClr val="tx1"/>
                </a:solidFill>
                <a:latin typeface="+mn-lt"/>
                <a:ea typeface="+mn-ea"/>
                <a:cs typeface="+mn-cs"/>
              </a:rPr>
              <a:t>х</a:t>
            </a:r>
            <a:r>
              <a:rPr lang="ru-RU" sz="1200" b="0" i="0" kern="1200" baseline="0" dirty="0" smtClean="0">
                <a:solidFill>
                  <a:schemeClr val="tx1"/>
                </a:solidFill>
                <a:latin typeface="+mn-lt"/>
                <a:ea typeface="+mn-ea"/>
                <a:cs typeface="+mn-cs"/>
              </a:rPr>
              <a:t> на всю ширину картинки и получаем относительное положение центра</a:t>
            </a:r>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2) Насколько она уверена (</a:t>
            </a:r>
            <a:r>
              <a:rPr lang="ru-RU" sz="1200" b="0" i="0" kern="1200" dirty="0" err="1" smtClean="0">
                <a:solidFill>
                  <a:schemeClr val="tx1"/>
                </a:solidFill>
                <a:latin typeface="+mn-lt"/>
                <a:ea typeface="+mn-ea"/>
                <a:cs typeface="+mn-cs"/>
              </a:rPr>
              <a:t>Confidence</a:t>
            </a:r>
            <a:r>
              <a:rPr lang="ru-RU" sz="1200" b="0" i="0" kern="1200" dirty="0" smtClean="0">
                <a:solidFill>
                  <a:schemeClr val="tx1"/>
                </a:solidFill>
                <a:latin typeface="+mn-lt"/>
                <a:ea typeface="+mn-ea"/>
                <a:cs typeface="+mn-cs"/>
              </a:rPr>
              <a:t>): Число от 0 до 1. Если в ячейке пустой фон, она скажет «0.01» (я почти уверена, что тут ничего нет). Если там зебра — «0.95» (я почти уверена, что это объект).</a:t>
            </a:r>
          </a:p>
          <a:p>
            <a:r>
              <a:rPr lang="ru-RU" sz="1200" b="0" i="0" kern="1200" dirty="0" smtClean="0">
                <a:solidFill>
                  <a:schemeClr val="tx1"/>
                </a:solidFill>
                <a:latin typeface="+mn-lt"/>
                <a:ea typeface="+mn-ea"/>
                <a:cs typeface="+mn-cs"/>
              </a:rPr>
              <a:t>3) Что это за класс (</a:t>
            </a:r>
            <a:r>
              <a:rPr lang="ru-RU" sz="1200" b="0" i="0" kern="1200" dirty="0" err="1" smtClean="0">
                <a:solidFill>
                  <a:schemeClr val="tx1"/>
                </a:solidFill>
                <a:latin typeface="+mn-lt"/>
                <a:ea typeface="+mn-ea"/>
                <a:cs typeface="+mn-cs"/>
              </a:rPr>
              <a:t>Class</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Probability</a:t>
            </a:r>
            <a:r>
              <a:rPr lang="ru-RU" sz="1200" b="0" i="0" kern="1200" dirty="0" smtClean="0">
                <a:solidFill>
                  <a:schemeClr val="tx1"/>
                </a:solidFill>
                <a:latin typeface="+mn-lt"/>
                <a:ea typeface="+mn-ea"/>
                <a:cs typeface="+mn-cs"/>
              </a:rPr>
              <a:t>): Список вероятностей для каждого класса. Например, </a:t>
            </a:r>
            <a:r>
              <a:rPr lang="ru-RU" sz="1200" b="0" i="1" kern="1200" dirty="0" smtClean="0">
                <a:solidFill>
                  <a:schemeClr val="tx1"/>
                </a:solidFill>
                <a:latin typeface="+mn-lt"/>
                <a:ea typeface="+mn-ea"/>
                <a:cs typeface="+mn-cs"/>
              </a:rPr>
              <a:t>«Буйвол — 2%, Слон — 5%, Носорог — 3%, Зебра — 90%»</a:t>
            </a:r>
            <a:r>
              <a:rPr lang="ru-RU" sz="1200" b="0" i="0" kern="1200" dirty="0" smtClean="0">
                <a:solidFill>
                  <a:schemeClr val="tx1"/>
                </a:solidFill>
                <a:latin typeface="+mn-lt"/>
                <a:ea typeface="+mn-ea"/>
                <a:cs typeface="+mn-cs"/>
              </a:rPr>
              <a:t>.</a:t>
            </a:r>
          </a:p>
          <a:p>
            <a:r>
              <a:rPr lang="ru-RU" sz="1200" b="0" i="0" kern="1200" dirty="0" smtClean="0">
                <a:solidFill>
                  <a:schemeClr val="tx1"/>
                </a:solidFill>
                <a:latin typeface="+mn-lt"/>
                <a:ea typeface="+mn-ea"/>
                <a:cs typeface="+mn-cs"/>
              </a:rPr>
              <a:t>Все это происходит параллельно на всех сетках (мелкой, средней и крупной) одновременно.</a:t>
            </a:r>
          </a:p>
          <a:p>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3. Финальная </a:t>
            </a:r>
            <a:r>
              <a:rPr lang="ru-RU" sz="1200" b="1" i="0" kern="1200" dirty="0" err="1" smtClean="0">
                <a:solidFill>
                  <a:schemeClr val="tx1"/>
                </a:solidFill>
                <a:latin typeface="+mn-lt"/>
                <a:ea typeface="+mn-ea"/>
                <a:cs typeface="+mn-cs"/>
              </a:rPr>
              <a:t>детекция</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Final</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Detections</a:t>
            </a:r>
            <a:r>
              <a:rPr lang="ru-RU" sz="1200" b="1" i="0" kern="1200" dirty="0" smtClean="0">
                <a:solidFill>
                  <a:schemeClr val="tx1"/>
                </a:solidFill>
                <a:latin typeface="+mn-lt"/>
                <a:ea typeface="+mn-ea"/>
                <a:cs typeface="+mn-cs"/>
              </a:rPr>
              <a:t>): как мы убираем «мусор»</a:t>
            </a:r>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После того как сетки сделали свои предсказания, у нас на руках оказываются тысячи рамок. Большинство из них — это ошибки или дубликаты. Например, три соседние ячейки могут увидеть одну и ту же зебру и нарисовать вокруг неё три разные рамки. Как оставить только лучшую?</a:t>
            </a:r>
          </a:p>
          <a:p>
            <a:r>
              <a:rPr lang="ru-RU" sz="1200" b="0" i="0" kern="1200" dirty="0" smtClean="0">
                <a:solidFill>
                  <a:schemeClr val="tx1"/>
                </a:solidFill>
                <a:latin typeface="+mn-lt"/>
                <a:ea typeface="+mn-ea"/>
                <a:cs typeface="+mn-cs"/>
              </a:rPr>
              <a:t>Здесь вступает в дело постобработка. Выполняются два шага:</a:t>
            </a:r>
          </a:p>
          <a:p>
            <a:r>
              <a:rPr lang="ru-RU" sz="1200" b="0" i="0" kern="1200" dirty="0" smtClean="0">
                <a:solidFill>
                  <a:schemeClr val="tx1"/>
                </a:solidFill>
                <a:latin typeface="+mn-lt"/>
                <a:ea typeface="+mn-ea"/>
                <a:cs typeface="+mn-cs"/>
              </a:rPr>
              <a:t>Отсечение по уверенности (</a:t>
            </a:r>
            <a:r>
              <a:rPr lang="ru-RU" sz="1200" b="0" i="0" kern="1200" dirty="0" err="1" smtClean="0">
                <a:solidFill>
                  <a:schemeClr val="tx1"/>
                </a:solidFill>
                <a:latin typeface="+mn-lt"/>
                <a:ea typeface="+mn-ea"/>
                <a:cs typeface="+mn-cs"/>
              </a:rPr>
              <a:t>Confidence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Threshold</a:t>
            </a:r>
            <a:r>
              <a:rPr lang="ru-RU" sz="1200" b="0" i="0" kern="1200" dirty="0" smtClean="0">
                <a:solidFill>
                  <a:schemeClr val="tx1"/>
                </a:solidFill>
                <a:latin typeface="+mn-lt"/>
                <a:ea typeface="+mn-ea"/>
                <a:cs typeface="+mn-cs"/>
              </a:rPr>
              <a:t>): Мы просто выкидываем все рамки, где уверенность модели ниже заданного порога (например, ниже 40%). Остаются только те места, где сеть действительно уверена.</a:t>
            </a:r>
          </a:p>
          <a:p>
            <a:endParaRPr lang="ru-RU" dirty="0"/>
          </a:p>
        </p:txBody>
      </p:sp>
      <p:sp>
        <p:nvSpPr>
          <p:cNvPr id="4" name="Номер слайда 3"/>
          <p:cNvSpPr>
            <a:spLocks noGrp="1"/>
          </p:cNvSpPr>
          <p:nvPr>
            <p:ph type="sldNum" sz="quarter" idx="10"/>
          </p:nvPr>
        </p:nvSpPr>
        <p:spPr/>
        <p:txBody>
          <a:bodyPr/>
          <a:lstStyle/>
          <a:p>
            <a:fld id="{32A40295-5C2D-44F9-9666-2230E0FAA04D}" type="slidenum">
              <a:rPr lang="ru-RU" smtClean="0"/>
              <a:t>7</a:t>
            </a:fld>
            <a:endParaRPr lang="ru-R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92500"/>
          </a:bodyPr>
          <a:lstStyle/>
          <a:p>
            <a:r>
              <a:rPr lang="ru-RU" sz="1200" b="0" i="0" kern="1200" dirty="0" smtClean="0">
                <a:solidFill>
                  <a:schemeClr val="tx1"/>
                </a:solidFill>
                <a:latin typeface="+mn-lt"/>
                <a:ea typeface="+mn-ea"/>
                <a:cs typeface="+mn-cs"/>
              </a:rPr>
              <a:t>Обучение детектора объектов с нуля — это ресурсоемкая задача, требующая миллионов размеченных изображений и огромных вычислительных мощностей. Для решения прикладных задач мы используем подход </a:t>
            </a:r>
            <a:r>
              <a:rPr lang="ru-RU" sz="1200" b="1" i="0" kern="1200" dirty="0" err="1" smtClean="0">
                <a:solidFill>
                  <a:schemeClr val="tx1"/>
                </a:solidFill>
                <a:latin typeface="+mn-lt"/>
                <a:ea typeface="+mn-ea"/>
                <a:cs typeface="+mn-cs"/>
              </a:rPr>
              <a:t>Transfer</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Learning</a:t>
            </a:r>
            <a:r>
              <a:rPr lang="ru-RU" sz="1200" b="1" i="0" kern="1200" dirty="0" smtClean="0">
                <a:solidFill>
                  <a:schemeClr val="tx1"/>
                </a:solidFill>
                <a:latin typeface="+mn-lt"/>
                <a:ea typeface="+mn-ea"/>
                <a:cs typeface="+mn-cs"/>
              </a:rPr>
              <a:t> </a:t>
            </a:r>
            <a:r>
              <a:rPr lang="ru-RU" sz="1200" b="0" i="0" kern="1200" dirty="0" smtClean="0">
                <a:solidFill>
                  <a:schemeClr val="tx1"/>
                </a:solidFill>
                <a:latin typeface="+mn-lt"/>
                <a:ea typeface="+mn-ea"/>
                <a:cs typeface="+mn-cs"/>
              </a:rPr>
              <a:t>(Перенос обучения), который позволяет сократить время обучения до нескольких минут.</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1. База знаний: </a:t>
            </a:r>
            <a:r>
              <a:rPr lang="ru-RU" sz="1200" b="0" i="0" kern="1200" dirty="0" err="1" smtClean="0">
                <a:solidFill>
                  <a:schemeClr val="tx1"/>
                </a:solidFill>
                <a:latin typeface="+mn-lt"/>
                <a:ea typeface="+mn-ea"/>
                <a:cs typeface="+mn-cs"/>
              </a:rPr>
              <a:t>датасет</a:t>
            </a:r>
            <a:r>
              <a:rPr lang="ru-RU" sz="1200" b="0" i="0" kern="1200" dirty="0" smtClean="0">
                <a:solidFill>
                  <a:schemeClr val="tx1"/>
                </a:solidFill>
                <a:latin typeface="+mn-lt"/>
                <a:ea typeface="+mn-ea"/>
                <a:cs typeface="+mn-cs"/>
              </a:rPr>
              <a:t> COCO</a:t>
            </a:r>
            <a:br>
              <a:rPr lang="ru-RU" sz="1200" b="0" i="0" kern="1200" dirty="0" smtClean="0">
                <a:solidFill>
                  <a:schemeClr val="tx1"/>
                </a:solidFill>
                <a:latin typeface="+mn-lt"/>
                <a:ea typeface="+mn-ea"/>
                <a:cs typeface="+mn-cs"/>
              </a:rPr>
            </a:br>
            <a:r>
              <a:rPr lang="ru-RU" sz="1200" b="0" i="0" kern="1200" dirty="0" smtClean="0">
                <a:solidFill>
                  <a:schemeClr val="tx1"/>
                </a:solidFill>
                <a:latin typeface="+mn-lt"/>
                <a:ea typeface="+mn-ea"/>
                <a:cs typeface="+mn-cs"/>
              </a:rPr>
              <a:t>Разработчики YOLO </a:t>
            </a:r>
            <a:r>
              <a:rPr lang="ru-RU" sz="1200" b="0" i="0" kern="1200" dirty="0" err="1" smtClean="0">
                <a:solidFill>
                  <a:schemeClr val="tx1"/>
                </a:solidFill>
                <a:latin typeface="+mn-lt"/>
                <a:ea typeface="+mn-ea"/>
                <a:cs typeface="+mn-cs"/>
              </a:rPr>
              <a:t>предобучают</a:t>
            </a:r>
            <a:r>
              <a:rPr lang="ru-RU" sz="1200" b="0" i="0" kern="1200" dirty="0" smtClean="0">
                <a:solidFill>
                  <a:schemeClr val="tx1"/>
                </a:solidFill>
                <a:latin typeface="+mn-lt"/>
                <a:ea typeface="+mn-ea"/>
                <a:cs typeface="+mn-cs"/>
              </a:rPr>
              <a:t> свои модели на колоссальном </a:t>
            </a:r>
            <a:r>
              <a:rPr lang="ru-RU" sz="1200" b="0" i="0" kern="1200" dirty="0" err="1" smtClean="0">
                <a:solidFill>
                  <a:schemeClr val="tx1"/>
                </a:solidFill>
                <a:latin typeface="+mn-lt"/>
                <a:ea typeface="+mn-ea"/>
                <a:cs typeface="+mn-cs"/>
              </a:rPr>
              <a:t>датасете</a:t>
            </a:r>
            <a:r>
              <a:rPr lang="ru-RU" sz="1200" b="0" i="0" kern="1200" dirty="0" smtClean="0">
                <a:solidFill>
                  <a:schemeClr val="tx1"/>
                </a:solidFill>
                <a:latin typeface="+mn-lt"/>
                <a:ea typeface="+mn-ea"/>
                <a:cs typeface="+mn-cs"/>
              </a:rPr>
              <a:t> COCO (</a:t>
            </a:r>
            <a:r>
              <a:rPr lang="ru-RU" sz="1200" b="0" i="0" kern="1200" dirty="0" err="1" smtClean="0">
                <a:solidFill>
                  <a:schemeClr val="tx1"/>
                </a:solidFill>
                <a:latin typeface="+mn-lt"/>
                <a:ea typeface="+mn-ea"/>
                <a:cs typeface="+mn-cs"/>
              </a:rPr>
              <a:t>Common</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Objects</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in</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Context</a:t>
            </a:r>
            <a:r>
              <a:rPr lang="ru-RU" sz="1200" b="0" i="0" kern="1200" dirty="0" smtClean="0">
                <a:solidFill>
                  <a:schemeClr val="tx1"/>
                </a:solidFill>
                <a:latin typeface="+mn-lt"/>
                <a:ea typeface="+mn-ea"/>
                <a:cs typeface="+mn-cs"/>
              </a:rPr>
              <a:t>). Этот </a:t>
            </a:r>
            <a:r>
              <a:rPr lang="ru-RU" sz="1200" b="0" i="0" kern="1200" dirty="0" err="1" smtClean="0">
                <a:solidFill>
                  <a:schemeClr val="tx1"/>
                </a:solidFill>
                <a:latin typeface="+mn-lt"/>
                <a:ea typeface="+mn-ea"/>
                <a:cs typeface="+mn-cs"/>
              </a:rPr>
              <a:t>датасет</a:t>
            </a:r>
            <a:r>
              <a:rPr lang="ru-RU" sz="1200" b="0" i="0" kern="1200" dirty="0" smtClean="0">
                <a:solidFill>
                  <a:schemeClr val="tx1"/>
                </a:solidFill>
                <a:latin typeface="+mn-lt"/>
                <a:ea typeface="+mn-ea"/>
                <a:cs typeface="+mn-cs"/>
              </a:rPr>
              <a:t> содержит 330 000 изображений, на которых размечено 80 классов объектов. Это повседневные сцены, включающие:</a:t>
            </a:r>
          </a:p>
          <a:p>
            <a:r>
              <a:rPr lang="ru-RU" sz="1200" b="0" i="0" kern="1200" dirty="0" smtClean="0">
                <a:solidFill>
                  <a:schemeClr val="tx1"/>
                </a:solidFill>
                <a:latin typeface="+mn-lt"/>
                <a:ea typeface="+mn-ea"/>
                <a:cs typeface="+mn-cs"/>
              </a:rPr>
              <a:t>Люди и транспорт: </a:t>
            </a:r>
            <a:r>
              <a:rPr lang="ru-RU" sz="1200" b="0" i="0" kern="1200" dirty="0" err="1" smtClean="0">
                <a:solidFill>
                  <a:schemeClr val="tx1"/>
                </a:solidFill>
                <a:latin typeface="+mn-lt"/>
                <a:ea typeface="+mn-ea"/>
                <a:cs typeface="+mn-cs"/>
              </a:rPr>
              <a:t>person</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bicycle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car</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motorcycle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airplane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bus</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train</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truck</a:t>
            </a:r>
            <a:r>
              <a:rPr lang="ru-RU" sz="1200" b="0" i="0" kern="1200" dirty="0" smtClean="0">
                <a:solidFill>
                  <a:schemeClr val="tx1"/>
                </a:solidFill>
                <a:latin typeface="+mn-lt"/>
                <a:ea typeface="+mn-ea"/>
                <a:cs typeface="+mn-cs"/>
              </a:rPr>
              <a:t>.</a:t>
            </a:r>
          </a:p>
          <a:p>
            <a:r>
              <a:rPr lang="ru-RU" sz="1200" b="0" i="0" kern="1200" dirty="0" smtClean="0">
                <a:solidFill>
                  <a:schemeClr val="tx1"/>
                </a:solidFill>
                <a:latin typeface="+mn-lt"/>
                <a:ea typeface="+mn-ea"/>
                <a:cs typeface="+mn-cs"/>
              </a:rPr>
              <a:t>Животные: </a:t>
            </a:r>
            <a:r>
              <a:rPr lang="ru-RU" sz="1200" b="0" i="0" kern="1200" dirty="0" err="1" smtClean="0">
                <a:solidFill>
                  <a:schemeClr val="tx1"/>
                </a:solidFill>
                <a:latin typeface="+mn-lt"/>
                <a:ea typeface="+mn-ea"/>
                <a:cs typeface="+mn-cs"/>
              </a:rPr>
              <a:t>bird</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cat</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dog</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horse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sheep</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cow</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elephant</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bear</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zebra</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giraffe</a:t>
            </a:r>
            <a:r>
              <a:rPr lang="ru-RU" sz="1200" b="0" i="0" kern="1200" dirty="0" smtClean="0">
                <a:solidFill>
                  <a:schemeClr val="tx1"/>
                </a:solidFill>
                <a:latin typeface="+mn-lt"/>
                <a:ea typeface="+mn-ea"/>
                <a:cs typeface="+mn-cs"/>
              </a:rPr>
              <a:t>.</a:t>
            </a:r>
          </a:p>
          <a:p>
            <a:r>
              <a:rPr lang="ru-RU" sz="1200" b="0" i="0" kern="1200" dirty="0" smtClean="0">
                <a:solidFill>
                  <a:schemeClr val="tx1"/>
                </a:solidFill>
                <a:latin typeface="+mn-lt"/>
                <a:ea typeface="+mn-ea"/>
                <a:cs typeface="+mn-cs"/>
              </a:rPr>
              <a:t>Быт и еда: </a:t>
            </a:r>
            <a:r>
              <a:rPr lang="ru-RU" sz="1200" b="0" i="0" kern="1200" dirty="0" err="1" smtClean="0">
                <a:solidFill>
                  <a:schemeClr val="tx1"/>
                </a:solidFill>
                <a:latin typeface="+mn-lt"/>
                <a:ea typeface="+mn-ea"/>
                <a:cs typeface="+mn-cs"/>
              </a:rPr>
              <a:t>banana</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apple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sandwich</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pizza</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donut</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cup</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chair</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laptop</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cell</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phone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book</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clock</a:t>
            </a:r>
            <a:r>
              <a:rPr lang="ru-RU" sz="1200" b="0" i="0" kern="1200" dirty="0" smtClean="0">
                <a:solidFill>
                  <a:schemeClr val="tx1"/>
                </a:solidFill>
                <a:latin typeface="+mn-lt"/>
                <a:ea typeface="+mn-ea"/>
                <a:cs typeface="+mn-cs"/>
              </a:rPr>
              <a:t>.</a:t>
            </a:r>
          </a:p>
          <a:p>
            <a:r>
              <a:rPr lang="ru-RU" sz="1200" b="0" i="0" kern="1200" dirty="0" smtClean="0">
                <a:solidFill>
                  <a:schemeClr val="tx1"/>
                </a:solidFill>
                <a:latin typeface="+mn-lt"/>
                <a:ea typeface="+mn-ea"/>
                <a:cs typeface="+mn-cs"/>
              </a:rPr>
              <a:t>Благодаря этому </a:t>
            </a:r>
            <a:r>
              <a:rPr lang="ru-RU" sz="1200" b="0" i="0" kern="1200" dirty="0" err="1" smtClean="0">
                <a:solidFill>
                  <a:schemeClr val="tx1"/>
                </a:solidFill>
                <a:latin typeface="+mn-lt"/>
                <a:ea typeface="+mn-ea"/>
                <a:cs typeface="+mn-cs"/>
              </a:rPr>
              <a:t>датасету</a:t>
            </a:r>
            <a:r>
              <a:rPr lang="ru-RU" sz="1200" b="0" i="0" kern="1200" dirty="0" smtClean="0">
                <a:solidFill>
                  <a:schemeClr val="tx1"/>
                </a:solidFill>
                <a:latin typeface="+mn-lt"/>
                <a:ea typeface="+mn-ea"/>
                <a:cs typeface="+mn-cs"/>
              </a:rPr>
              <a:t>, базовая модель уже «знает», как выглядят базовые формы, текстуры и градиенты в реальном мире.</a:t>
            </a:r>
          </a:p>
          <a:p>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2. Специфика YOLOv8: Полный </a:t>
            </a:r>
            <a:r>
              <a:rPr lang="ru-RU" sz="1200" b="1" i="0" kern="1200" dirty="0" err="1" smtClean="0">
                <a:solidFill>
                  <a:schemeClr val="tx1"/>
                </a:solidFill>
                <a:latin typeface="+mn-lt"/>
                <a:ea typeface="+mn-ea"/>
                <a:cs typeface="+mn-cs"/>
              </a:rPr>
              <a:t>Fine-tuning</a:t>
            </a:r>
            <a:r>
              <a:rPr lang="ru-RU" sz="1200" b="0" i="0" kern="1200" dirty="0" smtClean="0">
                <a:solidFill>
                  <a:schemeClr val="tx1"/>
                </a:solidFill>
                <a:latin typeface="+mn-lt"/>
                <a:ea typeface="+mn-ea"/>
                <a:cs typeface="+mn-cs"/>
              </a:rPr>
              <a:t/>
            </a:r>
            <a:br>
              <a:rPr lang="ru-RU" sz="1200" b="0" i="0" kern="1200" dirty="0" smtClean="0">
                <a:solidFill>
                  <a:schemeClr val="tx1"/>
                </a:solidFill>
                <a:latin typeface="+mn-lt"/>
                <a:ea typeface="+mn-ea"/>
                <a:cs typeface="+mn-cs"/>
              </a:rPr>
            </a:br>
            <a:r>
              <a:rPr lang="ru-RU" sz="1200" b="0" i="0" kern="1200" dirty="0" smtClean="0">
                <a:solidFill>
                  <a:schemeClr val="tx1"/>
                </a:solidFill>
                <a:latin typeface="+mn-lt"/>
                <a:ea typeface="+mn-ea"/>
                <a:cs typeface="+mn-cs"/>
              </a:rPr>
              <a:t>Важно отметить, что в YOLOv8 по умолчанию запускается полный </a:t>
            </a:r>
            <a:r>
              <a:rPr lang="ru-RU" sz="1200" b="0" i="0" kern="1200" dirty="0" err="1" smtClean="0">
                <a:solidFill>
                  <a:schemeClr val="tx1"/>
                </a:solidFill>
                <a:latin typeface="+mn-lt"/>
                <a:ea typeface="+mn-ea"/>
                <a:cs typeface="+mn-cs"/>
              </a:rPr>
              <a:t>Fine-tuning</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дообучение</a:t>
            </a:r>
            <a:r>
              <a:rPr lang="ru-RU" sz="1200" b="0" i="0" kern="1200" dirty="0" smtClean="0">
                <a:solidFill>
                  <a:schemeClr val="tx1"/>
                </a:solidFill>
                <a:latin typeface="+mn-lt"/>
                <a:ea typeface="+mn-ea"/>
                <a:cs typeface="+mn-cs"/>
              </a:rPr>
              <a:t> всей сети), а не просто </a:t>
            </a:r>
            <a:r>
              <a:rPr lang="ru-RU" sz="1200" b="0" i="0" kern="1200" dirty="0" err="1" smtClean="0">
                <a:solidFill>
                  <a:schemeClr val="tx1"/>
                </a:solidFill>
                <a:latin typeface="+mn-lt"/>
                <a:ea typeface="+mn-ea"/>
                <a:cs typeface="+mn-cs"/>
              </a:rPr>
              <a:t>Feature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Extraction</a:t>
            </a:r>
            <a:r>
              <a:rPr lang="ru-RU" sz="1200" b="0" i="0" kern="1200" dirty="0" smtClean="0">
                <a:solidFill>
                  <a:schemeClr val="tx1"/>
                </a:solidFill>
                <a:latin typeface="+mn-lt"/>
                <a:ea typeface="+mn-ea"/>
                <a:cs typeface="+mn-cs"/>
              </a:rPr>
              <a:t> (когда замораживается всё, кроме последнего слоя).</a:t>
            </a:r>
            <a:br>
              <a:rPr lang="ru-RU" sz="1200" b="0" i="0" kern="1200" dirty="0" smtClean="0">
                <a:solidFill>
                  <a:schemeClr val="tx1"/>
                </a:solidFill>
                <a:latin typeface="+mn-lt"/>
                <a:ea typeface="+mn-ea"/>
                <a:cs typeface="+mn-cs"/>
              </a:rPr>
            </a:br>
            <a:r>
              <a:rPr lang="ru-RU" sz="1200" b="0" i="0" kern="1200" dirty="0" smtClean="0">
                <a:solidFill>
                  <a:schemeClr val="tx1"/>
                </a:solidFill>
                <a:latin typeface="+mn-lt"/>
                <a:ea typeface="+mn-ea"/>
                <a:cs typeface="+mn-cs"/>
              </a:rPr>
              <a:t>Это означает, что при обучении на нашем </a:t>
            </a:r>
            <a:r>
              <a:rPr lang="ru-RU" sz="1200" b="0" i="0" kern="1200" dirty="0" err="1" smtClean="0">
                <a:solidFill>
                  <a:schemeClr val="tx1"/>
                </a:solidFill>
                <a:latin typeface="+mn-lt"/>
                <a:ea typeface="+mn-ea"/>
                <a:cs typeface="+mn-cs"/>
              </a:rPr>
              <a:t>датасете</a:t>
            </a:r>
            <a:r>
              <a:rPr lang="ru-RU" sz="1200" b="0" i="0" kern="1200" dirty="0" smtClean="0">
                <a:solidFill>
                  <a:schemeClr val="tx1"/>
                </a:solidFill>
                <a:latin typeface="+mn-lt"/>
                <a:ea typeface="+mn-ea"/>
                <a:cs typeface="+mn-cs"/>
              </a:rPr>
              <a:t> (например, 4 вида африканских животных) веса не просто «дописываются» в конец сети. Сеть адаптирует свои внутренние фильтры под новые данные. Однако, чтобы сеть не «забыла» то, чему уже научилась (эффект катастрофического забывания), обучение происходит с использованием специальных техник, о которых пойдет речь ниже.</a:t>
            </a:r>
          </a:p>
          <a:p>
            <a:endParaRPr lang="ru-RU" sz="1200" b="0" i="0" kern="1200" dirty="0" smtClean="0">
              <a:solidFill>
                <a:schemeClr val="tx1"/>
              </a:solidFill>
              <a:latin typeface="+mn-lt"/>
              <a:ea typeface="+mn-ea"/>
              <a:cs typeface="+mn-cs"/>
            </a:endParaRPr>
          </a:p>
          <a:p>
            <a:r>
              <a:rPr lang="ru-RU" sz="1200" b="1" kern="1200" dirty="0" smtClean="0">
                <a:solidFill>
                  <a:schemeClr val="tx1"/>
                </a:solidFill>
                <a:latin typeface="+mn-lt"/>
                <a:ea typeface="+mn-ea"/>
                <a:cs typeface="+mn-cs"/>
              </a:rPr>
              <a:t>Как именно происходит </a:t>
            </a:r>
            <a:r>
              <a:rPr lang="ru-RU" sz="1200" b="1" kern="1200" dirty="0" err="1" smtClean="0">
                <a:solidFill>
                  <a:schemeClr val="tx1"/>
                </a:solidFill>
                <a:latin typeface="+mn-lt"/>
                <a:ea typeface="+mn-ea"/>
                <a:cs typeface="+mn-cs"/>
              </a:rPr>
              <a:t>дообучение</a:t>
            </a:r>
            <a:r>
              <a:rPr lang="ru-RU" sz="1200" b="1" kern="1200" dirty="0" smtClean="0">
                <a:solidFill>
                  <a:schemeClr val="tx1"/>
                </a:solidFill>
                <a:latin typeface="+mn-lt"/>
                <a:ea typeface="+mn-ea"/>
                <a:cs typeface="+mn-cs"/>
              </a:rPr>
              <a:t> (</a:t>
            </a:r>
            <a:r>
              <a:rPr lang="ru-RU" sz="1200" b="1" kern="1200" dirty="0" err="1" smtClean="0">
                <a:solidFill>
                  <a:schemeClr val="tx1"/>
                </a:solidFill>
                <a:latin typeface="+mn-lt"/>
                <a:ea typeface="+mn-ea"/>
                <a:cs typeface="+mn-cs"/>
              </a:rPr>
              <a:t>Fine-tuning</a:t>
            </a:r>
            <a:r>
              <a:rPr lang="ru-RU" sz="1200" b="1" kern="1200" dirty="0" smtClean="0">
                <a:solidFill>
                  <a:schemeClr val="tx1"/>
                </a:solidFill>
                <a:latin typeface="+mn-lt"/>
                <a:ea typeface="+mn-ea"/>
                <a:cs typeface="+mn-cs"/>
              </a:rPr>
              <a:t>) в YOLO?</a:t>
            </a:r>
          </a:p>
          <a:p>
            <a:r>
              <a:rPr lang="ru-RU" sz="1200" b="0" i="0" kern="1200" dirty="0" smtClean="0">
                <a:solidFill>
                  <a:schemeClr val="tx1"/>
                </a:solidFill>
                <a:latin typeface="+mn-lt"/>
                <a:ea typeface="+mn-ea"/>
                <a:cs typeface="+mn-cs"/>
              </a:rPr>
              <a:t>Когда мы запускаем </a:t>
            </a:r>
            <a:r>
              <a:rPr lang="ru-RU" sz="1200" b="0" i="0" kern="1200" dirty="0" err="1" smtClean="0">
                <a:solidFill>
                  <a:schemeClr val="tx1"/>
                </a:solidFill>
                <a:latin typeface="+mn-lt"/>
                <a:ea typeface="+mn-ea"/>
                <a:cs typeface="+mn-cs"/>
              </a:rPr>
              <a:t>model.train</a:t>
            </a:r>
            <a:r>
              <a:rPr lang="ru-RU" sz="1200" b="0" i="0" kern="1200" dirty="0" smtClean="0">
                <a:solidFill>
                  <a:schemeClr val="tx1"/>
                </a:solidFill>
                <a:latin typeface="+mn-lt"/>
                <a:ea typeface="+mn-ea"/>
                <a:cs typeface="+mn-cs"/>
              </a:rPr>
              <a:t>() с нашим </a:t>
            </a:r>
            <a:r>
              <a:rPr lang="ru-RU" sz="1200" b="0" i="0" kern="1200" dirty="0" err="1" smtClean="0">
                <a:solidFill>
                  <a:schemeClr val="tx1"/>
                </a:solidFill>
                <a:latin typeface="+mn-lt"/>
                <a:ea typeface="+mn-ea"/>
                <a:cs typeface="+mn-cs"/>
              </a:rPr>
              <a:t>data.yaml</a:t>
            </a:r>
            <a:r>
              <a:rPr lang="ru-RU" sz="1200" b="0" i="0" kern="1200" dirty="0" smtClean="0">
                <a:solidFill>
                  <a:schemeClr val="tx1"/>
                </a:solidFill>
                <a:latin typeface="+mn-lt"/>
                <a:ea typeface="+mn-ea"/>
                <a:cs typeface="+mn-cs"/>
              </a:rPr>
              <a:t>, под капотом происходит следующий алгоритм:</a:t>
            </a:r>
          </a:p>
          <a:p>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Шаг 1. Замена «Головы» (</a:t>
            </a:r>
            <a:r>
              <a:rPr lang="ru-RU" sz="1200" b="1" i="0" kern="1200" dirty="0" err="1" smtClean="0">
                <a:solidFill>
                  <a:schemeClr val="tx1"/>
                </a:solidFill>
                <a:latin typeface="+mn-lt"/>
                <a:ea typeface="+mn-ea"/>
                <a:cs typeface="+mn-cs"/>
              </a:rPr>
              <a:t>Head</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Replacement</a:t>
            </a:r>
            <a:r>
              <a:rPr lang="ru-RU" sz="1200" b="1" i="0" kern="1200" dirty="0" smtClean="0">
                <a:solidFill>
                  <a:schemeClr val="tx1"/>
                </a:solidFill>
                <a:latin typeface="+mn-lt"/>
                <a:ea typeface="+mn-ea"/>
                <a:cs typeface="+mn-cs"/>
              </a:rPr>
              <a:t>)</a:t>
            </a:r>
            <a:r>
              <a:rPr lang="ru-RU" sz="1200" b="0" i="0" kern="1200" dirty="0" smtClean="0">
                <a:solidFill>
                  <a:schemeClr val="tx1"/>
                </a:solidFill>
                <a:latin typeface="+mn-lt"/>
                <a:ea typeface="+mn-ea"/>
                <a:cs typeface="+mn-cs"/>
              </a:rPr>
              <a:t/>
            </a:r>
            <a:br>
              <a:rPr lang="ru-RU" sz="1200" b="0" i="0" kern="1200" dirty="0" smtClean="0">
                <a:solidFill>
                  <a:schemeClr val="tx1"/>
                </a:solidFill>
                <a:latin typeface="+mn-lt"/>
                <a:ea typeface="+mn-ea"/>
                <a:cs typeface="+mn-cs"/>
              </a:rPr>
            </a:br>
            <a:r>
              <a:rPr lang="ru-RU" sz="1200" b="0" i="0" kern="1200" dirty="0" smtClean="0">
                <a:solidFill>
                  <a:schemeClr val="tx1"/>
                </a:solidFill>
                <a:latin typeface="+mn-lt"/>
                <a:ea typeface="+mn-ea"/>
                <a:cs typeface="+mn-cs"/>
              </a:rPr>
              <a:t>Исходная модель yolov8n.pt имеет на выходе 80 нейронов (по количеству классов COCO). Наш файл </a:t>
            </a:r>
            <a:r>
              <a:rPr lang="ru-RU" sz="1200" b="0" i="0" kern="1200" dirty="0" err="1" smtClean="0">
                <a:solidFill>
                  <a:schemeClr val="tx1"/>
                </a:solidFill>
                <a:latin typeface="+mn-lt"/>
                <a:ea typeface="+mn-ea"/>
                <a:cs typeface="+mn-cs"/>
              </a:rPr>
              <a:t>data.yaml</a:t>
            </a:r>
            <a:r>
              <a:rPr lang="ru-RU" sz="1200" b="0" i="0" kern="1200" dirty="0" smtClean="0">
                <a:solidFill>
                  <a:schemeClr val="tx1"/>
                </a:solidFill>
                <a:latin typeface="+mn-lt"/>
                <a:ea typeface="+mn-ea"/>
                <a:cs typeface="+mn-cs"/>
              </a:rPr>
              <a:t> сообщает библиотеке, что у нас 4 класса.</a:t>
            </a:r>
            <a:br>
              <a:rPr lang="ru-RU" sz="1200" b="0" i="0" kern="1200" dirty="0" smtClean="0">
                <a:solidFill>
                  <a:schemeClr val="tx1"/>
                </a:solidFill>
                <a:latin typeface="+mn-lt"/>
                <a:ea typeface="+mn-ea"/>
                <a:cs typeface="+mn-cs"/>
              </a:rPr>
            </a:br>
            <a:r>
              <a:rPr lang="ru-RU" sz="1200" b="0" i="0" kern="1200" dirty="0" smtClean="0">
                <a:solidFill>
                  <a:schemeClr val="tx1"/>
                </a:solidFill>
                <a:latin typeface="+mn-lt"/>
                <a:ea typeface="+mn-ea"/>
                <a:cs typeface="+mn-cs"/>
              </a:rPr>
              <a:t>Библиотека автоматически «отрезает» старую голову  (ура, нам больше не надо марать руки))</a:t>
            </a:r>
            <a:r>
              <a:rPr lang="ru-RU" sz="1200" b="0" i="0" kern="1200" baseline="0" dirty="0" smtClean="0">
                <a:solidFill>
                  <a:schemeClr val="tx1"/>
                </a:solidFill>
                <a:latin typeface="+mn-lt"/>
                <a:ea typeface="+mn-ea"/>
                <a:cs typeface="+mn-cs"/>
              </a:rPr>
              <a:t> </a:t>
            </a:r>
            <a:r>
              <a:rPr lang="ru-RU" sz="1200" b="0" i="0" kern="1200" dirty="0" smtClean="0">
                <a:solidFill>
                  <a:schemeClr val="tx1"/>
                </a:solidFill>
                <a:latin typeface="+mn-lt"/>
                <a:ea typeface="+mn-ea"/>
                <a:cs typeface="+mn-cs"/>
              </a:rPr>
              <a:t>и создает новую, с 4 выходами. Веса новой головы инициализируются случайным образом, поэтому изначально она предсказывает полную чушь.</a:t>
            </a:r>
          </a:p>
          <a:p>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Шаг 2. Стратегия дифференциального </a:t>
            </a:r>
            <a:r>
              <a:rPr lang="ru-RU" sz="1200" b="1" i="0" kern="1200" dirty="0" err="1" smtClean="0">
                <a:solidFill>
                  <a:schemeClr val="tx1"/>
                </a:solidFill>
                <a:latin typeface="+mn-lt"/>
                <a:ea typeface="+mn-ea"/>
                <a:cs typeface="+mn-cs"/>
              </a:rPr>
              <a:t>Learning</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Rate</a:t>
            </a:r>
            <a:r>
              <a:rPr lang="ru-RU" sz="1200" b="1" i="0" kern="1200" dirty="0" smtClean="0">
                <a:solidFill>
                  <a:schemeClr val="tx1"/>
                </a:solidFill>
                <a:latin typeface="+mn-lt"/>
                <a:ea typeface="+mn-ea"/>
                <a:cs typeface="+mn-cs"/>
              </a:rPr>
              <a:t> (Скорости обучения)</a:t>
            </a:r>
            <a:r>
              <a:rPr lang="ru-RU" sz="1200" b="0" i="0" kern="1200" dirty="0" smtClean="0">
                <a:solidFill>
                  <a:schemeClr val="tx1"/>
                </a:solidFill>
                <a:latin typeface="+mn-lt"/>
                <a:ea typeface="+mn-ea"/>
                <a:cs typeface="+mn-cs"/>
              </a:rPr>
              <a:t/>
            </a:r>
            <a:br>
              <a:rPr lang="ru-RU" sz="1200" b="0" i="0" kern="1200" dirty="0" smtClean="0">
                <a:solidFill>
                  <a:schemeClr val="tx1"/>
                </a:solidFill>
                <a:latin typeface="+mn-lt"/>
                <a:ea typeface="+mn-ea"/>
                <a:cs typeface="+mn-cs"/>
              </a:rPr>
            </a:br>
            <a:r>
              <a:rPr lang="ru-RU" sz="1200" b="0" i="0" kern="1200" dirty="0" smtClean="0">
                <a:solidFill>
                  <a:schemeClr val="tx1"/>
                </a:solidFill>
                <a:latin typeface="+mn-lt"/>
                <a:ea typeface="+mn-ea"/>
                <a:cs typeface="+mn-cs"/>
              </a:rPr>
              <a:t>Это самый важный секрет успешного </a:t>
            </a:r>
            <a:r>
              <a:rPr lang="ru-RU" sz="1200" b="0" i="0" kern="1200" dirty="0" err="1" smtClean="0">
                <a:solidFill>
                  <a:schemeClr val="tx1"/>
                </a:solidFill>
                <a:latin typeface="+mn-lt"/>
                <a:ea typeface="+mn-ea"/>
                <a:cs typeface="+mn-cs"/>
              </a:rPr>
              <a:t>Fine-tuning</a:t>
            </a:r>
            <a:r>
              <a:rPr lang="ru-RU" sz="1200" b="0" i="0" kern="1200" dirty="0" smtClean="0">
                <a:solidFill>
                  <a:schemeClr val="tx1"/>
                </a:solidFill>
                <a:latin typeface="+mn-lt"/>
                <a:ea typeface="+mn-ea"/>
                <a:cs typeface="+mn-cs"/>
              </a:rPr>
              <a:t>. Мы не можем обучать всю сеть с одинаковой скоростью, иначе мощные градиенты от новой головы «сломают» тонкие настройки старого </a:t>
            </a:r>
            <a:r>
              <a:rPr lang="ru-RU" sz="1200" b="0" i="0" kern="1200" dirty="0" err="1" smtClean="0">
                <a:solidFill>
                  <a:schemeClr val="tx1"/>
                </a:solidFill>
                <a:latin typeface="+mn-lt"/>
                <a:ea typeface="+mn-ea"/>
                <a:cs typeface="+mn-cs"/>
              </a:rPr>
              <a:t>Backbone</a:t>
            </a:r>
            <a:r>
              <a:rPr lang="ru-RU" sz="1200" b="0" i="0" kern="1200" dirty="0" smtClean="0">
                <a:solidFill>
                  <a:schemeClr val="tx1"/>
                </a:solidFill>
                <a:latin typeface="+mn-lt"/>
                <a:ea typeface="+mn-ea"/>
                <a:cs typeface="+mn-cs"/>
              </a:rPr>
              <a:t>.</a:t>
            </a:r>
          </a:p>
          <a:p>
            <a:r>
              <a:rPr lang="ru-RU" sz="1200" b="0" i="0" kern="1200" dirty="0" err="1" smtClean="0">
                <a:solidFill>
                  <a:schemeClr val="tx1"/>
                </a:solidFill>
                <a:latin typeface="+mn-lt"/>
                <a:ea typeface="+mn-ea"/>
                <a:cs typeface="+mn-cs"/>
              </a:rPr>
              <a:t>Backbone</a:t>
            </a:r>
            <a:r>
              <a:rPr lang="ru-RU" sz="1200" b="0" i="0" kern="1200" dirty="0" smtClean="0">
                <a:solidFill>
                  <a:schemeClr val="tx1"/>
                </a:solidFill>
                <a:latin typeface="+mn-lt"/>
                <a:ea typeface="+mn-ea"/>
                <a:cs typeface="+mn-cs"/>
              </a:rPr>
              <a:t> (старые слои): Получают очень маленький </a:t>
            </a:r>
            <a:r>
              <a:rPr lang="ru-RU" sz="1200" b="0" i="0" kern="1200" dirty="0" err="1" smtClean="0">
                <a:solidFill>
                  <a:schemeClr val="tx1"/>
                </a:solidFill>
                <a:latin typeface="+mn-lt"/>
                <a:ea typeface="+mn-ea"/>
                <a:cs typeface="+mn-cs"/>
              </a:rPr>
              <a:t>Learning</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Rate</a:t>
            </a:r>
            <a:r>
              <a:rPr lang="ru-RU" sz="1200" b="0" i="0" kern="1200" dirty="0" smtClean="0">
                <a:solidFill>
                  <a:schemeClr val="tx1"/>
                </a:solidFill>
                <a:latin typeface="+mn-lt"/>
                <a:ea typeface="+mn-ea"/>
                <a:cs typeface="+mn-cs"/>
              </a:rPr>
              <a:t>. Они лишь слегка «подстраиваются» под новые картинки, сохраняя базовые знания о форме и текстуре.</a:t>
            </a:r>
          </a:p>
          <a:p>
            <a:r>
              <a:rPr lang="ru-RU" sz="1200" b="0" i="0" kern="1200" dirty="0" err="1" smtClean="0">
                <a:solidFill>
                  <a:schemeClr val="tx1"/>
                </a:solidFill>
                <a:latin typeface="+mn-lt"/>
                <a:ea typeface="+mn-ea"/>
                <a:cs typeface="+mn-cs"/>
              </a:rPr>
              <a:t>Head</a:t>
            </a:r>
            <a:r>
              <a:rPr lang="ru-RU" sz="1200" b="0" i="0" kern="1200" dirty="0" smtClean="0">
                <a:solidFill>
                  <a:schemeClr val="tx1"/>
                </a:solidFill>
                <a:latin typeface="+mn-lt"/>
                <a:ea typeface="+mn-ea"/>
                <a:cs typeface="+mn-cs"/>
              </a:rPr>
              <a:t> (новая голова): Получает стандартный (высокий) </a:t>
            </a:r>
            <a:r>
              <a:rPr lang="ru-RU" sz="1200" b="0" i="0" kern="1200" dirty="0" err="1" smtClean="0">
                <a:solidFill>
                  <a:schemeClr val="tx1"/>
                </a:solidFill>
                <a:latin typeface="+mn-lt"/>
                <a:ea typeface="+mn-ea"/>
                <a:cs typeface="+mn-cs"/>
              </a:rPr>
              <a:t>Learning</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Rate</a:t>
            </a:r>
            <a:r>
              <a:rPr lang="ru-RU" sz="1200" b="0" i="0" kern="1200" dirty="0" smtClean="0">
                <a:solidFill>
                  <a:schemeClr val="tx1"/>
                </a:solidFill>
                <a:latin typeface="+mn-lt"/>
                <a:ea typeface="+mn-ea"/>
                <a:cs typeface="+mn-cs"/>
              </a:rPr>
              <a:t>, чтобы быстро научиться предсказывать координаты и классы наших животных.</a:t>
            </a:r>
          </a:p>
          <a:p>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Шаг 3. Процесс обучения (</a:t>
            </a:r>
            <a:r>
              <a:rPr lang="ru-RU" sz="1200" b="1" i="0" kern="1200" dirty="0" err="1" smtClean="0">
                <a:solidFill>
                  <a:schemeClr val="tx1"/>
                </a:solidFill>
                <a:latin typeface="+mn-lt"/>
                <a:ea typeface="+mn-ea"/>
                <a:cs typeface="+mn-cs"/>
              </a:rPr>
              <a:t>Forward</a:t>
            </a:r>
            <a:r>
              <a:rPr lang="ru-RU" sz="1200" b="1" i="0" kern="1200" dirty="0" smtClean="0">
                <a:solidFill>
                  <a:schemeClr val="tx1"/>
                </a:solidFill>
                <a:latin typeface="+mn-lt"/>
                <a:ea typeface="+mn-ea"/>
                <a:cs typeface="+mn-cs"/>
              </a:rPr>
              <a:t> &amp; </a:t>
            </a:r>
            <a:r>
              <a:rPr lang="ru-RU" sz="1200" b="1" i="0" kern="1200" dirty="0" err="1" smtClean="0">
                <a:solidFill>
                  <a:schemeClr val="tx1"/>
                </a:solidFill>
                <a:latin typeface="+mn-lt"/>
                <a:ea typeface="+mn-ea"/>
                <a:cs typeface="+mn-cs"/>
              </a:rPr>
              <a:t>Backward</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Pass</a:t>
            </a:r>
            <a:r>
              <a:rPr lang="ru-RU" sz="1200" b="1" i="0" kern="1200" dirty="0" smtClean="0">
                <a:solidFill>
                  <a:schemeClr val="tx1"/>
                </a:solidFill>
                <a:latin typeface="+mn-lt"/>
                <a:ea typeface="+mn-ea"/>
                <a:cs typeface="+mn-cs"/>
              </a:rPr>
              <a:t>)</a:t>
            </a:r>
            <a:endParaRPr lang="ru-RU" sz="1200" b="0" i="0" kern="1200" dirty="0" smtClean="0">
              <a:solidFill>
                <a:schemeClr val="tx1"/>
              </a:solidFill>
              <a:latin typeface="+mn-lt"/>
              <a:ea typeface="+mn-ea"/>
              <a:cs typeface="+mn-cs"/>
            </a:endParaRPr>
          </a:p>
          <a:p>
            <a:r>
              <a:rPr lang="ru-RU" sz="1200" b="0" i="0" kern="1200" dirty="0" err="1" smtClean="0">
                <a:solidFill>
                  <a:schemeClr val="tx1"/>
                </a:solidFill>
                <a:latin typeface="+mn-lt"/>
                <a:ea typeface="+mn-ea"/>
                <a:cs typeface="+mn-cs"/>
              </a:rPr>
              <a:t>Forward</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Pass</a:t>
            </a:r>
            <a:r>
              <a:rPr lang="ru-RU" sz="1200" b="0" i="0" kern="1200" dirty="0" smtClean="0">
                <a:solidFill>
                  <a:schemeClr val="tx1"/>
                </a:solidFill>
                <a:latin typeface="+mn-lt"/>
                <a:ea typeface="+mn-ea"/>
                <a:cs typeface="+mn-cs"/>
              </a:rPr>
              <a:t> (Прямой проход): Картинка с буйволом проходит через </a:t>
            </a:r>
            <a:r>
              <a:rPr lang="ru-RU" sz="1200" b="0" i="0" kern="1200" dirty="0" err="1" smtClean="0">
                <a:solidFill>
                  <a:schemeClr val="tx1"/>
                </a:solidFill>
                <a:latin typeface="+mn-lt"/>
                <a:ea typeface="+mn-ea"/>
                <a:cs typeface="+mn-cs"/>
              </a:rPr>
              <a:t>Backbone</a:t>
            </a:r>
            <a:r>
              <a:rPr lang="ru-RU" sz="1200" b="0" i="0" kern="1200" dirty="0" smtClean="0">
                <a:solidFill>
                  <a:schemeClr val="tx1"/>
                </a:solidFill>
                <a:latin typeface="+mn-lt"/>
                <a:ea typeface="+mn-ea"/>
                <a:cs typeface="+mn-cs"/>
              </a:rPr>
              <a:t> и </a:t>
            </a:r>
            <a:r>
              <a:rPr lang="ru-RU" sz="1200" b="0" i="0" kern="1200" dirty="0" err="1" smtClean="0">
                <a:solidFill>
                  <a:schemeClr val="tx1"/>
                </a:solidFill>
                <a:latin typeface="+mn-lt"/>
                <a:ea typeface="+mn-ea"/>
                <a:cs typeface="+mn-cs"/>
              </a:rPr>
              <a:t>Neck</a:t>
            </a:r>
            <a:r>
              <a:rPr lang="ru-RU" sz="1200" b="0" i="0" kern="1200" dirty="0" smtClean="0">
                <a:solidFill>
                  <a:schemeClr val="tx1"/>
                </a:solidFill>
                <a:latin typeface="+mn-lt"/>
                <a:ea typeface="+mn-ea"/>
                <a:cs typeface="+mn-cs"/>
              </a:rPr>
              <a:t>. Новая голова выдает предсказание (например, «тут буйвол, координаты такие-то»).</a:t>
            </a:r>
          </a:p>
          <a:p>
            <a:r>
              <a:rPr lang="ru-RU" sz="1200" b="0" i="0" kern="1200" dirty="0" smtClean="0">
                <a:solidFill>
                  <a:schemeClr val="tx1"/>
                </a:solidFill>
                <a:latin typeface="+mn-lt"/>
                <a:ea typeface="+mn-ea"/>
                <a:cs typeface="+mn-cs"/>
              </a:rPr>
              <a:t>Вычисление ошибки: Функция потерь (</a:t>
            </a:r>
            <a:r>
              <a:rPr lang="ru-RU" sz="1200" b="0" i="0" kern="1200" dirty="0" err="1" smtClean="0">
                <a:solidFill>
                  <a:schemeClr val="tx1"/>
                </a:solidFill>
                <a:latin typeface="+mn-lt"/>
                <a:ea typeface="+mn-ea"/>
                <a:cs typeface="+mn-cs"/>
              </a:rPr>
              <a:t>Loss</a:t>
            </a:r>
            <a:r>
              <a:rPr lang="ru-RU" sz="1200" b="0" i="0" kern="1200" dirty="0" smtClean="0">
                <a:solidFill>
                  <a:schemeClr val="tx1"/>
                </a:solidFill>
                <a:latin typeface="+mn-lt"/>
                <a:ea typeface="+mn-ea"/>
                <a:cs typeface="+mn-cs"/>
              </a:rPr>
              <a:t>) сравнивает предсказания с реальными рамками из разметки. Ошибка состоит из двух частей: </a:t>
            </a:r>
            <a:r>
              <a:rPr lang="ru-RU" sz="1200" b="0" i="0" kern="1200" dirty="0" err="1" smtClean="0">
                <a:solidFill>
                  <a:schemeClr val="tx1"/>
                </a:solidFill>
                <a:latin typeface="+mn-lt"/>
                <a:ea typeface="+mn-ea"/>
                <a:cs typeface="+mn-cs"/>
              </a:rPr>
              <a:t>Box</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Loss</a:t>
            </a:r>
            <a:r>
              <a:rPr lang="ru-RU" sz="1200" b="0" i="0" kern="1200" dirty="0" smtClean="0">
                <a:solidFill>
                  <a:schemeClr val="tx1"/>
                </a:solidFill>
                <a:latin typeface="+mn-lt"/>
                <a:ea typeface="+mn-ea"/>
                <a:cs typeface="+mn-cs"/>
              </a:rPr>
              <a:t> (насколько неточны координаты) и </a:t>
            </a:r>
            <a:r>
              <a:rPr lang="ru-RU" sz="1200" b="0" i="0" kern="1200" dirty="0" err="1" smtClean="0">
                <a:solidFill>
                  <a:schemeClr val="tx1"/>
                </a:solidFill>
                <a:latin typeface="+mn-lt"/>
                <a:ea typeface="+mn-ea"/>
                <a:cs typeface="+mn-cs"/>
              </a:rPr>
              <a:t>Class</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Loss</a:t>
            </a:r>
            <a:r>
              <a:rPr lang="ru-RU" sz="1200" b="0" i="0" kern="1200" dirty="0" smtClean="0">
                <a:solidFill>
                  <a:schemeClr val="tx1"/>
                </a:solidFill>
                <a:latin typeface="+mn-lt"/>
                <a:ea typeface="+mn-ea"/>
                <a:cs typeface="+mn-cs"/>
              </a:rPr>
              <a:t> (правильно ли определен класс).</a:t>
            </a:r>
          </a:p>
          <a:p>
            <a:r>
              <a:rPr lang="ru-RU" sz="1200" b="0" i="0" kern="1200" dirty="0" err="1" smtClean="0">
                <a:solidFill>
                  <a:schemeClr val="tx1"/>
                </a:solidFill>
                <a:latin typeface="+mn-lt"/>
                <a:ea typeface="+mn-ea"/>
                <a:cs typeface="+mn-cs"/>
              </a:rPr>
              <a:t>Backward</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Pass</a:t>
            </a:r>
            <a:r>
              <a:rPr lang="ru-RU" sz="1200" b="0" i="0" kern="1200" dirty="0" smtClean="0">
                <a:solidFill>
                  <a:schemeClr val="tx1"/>
                </a:solidFill>
                <a:latin typeface="+mn-lt"/>
                <a:ea typeface="+mn-ea"/>
                <a:cs typeface="+mn-cs"/>
              </a:rPr>
              <a:t> (Обратное распространение): Ошибка идет обратно через сеть. Веса корректируются.</a:t>
            </a:r>
          </a:p>
          <a:p>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Шаг 4. Регуляризация и защита от переобучения</a:t>
            </a:r>
            <a:r>
              <a:rPr lang="ru-RU" sz="1200" b="0" i="0" kern="1200" dirty="0" smtClean="0">
                <a:solidFill>
                  <a:schemeClr val="tx1"/>
                </a:solidFill>
                <a:latin typeface="+mn-lt"/>
                <a:ea typeface="+mn-ea"/>
                <a:cs typeface="+mn-cs"/>
              </a:rPr>
              <a:t/>
            </a:r>
            <a:br>
              <a:rPr lang="ru-RU" sz="1200" b="0" i="0" kern="1200" dirty="0" smtClean="0">
                <a:solidFill>
                  <a:schemeClr val="tx1"/>
                </a:solidFill>
                <a:latin typeface="+mn-lt"/>
                <a:ea typeface="+mn-ea"/>
                <a:cs typeface="+mn-cs"/>
              </a:rPr>
            </a:br>
            <a:r>
              <a:rPr lang="ru-RU" sz="1200" b="0" i="0" kern="1200" dirty="0" smtClean="0">
                <a:solidFill>
                  <a:schemeClr val="tx1"/>
                </a:solidFill>
                <a:latin typeface="+mn-lt"/>
                <a:ea typeface="+mn-ea"/>
                <a:cs typeface="+mn-cs"/>
              </a:rPr>
              <a:t>Поскольку мы берем умную сеть и учим на небольшом </a:t>
            </a:r>
            <a:r>
              <a:rPr lang="ru-RU" sz="1200" b="0" i="0" kern="1200" dirty="0" err="1" smtClean="0">
                <a:solidFill>
                  <a:schemeClr val="tx1"/>
                </a:solidFill>
                <a:latin typeface="+mn-lt"/>
                <a:ea typeface="+mn-ea"/>
                <a:cs typeface="+mn-cs"/>
              </a:rPr>
              <a:t>датасете</a:t>
            </a:r>
            <a:r>
              <a:rPr lang="ru-RU" sz="1200" b="0" i="0" kern="1200" dirty="0" smtClean="0">
                <a:solidFill>
                  <a:schemeClr val="tx1"/>
                </a:solidFill>
                <a:latin typeface="+mn-lt"/>
                <a:ea typeface="+mn-ea"/>
                <a:cs typeface="+mn-cs"/>
              </a:rPr>
              <a:t> (всего около 1000 картинок), есть риск, что она просто «зазубрит» эти картинки. YOLO борется с этим с помощью встроенной аугментации данных: во время обучения она случайно переворачивает картинки, меняет их цвет, яркость и даже склеивает разные изображения вместе (</a:t>
            </a:r>
            <a:r>
              <a:rPr lang="ru-RU" sz="1200" b="0" i="0" kern="1200" dirty="0" err="1" smtClean="0">
                <a:solidFill>
                  <a:schemeClr val="tx1"/>
                </a:solidFill>
                <a:latin typeface="+mn-lt"/>
                <a:ea typeface="+mn-ea"/>
                <a:cs typeface="+mn-cs"/>
              </a:rPr>
              <a:t>Mosaic</a:t>
            </a:r>
            <a:r>
              <a:rPr lang="ru-RU" sz="1200" b="0" i="0" kern="1200" dirty="0" smtClean="0">
                <a:solidFill>
                  <a:schemeClr val="tx1"/>
                </a:solidFill>
                <a:latin typeface="+mn-lt"/>
                <a:ea typeface="+mn-ea"/>
                <a:cs typeface="+mn-cs"/>
              </a:rPr>
              <a:t>). Это заставляет сеть учить общие признаки животных, а не заучивать конкретные фото.</a:t>
            </a:r>
          </a:p>
          <a:p>
            <a:endParaRPr lang="ru-RU" dirty="0"/>
          </a:p>
        </p:txBody>
      </p:sp>
      <p:sp>
        <p:nvSpPr>
          <p:cNvPr id="4" name="Номер слайда 3"/>
          <p:cNvSpPr>
            <a:spLocks noGrp="1"/>
          </p:cNvSpPr>
          <p:nvPr>
            <p:ph type="sldNum" sz="quarter" idx="10"/>
          </p:nvPr>
        </p:nvSpPr>
        <p:spPr/>
        <p:txBody>
          <a:bodyPr/>
          <a:lstStyle/>
          <a:p>
            <a:fld id="{32A40295-5C2D-44F9-9666-2230E0FAA04D}" type="slidenum">
              <a:rPr lang="ru-RU" smtClean="0"/>
              <a:t>8</a:t>
            </a:fld>
            <a:endParaRPr lang="ru-R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70000" lnSpcReduction="20000"/>
          </a:bodyPr>
          <a:lstStyle/>
          <a:p>
            <a:r>
              <a:rPr lang="ru-RU" sz="1200" b="0" i="0" kern="1200" dirty="0" smtClean="0">
                <a:solidFill>
                  <a:schemeClr val="tx1"/>
                </a:solidFill>
                <a:latin typeface="+mn-lt"/>
                <a:ea typeface="+mn-ea"/>
                <a:cs typeface="+mn-cs"/>
              </a:rPr>
              <a:t>Для успешного обучения детектора объектов недостаточно просто загрузить изображения. </a:t>
            </a:r>
            <a:r>
              <a:rPr lang="ru-RU" sz="1200" b="0" i="0" kern="1200" dirty="0" err="1" smtClean="0">
                <a:solidFill>
                  <a:schemeClr val="tx1"/>
                </a:solidFill>
                <a:latin typeface="+mn-lt"/>
                <a:ea typeface="+mn-ea"/>
                <a:cs typeface="+mn-cs"/>
              </a:rPr>
              <a:t>Нейросеть</a:t>
            </a:r>
            <a:r>
              <a:rPr lang="ru-RU" sz="1200" b="0" i="0" kern="1200" dirty="0" smtClean="0">
                <a:solidFill>
                  <a:schemeClr val="tx1"/>
                </a:solidFill>
                <a:latin typeface="+mn-lt"/>
                <a:ea typeface="+mn-ea"/>
                <a:cs typeface="+mn-cs"/>
              </a:rPr>
              <a:t> требует строго регламентированной иерархии файлов и наличия специального конфигурационного файла. Рассмотрим структуру </a:t>
            </a:r>
            <a:r>
              <a:rPr lang="ru-RU" sz="1200" b="0" i="0" kern="1200" dirty="0" err="1" smtClean="0">
                <a:solidFill>
                  <a:schemeClr val="tx1"/>
                </a:solidFill>
                <a:latin typeface="+mn-lt"/>
                <a:ea typeface="+mn-ea"/>
                <a:cs typeface="+mn-cs"/>
              </a:rPr>
              <a:t>датасета</a:t>
            </a:r>
            <a:r>
              <a:rPr lang="ru-RU" sz="1200" b="0" i="0" kern="1200" dirty="0" smtClean="0">
                <a:solidFill>
                  <a:schemeClr val="tx1"/>
                </a:solidFill>
                <a:latin typeface="+mn-lt"/>
                <a:ea typeface="+mn-ea"/>
                <a:cs typeface="+mn-cs"/>
              </a:rPr>
              <a:t> на примере </a:t>
            </a:r>
            <a:r>
              <a:rPr lang="ru-RU" sz="1200" b="0" i="0" kern="1200" dirty="0" err="1" smtClean="0">
                <a:solidFill>
                  <a:schemeClr val="tx1"/>
                </a:solidFill>
                <a:latin typeface="+mn-lt"/>
                <a:ea typeface="+mn-ea"/>
                <a:cs typeface="+mn-cs"/>
              </a:rPr>
              <a:t>african-wildlife</a:t>
            </a:r>
            <a:r>
              <a:rPr lang="ru-RU" sz="1200" b="0" i="0" kern="1200" dirty="0" smtClean="0">
                <a:solidFill>
                  <a:schemeClr val="tx1"/>
                </a:solidFill>
                <a:latin typeface="+mn-lt"/>
                <a:ea typeface="+mn-ea"/>
                <a:cs typeface="+mn-cs"/>
              </a:rPr>
              <a:t>.</a:t>
            </a:r>
          </a:p>
          <a:p>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1. Физическая иерархия папок</a:t>
            </a:r>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На </a:t>
            </a:r>
            <a:r>
              <a:rPr lang="ru-RU" sz="1200" b="0" i="0" kern="1200" dirty="0" err="1" smtClean="0">
                <a:solidFill>
                  <a:schemeClr val="tx1"/>
                </a:solidFill>
                <a:latin typeface="+mn-lt"/>
                <a:ea typeface="+mn-ea"/>
                <a:cs typeface="+mn-cs"/>
              </a:rPr>
              <a:t>скриншоте</a:t>
            </a:r>
            <a:r>
              <a:rPr lang="ru-RU" sz="1200" b="0" i="0" kern="1200" dirty="0" smtClean="0">
                <a:solidFill>
                  <a:schemeClr val="tx1"/>
                </a:solidFill>
                <a:latin typeface="+mn-lt"/>
                <a:ea typeface="+mn-ea"/>
                <a:cs typeface="+mn-cs"/>
              </a:rPr>
              <a:t> файлового менеджера </a:t>
            </a:r>
            <a:r>
              <a:rPr lang="ru-RU" sz="1200" b="0" i="0" kern="1200" dirty="0" err="1" smtClean="0">
                <a:solidFill>
                  <a:schemeClr val="tx1"/>
                </a:solidFill>
                <a:latin typeface="+mn-lt"/>
                <a:ea typeface="+mn-ea"/>
                <a:cs typeface="+mn-cs"/>
              </a:rPr>
              <a:t>Colab</a:t>
            </a:r>
            <a:r>
              <a:rPr lang="ru-RU" sz="1200" b="0" i="0" kern="1200" dirty="0" smtClean="0">
                <a:solidFill>
                  <a:schemeClr val="tx1"/>
                </a:solidFill>
                <a:latin typeface="+mn-lt"/>
                <a:ea typeface="+mn-ea"/>
                <a:cs typeface="+mn-cs"/>
              </a:rPr>
              <a:t> (левая часть слайда) видна базовая структура, требуемая библиотекой </a:t>
            </a:r>
            <a:r>
              <a:rPr lang="ru-RU" sz="1200" b="0" i="0" kern="1200" dirty="0" err="1" smtClean="0">
                <a:solidFill>
                  <a:schemeClr val="tx1"/>
                </a:solidFill>
                <a:latin typeface="+mn-lt"/>
                <a:ea typeface="+mn-ea"/>
                <a:cs typeface="+mn-cs"/>
              </a:rPr>
              <a:t>Ultralytics</a:t>
            </a:r>
            <a:r>
              <a:rPr lang="ru-RU" sz="1200" b="0" i="0" kern="1200" dirty="0" smtClean="0">
                <a:solidFill>
                  <a:schemeClr val="tx1"/>
                </a:solidFill>
                <a:latin typeface="+mn-lt"/>
                <a:ea typeface="+mn-ea"/>
                <a:cs typeface="+mn-cs"/>
              </a:rPr>
              <a:t>. Она состоит из двух корневых директорий:</a:t>
            </a:r>
          </a:p>
          <a:p>
            <a:r>
              <a:rPr lang="ru-RU" sz="1200" b="1" i="0" kern="1200" dirty="0" err="1" smtClean="0">
                <a:solidFill>
                  <a:schemeClr val="tx1"/>
                </a:solidFill>
                <a:latin typeface="+mn-lt"/>
                <a:ea typeface="+mn-ea"/>
                <a:cs typeface="+mn-cs"/>
              </a:rPr>
              <a:t>images</a:t>
            </a:r>
            <a:r>
              <a:rPr lang="ru-RU" sz="1200" b="1" i="0" kern="1200" dirty="0" smtClean="0">
                <a:solidFill>
                  <a:schemeClr val="tx1"/>
                </a:solidFill>
                <a:latin typeface="+mn-lt"/>
                <a:ea typeface="+mn-ea"/>
                <a:cs typeface="+mn-cs"/>
              </a:rPr>
              <a:t> (Изображения):</a:t>
            </a:r>
            <a:r>
              <a:rPr lang="ru-RU" sz="1200" b="0" i="0" kern="1200" dirty="0" smtClean="0">
                <a:solidFill>
                  <a:schemeClr val="tx1"/>
                </a:solidFill>
                <a:latin typeface="+mn-lt"/>
                <a:ea typeface="+mn-ea"/>
                <a:cs typeface="+mn-cs"/>
              </a:rPr>
              <a:t> Содержит исходные фотографии в форматах .</a:t>
            </a:r>
            <a:r>
              <a:rPr lang="ru-RU" sz="1200" b="0" i="0" kern="1200" dirty="0" err="1" smtClean="0">
                <a:solidFill>
                  <a:schemeClr val="tx1"/>
                </a:solidFill>
                <a:latin typeface="+mn-lt"/>
                <a:ea typeface="+mn-ea"/>
                <a:cs typeface="+mn-cs"/>
              </a:rPr>
              <a:t>jpg</a:t>
            </a:r>
            <a:r>
              <a:rPr lang="ru-RU" sz="1200" b="0" i="0" kern="1200" dirty="0" smtClean="0">
                <a:solidFill>
                  <a:schemeClr val="tx1"/>
                </a:solidFill>
                <a:latin typeface="+mn-lt"/>
                <a:ea typeface="+mn-ea"/>
                <a:cs typeface="+mn-cs"/>
              </a:rPr>
              <a:t> или .</a:t>
            </a:r>
            <a:r>
              <a:rPr lang="ru-RU" sz="1200" b="0" i="0" kern="1200" dirty="0" err="1" smtClean="0">
                <a:solidFill>
                  <a:schemeClr val="tx1"/>
                </a:solidFill>
                <a:latin typeface="+mn-lt"/>
                <a:ea typeface="+mn-ea"/>
                <a:cs typeface="+mn-cs"/>
              </a:rPr>
              <a:t>png</a:t>
            </a:r>
            <a:r>
              <a:rPr lang="ru-RU" sz="1200" b="0" i="0" kern="1200" dirty="0" smtClean="0">
                <a:solidFill>
                  <a:schemeClr val="tx1"/>
                </a:solidFill>
                <a:latin typeface="+mn-lt"/>
                <a:ea typeface="+mn-ea"/>
                <a:cs typeface="+mn-cs"/>
              </a:rPr>
              <a:t>. Внутри она разделена на три подпапки в зависимости от назначения выборки:</a:t>
            </a:r>
          </a:p>
          <a:p>
            <a:pPr lvl="1"/>
            <a:r>
              <a:rPr lang="ru-RU" sz="1200" b="0" i="0" kern="1200" dirty="0" err="1" smtClean="0">
                <a:solidFill>
                  <a:schemeClr val="tx1"/>
                </a:solidFill>
                <a:latin typeface="+mn-lt"/>
                <a:ea typeface="+mn-ea"/>
                <a:cs typeface="+mn-cs"/>
              </a:rPr>
              <a:t>train</a:t>
            </a:r>
            <a:r>
              <a:rPr lang="ru-RU" sz="1200" b="0" i="0" kern="1200" dirty="0" smtClean="0">
                <a:solidFill>
                  <a:schemeClr val="tx1"/>
                </a:solidFill>
                <a:latin typeface="+mn-lt"/>
                <a:ea typeface="+mn-ea"/>
                <a:cs typeface="+mn-cs"/>
              </a:rPr>
              <a:t> — обучающая выборка (на ней сеть учится).</a:t>
            </a:r>
          </a:p>
          <a:p>
            <a:pPr lvl="1"/>
            <a:r>
              <a:rPr lang="ru-RU" sz="1200" b="0" i="0" kern="1200" dirty="0" err="1" smtClean="0">
                <a:solidFill>
                  <a:schemeClr val="tx1"/>
                </a:solidFill>
                <a:latin typeface="+mn-lt"/>
                <a:ea typeface="+mn-ea"/>
                <a:cs typeface="+mn-cs"/>
              </a:rPr>
              <a:t>val</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validation</a:t>
            </a:r>
            <a:r>
              <a:rPr lang="ru-RU" sz="1200" b="0" i="0" kern="1200" dirty="0" smtClean="0">
                <a:solidFill>
                  <a:schemeClr val="tx1"/>
                </a:solidFill>
                <a:latin typeface="+mn-lt"/>
                <a:ea typeface="+mn-ea"/>
                <a:cs typeface="+mn-cs"/>
              </a:rPr>
              <a:t>) — </a:t>
            </a:r>
            <a:r>
              <a:rPr lang="ru-RU" sz="1200" b="0" i="0" kern="1200" dirty="0" err="1" smtClean="0">
                <a:solidFill>
                  <a:schemeClr val="tx1"/>
                </a:solidFill>
                <a:latin typeface="+mn-lt"/>
                <a:ea typeface="+mn-ea"/>
                <a:cs typeface="+mn-cs"/>
              </a:rPr>
              <a:t>валидационная</a:t>
            </a:r>
            <a:r>
              <a:rPr lang="ru-RU" sz="1200" b="0" i="0" kern="1200" dirty="0" smtClean="0">
                <a:solidFill>
                  <a:schemeClr val="tx1"/>
                </a:solidFill>
                <a:latin typeface="+mn-lt"/>
                <a:ea typeface="+mn-ea"/>
                <a:cs typeface="+mn-cs"/>
              </a:rPr>
              <a:t> выборка (на ней сеть проверяет свои успехи после каждой эпохи).</a:t>
            </a:r>
          </a:p>
          <a:p>
            <a:pPr lvl="1"/>
            <a:r>
              <a:rPr lang="ru-RU" sz="1200" b="0" i="0" kern="1200" dirty="0" err="1" smtClean="0">
                <a:solidFill>
                  <a:schemeClr val="tx1"/>
                </a:solidFill>
                <a:latin typeface="+mn-lt"/>
                <a:ea typeface="+mn-ea"/>
                <a:cs typeface="+mn-cs"/>
              </a:rPr>
              <a:t>test</a:t>
            </a:r>
            <a:r>
              <a:rPr lang="ru-RU" sz="1200" b="0" i="0" kern="1200" dirty="0" smtClean="0">
                <a:solidFill>
                  <a:schemeClr val="tx1"/>
                </a:solidFill>
                <a:latin typeface="+mn-lt"/>
                <a:ea typeface="+mn-ea"/>
                <a:cs typeface="+mn-cs"/>
              </a:rPr>
              <a:t> — тестовая выборка (используется для финальной проверки).</a:t>
            </a:r>
          </a:p>
          <a:p>
            <a:r>
              <a:rPr lang="ru-RU" sz="1200" b="1" i="0" kern="1200" dirty="0" err="1" smtClean="0">
                <a:solidFill>
                  <a:schemeClr val="tx1"/>
                </a:solidFill>
                <a:latin typeface="+mn-lt"/>
                <a:ea typeface="+mn-ea"/>
                <a:cs typeface="+mn-cs"/>
              </a:rPr>
              <a:t>labels</a:t>
            </a:r>
            <a:r>
              <a:rPr lang="ru-RU" sz="1200" b="1" i="0" kern="1200" dirty="0" smtClean="0">
                <a:solidFill>
                  <a:schemeClr val="tx1"/>
                </a:solidFill>
                <a:latin typeface="+mn-lt"/>
                <a:ea typeface="+mn-ea"/>
                <a:cs typeface="+mn-cs"/>
              </a:rPr>
              <a:t> (Разметка):</a:t>
            </a:r>
            <a:r>
              <a:rPr lang="ru-RU" sz="1200" b="0" i="0" kern="1200" dirty="0" smtClean="0">
                <a:solidFill>
                  <a:schemeClr val="tx1"/>
                </a:solidFill>
                <a:latin typeface="+mn-lt"/>
                <a:ea typeface="+mn-ea"/>
                <a:cs typeface="+mn-cs"/>
              </a:rPr>
              <a:t> Содержит текстовые файлы .</a:t>
            </a:r>
            <a:r>
              <a:rPr lang="ru-RU" sz="1200" b="0" i="0" kern="1200" dirty="0" err="1" smtClean="0">
                <a:solidFill>
                  <a:schemeClr val="tx1"/>
                </a:solidFill>
                <a:latin typeface="+mn-lt"/>
                <a:ea typeface="+mn-ea"/>
                <a:cs typeface="+mn-cs"/>
              </a:rPr>
              <a:t>txt</a:t>
            </a:r>
            <a:r>
              <a:rPr lang="ru-RU" sz="1200" b="0" i="0" kern="1200" dirty="0" smtClean="0">
                <a:solidFill>
                  <a:schemeClr val="tx1"/>
                </a:solidFill>
                <a:latin typeface="+mn-lt"/>
                <a:ea typeface="+mn-ea"/>
                <a:cs typeface="+mn-cs"/>
              </a:rPr>
              <a:t> с координатами ограничивающих рамок.</a:t>
            </a:r>
          </a:p>
          <a:p>
            <a:pPr lvl="1"/>
            <a:r>
              <a:rPr lang="ru-RU" sz="1200" b="0" i="0" kern="1200" dirty="0" smtClean="0">
                <a:solidFill>
                  <a:schemeClr val="tx1"/>
                </a:solidFill>
                <a:latin typeface="+mn-lt"/>
                <a:ea typeface="+mn-ea"/>
                <a:cs typeface="+mn-cs"/>
              </a:rPr>
              <a:t>Структура папки </a:t>
            </a:r>
            <a:r>
              <a:rPr lang="ru-RU" sz="1200" b="0" i="0" kern="1200" dirty="0" err="1" smtClean="0">
                <a:solidFill>
                  <a:schemeClr val="tx1"/>
                </a:solidFill>
                <a:latin typeface="+mn-lt"/>
                <a:ea typeface="+mn-ea"/>
                <a:cs typeface="+mn-cs"/>
              </a:rPr>
              <a:t>labels</a:t>
            </a:r>
            <a:r>
              <a:rPr lang="ru-RU" sz="1200" b="0" i="0" kern="1200" dirty="0" smtClean="0">
                <a:solidFill>
                  <a:schemeClr val="tx1"/>
                </a:solidFill>
                <a:latin typeface="+mn-lt"/>
                <a:ea typeface="+mn-ea"/>
                <a:cs typeface="+mn-cs"/>
              </a:rPr>
              <a:t> должна повторять структуру </a:t>
            </a:r>
            <a:r>
              <a:rPr lang="ru-RU" sz="1200" b="0" i="0" kern="1200" dirty="0" err="1" smtClean="0">
                <a:solidFill>
                  <a:schemeClr val="tx1"/>
                </a:solidFill>
                <a:latin typeface="+mn-lt"/>
                <a:ea typeface="+mn-ea"/>
                <a:cs typeface="+mn-cs"/>
              </a:rPr>
              <a:t>images</a:t>
            </a:r>
            <a:r>
              <a:rPr lang="ru-RU" sz="1200" b="0" i="0" kern="1200" dirty="0" smtClean="0">
                <a:solidFill>
                  <a:schemeClr val="tx1"/>
                </a:solidFill>
                <a:latin typeface="+mn-lt"/>
                <a:ea typeface="+mn-ea"/>
                <a:cs typeface="+mn-cs"/>
              </a:rPr>
              <a:t>. Если в папке </a:t>
            </a:r>
            <a:r>
              <a:rPr lang="ru-RU" sz="1200" b="0" i="0" kern="1200" dirty="0" err="1" smtClean="0">
                <a:solidFill>
                  <a:schemeClr val="tx1"/>
                </a:solidFill>
                <a:latin typeface="+mn-lt"/>
                <a:ea typeface="+mn-ea"/>
                <a:cs typeface="+mn-cs"/>
              </a:rPr>
              <a:t>train</a:t>
            </a:r>
            <a:r>
              <a:rPr lang="ru-RU" sz="1200" b="0" i="0" kern="1200" dirty="0" smtClean="0">
                <a:solidFill>
                  <a:schemeClr val="tx1"/>
                </a:solidFill>
                <a:latin typeface="+mn-lt"/>
                <a:ea typeface="+mn-ea"/>
                <a:cs typeface="+mn-cs"/>
              </a:rPr>
              <a:t>/</a:t>
            </a:r>
            <a:r>
              <a:rPr lang="ru-RU" sz="1200" b="0" i="0" kern="1200" dirty="0" err="1" smtClean="0">
                <a:solidFill>
                  <a:schemeClr val="tx1"/>
                </a:solidFill>
                <a:latin typeface="+mn-lt"/>
                <a:ea typeface="+mn-ea"/>
                <a:cs typeface="+mn-cs"/>
              </a:rPr>
              <a:t>images</a:t>
            </a:r>
            <a:r>
              <a:rPr lang="ru-RU" sz="1200" b="0" i="0" kern="1200" dirty="0" smtClean="0">
                <a:solidFill>
                  <a:schemeClr val="tx1"/>
                </a:solidFill>
                <a:latin typeface="+mn-lt"/>
                <a:ea typeface="+mn-ea"/>
                <a:cs typeface="+mn-cs"/>
              </a:rPr>
              <a:t> лежит файл zebra_01.jpg, то в папке </a:t>
            </a:r>
            <a:r>
              <a:rPr lang="ru-RU" sz="1200" b="0" i="0" kern="1200" dirty="0" err="1" smtClean="0">
                <a:solidFill>
                  <a:schemeClr val="tx1"/>
                </a:solidFill>
                <a:latin typeface="+mn-lt"/>
                <a:ea typeface="+mn-ea"/>
                <a:cs typeface="+mn-cs"/>
              </a:rPr>
              <a:t>train</a:t>
            </a:r>
            <a:r>
              <a:rPr lang="ru-RU" sz="1200" b="0" i="0" kern="1200" dirty="0" smtClean="0">
                <a:solidFill>
                  <a:schemeClr val="tx1"/>
                </a:solidFill>
                <a:latin typeface="+mn-lt"/>
                <a:ea typeface="+mn-ea"/>
                <a:cs typeface="+mn-cs"/>
              </a:rPr>
              <a:t>/</a:t>
            </a:r>
            <a:r>
              <a:rPr lang="ru-RU" sz="1200" b="0" i="0" kern="1200" dirty="0" err="1" smtClean="0">
                <a:solidFill>
                  <a:schemeClr val="tx1"/>
                </a:solidFill>
                <a:latin typeface="+mn-lt"/>
                <a:ea typeface="+mn-ea"/>
                <a:cs typeface="+mn-cs"/>
              </a:rPr>
              <a:t>labels</a:t>
            </a:r>
            <a:r>
              <a:rPr lang="ru-RU" sz="1200" b="0" i="0" kern="1200" dirty="0" smtClean="0">
                <a:solidFill>
                  <a:schemeClr val="tx1"/>
                </a:solidFill>
                <a:latin typeface="+mn-lt"/>
                <a:ea typeface="+mn-ea"/>
                <a:cs typeface="+mn-cs"/>
              </a:rPr>
              <a:t> строго обязан лежать файл с точно таким же именем zebra_01.txt.</a:t>
            </a:r>
          </a:p>
          <a:p>
            <a:pPr lvl="1"/>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2. Конфигурационный файл </a:t>
            </a:r>
            <a:r>
              <a:rPr lang="ru-RU" sz="1200" b="1" i="0" kern="1200" dirty="0" err="1" smtClean="0">
                <a:solidFill>
                  <a:schemeClr val="tx1"/>
                </a:solidFill>
                <a:latin typeface="+mn-lt"/>
                <a:ea typeface="+mn-ea"/>
                <a:cs typeface="+mn-cs"/>
              </a:rPr>
              <a:t>data.yaml</a:t>
            </a:r>
            <a:r>
              <a:rPr lang="ru-RU" sz="1200" b="1" i="0" kern="1200" dirty="0" smtClean="0">
                <a:solidFill>
                  <a:schemeClr val="tx1"/>
                </a:solidFill>
                <a:latin typeface="+mn-lt"/>
                <a:ea typeface="+mn-ea"/>
                <a:cs typeface="+mn-cs"/>
              </a:rPr>
              <a:t> (Паспорт </a:t>
            </a:r>
            <a:r>
              <a:rPr lang="ru-RU" sz="1200" b="1" i="0" kern="1200" dirty="0" err="1" smtClean="0">
                <a:solidFill>
                  <a:schemeClr val="tx1"/>
                </a:solidFill>
                <a:latin typeface="+mn-lt"/>
                <a:ea typeface="+mn-ea"/>
                <a:cs typeface="+mn-cs"/>
              </a:rPr>
              <a:t>датасета</a:t>
            </a:r>
            <a:r>
              <a:rPr lang="ru-RU" sz="1200" b="1" i="0" kern="1200" dirty="0" smtClean="0">
                <a:solidFill>
                  <a:schemeClr val="tx1"/>
                </a:solidFill>
                <a:latin typeface="+mn-lt"/>
                <a:ea typeface="+mn-ea"/>
                <a:cs typeface="+mn-cs"/>
              </a:rPr>
              <a:t>)</a:t>
            </a:r>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Файл </a:t>
            </a:r>
            <a:r>
              <a:rPr lang="ru-RU" sz="1200" b="0" i="0" kern="1200" dirty="0" err="1" smtClean="0">
                <a:solidFill>
                  <a:schemeClr val="tx1"/>
                </a:solidFill>
                <a:latin typeface="+mn-lt"/>
                <a:ea typeface="+mn-ea"/>
                <a:cs typeface="+mn-cs"/>
              </a:rPr>
              <a:t>african-wildlife.yaml</a:t>
            </a:r>
            <a:r>
              <a:rPr lang="ru-RU" sz="1200" b="0" i="0" kern="1200" dirty="0" smtClean="0">
                <a:solidFill>
                  <a:schemeClr val="tx1"/>
                </a:solidFill>
                <a:latin typeface="+mn-lt"/>
                <a:ea typeface="+mn-ea"/>
                <a:cs typeface="+mn-cs"/>
              </a:rPr>
              <a:t> (правая часть слайда) является связующим звеном. Он сообщает </a:t>
            </a:r>
            <a:r>
              <a:rPr lang="ru-RU" sz="1200" b="0" i="0" kern="1200" dirty="0" err="1" smtClean="0">
                <a:solidFill>
                  <a:schemeClr val="tx1"/>
                </a:solidFill>
                <a:latin typeface="+mn-lt"/>
                <a:ea typeface="+mn-ea"/>
                <a:cs typeface="+mn-cs"/>
              </a:rPr>
              <a:t>нейросети</a:t>
            </a:r>
            <a:r>
              <a:rPr lang="ru-RU" sz="1200" b="0" i="0" kern="1200" dirty="0" smtClean="0">
                <a:solidFill>
                  <a:schemeClr val="tx1"/>
                </a:solidFill>
                <a:latin typeface="+mn-lt"/>
                <a:ea typeface="+mn-ea"/>
                <a:cs typeface="+mn-cs"/>
              </a:rPr>
              <a:t>, где искать данные и как интерпретировать результаты. Разберем его основные блоки:</a:t>
            </a:r>
          </a:p>
          <a:p>
            <a:r>
              <a:rPr lang="ru-RU" sz="1200" b="0" i="0" kern="1200" dirty="0" smtClean="0">
                <a:solidFill>
                  <a:schemeClr val="tx1"/>
                </a:solidFill>
                <a:latin typeface="+mn-lt"/>
                <a:ea typeface="+mn-ea"/>
                <a:cs typeface="+mn-cs"/>
              </a:rPr>
              <a:t>Блок путей (</a:t>
            </a:r>
            <a:r>
              <a:rPr lang="ru-RU" sz="1200" b="0" i="0" kern="1200" dirty="0" err="1" smtClean="0">
                <a:solidFill>
                  <a:schemeClr val="tx1"/>
                </a:solidFill>
                <a:latin typeface="+mn-lt"/>
                <a:ea typeface="+mn-ea"/>
                <a:cs typeface="+mn-cs"/>
              </a:rPr>
              <a:t>path</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train</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val</a:t>
            </a:r>
            <a:r>
              <a:rPr lang="ru-RU" sz="1200" b="0" i="0" kern="1200" dirty="0" smtClean="0">
                <a:solidFill>
                  <a:schemeClr val="tx1"/>
                </a:solidFill>
                <a:latin typeface="+mn-lt"/>
                <a:ea typeface="+mn-ea"/>
                <a:cs typeface="+mn-cs"/>
              </a:rPr>
              <a:t>):</a:t>
            </a:r>
          </a:p>
          <a:p>
            <a:pPr lvl="1"/>
            <a:r>
              <a:rPr lang="ru-RU" sz="1200" b="0" i="0" kern="1200" dirty="0" err="1" smtClean="0">
                <a:solidFill>
                  <a:schemeClr val="tx1"/>
                </a:solidFill>
                <a:latin typeface="+mn-lt"/>
                <a:ea typeface="+mn-ea"/>
                <a:cs typeface="+mn-cs"/>
              </a:rPr>
              <a:t>path</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african-wildlife</a:t>
            </a:r>
            <a:r>
              <a:rPr lang="ru-RU" sz="1200" b="0" i="0" kern="1200" dirty="0" smtClean="0">
                <a:solidFill>
                  <a:schemeClr val="tx1"/>
                </a:solidFill>
                <a:latin typeface="+mn-lt"/>
                <a:ea typeface="+mn-ea"/>
                <a:cs typeface="+mn-cs"/>
              </a:rPr>
              <a:t> — указывает корневую директорию </a:t>
            </a:r>
            <a:r>
              <a:rPr lang="ru-RU" sz="1200" b="0" i="0" kern="1200" dirty="0" err="1" smtClean="0">
                <a:solidFill>
                  <a:schemeClr val="tx1"/>
                </a:solidFill>
                <a:latin typeface="+mn-lt"/>
                <a:ea typeface="+mn-ea"/>
                <a:cs typeface="+mn-cs"/>
              </a:rPr>
              <a:t>датасета</a:t>
            </a:r>
            <a:r>
              <a:rPr lang="ru-RU" sz="1200" b="0" i="0" kern="1200" dirty="0" smtClean="0">
                <a:solidFill>
                  <a:schemeClr val="tx1"/>
                </a:solidFill>
                <a:latin typeface="+mn-lt"/>
                <a:ea typeface="+mn-ea"/>
                <a:cs typeface="+mn-cs"/>
              </a:rPr>
              <a:t>.</a:t>
            </a:r>
          </a:p>
          <a:p>
            <a:pPr lvl="1"/>
            <a:r>
              <a:rPr lang="ru-RU" sz="1200" b="0" i="0" kern="1200" dirty="0" err="1" smtClean="0">
                <a:solidFill>
                  <a:schemeClr val="tx1"/>
                </a:solidFill>
                <a:latin typeface="+mn-lt"/>
                <a:ea typeface="+mn-ea"/>
                <a:cs typeface="+mn-cs"/>
              </a:rPr>
              <a:t>train</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images</a:t>
            </a:r>
            <a:r>
              <a:rPr lang="ru-RU" sz="1200" b="0" i="0" kern="1200" dirty="0" smtClean="0">
                <a:solidFill>
                  <a:schemeClr val="tx1"/>
                </a:solidFill>
                <a:latin typeface="+mn-lt"/>
                <a:ea typeface="+mn-ea"/>
                <a:cs typeface="+mn-cs"/>
              </a:rPr>
              <a:t>/</a:t>
            </a:r>
            <a:r>
              <a:rPr lang="ru-RU" sz="1200" b="0" i="0" kern="1200" dirty="0" err="1" smtClean="0">
                <a:solidFill>
                  <a:schemeClr val="tx1"/>
                </a:solidFill>
                <a:latin typeface="+mn-lt"/>
                <a:ea typeface="+mn-ea"/>
                <a:cs typeface="+mn-cs"/>
              </a:rPr>
              <a:t>train</a:t>
            </a:r>
            <a:r>
              <a:rPr lang="ru-RU" sz="1200" b="0" i="0" kern="1200" dirty="0" smtClean="0">
                <a:solidFill>
                  <a:schemeClr val="tx1"/>
                </a:solidFill>
                <a:latin typeface="+mn-lt"/>
                <a:ea typeface="+mn-ea"/>
                <a:cs typeface="+mn-cs"/>
              </a:rPr>
              <a:t> и </a:t>
            </a:r>
            <a:r>
              <a:rPr lang="ru-RU" sz="1200" b="0" i="0" kern="1200" dirty="0" err="1" smtClean="0">
                <a:solidFill>
                  <a:schemeClr val="tx1"/>
                </a:solidFill>
                <a:latin typeface="+mn-lt"/>
                <a:ea typeface="+mn-ea"/>
                <a:cs typeface="+mn-cs"/>
              </a:rPr>
              <a:t>val</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images</a:t>
            </a:r>
            <a:r>
              <a:rPr lang="ru-RU" sz="1200" b="0" i="0" kern="1200" dirty="0" smtClean="0">
                <a:solidFill>
                  <a:schemeClr val="tx1"/>
                </a:solidFill>
                <a:latin typeface="+mn-lt"/>
                <a:ea typeface="+mn-ea"/>
                <a:cs typeface="+mn-cs"/>
              </a:rPr>
              <a:t>/</a:t>
            </a:r>
            <a:r>
              <a:rPr lang="ru-RU" sz="1200" b="0" i="0" kern="1200" dirty="0" err="1" smtClean="0">
                <a:solidFill>
                  <a:schemeClr val="tx1"/>
                </a:solidFill>
                <a:latin typeface="+mn-lt"/>
                <a:ea typeface="+mn-ea"/>
                <a:cs typeface="+mn-cs"/>
              </a:rPr>
              <a:t>val</a:t>
            </a:r>
            <a:r>
              <a:rPr lang="ru-RU" sz="1200" b="0" i="0" kern="1200" dirty="0" smtClean="0">
                <a:solidFill>
                  <a:schemeClr val="tx1"/>
                </a:solidFill>
                <a:latin typeface="+mn-lt"/>
                <a:ea typeface="+mn-ea"/>
                <a:cs typeface="+mn-cs"/>
              </a:rPr>
              <a:t> — указывают относительные пути к изображениям. </a:t>
            </a:r>
            <a:r>
              <a:rPr lang="ru-RU" sz="1200" b="0" i="0" kern="1200" dirty="0" err="1" smtClean="0">
                <a:solidFill>
                  <a:schemeClr val="tx1"/>
                </a:solidFill>
                <a:latin typeface="+mn-lt"/>
                <a:ea typeface="+mn-ea"/>
                <a:cs typeface="+mn-cs"/>
              </a:rPr>
              <a:t>Нейросети</a:t>
            </a:r>
            <a:r>
              <a:rPr lang="ru-RU" sz="1200" b="0" i="0" kern="1200" dirty="0" smtClean="0">
                <a:solidFill>
                  <a:schemeClr val="tx1"/>
                </a:solidFill>
                <a:latin typeface="+mn-lt"/>
                <a:ea typeface="+mn-ea"/>
                <a:cs typeface="+mn-cs"/>
              </a:rPr>
              <a:t> не нужно отдельно указывать путь к папке </a:t>
            </a:r>
            <a:r>
              <a:rPr lang="ru-RU" sz="1200" b="0" i="0" kern="1200" dirty="0" err="1" smtClean="0">
                <a:solidFill>
                  <a:schemeClr val="tx1"/>
                </a:solidFill>
                <a:latin typeface="+mn-lt"/>
                <a:ea typeface="+mn-ea"/>
                <a:cs typeface="+mn-cs"/>
              </a:rPr>
              <a:t>labels</a:t>
            </a:r>
            <a:r>
              <a:rPr lang="ru-RU" sz="1200" b="0" i="0" kern="1200" dirty="0" smtClean="0">
                <a:solidFill>
                  <a:schemeClr val="tx1"/>
                </a:solidFill>
                <a:latin typeface="+mn-lt"/>
                <a:ea typeface="+mn-ea"/>
                <a:cs typeface="+mn-cs"/>
              </a:rPr>
              <a:t>, она автоматически поймет, что разметка лежит в соседней директории с аналогичной структурой.</a:t>
            </a:r>
          </a:p>
          <a:p>
            <a:r>
              <a:rPr lang="ru-RU" sz="1200" b="0" i="0" kern="1200" dirty="0" smtClean="0">
                <a:solidFill>
                  <a:schemeClr val="tx1"/>
                </a:solidFill>
                <a:latin typeface="+mn-lt"/>
                <a:ea typeface="+mn-ea"/>
                <a:cs typeface="+mn-cs"/>
              </a:rPr>
              <a:t>Блок классов (</a:t>
            </a:r>
            <a:r>
              <a:rPr lang="ru-RU" sz="1200" b="0" i="0" kern="1200" dirty="0" err="1" smtClean="0">
                <a:solidFill>
                  <a:schemeClr val="tx1"/>
                </a:solidFill>
                <a:latin typeface="+mn-lt"/>
                <a:ea typeface="+mn-ea"/>
                <a:cs typeface="+mn-cs"/>
              </a:rPr>
              <a:t>names</a:t>
            </a:r>
            <a:r>
              <a:rPr lang="ru-RU" sz="1200" b="0" i="0" kern="1200" dirty="0" smtClean="0">
                <a:solidFill>
                  <a:schemeClr val="tx1"/>
                </a:solidFill>
                <a:latin typeface="+mn-lt"/>
                <a:ea typeface="+mn-ea"/>
                <a:cs typeface="+mn-cs"/>
              </a:rPr>
              <a:t>):</a:t>
            </a:r>
            <a:br>
              <a:rPr lang="ru-RU" sz="1200" b="0" i="0" kern="1200" dirty="0" smtClean="0">
                <a:solidFill>
                  <a:schemeClr val="tx1"/>
                </a:solidFill>
                <a:latin typeface="+mn-lt"/>
                <a:ea typeface="+mn-ea"/>
                <a:cs typeface="+mn-cs"/>
              </a:rPr>
            </a:br>
            <a:r>
              <a:rPr lang="ru-RU" sz="1200" b="0" i="0" kern="1200" dirty="0" smtClean="0">
                <a:solidFill>
                  <a:schemeClr val="tx1"/>
                </a:solidFill>
                <a:latin typeface="+mn-lt"/>
                <a:ea typeface="+mn-ea"/>
                <a:cs typeface="+mn-cs"/>
              </a:rPr>
              <a:t>Это словарь, который связывает числовые идентификаторы в текстовых файлах с реальными названиями объектов: 0: </a:t>
            </a:r>
            <a:r>
              <a:rPr lang="ru-RU" sz="1200" b="0" i="0" kern="1200" dirty="0" err="1" smtClean="0">
                <a:solidFill>
                  <a:schemeClr val="tx1"/>
                </a:solidFill>
                <a:latin typeface="+mn-lt"/>
                <a:ea typeface="+mn-ea"/>
                <a:cs typeface="+mn-cs"/>
              </a:rPr>
              <a:t>buffalo</a:t>
            </a:r>
            <a:r>
              <a:rPr lang="ru-RU" sz="1200" b="0" i="0" kern="1200" dirty="0" smtClean="0">
                <a:solidFill>
                  <a:schemeClr val="tx1"/>
                </a:solidFill>
                <a:latin typeface="+mn-lt"/>
                <a:ea typeface="+mn-ea"/>
                <a:cs typeface="+mn-cs"/>
              </a:rPr>
              <a:t>, 1: </a:t>
            </a:r>
            <a:r>
              <a:rPr lang="ru-RU" sz="1200" b="0" i="0" kern="1200" dirty="0" err="1" smtClean="0">
                <a:solidFill>
                  <a:schemeClr val="tx1"/>
                </a:solidFill>
                <a:latin typeface="+mn-lt"/>
                <a:ea typeface="+mn-ea"/>
                <a:cs typeface="+mn-cs"/>
              </a:rPr>
              <a:t>elephant</a:t>
            </a:r>
            <a:r>
              <a:rPr lang="ru-RU" sz="1200" b="0" i="0" kern="1200" dirty="0" smtClean="0">
                <a:solidFill>
                  <a:schemeClr val="tx1"/>
                </a:solidFill>
                <a:latin typeface="+mn-lt"/>
                <a:ea typeface="+mn-ea"/>
                <a:cs typeface="+mn-cs"/>
              </a:rPr>
              <a:t>, 2: </a:t>
            </a:r>
            <a:r>
              <a:rPr lang="ru-RU" sz="1200" b="0" i="0" kern="1200" dirty="0" err="1" smtClean="0">
                <a:solidFill>
                  <a:schemeClr val="tx1"/>
                </a:solidFill>
                <a:latin typeface="+mn-lt"/>
                <a:ea typeface="+mn-ea"/>
                <a:cs typeface="+mn-cs"/>
              </a:rPr>
              <a:t>rhino</a:t>
            </a:r>
            <a:r>
              <a:rPr lang="ru-RU" sz="1200" b="0" i="0" kern="1200" dirty="0" smtClean="0">
                <a:solidFill>
                  <a:schemeClr val="tx1"/>
                </a:solidFill>
                <a:latin typeface="+mn-lt"/>
                <a:ea typeface="+mn-ea"/>
                <a:cs typeface="+mn-cs"/>
              </a:rPr>
              <a:t>, 3: </a:t>
            </a:r>
            <a:r>
              <a:rPr lang="ru-RU" sz="1200" b="0" i="0" kern="1200" dirty="0" err="1" smtClean="0">
                <a:solidFill>
                  <a:schemeClr val="tx1"/>
                </a:solidFill>
                <a:latin typeface="+mn-lt"/>
                <a:ea typeface="+mn-ea"/>
                <a:cs typeface="+mn-cs"/>
              </a:rPr>
              <a:t>zebra</a:t>
            </a:r>
            <a:r>
              <a:rPr lang="ru-RU" sz="1200" b="0" i="0" kern="1200" dirty="0" smtClean="0">
                <a:solidFill>
                  <a:schemeClr val="tx1"/>
                </a:solidFill>
                <a:latin typeface="+mn-lt"/>
                <a:ea typeface="+mn-ea"/>
                <a:cs typeface="+mn-cs"/>
              </a:rPr>
              <a:t>. При выводе результата модель берет номер класса и подставляет соответствующее ему слово.</a:t>
            </a:r>
          </a:p>
          <a:p>
            <a:r>
              <a:rPr lang="ru-RU" sz="1200" b="0" i="0" kern="1200" dirty="0" smtClean="0">
                <a:solidFill>
                  <a:schemeClr val="tx1"/>
                </a:solidFill>
                <a:latin typeface="+mn-lt"/>
                <a:ea typeface="+mn-ea"/>
                <a:cs typeface="+mn-cs"/>
              </a:rPr>
              <a:t>Блок автозагрузки (</a:t>
            </a:r>
            <a:r>
              <a:rPr lang="ru-RU" sz="1200" b="0" i="0" kern="1200" dirty="0" err="1" smtClean="0">
                <a:solidFill>
                  <a:schemeClr val="tx1"/>
                </a:solidFill>
                <a:latin typeface="+mn-lt"/>
                <a:ea typeface="+mn-ea"/>
                <a:cs typeface="+mn-cs"/>
              </a:rPr>
              <a:t>download</a:t>
            </a:r>
            <a:r>
              <a:rPr lang="ru-RU" sz="1200" b="0" i="0" kern="1200" dirty="0" smtClean="0">
                <a:solidFill>
                  <a:schemeClr val="tx1"/>
                </a:solidFill>
                <a:latin typeface="+mn-lt"/>
                <a:ea typeface="+mn-ea"/>
                <a:cs typeface="+mn-cs"/>
              </a:rPr>
              <a:t>):</a:t>
            </a:r>
            <a:br>
              <a:rPr lang="ru-RU" sz="1200" b="0" i="0" kern="1200" dirty="0" smtClean="0">
                <a:solidFill>
                  <a:schemeClr val="tx1"/>
                </a:solidFill>
                <a:latin typeface="+mn-lt"/>
                <a:ea typeface="+mn-ea"/>
                <a:cs typeface="+mn-cs"/>
              </a:rPr>
            </a:br>
            <a:r>
              <a:rPr lang="ru-RU" sz="1200" b="0" i="0" kern="1200" dirty="0" smtClean="0">
                <a:solidFill>
                  <a:schemeClr val="tx1"/>
                </a:solidFill>
                <a:latin typeface="+mn-lt"/>
                <a:ea typeface="+mn-ea"/>
                <a:cs typeface="+mn-cs"/>
              </a:rPr>
              <a:t>В нижней части файла указана прямая ссылка на zip-архив. Это опциональная, но очень удобная функция библиотеки </a:t>
            </a:r>
            <a:r>
              <a:rPr lang="ru-RU" sz="1200" b="0" i="0" kern="1200" dirty="0" err="1" smtClean="0">
                <a:solidFill>
                  <a:schemeClr val="tx1"/>
                </a:solidFill>
                <a:latin typeface="+mn-lt"/>
                <a:ea typeface="+mn-ea"/>
                <a:cs typeface="+mn-cs"/>
              </a:rPr>
              <a:t>Ultralytics</a:t>
            </a:r>
            <a:r>
              <a:rPr lang="ru-RU" sz="1200" b="0" i="0" kern="1200" dirty="0" smtClean="0">
                <a:solidFill>
                  <a:schemeClr val="tx1"/>
                </a:solidFill>
                <a:latin typeface="+mn-lt"/>
                <a:ea typeface="+mn-ea"/>
                <a:cs typeface="+mn-cs"/>
              </a:rPr>
              <a:t>. Если при запуске обучения YOLO не находит данные по указанному пути </a:t>
            </a:r>
            <a:r>
              <a:rPr lang="ru-RU" sz="1200" b="0" i="0" kern="1200" dirty="0" err="1" smtClean="0">
                <a:solidFill>
                  <a:schemeClr val="tx1"/>
                </a:solidFill>
                <a:latin typeface="+mn-lt"/>
                <a:ea typeface="+mn-ea"/>
                <a:cs typeface="+mn-cs"/>
              </a:rPr>
              <a:t>path</a:t>
            </a:r>
            <a:r>
              <a:rPr lang="ru-RU" sz="1200" b="0" i="0" kern="1200" dirty="0" smtClean="0">
                <a:solidFill>
                  <a:schemeClr val="tx1"/>
                </a:solidFill>
                <a:latin typeface="+mn-lt"/>
                <a:ea typeface="+mn-ea"/>
                <a:cs typeface="+mn-cs"/>
              </a:rPr>
              <a:t>, она автоматически считывает эту ссылку, скачивает архив из интернета и распаковывает его в нужную папку. Именно этот механизм сработал в нашем практическом задании, когда мы запустили обучение.</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
            </a:r>
            <a:br>
              <a:rPr lang="ru-RU" sz="1200" b="0" i="0" kern="1200" dirty="0" smtClean="0">
                <a:solidFill>
                  <a:schemeClr val="tx1"/>
                </a:solidFill>
                <a:latin typeface="+mn-lt"/>
                <a:ea typeface="+mn-ea"/>
                <a:cs typeface="+mn-cs"/>
              </a:rPr>
            </a:br>
            <a:r>
              <a:rPr lang="ru-RU" sz="1200" b="0" i="0" kern="1200" dirty="0" smtClean="0">
                <a:solidFill>
                  <a:schemeClr val="tx1"/>
                </a:solidFill>
                <a:latin typeface="+mn-lt"/>
                <a:ea typeface="+mn-ea"/>
                <a:cs typeface="+mn-cs"/>
              </a:rPr>
              <a:t>Понимание структуры </a:t>
            </a:r>
            <a:r>
              <a:rPr lang="ru-RU" sz="1200" b="0" i="0" kern="1200" dirty="0" err="1" smtClean="0">
                <a:solidFill>
                  <a:schemeClr val="tx1"/>
                </a:solidFill>
                <a:latin typeface="+mn-lt"/>
                <a:ea typeface="+mn-ea"/>
                <a:cs typeface="+mn-cs"/>
              </a:rPr>
              <a:t>датасета</a:t>
            </a:r>
            <a:r>
              <a:rPr lang="ru-RU" sz="1200" b="0" i="0" kern="1200" dirty="0" smtClean="0">
                <a:solidFill>
                  <a:schemeClr val="tx1"/>
                </a:solidFill>
                <a:latin typeface="+mn-lt"/>
                <a:ea typeface="+mn-ea"/>
                <a:cs typeface="+mn-cs"/>
              </a:rPr>
              <a:t> необходимо при подготовке собственных данных. Если иерархия папок нарушена или в файле </a:t>
            </a:r>
            <a:r>
              <a:rPr lang="ru-RU" sz="1200" b="0" i="0" kern="1200" dirty="0" err="1" smtClean="0">
                <a:solidFill>
                  <a:schemeClr val="tx1"/>
                </a:solidFill>
                <a:latin typeface="+mn-lt"/>
                <a:ea typeface="+mn-ea"/>
                <a:cs typeface="+mn-cs"/>
              </a:rPr>
              <a:t>yaml</a:t>
            </a:r>
            <a:r>
              <a:rPr lang="ru-RU" sz="1200" b="0" i="0" kern="1200" dirty="0" smtClean="0">
                <a:solidFill>
                  <a:schemeClr val="tx1"/>
                </a:solidFill>
                <a:latin typeface="+mn-lt"/>
                <a:ea typeface="+mn-ea"/>
                <a:cs typeface="+mn-cs"/>
              </a:rPr>
              <a:t> допущена ошибка в названиях классов, обучение либо не запустится, либо </a:t>
            </a:r>
            <a:r>
              <a:rPr lang="ru-RU" sz="1200" b="0" i="0" kern="1200" dirty="0" err="1" smtClean="0">
                <a:solidFill>
                  <a:schemeClr val="tx1"/>
                </a:solidFill>
                <a:latin typeface="+mn-lt"/>
                <a:ea typeface="+mn-ea"/>
                <a:cs typeface="+mn-cs"/>
              </a:rPr>
              <a:t>нейросеть</a:t>
            </a:r>
            <a:r>
              <a:rPr lang="ru-RU" sz="1200" b="0" i="0" kern="1200" dirty="0" smtClean="0">
                <a:solidFill>
                  <a:schemeClr val="tx1"/>
                </a:solidFill>
                <a:latin typeface="+mn-lt"/>
                <a:ea typeface="+mn-ea"/>
                <a:cs typeface="+mn-cs"/>
              </a:rPr>
              <a:t> будет выдавать некорректные результаты (например, путать слонов с зебрами).</a:t>
            </a:r>
          </a:p>
          <a:p>
            <a:endParaRPr lang="ru-RU" dirty="0"/>
          </a:p>
        </p:txBody>
      </p:sp>
      <p:sp>
        <p:nvSpPr>
          <p:cNvPr id="4" name="Номер слайда 3"/>
          <p:cNvSpPr>
            <a:spLocks noGrp="1"/>
          </p:cNvSpPr>
          <p:nvPr>
            <p:ph type="sldNum" sz="quarter" idx="10"/>
          </p:nvPr>
        </p:nvSpPr>
        <p:spPr/>
        <p:txBody>
          <a:bodyPr/>
          <a:lstStyle/>
          <a:p>
            <a:fld id="{32A40295-5C2D-44F9-9666-2230E0FAA04D}" type="slidenum">
              <a:rPr lang="ru-RU" smtClean="0"/>
              <a:t>9</a:t>
            </a:fld>
            <a:endParaRPr lang="ru-R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92500" lnSpcReduction="20000"/>
          </a:bodyPr>
          <a:lstStyle/>
          <a:p>
            <a:r>
              <a:rPr lang="ru-RU" sz="1200" b="0" i="0" kern="1200" dirty="0" smtClean="0">
                <a:solidFill>
                  <a:schemeClr val="tx1"/>
                </a:solidFill>
                <a:latin typeface="+mn-lt"/>
                <a:ea typeface="+mn-ea"/>
                <a:cs typeface="+mn-cs"/>
              </a:rPr>
              <a:t>Данный блок кода выполняет две ключевые задачи: установку необходимых библиотек и проверку наличия аппаратного ускорения.</a:t>
            </a:r>
          </a:p>
          <a:p>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1. Установка библиотеки (!</a:t>
            </a:r>
            <a:r>
              <a:rPr lang="ru-RU" sz="1200" b="1" i="0" kern="1200" dirty="0" err="1" smtClean="0">
                <a:solidFill>
                  <a:schemeClr val="tx1"/>
                </a:solidFill>
                <a:latin typeface="+mn-lt"/>
                <a:ea typeface="+mn-ea"/>
                <a:cs typeface="+mn-cs"/>
              </a:rPr>
              <a:t>pip</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install</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ultralytics</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q</a:t>
            </a:r>
            <a:r>
              <a:rPr lang="ru-RU" sz="1200" b="1" i="0" kern="1200" dirty="0" smtClean="0">
                <a:solidFill>
                  <a:schemeClr val="tx1"/>
                </a:solidFill>
                <a:latin typeface="+mn-lt"/>
                <a:ea typeface="+mn-ea"/>
                <a:cs typeface="+mn-cs"/>
              </a:rPr>
              <a:t>)</a:t>
            </a:r>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a:t>
            </a:r>
            <a:r>
              <a:rPr lang="ru-RU" sz="1200" b="1" i="0" kern="1200" dirty="0" err="1" smtClean="0">
                <a:solidFill>
                  <a:schemeClr val="tx1"/>
                </a:solidFill>
                <a:latin typeface="+mn-lt"/>
                <a:ea typeface="+mn-ea"/>
                <a:cs typeface="+mn-cs"/>
              </a:rPr>
              <a:t>pip</a:t>
            </a:r>
            <a:r>
              <a:rPr lang="ru-RU" sz="1200" b="0" i="0" kern="1200" dirty="0" smtClean="0">
                <a:solidFill>
                  <a:schemeClr val="tx1"/>
                </a:solidFill>
                <a:latin typeface="+mn-lt"/>
                <a:ea typeface="+mn-ea"/>
                <a:cs typeface="+mn-cs"/>
              </a:rPr>
              <a:t> — восклицательный знак в начале строки указывает среде </a:t>
            </a:r>
            <a:r>
              <a:rPr lang="ru-RU" sz="1200" b="0" i="0" kern="1200" dirty="0" err="1" smtClean="0">
                <a:solidFill>
                  <a:schemeClr val="tx1"/>
                </a:solidFill>
                <a:latin typeface="+mn-lt"/>
                <a:ea typeface="+mn-ea"/>
                <a:cs typeface="+mn-cs"/>
              </a:rPr>
              <a:t>Google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Colab</a:t>
            </a:r>
            <a:r>
              <a:rPr lang="ru-RU" sz="1200" b="0" i="0" kern="1200" dirty="0" smtClean="0">
                <a:solidFill>
                  <a:schemeClr val="tx1"/>
                </a:solidFill>
                <a:latin typeface="+mn-lt"/>
                <a:ea typeface="+mn-ea"/>
                <a:cs typeface="+mn-cs"/>
              </a:rPr>
              <a:t>, что это команда для терминала (оболочки операционной системы), а не код на языке </a:t>
            </a:r>
            <a:r>
              <a:rPr lang="ru-RU" sz="1200" b="0" i="0" kern="1200" dirty="0" err="1" smtClean="0">
                <a:solidFill>
                  <a:schemeClr val="tx1"/>
                </a:solidFill>
                <a:latin typeface="+mn-lt"/>
                <a:ea typeface="+mn-ea"/>
                <a:cs typeface="+mn-cs"/>
              </a:rPr>
              <a:t>Python</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pip</a:t>
            </a:r>
            <a:r>
              <a:rPr lang="ru-RU" sz="1200" b="0" i="0" kern="1200" dirty="0" smtClean="0">
                <a:solidFill>
                  <a:schemeClr val="tx1"/>
                </a:solidFill>
                <a:latin typeface="+mn-lt"/>
                <a:ea typeface="+mn-ea"/>
                <a:cs typeface="+mn-cs"/>
              </a:rPr>
              <a:t> — это стандартный менеджер пакетов, который скачивает и устанавливает сторонние библиотеки.</a:t>
            </a:r>
          </a:p>
          <a:p>
            <a:r>
              <a:rPr lang="ru-RU" sz="1200" b="1" i="0" kern="1200" dirty="0" err="1" smtClean="0">
                <a:solidFill>
                  <a:schemeClr val="tx1"/>
                </a:solidFill>
                <a:latin typeface="+mn-lt"/>
                <a:ea typeface="+mn-ea"/>
                <a:cs typeface="+mn-cs"/>
              </a:rPr>
              <a:t>ultralytics</a:t>
            </a:r>
            <a:r>
              <a:rPr lang="ru-RU" sz="1200" b="0" i="0" kern="1200" dirty="0" smtClean="0">
                <a:solidFill>
                  <a:schemeClr val="tx1"/>
                </a:solidFill>
                <a:latin typeface="+mn-lt"/>
                <a:ea typeface="+mn-ea"/>
                <a:cs typeface="+mn-cs"/>
              </a:rPr>
              <a:t> — это название библиотеки, содержащей готовую реализацию архитектуры YOLOv8, а также вспомогательные инструменты для загрузки данных, обучения и </a:t>
            </a:r>
            <a:r>
              <a:rPr lang="ru-RU" sz="1200" b="0" i="0" kern="1200" dirty="0" err="1" smtClean="0">
                <a:solidFill>
                  <a:schemeClr val="tx1"/>
                </a:solidFill>
                <a:latin typeface="+mn-lt"/>
                <a:ea typeface="+mn-ea"/>
                <a:cs typeface="+mn-cs"/>
              </a:rPr>
              <a:t>валидации</a:t>
            </a:r>
            <a:r>
              <a:rPr lang="ru-RU" sz="1200" b="0" i="0" kern="1200" dirty="0" smtClean="0">
                <a:solidFill>
                  <a:schemeClr val="tx1"/>
                </a:solidFill>
                <a:latin typeface="+mn-lt"/>
                <a:ea typeface="+mn-ea"/>
                <a:cs typeface="+mn-cs"/>
              </a:rPr>
              <a:t>.</a:t>
            </a:r>
          </a:p>
          <a:p>
            <a:r>
              <a:rPr lang="ru-RU" sz="1200" b="1" i="0" kern="1200" dirty="0" smtClean="0">
                <a:solidFill>
                  <a:schemeClr val="tx1"/>
                </a:solidFill>
                <a:latin typeface="+mn-lt"/>
                <a:ea typeface="+mn-ea"/>
                <a:cs typeface="+mn-cs"/>
              </a:rPr>
              <a:t>-</a:t>
            </a:r>
            <a:r>
              <a:rPr lang="ru-RU" sz="1200" b="1" i="0" kern="1200" dirty="0" err="1" smtClean="0">
                <a:solidFill>
                  <a:schemeClr val="tx1"/>
                </a:solidFill>
                <a:latin typeface="+mn-lt"/>
                <a:ea typeface="+mn-ea"/>
                <a:cs typeface="+mn-cs"/>
              </a:rPr>
              <a:t>q</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quiet</a:t>
            </a:r>
            <a:r>
              <a:rPr lang="ru-RU" sz="1200" b="1" i="0" kern="1200" dirty="0" smtClean="0">
                <a:solidFill>
                  <a:schemeClr val="tx1"/>
                </a:solidFill>
                <a:latin typeface="+mn-lt"/>
                <a:ea typeface="+mn-ea"/>
                <a:cs typeface="+mn-cs"/>
              </a:rPr>
              <a:t>)</a:t>
            </a:r>
            <a:r>
              <a:rPr lang="ru-RU" sz="1200" b="0" i="0" kern="1200" dirty="0" smtClean="0">
                <a:solidFill>
                  <a:schemeClr val="tx1"/>
                </a:solidFill>
                <a:latin typeface="+mn-lt"/>
                <a:ea typeface="+mn-ea"/>
                <a:cs typeface="+mn-cs"/>
              </a:rPr>
              <a:t> — флаг, который просит менеджер пакетов не выводить в консоль подробный лог процесса установки (список скачиваемых файлов и зависимостей), чтобы не </a:t>
            </a:r>
            <a:r>
              <a:rPr lang="ru-RU" sz="1200" b="0" i="0" kern="1200" dirty="0" err="1" smtClean="0">
                <a:solidFill>
                  <a:schemeClr val="tx1"/>
                </a:solidFill>
                <a:latin typeface="+mn-lt"/>
                <a:ea typeface="+mn-ea"/>
                <a:cs typeface="+mn-cs"/>
              </a:rPr>
              <a:t>засрать</a:t>
            </a:r>
            <a:r>
              <a:rPr lang="ru-RU" sz="1200" b="0" i="0" kern="1200" dirty="0" smtClean="0">
                <a:solidFill>
                  <a:schemeClr val="tx1"/>
                </a:solidFill>
                <a:latin typeface="+mn-lt"/>
                <a:ea typeface="+mn-ea"/>
                <a:cs typeface="+mn-cs"/>
              </a:rPr>
              <a:t> рабочее пространство.</a:t>
            </a:r>
          </a:p>
          <a:p>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2. Проверка доступности GPU (</a:t>
            </a:r>
            <a:r>
              <a:rPr lang="ru-RU" sz="1200" b="1" i="0" kern="1200" dirty="0" err="1" smtClean="0">
                <a:solidFill>
                  <a:schemeClr val="tx1"/>
                </a:solidFill>
                <a:latin typeface="+mn-lt"/>
                <a:ea typeface="+mn-ea"/>
                <a:cs typeface="+mn-cs"/>
              </a:rPr>
              <a:t>import</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torch</a:t>
            </a:r>
            <a:r>
              <a:rPr lang="ru-RU" sz="1200" b="1" i="0" kern="1200" dirty="0" smtClean="0">
                <a:solidFill>
                  <a:schemeClr val="tx1"/>
                </a:solidFill>
                <a:latin typeface="+mn-lt"/>
                <a:ea typeface="+mn-ea"/>
                <a:cs typeface="+mn-cs"/>
              </a:rPr>
              <a:t> и проверка CUDA)</a:t>
            </a:r>
            <a:endParaRPr lang="ru-RU" sz="1200" b="0" i="0" kern="1200" dirty="0" smtClean="0">
              <a:solidFill>
                <a:schemeClr val="tx1"/>
              </a:solidFill>
              <a:latin typeface="+mn-lt"/>
              <a:ea typeface="+mn-ea"/>
              <a:cs typeface="+mn-cs"/>
            </a:endParaRPr>
          </a:p>
          <a:p>
            <a:r>
              <a:rPr lang="ru-RU" sz="1200" b="1" i="0" kern="1200" dirty="0" err="1" smtClean="0">
                <a:solidFill>
                  <a:schemeClr val="tx1"/>
                </a:solidFill>
                <a:latin typeface="+mn-lt"/>
                <a:ea typeface="+mn-ea"/>
                <a:cs typeface="+mn-cs"/>
              </a:rPr>
              <a:t>import</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torch</a:t>
            </a:r>
            <a:r>
              <a:rPr lang="ru-RU" sz="1200" b="0" i="0" kern="1200" dirty="0" smtClean="0">
                <a:solidFill>
                  <a:schemeClr val="tx1"/>
                </a:solidFill>
                <a:latin typeface="+mn-lt"/>
                <a:ea typeface="+mn-ea"/>
                <a:cs typeface="+mn-cs"/>
              </a:rPr>
              <a:t> — импорт библиотеки </a:t>
            </a:r>
            <a:r>
              <a:rPr lang="ru-RU" sz="1200" b="0" i="0" kern="1200" dirty="0" err="1" smtClean="0">
                <a:solidFill>
                  <a:schemeClr val="tx1"/>
                </a:solidFill>
                <a:latin typeface="+mn-lt"/>
                <a:ea typeface="+mn-ea"/>
                <a:cs typeface="+mn-cs"/>
              </a:rPr>
              <a:t>PyTorch</a:t>
            </a:r>
            <a:r>
              <a:rPr lang="ru-RU" sz="1200" b="0" i="0" kern="1200" dirty="0" smtClean="0">
                <a:solidFill>
                  <a:schemeClr val="tx1"/>
                </a:solidFill>
                <a:latin typeface="+mn-lt"/>
                <a:ea typeface="+mn-ea"/>
                <a:cs typeface="+mn-cs"/>
              </a:rPr>
              <a:t>, которая является фундаментом (движком) для YOLO. Все тензорные вычисления внутри </a:t>
            </a:r>
            <a:r>
              <a:rPr lang="ru-RU" sz="1200" b="0" i="0" kern="1200" dirty="0" err="1" smtClean="0">
                <a:solidFill>
                  <a:schemeClr val="tx1"/>
                </a:solidFill>
                <a:latin typeface="+mn-lt"/>
                <a:ea typeface="+mn-ea"/>
                <a:cs typeface="+mn-cs"/>
              </a:rPr>
              <a:t>нейросети</a:t>
            </a:r>
            <a:r>
              <a:rPr lang="ru-RU" sz="1200" b="0" i="0" kern="1200" dirty="0" smtClean="0">
                <a:solidFill>
                  <a:schemeClr val="tx1"/>
                </a:solidFill>
                <a:latin typeface="+mn-lt"/>
                <a:ea typeface="+mn-ea"/>
                <a:cs typeface="+mn-cs"/>
              </a:rPr>
              <a:t> происходят именно на ней.</a:t>
            </a:r>
          </a:p>
          <a:p>
            <a:r>
              <a:rPr lang="ru-RU" sz="1200" b="1" i="0" kern="1200" dirty="0" err="1" smtClean="0">
                <a:solidFill>
                  <a:schemeClr val="tx1"/>
                </a:solidFill>
                <a:latin typeface="+mn-lt"/>
                <a:ea typeface="+mn-ea"/>
                <a:cs typeface="+mn-cs"/>
              </a:rPr>
              <a:t>torch.cuda.is_available</a:t>
            </a:r>
            <a:r>
              <a:rPr lang="ru-RU" sz="1200" b="1" i="0" kern="1200" dirty="0" smtClean="0">
                <a:solidFill>
                  <a:schemeClr val="tx1"/>
                </a:solidFill>
                <a:latin typeface="+mn-lt"/>
                <a:ea typeface="+mn-ea"/>
                <a:cs typeface="+mn-cs"/>
              </a:rPr>
              <a:t>()</a:t>
            </a:r>
            <a:r>
              <a:rPr lang="ru-RU" sz="1200" b="0" i="0" kern="1200" dirty="0" smtClean="0">
                <a:solidFill>
                  <a:schemeClr val="tx1"/>
                </a:solidFill>
                <a:latin typeface="+mn-lt"/>
                <a:ea typeface="+mn-ea"/>
                <a:cs typeface="+mn-cs"/>
              </a:rPr>
              <a:t> — функция, которая проверяет, доступна ли в текущей среде технология CUDA (вычисления на видеокартах от NVIDIA). Она возвращает логическое значение </a:t>
            </a:r>
            <a:r>
              <a:rPr lang="ru-RU" sz="1200" b="0" i="0" kern="1200" dirty="0" err="1" smtClean="0">
                <a:solidFill>
                  <a:schemeClr val="tx1"/>
                </a:solidFill>
                <a:latin typeface="+mn-lt"/>
                <a:ea typeface="+mn-ea"/>
                <a:cs typeface="+mn-cs"/>
              </a:rPr>
              <a:t>True</a:t>
            </a:r>
            <a:r>
              <a:rPr lang="ru-RU" sz="1200" b="0" i="0" kern="1200" dirty="0" smtClean="0">
                <a:solidFill>
                  <a:schemeClr val="tx1"/>
                </a:solidFill>
                <a:latin typeface="+mn-lt"/>
                <a:ea typeface="+mn-ea"/>
                <a:cs typeface="+mn-cs"/>
              </a:rPr>
              <a:t> (доступно) или </a:t>
            </a:r>
            <a:r>
              <a:rPr lang="ru-RU" sz="1200" b="0" i="0" kern="1200" dirty="0" err="1" smtClean="0">
                <a:solidFill>
                  <a:schemeClr val="tx1"/>
                </a:solidFill>
                <a:latin typeface="+mn-lt"/>
                <a:ea typeface="+mn-ea"/>
                <a:cs typeface="+mn-cs"/>
              </a:rPr>
              <a:t>False</a:t>
            </a:r>
            <a:r>
              <a:rPr lang="ru-RU" sz="1200" b="0" i="0" kern="1200" dirty="0" smtClean="0">
                <a:solidFill>
                  <a:schemeClr val="tx1"/>
                </a:solidFill>
                <a:latin typeface="+mn-lt"/>
                <a:ea typeface="+mn-ea"/>
                <a:cs typeface="+mn-cs"/>
              </a:rPr>
              <a:t> (недоступно).</a:t>
            </a:r>
          </a:p>
          <a:p>
            <a:r>
              <a:rPr lang="ru-RU" sz="1200" b="1" i="0" kern="1200" dirty="0" err="1" smtClean="0">
                <a:solidFill>
                  <a:schemeClr val="tx1"/>
                </a:solidFill>
                <a:latin typeface="+mn-lt"/>
                <a:ea typeface="+mn-ea"/>
                <a:cs typeface="+mn-cs"/>
              </a:rPr>
              <a:t>torch.cuda.get_device_name</a:t>
            </a:r>
            <a:r>
              <a:rPr lang="ru-RU" sz="1200" b="1" i="0" kern="1200" dirty="0" smtClean="0">
                <a:solidFill>
                  <a:schemeClr val="tx1"/>
                </a:solidFill>
                <a:latin typeface="+mn-lt"/>
                <a:ea typeface="+mn-ea"/>
                <a:cs typeface="+mn-cs"/>
              </a:rPr>
              <a:t>(0)</a:t>
            </a:r>
            <a:r>
              <a:rPr lang="ru-RU" sz="1200" b="0" i="0" kern="1200" dirty="0" smtClean="0">
                <a:solidFill>
                  <a:schemeClr val="tx1"/>
                </a:solidFill>
                <a:latin typeface="+mn-lt"/>
                <a:ea typeface="+mn-ea"/>
                <a:cs typeface="+mn-cs"/>
              </a:rPr>
              <a:t> — если видеокарта доступна, эта функция возвращает её название (например, </a:t>
            </a:r>
            <a:r>
              <a:rPr lang="ru-RU" sz="1200" b="0" i="0" kern="1200" dirty="0" err="1" smtClean="0">
                <a:solidFill>
                  <a:schemeClr val="tx1"/>
                </a:solidFill>
                <a:latin typeface="+mn-lt"/>
                <a:ea typeface="+mn-ea"/>
                <a:cs typeface="+mn-cs"/>
              </a:rPr>
              <a:t>Tesla</a:t>
            </a:r>
            <a:r>
              <a:rPr lang="ru-RU" sz="1200" b="0" i="0" kern="1200" dirty="0" smtClean="0">
                <a:solidFill>
                  <a:schemeClr val="tx1"/>
                </a:solidFill>
                <a:latin typeface="+mn-lt"/>
                <a:ea typeface="+mn-ea"/>
                <a:cs typeface="+mn-cs"/>
              </a:rPr>
              <a:t> T4). Это позволяет убедиться, что среда использует выделенный ускоритель, а не встроенную графику.</a:t>
            </a:r>
          </a:p>
          <a:p>
            <a:endParaRPr lang="ru-RU" sz="1200" b="1"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
            </a:r>
            <a:br>
              <a:rPr lang="ru-RU" sz="1200" b="0" i="0" kern="1200" dirty="0" smtClean="0">
                <a:solidFill>
                  <a:schemeClr val="tx1"/>
                </a:solidFill>
                <a:latin typeface="+mn-lt"/>
                <a:ea typeface="+mn-ea"/>
                <a:cs typeface="+mn-cs"/>
              </a:rPr>
            </a:br>
            <a:r>
              <a:rPr lang="ru-RU" sz="1200" b="0" i="0" kern="1200" dirty="0" smtClean="0">
                <a:solidFill>
                  <a:schemeClr val="tx1"/>
                </a:solidFill>
                <a:latin typeface="+mn-lt"/>
                <a:ea typeface="+mn-ea"/>
                <a:cs typeface="+mn-cs"/>
              </a:rPr>
              <a:t>Обучение </a:t>
            </a:r>
            <a:r>
              <a:rPr lang="ru-RU" sz="1200" b="0" i="0" kern="1200" dirty="0" err="1" smtClean="0">
                <a:solidFill>
                  <a:schemeClr val="tx1"/>
                </a:solidFill>
                <a:latin typeface="+mn-lt"/>
                <a:ea typeface="+mn-ea"/>
                <a:cs typeface="+mn-cs"/>
              </a:rPr>
              <a:t>сверточных</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нейросетей</a:t>
            </a:r>
            <a:r>
              <a:rPr lang="ru-RU" sz="1200" b="0" i="0" kern="1200" dirty="0" smtClean="0">
                <a:solidFill>
                  <a:schemeClr val="tx1"/>
                </a:solidFill>
                <a:latin typeface="+mn-lt"/>
                <a:ea typeface="+mn-ea"/>
                <a:cs typeface="+mn-cs"/>
              </a:rPr>
              <a:t> (в том числе YOLO) требует выполнения миллионов матричных операций. Процессор (CPU) выполняет их последовательно, что занимает часы или даже дни. Видеокарта (GPU) за счет своей архитектуры выполняет тысячи операций параллельно, сокращая время обучения до нескольких минут. Поэтому наличие </a:t>
            </a:r>
            <a:r>
              <a:rPr lang="ru-RU" sz="1200" b="0" i="0" kern="1200" dirty="0" err="1" smtClean="0">
                <a:solidFill>
                  <a:schemeClr val="tx1"/>
                </a:solidFill>
                <a:latin typeface="+mn-lt"/>
                <a:ea typeface="+mn-ea"/>
                <a:cs typeface="+mn-cs"/>
              </a:rPr>
              <a:t>True</a:t>
            </a:r>
            <a:r>
              <a:rPr lang="ru-RU" sz="1200" b="0" i="0" kern="1200" dirty="0" smtClean="0">
                <a:solidFill>
                  <a:schemeClr val="tx1"/>
                </a:solidFill>
                <a:latin typeface="+mn-lt"/>
                <a:ea typeface="+mn-ea"/>
                <a:cs typeface="+mn-cs"/>
              </a:rPr>
              <a:t> в выводе является обязательным условием для комфортной работы.</a:t>
            </a:r>
          </a:p>
          <a:p>
            <a:endParaRPr lang="ru-RU" sz="1200" b="0" i="0" kern="1200" dirty="0" smtClean="0">
              <a:solidFill>
                <a:schemeClr val="tx1"/>
              </a:solidFill>
              <a:latin typeface="+mn-lt"/>
              <a:ea typeface="+mn-ea"/>
              <a:cs typeface="+mn-cs"/>
            </a:endParaRPr>
          </a:p>
          <a:p>
            <a:endParaRPr lang="ru-RU" dirty="0"/>
          </a:p>
        </p:txBody>
      </p:sp>
      <p:sp>
        <p:nvSpPr>
          <p:cNvPr id="4" name="Номер слайда 3"/>
          <p:cNvSpPr>
            <a:spLocks noGrp="1"/>
          </p:cNvSpPr>
          <p:nvPr>
            <p:ph type="sldNum" sz="quarter" idx="10"/>
          </p:nvPr>
        </p:nvSpPr>
        <p:spPr/>
        <p:txBody>
          <a:bodyPr/>
          <a:lstStyle/>
          <a:p>
            <a:fld id="{32A40295-5C2D-44F9-9666-2230E0FAA04D}" type="slidenum">
              <a:rPr lang="ru-RU" smtClean="0"/>
              <a:t>12</a:t>
            </a:fld>
            <a:endParaRPr lang="ru-R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85000" lnSpcReduction="20000"/>
          </a:bodyPr>
          <a:lstStyle/>
          <a:p>
            <a:r>
              <a:rPr lang="ru-RU" sz="1200" b="1" i="0" kern="1200" dirty="0" smtClean="0">
                <a:solidFill>
                  <a:schemeClr val="tx1"/>
                </a:solidFill>
                <a:latin typeface="+mn-lt"/>
                <a:ea typeface="+mn-ea"/>
                <a:cs typeface="+mn-cs"/>
              </a:rPr>
              <a:t>1. Импорт библиотек</a:t>
            </a:r>
            <a:endParaRPr lang="ru-RU" sz="1200" b="0" i="0" kern="1200" dirty="0" smtClean="0">
              <a:solidFill>
                <a:schemeClr val="tx1"/>
              </a:solidFill>
              <a:latin typeface="+mn-lt"/>
              <a:ea typeface="+mn-ea"/>
              <a:cs typeface="+mn-cs"/>
            </a:endParaRPr>
          </a:p>
          <a:p>
            <a:r>
              <a:rPr lang="ru-RU" sz="1200" b="0" i="0" kern="1200" dirty="0" err="1" smtClean="0">
                <a:solidFill>
                  <a:schemeClr val="tx1"/>
                </a:solidFill>
                <a:latin typeface="+mn-lt"/>
                <a:ea typeface="+mn-ea"/>
                <a:cs typeface="+mn-cs"/>
              </a:rPr>
              <a:t>from</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ultralytics</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import</a:t>
            </a:r>
            <a:r>
              <a:rPr lang="ru-RU" sz="1200" b="0" i="0" kern="1200" dirty="0" smtClean="0">
                <a:solidFill>
                  <a:schemeClr val="tx1"/>
                </a:solidFill>
                <a:latin typeface="+mn-lt"/>
                <a:ea typeface="+mn-ea"/>
                <a:cs typeface="+mn-cs"/>
              </a:rPr>
              <a:t> YOLO — импортирует основной класс для работы с архитектурой.</a:t>
            </a:r>
          </a:p>
          <a:p>
            <a:r>
              <a:rPr lang="ru-RU" sz="1200" b="0" i="0" kern="1200" dirty="0" err="1" smtClean="0">
                <a:solidFill>
                  <a:schemeClr val="tx1"/>
                </a:solidFill>
                <a:latin typeface="+mn-lt"/>
                <a:ea typeface="+mn-ea"/>
                <a:cs typeface="+mn-cs"/>
              </a:rPr>
              <a:t>import</a:t>
            </a:r>
            <a:r>
              <a:rPr lang="ru-RU" sz="1200" b="0" i="0" kern="1200" dirty="0" smtClean="0">
                <a:solidFill>
                  <a:schemeClr val="tx1"/>
                </a:solidFill>
                <a:latin typeface="+mn-lt"/>
                <a:ea typeface="+mn-ea"/>
                <a:cs typeface="+mn-cs"/>
              </a:rPr>
              <a:t> cv2 и </a:t>
            </a:r>
            <a:r>
              <a:rPr lang="ru-RU" sz="1200" b="0" i="0" kern="1200" dirty="0" err="1" smtClean="0">
                <a:solidFill>
                  <a:schemeClr val="tx1"/>
                </a:solidFill>
                <a:latin typeface="+mn-lt"/>
                <a:ea typeface="+mn-ea"/>
                <a:cs typeface="+mn-cs"/>
              </a:rPr>
              <a:t>from</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google.colab.patches</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import</a:t>
            </a:r>
            <a:r>
              <a:rPr lang="ru-RU" sz="1200" b="0" i="0" kern="1200" dirty="0" smtClean="0">
                <a:solidFill>
                  <a:schemeClr val="tx1"/>
                </a:solidFill>
                <a:latin typeface="+mn-lt"/>
                <a:ea typeface="+mn-ea"/>
                <a:cs typeface="+mn-cs"/>
              </a:rPr>
              <a:t> cv2_imshow — импортируют библиотеку компьютерного зрения </a:t>
            </a:r>
            <a:r>
              <a:rPr lang="ru-RU" sz="1200" b="0" i="0" kern="1200" dirty="0" err="1" smtClean="0">
                <a:solidFill>
                  <a:schemeClr val="tx1"/>
                </a:solidFill>
                <a:latin typeface="+mn-lt"/>
                <a:ea typeface="+mn-ea"/>
                <a:cs typeface="+mn-cs"/>
              </a:rPr>
              <a:t>OpenCV</a:t>
            </a:r>
            <a:r>
              <a:rPr lang="ru-RU" sz="1200" b="0" i="0" kern="1200" dirty="0" smtClean="0">
                <a:solidFill>
                  <a:schemeClr val="tx1"/>
                </a:solidFill>
                <a:latin typeface="+mn-lt"/>
                <a:ea typeface="+mn-ea"/>
                <a:cs typeface="+mn-cs"/>
              </a:rPr>
              <a:t> и её адаптированную версию</a:t>
            </a:r>
          </a:p>
          <a:p>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2. </a:t>
            </a:r>
            <a:r>
              <a:rPr lang="ru-RU" sz="1200" b="1" i="0" kern="1200" dirty="0" err="1" smtClean="0">
                <a:solidFill>
                  <a:schemeClr val="tx1"/>
                </a:solidFill>
                <a:latin typeface="+mn-lt"/>
                <a:ea typeface="+mn-ea"/>
                <a:cs typeface="+mn-cs"/>
              </a:rPr>
              <a:t>model</a:t>
            </a:r>
            <a:r>
              <a:rPr lang="ru-RU" sz="1200" b="1" i="0" kern="1200" dirty="0" smtClean="0">
                <a:solidFill>
                  <a:schemeClr val="tx1"/>
                </a:solidFill>
                <a:latin typeface="+mn-lt"/>
                <a:ea typeface="+mn-ea"/>
                <a:cs typeface="+mn-cs"/>
              </a:rPr>
              <a:t> = YOLO('yolov8n.pt')</a:t>
            </a:r>
            <a:r>
              <a:rPr lang="ru-RU" sz="1200" b="0" i="0" kern="1200" dirty="0" smtClean="0">
                <a:solidFill>
                  <a:schemeClr val="tx1"/>
                </a:solidFill>
                <a:latin typeface="+mn-lt"/>
                <a:ea typeface="+mn-ea"/>
                <a:cs typeface="+mn-cs"/>
              </a:rPr>
              <a:t/>
            </a:r>
            <a:br>
              <a:rPr lang="ru-RU" sz="1200" b="0" i="0" kern="1200" dirty="0" smtClean="0">
                <a:solidFill>
                  <a:schemeClr val="tx1"/>
                </a:solidFill>
                <a:latin typeface="+mn-lt"/>
                <a:ea typeface="+mn-ea"/>
                <a:cs typeface="+mn-cs"/>
              </a:rPr>
            </a:br>
            <a:r>
              <a:rPr lang="ru-RU" sz="1200" b="0" i="1" kern="1200" dirty="0" smtClean="0">
                <a:solidFill>
                  <a:schemeClr val="tx1"/>
                </a:solidFill>
                <a:latin typeface="+mn-lt"/>
                <a:ea typeface="+mn-ea"/>
                <a:cs typeface="+mn-cs"/>
              </a:rPr>
              <a:t>Что происходит «под капотом»:</a:t>
            </a:r>
            <a:r>
              <a:rPr lang="ru-RU" sz="1200" b="0" i="0" kern="1200" dirty="0" smtClean="0">
                <a:solidFill>
                  <a:schemeClr val="tx1"/>
                </a:solidFill>
                <a:latin typeface="+mn-lt"/>
                <a:ea typeface="+mn-ea"/>
                <a:cs typeface="+mn-cs"/>
              </a:rPr>
              <a:t> Если файла yolov8n.pt нет в локальной папке, библиотека </a:t>
            </a:r>
            <a:r>
              <a:rPr lang="ru-RU" sz="1200" b="0" i="0" kern="1200" dirty="0" err="1" smtClean="0">
                <a:solidFill>
                  <a:schemeClr val="tx1"/>
                </a:solidFill>
                <a:latin typeface="+mn-lt"/>
                <a:ea typeface="+mn-ea"/>
                <a:cs typeface="+mn-cs"/>
              </a:rPr>
              <a:t>Ultralytics</a:t>
            </a:r>
            <a:r>
              <a:rPr lang="ru-RU" sz="1200" b="0" i="0" kern="1200" dirty="0" smtClean="0">
                <a:solidFill>
                  <a:schemeClr val="tx1"/>
                </a:solidFill>
                <a:latin typeface="+mn-lt"/>
                <a:ea typeface="+mn-ea"/>
                <a:cs typeface="+mn-cs"/>
              </a:rPr>
              <a:t> автоматически отправляет запрос на свои серверы, скачивает веса, предварительно обученные на </a:t>
            </a:r>
            <a:r>
              <a:rPr lang="ru-RU" sz="1200" b="0" i="0" kern="1200" dirty="0" err="1" smtClean="0">
                <a:solidFill>
                  <a:schemeClr val="tx1"/>
                </a:solidFill>
                <a:latin typeface="+mn-lt"/>
                <a:ea typeface="+mn-ea"/>
                <a:cs typeface="+mn-cs"/>
              </a:rPr>
              <a:t>датасете</a:t>
            </a:r>
            <a:r>
              <a:rPr lang="ru-RU" sz="1200" b="0" i="0" kern="1200" dirty="0" smtClean="0">
                <a:solidFill>
                  <a:schemeClr val="tx1"/>
                </a:solidFill>
                <a:latin typeface="+mn-lt"/>
                <a:ea typeface="+mn-ea"/>
                <a:cs typeface="+mn-cs"/>
              </a:rPr>
              <a:t> COCO (80 классов), и кэширует их для дальнейшего использования.</a:t>
            </a:r>
          </a:p>
          <a:p>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3. Выполнение </a:t>
            </a:r>
            <a:r>
              <a:rPr lang="ru-RU" sz="1200" b="1" i="0" kern="1200" dirty="0" err="1" smtClean="0">
                <a:solidFill>
                  <a:schemeClr val="tx1"/>
                </a:solidFill>
                <a:latin typeface="+mn-lt"/>
                <a:ea typeface="+mn-ea"/>
                <a:cs typeface="+mn-cs"/>
              </a:rPr>
              <a:t>инференса</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results</a:t>
            </a:r>
            <a:r>
              <a:rPr lang="ru-RU" sz="1200" b="1" i="0" kern="1200" dirty="0" smtClean="0">
                <a:solidFill>
                  <a:schemeClr val="tx1"/>
                </a:solidFill>
                <a:latin typeface="+mn-lt"/>
                <a:ea typeface="+mn-ea"/>
                <a:cs typeface="+mn-cs"/>
              </a:rPr>
              <a:t> = </a:t>
            </a:r>
            <a:r>
              <a:rPr lang="ru-RU" sz="1200" b="1" i="0" kern="1200" dirty="0" err="1" smtClean="0">
                <a:solidFill>
                  <a:schemeClr val="tx1"/>
                </a:solidFill>
                <a:latin typeface="+mn-lt"/>
                <a:ea typeface="+mn-ea"/>
                <a:cs typeface="+mn-cs"/>
              </a:rPr>
              <a:t>model</a:t>
            </a:r>
            <a:r>
              <a:rPr lang="ru-RU" sz="1200" b="1" i="0" kern="1200" dirty="0" smtClean="0">
                <a:solidFill>
                  <a:schemeClr val="tx1"/>
                </a:solidFill>
                <a:latin typeface="+mn-lt"/>
                <a:ea typeface="+mn-ea"/>
                <a:cs typeface="+mn-cs"/>
              </a:rPr>
              <a:t>("</a:t>
            </a:r>
            <a:r>
              <a:rPr lang="ru-RU" sz="1200" b="1" i="0" kern="1200" dirty="0" err="1" smtClean="0">
                <a:solidFill>
                  <a:schemeClr val="tx1"/>
                </a:solidFill>
                <a:latin typeface="+mn-lt"/>
                <a:ea typeface="+mn-ea"/>
                <a:cs typeface="+mn-cs"/>
              </a:rPr>
              <a:t>url_картинки</a:t>
            </a:r>
            <a:r>
              <a:rPr lang="ru-RU" sz="1200" b="1" i="0" kern="1200" dirty="0" smtClean="0">
                <a:solidFill>
                  <a:schemeClr val="tx1"/>
                </a:solidFill>
                <a:latin typeface="+mn-lt"/>
                <a:ea typeface="+mn-ea"/>
                <a:cs typeface="+mn-cs"/>
              </a:rPr>
              <a:t>")</a:t>
            </a:r>
            <a:r>
              <a:rPr lang="ru-RU" sz="1200" b="0" i="0" kern="1200" dirty="0" smtClean="0">
                <a:solidFill>
                  <a:schemeClr val="tx1"/>
                </a:solidFill>
                <a:latin typeface="+mn-lt"/>
                <a:ea typeface="+mn-ea"/>
                <a:cs typeface="+mn-cs"/>
              </a:rPr>
              <a:t/>
            </a:r>
            <a:br>
              <a:rPr lang="ru-RU" sz="1200" b="0" i="0" kern="1200" dirty="0" smtClean="0">
                <a:solidFill>
                  <a:schemeClr val="tx1"/>
                </a:solidFill>
                <a:latin typeface="+mn-lt"/>
                <a:ea typeface="+mn-ea"/>
                <a:cs typeface="+mn-cs"/>
              </a:rPr>
            </a:br>
            <a:r>
              <a:rPr lang="ru-RU" sz="1200" b="0" i="0" kern="1200" dirty="0" smtClean="0">
                <a:solidFill>
                  <a:schemeClr val="tx1"/>
                </a:solidFill>
                <a:latin typeface="+mn-lt"/>
                <a:ea typeface="+mn-ea"/>
                <a:cs typeface="+mn-cs"/>
              </a:rPr>
              <a:t>Библиотека </a:t>
            </a:r>
            <a:r>
              <a:rPr lang="ru-RU" sz="1200" b="0" i="0" kern="1200" dirty="0" err="1" smtClean="0">
                <a:solidFill>
                  <a:schemeClr val="tx1"/>
                </a:solidFill>
                <a:latin typeface="+mn-lt"/>
                <a:ea typeface="+mn-ea"/>
                <a:cs typeface="+mn-cs"/>
              </a:rPr>
              <a:t>Ultralytics</a:t>
            </a:r>
            <a:r>
              <a:rPr lang="ru-RU" sz="1200" b="0" i="0" kern="1200" dirty="0" smtClean="0">
                <a:solidFill>
                  <a:schemeClr val="tx1"/>
                </a:solidFill>
                <a:latin typeface="+mn-lt"/>
                <a:ea typeface="+mn-ea"/>
                <a:cs typeface="+mn-cs"/>
              </a:rPr>
              <a:t> предоставляет удобный интерфейс: мы можем передать в модель не только путь к локальному файлу, но и прямую ссылку (URL) из интернета.</a:t>
            </a:r>
            <a:br>
              <a:rPr lang="ru-RU" sz="1200" b="0" i="0" kern="1200" dirty="0" smtClean="0">
                <a:solidFill>
                  <a:schemeClr val="tx1"/>
                </a:solidFill>
                <a:latin typeface="+mn-lt"/>
                <a:ea typeface="+mn-ea"/>
                <a:cs typeface="+mn-cs"/>
              </a:rPr>
            </a:br>
            <a:r>
              <a:rPr lang="ru-RU" sz="1200" b="0" i="0" kern="1200" dirty="0" smtClean="0">
                <a:solidFill>
                  <a:schemeClr val="tx1"/>
                </a:solidFill>
                <a:latin typeface="+mn-lt"/>
                <a:ea typeface="+mn-ea"/>
                <a:cs typeface="+mn-cs"/>
              </a:rPr>
              <a:t>Библиотека самостоятельно выполнит цепочку действий:</a:t>
            </a:r>
          </a:p>
          <a:p>
            <a:r>
              <a:rPr lang="ru-RU" sz="1200" b="0" i="0" kern="1200" dirty="0" smtClean="0">
                <a:solidFill>
                  <a:schemeClr val="tx1"/>
                </a:solidFill>
                <a:latin typeface="+mn-lt"/>
                <a:ea typeface="+mn-ea"/>
                <a:cs typeface="+mn-cs"/>
              </a:rPr>
              <a:t>Скачает изображение по ссылке.</a:t>
            </a:r>
          </a:p>
          <a:p>
            <a:r>
              <a:rPr lang="ru-RU" sz="1200" b="0" i="0" kern="1200" dirty="0" smtClean="0">
                <a:solidFill>
                  <a:schemeClr val="tx1"/>
                </a:solidFill>
                <a:latin typeface="+mn-lt"/>
                <a:ea typeface="+mn-ea"/>
                <a:cs typeface="+mn-cs"/>
              </a:rPr>
              <a:t>Изменит его размер до необходимого (обычно 640×640 пикселей).</a:t>
            </a:r>
          </a:p>
          <a:p>
            <a:r>
              <a:rPr lang="ru-RU" sz="1200" b="0" i="0" kern="1200" dirty="0" smtClean="0">
                <a:solidFill>
                  <a:schemeClr val="tx1"/>
                </a:solidFill>
                <a:latin typeface="+mn-lt"/>
                <a:ea typeface="+mn-ea"/>
                <a:cs typeface="+mn-cs"/>
              </a:rPr>
              <a:t>Нормализует значения пикселей.</a:t>
            </a:r>
          </a:p>
          <a:p>
            <a:r>
              <a:rPr lang="ru-RU" sz="1200" b="0" i="0" kern="1200" dirty="0" smtClean="0">
                <a:solidFill>
                  <a:schemeClr val="tx1"/>
                </a:solidFill>
                <a:latin typeface="+mn-lt"/>
                <a:ea typeface="+mn-ea"/>
                <a:cs typeface="+mn-cs"/>
              </a:rPr>
              <a:t>Пропустит изображение через </a:t>
            </a:r>
            <a:r>
              <a:rPr lang="ru-RU" sz="1200" b="0" i="0" kern="1200" dirty="0" err="1" smtClean="0">
                <a:solidFill>
                  <a:schemeClr val="tx1"/>
                </a:solidFill>
                <a:latin typeface="+mn-lt"/>
                <a:ea typeface="+mn-ea"/>
                <a:cs typeface="+mn-cs"/>
              </a:rPr>
              <a:t>нейросеть</a:t>
            </a:r>
            <a:r>
              <a:rPr lang="ru-RU" sz="1200" b="0" i="0" kern="1200" dirty="0" smtClean="0">
                <a:solidFill>
                  <a:schemeClr val="tx1"/>
                </a:solidFill>
                <a:latin typeface="+mn-lt"/>
                <a:ea typeface="+mn-ea"/>
                <a:cs typeface="+mn-cs"/>
              </a:rPr>
              <a:t> (прямой проход).</a:t>
            </a:r>
          </a:p>
          <a:p>
            <a:r>
              <a:rPr lang="ru-RU" sz="1200" b="0" i="0" kern="1200" dirty="0" smtClean="0">
                <a:solidFill>
                  <a:schemeClr val="tx1"/>
                </a:solidFill>
                <a:latin typeface="+mn-lt"/>
                <a:ea typeface="+mn-ea"/>
                <a:cs typeface="+mn-cs"/>
              </a:rPr>
              <a:t>Сохранит все найденные рамки, классы и вероятности в объект </a:t>
            </a:r>
            <a:r>
              <a:rPr lang="ru-RU" sz="1200" b="0" i="0" kern="1200" dirty="0" err="1" smtClean="0">
                <a:solidFill>
                  <a:schemeClr val="tx1"/>
                </a:solidFill>
                <a:latin typeface="+mn-lt"/>
                <a:ea typeface="+mn-ea"/>
                <a:cs typeface="+mn-cs"/>
              </a:rPr>
              <a:t>results</a:t>
            </a:r>
            <a:r>
              <a:rPr lang="ru-RU" sz="1200" b="0" i="0" kern="1200" dirty="0" smtClean="0">
                <a:solidFill>
                  <a:schemeClr val="tx1"/>
                </a:solidFill>
                <a:latin typeface="+mn-lt"/>
                <a:ea typeface="+mn-ea"/>
                <a:cs typeface="+mn-cs"/>
              </a:rPr>
              <a:t>.</a:t>
            </a:r>
          </a:p>
          <a:p>
            <a:endParaRPr lang="ru-RU" dirty="0"/>
          </a:p>
        </p:txBody>
      </p:sp>
      <p:sp>
        <p:nvSpPr>
          <p:cNvPr id="4" name="Номер слайда 3"/>
          <p:cNvSpPr>
            <a:spLocks noGrp="1"/>
          </p:cNvSpPr>
          <p:nvPr>
            <p:ph type="sldNum" sz="quarter" idx="10"/>
          </p:nvPr>
        </p:nvSpPr>
        <p:spPr/>
        <p:txBody>
          <a:bodyPr/>
          <a:lstStyle/>
          <a:p>
            <a:fld id="{32A40295-5C2D-44F9-9666-2230E0FAA04D}" type="slidenum">
              <a:rPr lang="ru-RU" smtClean="0"/>
              <a:t>14</a:t>
            </a:fld>
            <a:endParaRPr lang="ru-R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EAF463A-BC7C-46EE-9F1E-7F377CCA4891}"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AF463A-BC7C-46EE-9F1E-7F377CCA4891}"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EAF463A-BC7C-46EE-9F1E-7F377CCA4891}"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EAF463A-BC7C-46EE-9F1E-7F377CCA4891}" type="datetimeFigureOut">
              <a:rPr lang="en-US" smtClean="0"/>
              <a:pPr/>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EAF463A-BC7C-46EE-9F1E-7F377CCA4891}" type="datetimeFigureOut">
              <a:rPr lang="en-US" smtClean="0"/>
              <a:pPr/>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EAF463A-BC7C-46EE-9F1E-7F377CCA4891}" type="datetimeFigureOut">
              <a:rPr lang="en-US" smtClean="0"/>
              <a:pPr/>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AF463A-BC7C-46EE-9F1E-7F377CCA4891}" type="datetimeFigureOut">
              <a:rPr lang="en-US" smtClean="0"/>
              <a:pPr/>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EAF463A-BC7C-46EE-9F1E-7F377CCA4891}" type="datetimeFigureOut">
              <a:rPr lang="en-US" smtClean="0"/>
              <a:pPr/>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EAF463A-BC7C-46EE-9F1E-7F377CCA4891}" type="datetimeFigureOut">
              <a:rPr lang="en-US" smtClean="0"/>
              <a:pPr/>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AF463A-BC7C-46EE-9F1E-7F377CCA4891}"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add title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AF463A-BC7C-46EE-9F1E-7F377CCA4891}"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3448D-3A78-4528-A469-B745A65DA4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AF463A-BC7C-46EE-9F1E-7F377CCA4891}" type="datetimeFigureOut">
              <a:rPr lang="en-US" smtClean="0"/>
              <a:pPr/>
              <a:t>10/29/2026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83448D-3A78-4528-A469-B745A65DA4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latinLnBrk="0">
        <a:spcBef>
          <a:spcPct val="0"/>
        </a:spcBef>
        <a:buNone/>
        <a:defRPr sz="4400" kern="1200">
          <a:solidFill>
            <a:schemeClr val="tx1"/>
          </a:solidFill>
          <a:latin typeface="+mj-lt"/>
          <a:ea typeface="+mj-ea"/>
          <a:cs typeface="+mj-cs"/>
        </a:defRPr>
      </a:lvl1pPr>
    </p:titleStyle>
    <p:bodyStyle>
      <a:lvl1pPr marL="342900" indent="-342900" algn="l" defTabSz="914400" rtl="0" latinLnBrk="0">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latinLnBrk="0">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latinLnBrk="0">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latinLnBrk="0">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latinLnBrk="0">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latinLnBrk="0">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latinLnBrk="0">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latinLnBrk="0">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latinLnBrk="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latinLnBrk="0">
        <a:defRPr sz="1800" kern="1200">
          <a:solidFill>
            <a:schemeClr val="tx1"/>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304800"/>
            <a:ext cx="7772400" cy="1470025"/>
          </a:xfrm>
        </p:spPr>
        <p:txBody>
          <a:bodyPr>
            <a:normAutofit/>
          </a:bodyPr>
          <a:lstStyle/>
          <a:p>
            <a:r>
              <a:rPr lang="ru-RU" dirty="0" err="1" smtClean="0">
                <a:latin typeface="Cascadia Mono Light" pitchFamily="49" charset="0"/>
                <a:cs typeface="Cascadia Mono Light" pitchFamily="49" charset="0"/>
              </a:rPr>
              <a:t>Детекция</a:t>
            </a:r>
            <a:r>
              <a:rPr lang="ru-RU" dirty="0" smtClean="0">
                <a:latin typeface="Cascadia Mono Light" pitchFamily="49" charset="0"/>
                <a:cs typeface="Cascadia Mono Light" pitchFamily="49" charset="0"/>
              </a:rPr>
              <a:t> объектов с </a:t>
            </a:r>
            <a:r>
              <a:rPr lang="en-US" dirty="0" smtClean="0">
                <a:latin typeface="Cascadia Mono Light" pitchFamily="49" charset="0"/>
                <a:cs typeface="Cascadia Mono Light" pitchFamily="49" charset="0"/>
              </a:rPr>
              <a:t>YOLO</a:t>
            </a:r>
            <a:endParaRPr lang="ru-RU" dirty="0">
              <a:latin typeface="Cascadia Mono Light" pitchFamily="49" charset="0"/>
              <a:cs typeface="Cascadia Mono Light" pitchFamily="49" charset="0"/>
            </a:endParaRPr>
          </a:p>
        </p:txBody>
      </p:sp>
      <p:sp>
        <p:nvSpPr>
          <p:cNvPr id="3" name="Подзаголовок 2"/>
          <p:cNvSpPr>
            <a:spLocks noGrp="1"/>
          </p:cNvSpPr>
          <p:nvPr>
            <p:ph type="subTitle" idx="1"/>
          </p:nvPr>
        </p:nvSpPr>
        <p:spPr>
          <a:xfrm>
            <a:off x="4648200" y="5943600"/>
            <a:ext cx="5181600" cy="914400"/>
          </a:xfrm>
        </p:spPr>
        <p:txBody>
          <a:bodyPr>
            <a:normAutofit fontScale="40000" lnSpcReduction="20000"/>
          </a:bodyPr>
          <a:lstStyle/>
          <a:p>
            <a:r>
              <a:rPr lang="ru-RU" dirty="0" smtClean="0">
                <a:latin typeface="Cascadia Code SemiLight" pitchFamily="49" charset="0"/>
                <a:cs typeface="Cascadia Code SemiLight" pitchFamily="49" charset="0"/>
              </a:rPr>
              <a:t>Мастерские МИЦ. 10 сезон</a:t>
            </a:r>
          </a:p>
          <a:p>
            <a:r>
              <a:rPr lang="ru-RU" dirty="0" smtClean="0">
                <a:latin typeface="Cascadia Code SemiLight" pitchFamily="49" charset="0"/>
                <a:cs typeface="Cascadia Code SemiLight" pitchFamily="49" charset="0"/>
              </a:rPr>
              <a:t>Основы машинного обучения</a:t>
            </a:r>
          </a:p>
          <a:p>
            <a:r>
              <a:rPr lang="ru-RU" dirty="0" smtClean="0">
                <a:latin typeface="Cascadia Code SemiLight" pitchFamily="49" charset="0"/>
                <a:cs typeface="Cascadia Code SemiLight" pitchFamily="49" charset="0"/>
              </a:rPr>
              <a:t>Занятие </a:t>
            </a:r>
            <a:r>
              <a:rPr lang="en-US" dirty="0" smtClean="0">
                <a:latin typeface="Cascadia Code SemiLight" pitchFamily="49" charset="0"/>
                <a:cs typeface="Cascadia Code SemiLight" pitchFamily="49" charset="0"/>
              </a:rPr>
              <a:t>6</a:t>
            </a:r>
            <a:endParaRPr lang="ru-RU" dirty="0" smtClean="0">
              <a:latin typeface="Cascadia Code SemiLight" pitchFamily="49" charset="0"/>
              <a:cs typeface="Cascadia Code SemiLight" pitchFamily="49" charset="0"/>
            </a:endParaRPr>
          </a:p>
          <a:p>
            <a:r>
              <a:rPr lang="ru-RU" dirty="0" smtClean="0">
                <a:latin typeface="Cascadia Code SemiLight" pitchFamily="49" charset="0"/>
                <a:cs typeface="Cascadia Code SemiLight" pitchFamily="49" charset="0"/>
              </a:rPr>
              <a:t>Пономаренко Вера</a:t>
            </a:r>
          </a:p>
          <a:p>
            <a:endParaRPr lang="ru-RU" dirty="0" smtClean="0"/>
          </a:p>
          <a:p>
            <a:endParaRPr lang="ru-RU" dirty="0" smtClean="0"/>
          </a:p>
          <a:p>
            <a:endParaRPr lang="ru-RU" dirty="0"/>
          </a:p>
        </p:txBody>
      </p:sp>
      <p:pic>
        <p:nvPicPr>
          <p:cNvPr id="6146" name="Picture 2"/>
          <p:cNvPicPr>
            <a:picLocks noChangeAspect="1" noChangeArrowheads="1"/>
          </p:cNvPicPr>
          <p:nvPr/>
        </p:nvPicPr>
        <p:blipFill>
          <a:blip r:embed="rId2" cstate="print"/>
          <a:srcRect/>
          <a:stretch>
            <a:fillRect/>
          </a:stretch>
        </p:blipFill>
        <p:spPr bwMode="auto">
          <a:xfrm>
            <a:off x="533400" y="1752600"/>
            <a:ext cx="4952999" cy="4953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latin typeface="Cascadia Code ExtraLight" pitchFamily="49" charset="0"/>
                <a:cs typeface="Cascadia Code ExtraLight" pitchFamily="49" charset="0"/>
              </a:rPr>
              <a:t>План занятия</a:t>
            </a:r>
            <a:endParaRPr lang="ru-RU" dirty="0"/>
          </a:p>
        </p:txBody>
      </p:sp>
      <p:sp>
        <p:nvSpPr>
          <p:cNvPr id="3" name="Содержимое 2"/>
          <p:cNvSpPr>
            <a:spLocks noGrp="1"/>
          </p:cNvSpPr>
          <p:nvPr>
            <p:ph idx="1"/>
          </p:nvPr>
        </p:nvSpPr>
        <p:spPr>
          <a:xfrm>
            <a:off x="6400800" y="2438400"/>
            <a:ext cx="2667000" cy="3276600"/>
          </a:xfrm>
        </p:spPr>
        <p:txBody>
          <a:bodyPr>
            <a:normAutofit fontScale="70000" lnSpcReduction="20000"/>
          </a:bodyPr>
          <a:lstStyle/>
          <a:p>
            <a:r>
              <a:rPr lang="ru-RU" dirty="0" smtClean="0">
                <a:latin typeface="Cascadia Mono Light" pitchFamily="49" charset="0"/>
                <a:cs typeface="Cascadia Mono Light" pitchFamily="49" charset="0"/>
              </a:rPr>
              <a:t>Что? Где?</a:t>
            </a:r>
          </a:p>
          <a:p>
            <a:r>
              <a:rPr lang="ru-RU" dirty="0" smtClean="0">
                <a:latin typeface="Cascadia Mono Light" pitchFamily="49" charset="0"/>
                <a:cs typeface="Cascadia Mono Light" pitchFamily="49" charset="0"/>
              </a:rPr>
              <a:t>Что такое </a:t>
            </a:r>
            <a:r>
              <a:rPr lang="en-US" dirty="0" smtClean="0">
                <a:latin typeface="Cascadia Mono Light" pitchFamily="49" charset="0"/>
                <a:cs typeface="Cascadia Mono Light" pitchFamily="49" charset="0"/>
              </a:rPr>
              <a:t>YOLO </a:t>
            </a:r>
            <a:r>
              <a:rPr lang="ru-RU" dirty="0" smtClean="0">
                <a:latin typeface="Cascadia Mono Light" pitchFamily="49" charset="0"/>
                <a:cs typeface="Cascadia Mono Light" pitchFamily="49" charset="0"/>
              </a:rPr>
              <a:t>и с чем его едят</a:t>
            </a:r>
          </a:p>
          <a:p>
            <a:r>
              <a:rPr lang="ru-RU" dirty="0" smtClean="0">
                <a:latin typeface="Cascadia Mono Light" pitchFamily="49" charset="0"/>
                <a:cs typeface="Cascadia Mono Light" pitchFamily="49" charset="0"/>
              </a:rPr>
              <a:t>В мире диких животных, сообразим на четверых</a:t>
            </a:r>
            <a:endParaRPr lang="ru-RU" dirty="0">
              <a:latin typeface="Cascadia Mono Light" pitchFamily="49" charset="0"/>
              <a:cs typeface="Cascadia Mono Light" pitchFamily="49" charset="0"/>
            </a:endParaRPr>
          </a:p>
        </p:txBody>
      </p:sp>
      <p:sp>
        <p:nvSpPr>
          <p:cNvPr id="5122" name="AutoShape 2" descr="blob:https://web.telegram.org/92e0f563-bfc4-4925-8fb4-5d9727c67927"/>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124" name="AutoShape 4" descr="blob:https://web.telegram.org/92e0f563-bfc4-4925-8fb4-5d9727c67927"/>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126" name="AutoShape 6" descr="blob:https://web.telegram.org/92e0f563-bfc4-4925-8fb4-5d9727c67927"/>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128" name="AutoShape 8" descr="blob:https://web.telegram.org/92e0f563-bfc4-4925-8fb4-5d9727c67927"/>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5129" name="Picture 9"/>
          <p:cNvPicPr>
            <a:picLocks noChangeAspect="1" noChangeArrowheads="1"/>
          </p:cNvPicPr>
          <p:nvPr/>
        </p:nvPicPr>
        <p:blipFill>
          <a:blip r:embed="rId2" cstate="print"/>
          <a:srcRect/>
          <a:stretch>
            <a:fillRect/>
          </a:stretch>
        </p:blipFill>
        <p:spPr bwMode="auto">
          <a:xfrm>
            <a:off x="381000" y="1752600"/>
            <a:ext cx="5943600" cy="443898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latin typeface="Cascadia Code Light" pitchFamily="49" charset="0"/>
                <a:cs typeface="Cascadia Code Light" pitchFamily="49" charset="0"/>
              </a:rPr>
              <a:t>Задача </a:t>
            </a:r>
            <a:r>
              <a:rPr lang="ru-RU" dirty="0" err="1" smtClean="0">
                <a:latin typeface="Cascadia Code Light" pitchFamily="49" charset="0"/>
                <a:cs typeface="Cascadia Code Light" pitchFamily="49" charset="0"/>
              </a:rPr>
              <a:t>детекции</a:t>
            </a:r>
            <a:endParaRPr lang="ru-RU" dirty="0">
              <a:latin typeface="Cascadia Code Light" pitchFamily="49" charset="0"/>
              <a:cs typeface="Cascadia Code Light" pitchFamily="49" charset="0"/>
            </a:endParaRPr>
          </a:p>
        </p:txBody>
      </p:sp>
      <p:sp>
        <p:nvSpPr>
          <p:cNvPr id="3" name="Содержимое 2"/>
          <p:cNvSpPr>
            <a:spLocks noGrp="1"/>
          </p:cNvSpPr>
          <p:nvPr>
            <p:ph idx="1"/>
          </p:nvPr>
        </p:nvSpPr>
        <p:spPr/>
        <p:txBody>
          <a:bodyPr/>
          <a:lstStyle/>
          <a:p>
            <a:endParaRPr lang="ru-RU" dirty="0"/>
          </a:p>
        </p:txBody>
      </p:sp>
      <p:pic>
        <p:nvPicPr>
          <p:cNvPr id="4098" name="Picture 2" descr="Методы распознавания образов: от простых до сложных"/>
          <p:cNvPicPr>
            <a:picLocks noChangeAspect="1" noChangeArrowheads="1"/>
          </p:cNvPicPr>
          <p:nvPr/>
        </p:nvPicPr>
        <p:blipFill>
          <a:blip r:embed="rId3" cstate="print"/>
          <a:srcRect/>
          <a:stretch>
            <a:fillRect/>
          </a:stretch>
        </p:blipFill>
        <p:spPr bwMode="auto">
          <a:xfrm>
            <a:off x="-228600" y="1828800"/>
            <a:ext cx="9753600" cy="468630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smtClean="0">
                <a:latin typeface="Cascadia Code Light" pitchFamily="49" charset="0"/>
                <a:cs typeface="Cascadia Code Light" pitchFamily="49" charset="0"/>
              </a:rPr>
              <a:t>YOLO: Один взгляд на картинку</a:t>
            </a:r>
            <a:endParaRPr lang="ru-RU" dirty="0"/>
          </a:p>
        </p:txBody>
      </p:sp>
      <p:sp>
        <p:nvSpPr>
          <p:cNvPr id="3" name="Содержимое 2"/>
          <p:cNvSpPr>
            <a:spLocks noGrp="1"/>
          </p:cNvSpPr>
          <p:nvPr>
            <p:ph idx="1"/>
          </p:nvPr>
        </p:nvSpPr>
        <p:spPr>
          <a:xfrm>
            <a:off x="5257800" y="1676400"/>
            <a:ext cx="3886200" cy="5105400"/>
          </a:xfrm>
        </p:spPr>
        <p:txBody>
          <a:bodyPr>
            <a:normAutofit fontScale="70000" lnSpcReduction="20000"/>
          </a:bodyPr>
          <a:lstStyle/>
          <a:p>
            <a:r>
              <a:rPr lang="en-US" dirty="0" smtClean="0">
                <a:latin typeface="Cascadia Code Light" pitchFamily="49" charset="0"/>
                <a:cs typeface="Cascadia Code Light" pitchFamily="49" charset="0"/>
              </a:rPr>
              <a:t>You Only Look Once</a:t>
            </a:r>
          </a:p>
          <a:p>
            <a:r>
              <a:rPr lang="ru-RU" dirty="0" smtClean="0">
                <a:latin typeface="Cascadia Code Light" pitchFamily="49" charset="0"/>
                <a:cs typeface="Cascadia Code Light" pitchFamily="49" charset="0"/>
              </a:rPr>
              <a:t>В старых сетях первый проход —</a:t>
            </a:r>
            <a:r>
              <a:rPr lang="en-US" dirty="0" smtClean="0">
                <a:latin typeface="Cascadia Code Light" pitchFamily="49" charset="0"/>
                <a:cs typeface="Cascadia Code Light" pitchFamily="49" charset="0"/>
              </a:rPr>
              <a:t> </a:t>
            </a:r>
            <a:r>
              <a:rPr lang="ru-RU" b="1" dirty="0" smtClean="0">
                <a:latin typeface="Cascadia Code Light" pitchFamily="49" charset="0"/>
                <a:cs typeface="Cascadia Code Light" pitchFamily="49" charset="0"/>
              </a:rPr>
              <a:t>поиск "подозрительных мест"</a:t>
            </a:r>
            <a:r>
              <a:rPr lang="ru-RU" dirty="0" smtClean="0">
                <a:latin typeface="Cascadia Code Light" pitchFamily="49" charset="0"/>
                <a:cs typeface="Cascadia Code Light" pitchFamily="49" charset="0"/>
              </a:rPr>
              <a:t>. На втором проходе она уже смотрит на этот кусок и говорит: </a:t>
            </a:r>
            <a:r>
              <a:rPr lang="ru-RU" i="1" dirty="0" smtClean="0">
                <a:latin typeface="Cascadia Code Light" pitchFamily="49" charset="0"/>
                <a:cs typeface="Cascadia Code Light" pitchFamily="49" charset="0"/>
              </a:rPr>
              <a:t>"Ага, это зебра"</a:t>
            </a:r>
            <a:r>
              <a:rPr lang="ru-RU" dirty="0" smtClean="0">
                <a:latin typeface="Cascadia Code Light" pitchFamily="49" charset="0"/>
                <a:cs typeface="Cascadia Code Light" pitchFamily="49" charset="0"/>
              </a:rPr>
              <a:t>.</a:t>
            </a:r>
          </a:p>
          <a:p>
            <a:r>
              <a:rPr lang="ru-RU" dirty="0" smtClean="0">
                <a:latin typeface="Cascadia Code Light" pitchFamily="49" charset="0"/>
                <a:cs typeface="Cascadia Code Light" pitchFamily="49" charset="0"/>
              </a:rPr>
              <a:t>В YOLO нет этапа "поиска подозрительных мест". Сеть смотрит на карту признаков и </a:t>
            </a:r>
            <a:r>
              <a:rPr lang="ru-RU" b="1" dirty="0" smtClean="0">
                <a:latin typeface="Cascadia Code Light" pitchFamily="49" charset="0"/>
                <a:cs typeface="Cascadia Code Light" pitchFamily="49" charset="0"/>
              </a:rPr>
              <a:t>сразу предсказывает</a:t>
            </a:r>
            <a:endParaRPr lang="ru-RU" dirty="0" smtClean="0">
              <a:latin typeface="Cascadia Code Light" pitchFamily="49" charset="0"/>
              <a:cs typeface="Cascadia Code Light" pitchFamily="49" charset="0"/>
            </a:endParaRPr>
          </a:p>
          <a:p>
            <a:endParaRPr lang="ru-RU" dirty="0">
              <a:latin typeface="Cascadia Code Light" pitchFamily="49" charset="0"/>
              <a:cs typeface="Cascadia Code Light" pitchFamily="49" charset="0"/>
            </a:endParaRPr>
          </a:p>
        </p:txBody>
      </p:sp>
      <p:pic>
        <p:nvPicPr>
          <p:cNvPr id="24577" name="Picture 1"/>
          <p:cNvPicPr>
            <a:picLocks noChangeAspect="1" noChangeArrowheads="1"/>
          </p:cNvPicPr>
          <p:nvPr/>
        </p:nvPicPr>
        <p:blipFill>
          <a:blip r:embed="rId3" cstate="print"/>
          <a:srcRect/>
          <a:stretch>
            <a:fillRect/>
          </a:stretch>
        </p:blipFill>
        <p:spPr bwMode="auto">
          <a:xfrm>
            <a:off x="381000" y="1752600"/>
            <a:ext cx="4683488" cy="38258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en-US" sz="3600" b="1" dirty="0" smtClean="0">
                <a:latin typeface="Cascadia Code Light" pitchFamily="49" charset="0"/>
                <a:cs typeface="Cascadia Code Light" pitchFamily="49" charset="0"/>
              </a:rPr>
              <a:t>Target Assignment</a:t>
            </a:r>
            <a:r>
              <a:rPr lang="en-US" sz="3600" dirty="0" smtClean="0">
                <a:latin typeface="Cascadia Code Light" pitchFamily="49" charset="0"/>
                <a:cs typeface="Cascadia Code Light" pitchFamily="49" charset="0"/>
              </a:rPr>
              <a:t> (</a:t>
            </a:r>
            <a:r>
              <a:rPr lang="ru-RU" sz="3600" dirty="0" smtClean="0">
                <a:latin typeface="Cascadia Code Light" pitchFamily="49" charset="0"/>
                <a:cs typeface="Cascadia Code Light" pitchFamily="49" charset="0"/>
              </a:rPr>
              <a:t>Назначение целей).</a:t>
            </a:r>
            <a:endParaRPr lang="ru-RU" sz="3600" dirty="0">
              <a:latin typeface="Cascadia Code Light" pitchFamily="49" charset="0"/>
              <a:cs typeface="Cascadia Code Light" pitchFamily="49" charset="0"/>
            </a:endParaRPr>
          </a:p>
        </p:txBody>
      </p:sp>
      <p:sp>
        <p:nvSpPr>
          <p:cNvPr id="3" name="Содержимое 2"/>
          <p:cNvSpPr>
            <a:spLocks noGrp="1"/>
          </p:cNvSpPr>
          <p:nvPr>
            <p:ph idx="1"/>
          </p:nvPr>
        </p:nvSpPr>
        <p:spPr>
          <a:xfrm>
            <a:off x="1066800" y="5105400"/>
            <a:ext cx="7620000" cy="1752600"/>
          </a:xfrm>
        </p:spPr>
        <p:txBody>
          <a:bodyPr>
            <a:normAutofit fontScale="55000" lnSpcReduction="20000"/>
          </a:bodyPr>
          <a:lstStyle/>
          <a:p>
            <a:r>
              <a:rPr lang="ru-RU" b="1" dirty="0" smtClean="0">
                <a:latin typeface="Cascadia Code Light" pitchFamily="49" charset="0"/>
                <a:cs typeface="Cascadia Code Light" pitchFamily="49" charset="0"/>
              </a:rPr>
              <a:t>Взгляд через сетку (</a:t>
            </a:r>
            <a:r>
              <a:rPr lang="ru-RU" b="1" dirty="0" err="1" smtClean="0">
                <a:latin typeface="Cascadia Code Light" pitchFamily="49" charset="0"/>
                <a:cs typeface="Cascadia Code Light" pitchFamily="49" charset="0"/>
              </a:rPr>
              <a:t>Grid</a:t>
            </a:r>
            <a:r>
              <a:rPr lang="ru-RU" b="1" dirty="0" smtClean="0">
                <a:latin typeface="Cascadia Code Light" pitchFamily="49" charset="0"/>
                <a:cs typeface="Cascadia Code Light" pitchFamily="49" charset="0"/>
              </a:rPr>
              <a:t>)</a:t>
            </a:r>
            <a:r>
              <a:rPr lang="ru-RU" dirty="0" smtClean="0">
                <a:latin typeface="Cascadia Code Light" pitchFamily="49" charset="0"/>
                <a:cs typeface="Cascadia Code Light" pitchFamily="49" charset="0"/>
              </a:rPr>
              <a:t> разбивает картинку на сетку </a:t>
            </a:r>
          </a:p>
          <a:p>
            <a:r>
              <a:rPr lang="ru-RU" dirty="0" smtClean="0">
                <a:latin typeface="Cascadia Code Light" pitchFamily="49" charset="0"/>
                <a:cs typeface="Cascadia Code Light" pitchFamily="49" charset="0"/>
              </a:rPr>
              <a:t>Каждая ячейка — это «наблюдатель», который смотрит строго на свой кусочек изображения. Если </a:t>
            </a:r>
            <a:r>
              <a:rPr lang="ru-RU" b="1" dirty="0" smtClean="0">
                <a:latin typeface="Cascadia Code Light" pitchFamily="49" charset="0"/>
                <a:cs typeface="Cascadia Code Light" pitchFamily="49" charset="0"/>
              </a:rPr>
              <a:t>центр</a:t>
            </a:r>
            <a:r>
              <a:rPr lang="ru-RU" dirty="0" smtClean="0">
                <a:latin typeface="Cascadia Code Light" pitchFamily="49" charset="0"/>
                <a:cs typeface="Cascadia Code Light" pitchFamily="49" charset="0"/>
              </a:rPr>
              <a:t> объекта попадает внутрь конкретной ячейки, то именно эта ячейка берет на себя ответственность за предсказание всего объекта.</a:t>
            </a:r>
          </a:p>
          <a:p>
            <a:endParaRPr lang="ru-RU" dirty="0">
              <a:latin typeface="Cascadia Code Light" pitchFamily="49" charset="0"/>
              <a:cs typeface="Cascadia Code Light" pitchFamily="49" charset="0"/>
            </a:endParaRPr>
          </a:p>
        </p:txBody>
      </p:sp>
      <p:pic>
        <p:nvPicPr>
          <p:cNvPr id="3074" name="Picture 2" descr="Computer Vision: YOLO: Grid Cells and Anchor boxes | by Ayush Yajnik |  Medium"/>
          <p:cNvPicPr>
            <a:picLocks noChangeAspect="1" noChangeArrowheads="1"/>
          </p:cNvPicPr>
          <p:nvPr/>
        </p:nvPicPr>
        <p:blipFill>
          <a:blip r:embed="rId3" cstate="print"/>
          <a:srcRect/>
          <a:stretch>
            <a:fillRect/>
          </a:stretch>
        </p:blipFill>
        <p:spPr bwMode="auto">
          <a:xfrm>
            <a:off x="304800" y="1295400"/>
            <a:ext cx="8503920" cy="381000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533400" y="457199"/>
            <a:ext cx="8077200" cy="2438401"/>
          </a:xfrm>
        </p:spPr>
        <p:txBody>
          <a:bodyPr>
            <a:normAutofit fontScale="40000" lnSpcReduction="20000"/>
          </a:bodyPr>
          <a:lstStyle/>
          <a:p>
            <a:r>
              <a:rPr lang="ru-RU" dirty="0" smtClean="0">
                <a:latin typeface="Cascadia Code Light" pitchFamily="49" charset="0"/>
                <a:cs typeface="Cascadia Code Light" pitchFamily="49" charset="0"/>
              </a:rPr>
              <a:t>Во время обучения каждая ячейка на карте признаков делает свой прогноз: где находится объект и что это за класс. </a:t>
            </a:r>
          </a:p>
          <a:p>
            <a:r>
              <a:rPr lang="ru-RU" dirty="0" smtClean="0">
                <a:latin typeface="Cascadia Code Light" pitchFamily="49" charset="0"/>
                <a:cs typeface="Cascadia Code Light" pitchFamily="49" charset="0"/>
              </a:rPr>
              <a:t>Механизм «назначения ответственности».</a:t>
            </a:r>
          </a:p>
          <a:p>
            <a:r>
              <a:rPr lang="ru-RU" dirty="0" smtClean="0">
                <a:latin typeface="Cascadia Code Light" pitchFamily="49" charset="0"/>
                <a:cs typeface="Cascadia Code Light" pitchFamily="49" charset="0"/>
              </a:rPr>
              <a:t>Мы берем точный центр объекта из правильного ответа, смотрим, в какую конкретную ячейку он попал, и назначаем её «ответственной» за этот объект. </a:t>
            </a:r>
          </a:p>
          <a:p>
            <a:r>
              <a:rPr lang="ru-RU" dirty="0" smtClean="0">
                <a:latin typeface="Cascadia Code Light" pitchFamily="49" charset="0"/>
                <a:cs typeface="Cascadia Code Light" pitchFamily="49" charset="0"/>
              </a:rPr>
              <a:t>Только для этой избранной ячейки мы сравниваем её предсказанные координаты с реальными и вычисляем штраф (</a:t>
            </a:r>
            <a:r>
              <a:rPr lang="ru-RU" dirty="0" err="1" smtClean="0">
                <a:latin typeface="Cascadia Code Light" pitchFamily="49" charset="0"/>
                <a:cs typeface="Cascadia Code Light" pitchFamily="49" charset="0"/>
              </a:rPr>
              <a:t>Loss</a:t>
            </a:r>
            <a:r>
              <a:rPr lang="ru-RU" dirty="0" smtClean="0">
                <a:latin typeface="Cascadia Code Light" pitchFamily="49" charset="0"/>
                <a:cs typeface="Cascadia Code Light" pitchFamily="49" charset="0"/>
              </a:rPr>
              <a:t>) за неточность. </a:t>
            </a:r>
          </a:p>
          <a:p>
            <a:r>
              <a:rPr lang="ru-RU" dirty="0" smtClean="0">
                <a:latin typeface="Cascadia Code Light" pitchFamily="49" charset="0"/>
                <a:cs typeface="Cascadia Code Light" pitchFamily="49" charset="0"/>
              </a:rPr>
              <a:t>Все остальные ячейки получают штраф только в том случае, если они ошибочно заявили, что в них тоже есть объект (ложная тревога).</a:t>
            </a:r>
          </a:p>
          <a:p>
            <a:pPr>
              <a:buNone/>
            </a:pPr>
            <a:r>
              <a:rPr lang="ru-RU" dirty="0" smtClean="0">
                <a:latin typeface="Cascadia Code Light" pitchFamily="49" charset="0"/>
                <a:cs typeface="Cascadia Code Light" pitchFamily="49" charset="0"/>
              </a:rPr>
              <a:t/>
            </a:r>
            <a:br>
              <a:rPr lang="ru-RU" dirty="0" smtClean="0">
                <a:latin typeface="Cascadia Code Light" pitchFamily="49" charset="0"/>
                <a:cs typeface="Cascadia Code Light" pitchFamily="49" charset="0"/>
              </a:rPr>
            </a:br>
            <a:endParaRPr lang="ru-RU" dirty="0" smtClean="0">
              <a:latin typeface="Cascadia Code Light" pitchFamily="49" charset="0"/>
              <a:cs typeface="Cascadia Code Light" pitchFamily="49" charset="0"/>
            </a:endParaRPr>
          </a:p>
          <a:p>
            <a:endParaRPr lang="ru-RU" dirty="0">
              <a:latin typeface="Cascadia Code Light" pitchFamily="49" charset="0"/>
              <a:cs typeface="Cascadia Code Light" pitchFamily="49" charset="0"/>
            </a:endParaRPr>
          </a:p>
        </p:txBody>
      </p:sp>
      <p:pic>
        <p:nvPicPr>
          <p:cNvPr id="23554" name="Picture 2" descr="YOLOv1. How object detection was reframed as a… | by Tilo Flasche | Medium"/>
          <p:cNvPicPr>
            <a:picLocks noChangeAspect="1" noChangeArrowheads="1"/>
          </p:cNvPicPr>
          <p:nvPr/>
        </p:nvPicPr>
        <p:blipFill>
          <a:blip r:embed="rId3" cstate="print"/>
          <a:srcRect r="52593"/>
          <a:stretch>
            <a:fillRect/>
          </a:stretch>
        </p:blipFill>
        <p:spPr bwMode="auto">
          <a:xfrm>
            <a:off x="5105400" y="3048000"/>
            <a:ext cx="3657600" cy="3600451"/>
          </a:xfrm>
          <a:prstGeom prst="rect">
            <a:avLst/>
          </a:prstGeom>
          <a:noFill/>
        </p:spPr>
      </p:pic>
      <p:pic>
        <p:nvPicPr>
          <p:cNvPr id="23556" name="Picture 4" descr="You only look once (YOLO) -- (1) | Zhang Handuo's Site"/>
          <p:cNvPicPr>
            <a:picLocks noChangeAspect="1" noChangeArrowheads="1"/>
          </p:cNvPicPr>
          <p:nvPr/>
        </p:nvPicPr>
        <p:blipFill>
          <a:blip r:embed="rId4" cstate="print"/>
          <a:srcRect/>
          <a:stretch>
            <a:fillRect/>
          </a:stretch>
        </p:blipFill>
        <p:spPr bwMode="auto">
          <a:xfrm>
            <a:off x="609600" y="2895600"/>
            <a:ext cx="4038600" cy="3789501"/>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smtClean="0"/>
              <a:t>Архитектура </a:t>
            </a:r>
            <a:r>
              <a:rPr lang="en-US" b="1" dirty="0" smtClean="0"/>
              <a:t>YOLO </a:t>
            </a:r>
            <a:r>
              <a:rPr lang="ru-RU" b="1" dirty="0" smtClean="0"/>
              <a:t>простыми словами</a:t>
            </a:r>
            <a:endParaRPr lang="ru-RU" dirty="0"/>
          </a:p>
        </p:txBody>
      </p:sp>
      <p:sp>
        <p:nvSpPr>
          <p:cNvPr id="3" name="Содержимое 2"/>
          <p:cNvSpPr>
            <a:spLocks noGrp="1"/>
          </p:cNvSpPr>
          <p:nvPr>
            <p:ph idx="1"/>
          </p:nvPr>
        </p:nvSpPr>
        <p:spPr>
          <a:xfrm>
            <a:off x="6096000" y="1447800"/>
            <a:ext cx="2895600" cy="5105400"/>
          </a:xfrm>
        </p:spPr>
        <p:txBody>
          <a:bodyPr>
            <a:noAutofit/>
          </a:bodyPr>
          <a:lstStyle/>
          <a:p>
            <a:r>
              <a:rPr lang="ru-RU" sz="1100" dirty="0" smtClean="0">
                <a:latin typeface="Cascadia Code Light" pitchFamily="49" charset="0"/>
                <a:cs typeface="Cascadia Code Light" pitchFamily="49" charset="0"/>
              </a:rPr>
              <a:t>YOLO делает </a:t>
            </a:r>
            <a:r>
              <a:rPr lang="ru-RU" sz="1100" b="1" dirty="0" smtClean="0">
                <a:latin typeface="Cascadia Code Light" pitchFamily="49" charset="0"/>
                <a:cs typeface="Cascadia Code Light" pitchFamily="49" charset="0"/>
              </a:rPr>
              <a:t>несколько сеток разного размера одновременно</a:t>
            </a:r>
            <a:r>
              <a:rPr lang="ru-RU" sz="1100" dirty="0" smtClean="0">
                <a:latin typeface="Cascadia Code Light" pitchFamily="49" charset="0"/>
                <a:cs typeface="Cascadia Code Light" pitchFamily="49" charset="0"/>
              </a:rPr>
              <a:t> (это называется </a:t>
            </a:r>
            <a:r>
              <a:rPr lang="ru-RU" sz="1100" dirty="0" err="1" smtClean="0">
                <a:latin typeface="Cascadia Code Light" pitchFamily="49" charset="0"/>
                <a:cs typeface="Cascadia Code Light" pitchFamily="49" charset="0"/>
              </a:rPr>
              <a:t>Feature</a:t>
            </a:r>
            <a:r>
              <a:rPr lang="ru-RU" sz="1100" dirty="0" smtClean="0">
                <a:latin typeface="Cascadia Code Light" pitchFamily="49" charset="0"/>
                <a:cs typeface="Cascadia Code Light" pitchFamily="49" charset="0"/>
              </a:rPr>
              <a:t> </a:t>
            </a:r>
            <a:r>
              <a:rPr lang="ru-RU" sz="1100" dirty="0" err="1" smtClean="0">
                <a:latin typeface="Cascadia Code Light" pitchFamily="49" charset="0"/>
                <a:cs typeface="Cascadia Code Light" pitchFamily="49" charset="0"/>
              </a:rPr>
              <a:t>Pyramid</a:t>
            </a:r>
            <a:r>
              <a:rPr lang="ru-RU" sz="1100" dirty="0" smtClean="0">
                <a:latin typeface="Cascadia Code Light" pitchFamily="49" charset="0"/>
                <a:cs typeface="Cascadia Code Light" pitchFamily="49" charset="0"/>
              </a:rPr>
              <a:t> или "Пирамида признаков"):</a:t>
            </a:r>
          </a:p>
          <a:p>
            <a:r>
              <a:rPr lang="ru-RU" sz="1100" b="1" dirty="0" smtClean="0">
                <a:latin typeface="Cascadia Code Light" pitchFamily="49" charset="0"/>
                <a:cs typeface="Cascadia Code Light" pitchFamily="49" charset="0"/>
              </a:rPr>
              <a:t>Мелкая сетка (например, 80x80):</a:t>
            </a:r>
            <a:r>
              <a:rPr lang="ru-RU" sz="1100" dirty="0" smtClean="0">
                <a:latin typeface="Cascadia Code Light" pitchFamily="49" charset="0"/>
                <a:cs typeface="Cascadia Code Light" pitchFamily="49" charset="0"/>
              </a:rPr>
              <a:t> Отвечает за поиск </a:t>
            </a:r>
            <a:r>
              <a:rPr lang="ru-RU" sz="1100" b="1" dirty="0" smtClean="0">
                <a:latin typeface="Cascadia Code Light" pitchFamily="49" charset="0"/>
                <a:cs typeface="Cascadia Code Light" pitchFamily="49" charset="0"/>
              </a:rPr>
              <a:t>маленьких</a:t>
            </a:r>
            <a:r>
              <a:rPr lang="ru-RU" sz="1100" dirty="0" smtClean="0">
                <a:latin typeface="Cascadia Code Light" pitchFamily="49" charset="0"/>
                <a:cs typeface="Cascadia Code Light" pitchFamily="49" charset="0"/>
              </a:rPr>
              <a:t> объектов (птиц, пуговиц, машин на заднем плане).</a:t>
            </a:r>
          </a:p>
          <a:p>
            <a:r>
              <a:rPr lang="ru-RU" sz="1100" b="1" dirty="0" smtClean="0">
                <a:latin typeface="Cascadia Code Light" pitchFamily="49" charset="0"/>
                <a:cs typeface="Cascadia Code Light" pitchFamily="49" charset="0"/>
              </a:rPr>
              <a:t>Средняя сетка (например, 40x40):</a:t>
            </a:r>
            <a:r>
              <a:rPr lang="ru-RU" sz="1100" dirty="0" smtClean="0">
                <a:latin typeface="Cascadia Code Light" pitchFamily="49" charset="0"/>
                <a:cs typeface="Cascadia Code Light" pitchFamily="49" charset="0"/>
              </a:rPr>
              <a:t> Для объектов среднего размера.</a:t>
            </a:r>
          </a:p>
          <a:p>
            <a:r>
              <a:rPr lang="ru-RU" sz="1100" b="1" dirty="0" smtClean="0">
                <a:latin typeface="Cascadia Code Light" pitchFamily="49" charset="0"/>
                <a:cs typeface="Cascadia Code Light" pitchFamily="49" charset="0"/>
              </a:rPr>
              <a:t>Крупная сетка (например, 20x20):</a:t>
            </a:r>
            <a:r>
              <a:rPr lang="ru-RU" sz="1100" dirty="0" smtClean="0">
                <a:latin typeface="Cascadia Code Light" pitchFamily="49" charset="0"/>
                <a:cs typeface="Cascadia Code Light" pitchFamily="49" charset="0"/>
              </a:rPr>
              <a:t> Для </a:t>
            </a:r>
            <a:r>
              <a:rPr lang="ru-RU" sz="1100" b="1" dirty="0" smtClean="0">
                <a:latin typeface="Cascadia Code Light" pitchFamily="49" charset="0"/>
                <a:cs typeface="Cascadia Code Light" pitchFamily="49" charset="0"/>
              </a:rPr>
              <a:t>больших</a:t>
            </a:r>
            <a:r>
              <a:rPr lang="ru-RU" sz="1100" dirty="0" smtClean="0">
                <a:latin typeface="Cascadia Code Light" pitchFamily="49" charset="0"/>
                <a:cs typeface="Cascadia Code Light" pitchFamily="49" charset="0"/>
              </a:rPr>
              <a:t> объектов (слонов, автобусов, зебр на переднем плане).</a:t>
            </a:r>
          </a:p>
          <a:p>
            <a:endParaRPr lang="ru-RU" sz="1100" dirty="0">
              <a:latin typeface="Cascadia Code Light" pitchFamily="49" charset="0"/>
              <a:cs typeface="Cascadia Code Light" pitchFamily="49" charset="0"/>
            </a:endParaRPr>
          </a:p>
        </p:txBody>
      </p:sp>
      <p:pic>
        <p:nvPicPr>
          <p:cNvPr id="22530" name="Picture 2" descr="YOLO : You Only Look Once - Real Time Object Detection - GeeksforGeeks"/>
          <p:cNvPicPr>
            <a:picLocks noChangeAspect="1" noChangeArrowheads="1"/>
          </p:cNvPicPr>
          <p:nvPr/>
        </p:nvPicPr>
        <p:blipFill>
          <a:blip r:embed="rId3" cstate="print"/>
          <a:srcRect/>
          <a:stretch>
            <a:fillRect/>
          </a:stretch>
        </p:blipFill>
        <p:spPr bwMode="auto">
          <a:xfrm>
            <a:off x="381000" y="1981200"/>
            <a:ext cx="5663379" cy="3429000"/>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en-US" b="1" dirty="0" smtClean="0">
                <a:latin typeface="Cascadia Code Light" pitchFamily="49" charset="0"/>
                <a:cs typeface="Cascadia Code Light" pitchFamily="49" charset="0"/>
              </a:rPr>
              <a:t>Transfer Learning </a:t>
            </a:r>
            <a:r>
              <a:rPr lang="ru-RU" b="1" dirty="0" smtClean="0">
                <a:latin typeface="Cascadia Code Light" pitchFamily="49" charset="0"/>
                <a:cs typeface="Cascadia Code Light" pitchFamily="49" charset="0"/>
              </a:rPr>
              <a:t>в </a:t>
            </a:r>
            <a:r>
              <a:rPr lang="ru-RU" b="1" dirty="0" err="1" smtClean="0">
                <a:latin typeface="Cascadia Code Light" pitchFamily="49" charset="0"/>
                <a:cs typeface="Cascadia Code Light" pitchFamily="49" charset="0"/>
              </a:rPr>
              <a:t>детекции</a:t>
            </a:r>
            <a:r>
              <a:rPr lang="ru-RU" b="1" dirty="0" smtClean="0">
                <a:latin typeface="Cascadia Code Light" pitchFamily="49" charset="0"/>
                <a:cs typeface="Cascadia Code Light" pitchFamily="49" charset="0"/>
              </a:rPr>
              <a:t> </a:t>
            </a:r>
            <a:endParaRPr lang="ru-RU" dirty="0">
              <a:latin typeface="Cascadia Code Light" pitchFamily="49" charset="0"/>
              <a:cs typeface="Cascadia Code Light" pitchFamily="49" charset="0"/>
            </a:endParaRPr>
          </a:p>
        </p:txBody>
      </p:sp>
      <p:sp>
        <p:nvSpPr>
          <p:cNvPr id="3" name="Содержимое 2"/>
          <p:cNvSpPr>
            <a:spLocks noGrp="1"/>
          </p:cNvSpPr>
          <p:nvPr>
            <p:ph idx="1"/>
          </p:nvPr>
        </p:nvSpPr>
        <p:spPr>
          <a:xfrm>
            <a:off x="5334000" y="1600200"/>
            <a:ext cx="3352800" cy="5105399"/>
          </a:xfrm>
        </p:spPr>
        <p:txBody>
          <a:bodyPr>
            <a:normAutofit fontScale="47500" lnSpcReduction="20000"/>
          </a:bodyPr>
          <a:lstStyle/>
          <a:p>
            <a:r>
              <a:rPr lang="ru-RU" dirty="0" smtClean="0">
                <a:latin typeface="Cascadia Code Light" pitchFamily="49" charset="0"/>
                <a:cs typeface="Cascadia Code Light" pitchFamily="49" charset="0"/>
              </a:rPr>
              <a:t>COCO (</a:t>
            </a:r>
            <a:r>
              <a:rPr lang="ru-RU" dirty="0" err="1" smtClean="0">
                <a:latin typeface="Cascadia Code Light" pitchFamily="49" charset="0"/>
                <a:cs typeface="Cascadia Code Light" pitchFamily="49" charset="0"/>
              </a:rPr>
              <a:t>Common</a:t>
            </a:r>
            <a:r>
              <a:rPr lang="ru-RU" dirty="0" smtClean="0">
                <a:latin typeface="Cascadia Code Light" pitchFamily="49" charset="0"/>
                <a:cs typeface="Cascadia Code Light" pitchFamily="49" charset="0"/>
              </a:rPr>
              <a:t> </a:t>
            </a:r>
            <a:r>
              <a:rPr lang="ru-RU" dirty="0" err="1" smtClean="0">
                <a:latin typeface="Cascadia Code Light" pitchFamily="49" charset="0"/>
                <a:cs typeface="Cascadia Code Light" pitchFamily="49" charset="0"/>
              </a:rPr>
              <a:t>Objects</a:t>
            </a:r>
            <a:r>
              <a:rPr lang="ru-RU" dirty="0" smtClean="0">
                <a:latin typeface="Cascadia Code Light" pitchFamily="49" charset="0"/>
                <a:cs typeface="Cascadia Code Light" pitchFamily="49" charset="0"/>
              </a:rPr>
              <a:t> </a:t>
            </a:r>
            <a:r>
              <a:rPr lang="ru-RU" dirty="0" err="1" smtClean="0">
                <a:latin typeface="Cascadia Code Light" pitchFamily="49" charset="0"/>
                <a:cs typeface="Cascadia Code Light" pitchFamily="49" charset="0"/>
              </a:rPr>
              <a:t>in</a:t>
            </a:r>
            <a:r>
              <a:rPr lang="ru-RU" dirty="0" smtClean="0">
                <a:latin typeface="Cascadia Code Light" pitchFamily="49" charset="0"/>
                <a:cs typeface="Cascadia Code Light" pitchFamily="49" charset="0"/>
              </a:rPr>
              <a:t> </a:t>
            </a:r>
            <a:r>
              <a:rPr lang="ru-RU" dirty="0" err="1" smtClean="0">
                <a:latin typeface="Cascadia Code Light" pitchFamily="49" charset="0"/>
                <a:cs typeface="Cascadia Code Light" pitchFamily="49" charset="0"/>
              </a:rPr>
              <a:t>Context</a:t>
            </a:r>
            <a:r>
              <a:rPr lang="ru-RU" dirty="0" smtClean="0">
                <a:latin typeface="Cascadia Code Light" pitchFamily="49" charset="0"/>
                <a:cs typeface="Cascadia Code Light" pitchFamily="49" charset="0"/>
              </a:rPr>
              <a:t>)</a:t>
            </a:r>
          </a:p>
          <a:p>
            <a:r>
              <a:rPr lang="ru-RU" b="1" dirty="0" smtClean="0">
                <a:latin typeface="Cascadia Code Light" pitchFamily="49" charset="0"/>
                <a:cs typeface="Cascadia Code Light" pitchFamily="49" charset="0"/>
              </a:rPr>
              <a:t>330 000 изображений</a:t>
            </a:r>
            <a:r>
              <a:rPr lang="ru-RU" dirty="0" smtClean="0">
                <a:latin typeface="Cascadia Code Light" pitchFamily="49" charset="0"/>
                <a:cs typeface="Cascadia Code Light" pitchFamily="49" charset="0"/>
              </a:rPr>
              <a:t>, на которых размечено </a:t>
            </a:r>
            <a:r>
              <a:rPr lang="ru-RU" b="1" dirty="0" smtClean="0">
                <a:latin typeface="Cascadia Code Light" pitchFamily="49" charset="0"/>
                <a:cs typeface="Cascadia Code Light" pitchFamily="49" charset="0"/>
              </a:rPr>
              <a:t>80 классов</a:t>
            </a:r>
            <a:r>
              <a:rPr lang="ru-RU" dirty="0" smtClean="0">
                <a:latin typeface="Cascadia Code Light" pitchFamily="49" charset="0"/>
                <a:cs typeface="Cascadia Code Light" pitchFamily="49" charset="0"/>
              </a:rPr>
              <a:t> объектов.</a:t>
            </a:r>
          </a:p>
          <a:p>
            <a:endParaRPr lang="ru-RU" dirty="0" smtClean="0">
              <a:latin typeface="Cascadia Code Light" pitchFamily="49" charset="0"/>
              <a:cs typeface="Cascadia Code Light" pitchFamily="49" charset="0"/>
            </a:endParaRPr>
          </a:p>
          <a:p>
            <a:r>
              <a:rPr lang="ru-RU" b="1" dirty="0" smtClean="0">
                <a:latin typeface="Cascadia Code Light" pitchFamily="49" charset="0"/>
                <a:cs typeface="Cascadia Code Light" pitchFamily="49" charset="0"/>
              </a:rPr>
              <a:t>Примеры 80 классов:</a:t>
            </a:r>
            <a:endParaRPr lang="ru-RU" dirty="0" smtClean="0">
              <a:latin typeface="Cascadia Code Light" pitchFamily="49" charset="0"/>
              <a:cs typeface="Cascadia Code Light" pitchFamily="49" charset="0"/>
            </a:endParaRPr>
          </a:p>
          <a:p>
            <a:r>
              <a:rPr lang="ru-RU" b="1" dirty="0" smtClean="0">
                <a:latin typeface="Cascadia Code Light" pitchFamily="49" charset="0"/>
                <a:cs typeface="Cascadia Code Light" pitchFamily="49" charset="0"/>
              </a:rPr>
              <a:t>Люди и транспорт:</a:t>
            </a:r>
            <a:r>
              <a:rPr lang="ru-RU" dirty="0" smtClean="0">
                <a:latin typeface="Cascadia Code Light" pitchFamily="49" charset="0"/>
                <a:cs typeface="Cascadia Code Light" pitchFamily="49" charset="0"/>
              </a:rPr>
              <a:t> </a:t>
            </a:r>
            <a:r>
              <a:rPr lang="en-US" dirty="0" smtClean="0">
                <a:latin typeface="Cascadia Code Light" pitchFamily="49" charset="0"/>
                <a:cs typeface="Cascadia Code Light" pitchFamily="49" charset="0"/>
              </a:rPr>
              <a:t>person, bicycle, car, motorcycle, airplane, bus, train, truck.</a:t>
            </a:r>
          </a:p>
          <a:p>
            <a:r>
              <a:rPr lang="ru-RU" b="1" dirty="0" smtClean="0">
                <a:latin typeface="Cascadia Code Light" pitchFamily="49" charset="0"/>
                <a:cs typeface="Cascadia Code Light" pitchFamily="49" charset="0"/>
              </a:rPr>
              <a:t>Животные:</a:t>
            </a:r>
            <a:r>
              <a:rPr lang="ru-RU" dirty="0" smtClean="0">
                <a:latin typeface="Cascadia Code Light" pitchFamily="49" charset="0"/>
                <a:cs typeface="Cascadia Code Light" pitchFamily="49" charset="0"/>
              </a:rPr>
              <a:t> </a:t>
            </a:r>
            <a:r>
              <a:rPr lang="en-US" dirty="0" smtClean="0">
                <a:latin typeface="Cascadia Code Light" pitchFamily="49" charset="0"/>
                <a:cs typeface="Cascadia Code Light" pitchFamily="49" charset="0"/>
              </a:rPr>
              <a:t>bird, cat, dog, horse, sheep, cow, elephant, bear, zebra, giraffe.</a:t>
            </a:r>
          </a:p>
          <a:p>
            <a:r>
              <a:rPr lang="ru-RU" b="1" dirty="0" smtClean="0">
                <a:latin typeface="Cascadia Code Light" pitchFamily="49" charset="0"/>
                <a:cs typeface="Cascadia Code Light" pitchFamily="49" charset="0"/>
              </a:rPr>
              <a:t>Быт и еда:</a:t>
            </a:r>
            <a:r>
              <a:rPr lang="ru-RU" dirty="0" smtClean="0">
                <a:latin typeface="Cascadia Code Light" pitchFamily="49" charset="0"/>
                <a:cs typeface="Cascadia Code Light" pitchFamily="49" charset="0"/>
              </a:rPr>
              <a:t> </a:t>
            </a:r>
            <a:r>
              <a:rPr lang="en-US" dirty="0" smtClean="0">
                <a:latin typeface="Cascadia Code Light" pitchFamily="49" charset="0"/>
                <a:cs typeface="Cascadia Code Light" pitchFamily="49" charset="0"/>
              </a:rPr>
              <a:t>banana, apple, sandwich, pizza, donut, cup, chair, laptop, cell phone, book, clock.</a:t>
            </a:r>
            <a:endParaRPr lang="ru-RU" dirty="0" smtClean="0">
              <a:latin typeface="Cascadia Code Light" pitchFamily="49" charset="0"/>
              <a:cs typeface="Cascadia Code Light" pitchFamily="49" charset="0"/>
            </a:endParaRPr>
          </a:p>
          <a:p>
            <a:endParaRPr lang="en-US" dirty="0" smtClean="0">
              <a:latin typeface="Cascadia Code Light" pitchFamily="49" charset="0"/>
              <a:cs typeface="Cascadia Code Light" pitchFamily="49" charset="0"/>
            </a:endParaRPr>
          </a:p>
          <a:p>
            <a:r>
              <a:rPr lang="ru-RU" dirty="0" smtClean="0">
                <a:latin typeface="Cascadia Code Light" pitchFamily="49" charset="0"/>
                <a:cs typeface="Cascadia Code Light" pitchFamily="49" charset="0"/>
              </a:rPr>
              <a:t>В YOLOv8 по умолчанию запускается </a:t>
            </a:r>
            <a:r>
              <a:rPr lang="ru-RU" b="1" dirty="0" smtClean="0">
                <a:latin typeface="Cascadia Code Light" pitchFamily="49" charset="0"/>
                <a:cs typeface="Cascadia Code Light" pitchFamily="49" charset="0"/>
              </a:rPr>
              <a:t>полный </a:t>
            </a:r>
            <a:r>
              <a:rPr lang="ru-RU" b="1" dirty="0" err="1" smtClean="0">
                <a:latin typeface="Cascadia Code Light" pitchFamily="49" charset="0"/>
                <a:cs typeface="Cascadia Code Light" pitchFamily="49" charset="0"/>
              </a:rPr>
              <a:t>Fine-tuning</a:t>
            </a:r>
            <a:r>
              <a:rPr lang="ru-RU" dirty="0" smtClean="0">
                <a:latin typeface="Cascadia Code Light" pitchFamily="49" charset="0"/>
                <a:cs typeface="Cascadia Code Light" pitchFamily="49" charset="0"/>
              </a:rPr>
              <a:t>.</a:t>
            </a:r>
            <a:endParaRPr lang="ru-RU" dirty="0">
              <a:latin typeface="Cascadia Code Light" pitchFamily="49" charset="0"/>
              <a:cs typeface="Cascadia Code Light" pitchFamily="49" charset="0"/>
            </a:endParaRPr>
          </a:p>
        </p:txBody>
      </p:sp>
      <p:pic>
        <p:nvPicPr>
          <p:cNvPr id="21506" name="Picture 2" descr="Explore the Versatile COCO Dataset for AI Projects"/>
          <p:cNvPicPr>
            <a:picLocks noChangeAspect="1" noChangeArrowheads="1"/>
          </p:cNvPicPr>
          <p:nvPr/>
        </p:nvPicPr>
        <p:blipFill>
          <a:blip r:embed="rId3" cstate="print"/>
          <a:srcRect/>
          <a:stretch>
            <a:fillRect/>
          </a:stretch>
        </p:blipFill>
        <p:spPr bwMode="auto">
          <a:xfrm>
            <a:off x="457200" y="1676400"/>
            <a:ext cx="4299626" cy="4457700"/>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latin typeface="Cascadia Code Light" pitchFamily="49" charset="0"/>
                <a:cs typeface="Cascadia Code Light" pitchFamily="49" charset="0"/>
              </a:rPr>
              <a:t>Структура </a:t>
            </a:r>
            <a:r>
              <a:rPr lang="ru-RU" dirty="0" err="1" smtClean="0">
                <a:latin typeface="Cascadia Code Light" pitchFamily="49" charset="0"/>
                <a:cs typeface="Cascadia Code Light" pitchFamily="49" charset="0"/>
              </a:rPr>
              <a:t>датасета</a:t>
            </a:r>
            <a:endParaRPr lang="ru-RU" dirty="0">
              <a:latin typeface="Cascadia Code Light" pitchFamily="49" charset="0"/>
              <a:cs typeface="Cascadia Code Light" pitchFamily="49" charset="0"/>
            </a:endParaRPr>
          </a:p>
        </p:txBody>
      </p:sp>
      <p:sp>
        <p:nvSpPr>
          <p:cNvPr id="3" name="Содержимое 2"/>
          <p:cNvSpPr>
            <a:spLocks noGrp="1"/>
          </p:cNvSpPr>
          <p:nvPr>
            <p:ph idx="1"/>
          </p:nvPr>
        </p:nvSpPr>
        <p:spPr>
          <a:xfrm>
            <a:off x="3429000" y="4419600"/>
            <a:ext cx="5638800" cy="2438400"/>
          </a:xfrm>
        </p:spPr>
        <p:txBody>
          <a:bodyPr>
            <a:normAutofit fontScale="47500" lnSpcReduction="20000"/>
          </a:bodyPr>
          <a:lstStyle/>
          <a:p>
            <a:r>
              <a:rPr lang="ru-RU" dirty="0" smtClean="0">
                <a:latin typeface="Cascadia Code Light" pitchFamily="49" charset="0"/>
                <a:cs typeface="Cascadia Code Light" pitchFamily="49" charset="0"/>
              </a:rPr>
              <a:t>Файл </a:t>
            </a:r>
            <a:r>
              <a:rPr lang="ru-RU" dirty="0" err="1" smtClean="0">
                <a:latin typeface="Cascadia Code Light" pitchFamily="49" charset="0"/>
                <a:cs typeface="Cascadia Code Light" pitchFamily="49" charset="0"/>
              </a:rPr>
              <a:t>data.yaml</a:t>
            </a:r>
            <a:r>
              <a:rPr lang="ru-RU" dirty="0" smtClean="0">
                <a:latin typeface="Cascadia Code Light" pitchFamily="49" charset="0"/>
                <a:cs typeface="Cascadia Code Light" pitchFamily="49" charset="0"/>
              </a:rPr>
              <a:t> - паспорт или карта </a:t>
            </a:r>
            <a:r>
              <a:rPr lang="ru-RU" dirty="0" err="1" smtClean="0">
                <a:latin typeface="Cascadia Code Light" pitchFamily="49" charset="0"/>
                <a:cs typeface="Cascadia Code Light" pitchFamily="49" charset="0"/>
              </a:rPr>
              <a:t>датасета</a:t>
            </a:r>
            <a:r>
              <a:rPr lang="ru-RU" dirty="0" smtClean="0">
                <a:latin typeface="Cascadia Code Light" pitchFamily="49" charset="0"/>
                <a:cs typeface="Cascadia Code Light" pitchFamily="49" charset="0"/>
              </a:rPr>
              <a:t>. </a:t>
            </a:r>
          </a:p>
          <a:p>
            <a:r>
              <a:rPr lang="ru-RU" dirty="0" smtClean="0">
                <a:latin typeface="Cascadia Code Light" pitchFamily="49" charset="0"/>
                <a:cs typeface="Cascadia Code Light" pitchFamily="49" charset="0"/>
              </a:rPr>
              <a:t>В блоке путей (строчки </a:t>
            </a:r>
            <a:r>
              <a:rPr lang="ru-RU" dirty="0" err="1" smtClean="0">
                <a:latin typeface="Cascadia Code Light" pitchFamily="49" charset="0"/>
                <a:cs typeface="Cascadia Code Light" pitchFamily="49" charset="0"/>
              </a:rPr>
              <a:t>path</a:t>
            </a:r>
            <a:r>
              <a:rPr lang="ru-RU" dirty="0" smtClean="0">
                <a:latin typeface="Cascadia Code Light" pitchFamily="49" charset="0"/>
                <a:cs typeface="Cascadia Code Light" pitchFamily="49" charset="0"/>
              </a:rPr>
              <a:t>, </a:t>
            </a:r>
            <a:r>
              <a:rPr lang="ru-RU" dirty="0" err="1" smtClean="0">
                <a:latin typeface="Cascadia Code Light" pitchFamily="49" charset="0"/>
                <a:cs typeface="Cascadia Code Light" pitchFamily="49" charset="0"/>
              </a:rPr>
              <a:t>train</a:t>
            </a:r>
            <a:r>
              <a:rPr lang="ru-RU" dirty="0" smtClean="0">
                <a:latin typeface="Cascadia Code Light" pitchFamily="49" charset="0"/>
                <a:cs typeface="Cascadia Code Light" pitchFamily="49" charset="0"/>
              </a:rPr>
              <a:t> и </a:t>
            </a:r>
            <a:r>
              <a:rPr lang="ru-RU" dirty="0" err="1" smtClean="0">
                <a:latin typeface="Cascadia Code Light" pitchFamily="49" charset="0"/>
                <a:cs typeface="Cascadia Code Light" pitchFamily="49" charset="0"/>
              </a:rPr>
              <a:t>val</a:t>
            </a:r>
            <a:r>
              <a:rPr lang="ru-RU" dirty="0" smtClean="0">
                <a:latin typeface="Cascadia Code Light" pitchFamily="49" charset="0"/>
                <a:cs typeface="Cascadia Code Light" pitchFamily="49" charset="0"/>
              </a:rPr>
              <a:t>) указано, где находятся картинки для обучения и проверки. </a:t>
            </a:r>
            <a:endParaRPr lang="en-US" dirty="0" smtClean="0">
              <a:latin typeface="Cascadia Code Light" pitchFamily="49" charset="0"/>
              <a:cs typeface="Cascadia Code Light" pitchFamily="49" charset="0"/>
            </a:endParaRPr>
          </a:p>
          <a:p>
            <a:r>
              <a:rPr lang="ru-RU" dirty="0" smtClean="0">
                <a:latin typeface="Cascadia Code Light" pitchFamily="49" charset="0"/>
                <a:cs typeface="Cascadia Code Light" pitchFamily="49" charset="0"/>
              </a:rPr>
              <a:t>Блок </a:t>
            </a:r>
            <a:r>
              <a:rPr lang="ru-RU" dirty="0" err="1" smtClean="0">
                <a:latin typeface="Cascadia Code Light" pitchFamily="49" charset="0"/>
                <a:cs typeface="Cascadia Code Light" pitchFamily="49" charset="0"/>
              </a:rPr>
              <a:t>names</a:t>
            </a:r>
            <a:r>
              <a:rPr lang="ru-RU" dirty="0" smtClean="0">
                <a:latin typeface="Cascadia Code Light" pitchFamily="49" charset="0"/>
                <a:cs typeface="Cascadia Code Light" pitchFamily="49" charset="0"/>
              </a:rPr>
              <a:t>. Это словарь, который связывает цифры из текстовых файлов с реальными названиями классов</a:t>
            </a:r>
          </a:p>
          <a:p>
            <a:r>
              <a:rPr lang="ru-RU" dirty="0" smtClean="0">
                <a:latin typeface="Cascadia Code Light" pitchFamily="49" charset="0"/>
                <a:cs typeface="Cascadia Code Light" pitchFamily="49" charset="0"/>
              </a:rPr>
              <a:t>Строчка </a:t>
            </a:r>
            <a:r>
              <a:rPr lang="ru-RU" dirty="0" err="1" smtClean="0">
                <a:latin typeface="Cascadia Code Light" pitchFamily="49" charset="0"/>
                <a:cs typeface="Cascadia Code Light" pitchFamily="49" charset="0"/>
              </a:rPr>
              <a:t>download</a:t>
            </a:r>
            <a:r>
              <a:rPr lang="ru-RU" dirty="0" smtClean="0">
                <a:latin typeface="Cascadia Code Light" pitchFamily="49" charset="0"/>
                <a:cs typeface="Cascadia Code Light" pitchFamily="49" charset="0"/>
              </a:rPr>
              <a:t> - прямая ссылка на архив, поэтому когда мы запустили обучение, YOLO увидела, что локально данных нет, и автоматически скачала их сама.</a:t>
            </a:r>
            <a:endParaRPr lang="ru-RU" dirty="0">
              <a:latin typeface="Cascadia Code Light" pitchFamily="49" charset="0"/>
              <a:cs typeface="Cascadia Code Light" pitchFamily="49" charset="0"/>
            </a:endParaRPr>
          </a:p>
        </p:txBody>
      </p:sp>
      <p:pic>
        <p:nvPicPr>
          <p:cNvPr id="1027" name="Picture 3"/>
          <p:cNvPicPr>
            <a:picLocks noChangeAspect="1" noChangeArrowheads="1"/>
          </p:cNvPicPr>
          <p:nvPr/>
        </p:nvPicPr>
        <p:blipFill>
          <a:blip r:embed="rId3" cstate="print"/>
          <a:srcRect/>
          <a:stretch>
            <a:fillRect/>
          </a:stretch>
        </p:blipFill>
        <p:spPr bwMode="auto">
          <a:xfrm>
            <a:off x="381000" y="1371600"/>
            <a:ext cx="2895600" cy="5015750"/>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cstate="print"/>
          <a:srcRect/>
          <a:stretch>
            <a:fillRect/>
          </a:stretch>
        </p:blipFill>
        <p:spPr bwMode="auto">
          <a:xfrm>
            <a:off x="3398119" y="1371600"/>
            <a:ext cx="5745881" cy="30162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Содержимое 2"/>
          <p:cNvSpPr>
            <a:spLocks noGrp="1"/>
          </p:cNvSpPr>
          <p:nvPr>
            <p:ph idx="1"/>
          </p:nvPr>
        </p:nvSpPr>
        <p:spPr>
          <a:xfrm>
            <a:off x="381000" y="4267200"/>
            <a:ext cx="3657600" cy="2239963"/>
          </a:xfrm>
        </p:spPr>
        <p:txBody>
          <a:bodyPr>
            <a:noAutofit/>
          </a:bodyPr>
          <a:lstStyle/>
          <a:p>
            <a:r>
              <a:rPr lang="ru-RU" sz="1100" b="1" dirty="0" smtClean="0">
                <a:latin typeface="Cascadia Code Light" pitchFamily="49" charset="0"/>
                <a:cs typeface="Cascadia Code Light" pitchFamily="49" charset="0"/>
              </a:rPr>
              <a:t>1 – число объектов</a:t>
            </a:r>
          </a:p>
          <a:p>
            <a:r>
              <a:rPr lang="ru-RU" sz="1100" b="1" dirty="0" smtClean="0">
                <a:latin typeface="Cascadia Code Light" pitchFamily="49" charset="0"/>
                <a:cs typeface="Cascadia Code Light" pitchFamily="49" charset="0"/>
              </a:rPr>
              <a:t>0 - класс</a:t>
            </a:r>
          </a:p>
          <a:p>
            <a:r>
              <a:rPr lang="ru-RU" sz="1100" b="1" dirty="0" smtClean="0">
                <a:latin typeface="Cascadia Code Light" pitchFamily="49" charset="0"/>
                <a:cs typeface="Cascadia Code Light" pitchFamily="49" charset="0"/>
              </a:rPr>
              <a:t>0.448437</a:t>
            </a:r>
            <a:r>
              <a:rPr lang="ru-RU" sz="1100" dirty="0" smtClean="0">
                <a:latin typeface="Cascadia Code Light" pitchFamily="49" charset="0"/>
                <a:cs typeface="Cascadia Code Light" pitchFamily="49" charset="0"/>
              </a:rPr>
              <a:t> — </a:t>
            </a:r>
            <a:r>
              <a:rPr lang="ru-RU" sz="1100" b="1" dirty="0" err="1" smtClean="0">
                <a:latin typeface="Cascadia Code Light" pitchFamily="49" charset="0"/>
                <a:cs typeface="Cascadia Code Light" pitchFamily="49" charset="0"/>
              </a:rPr>
              <a:t>x_center</a:t>
            </a:r>
            <a:r>
              <a:rPr lang="ru-RU" sz="1100" dirty="0" smtClean="0">
                <a:latin typeface="Cascadia Code Light" pitchFamily="49" charset="0"/>
                <a:cs typeface="Cascadia Code Light" pitchFamily="49" charset="0"/>
              </a:rPr>
              <a:t>. Координата X центра рамки (44.8% от ширины картинки). </a:t>
            </a:r>
          </a:p>
          <a:p>
            <a:r>
              <a:rPr lang="ru-RU" sz="1100" b="1" dirty="0" smtClean="0">
                <a:latin typeface="Cascadia Code Light" pitchFamily="49" charset="0"/>
                <a:cs typeface="Cascadia Code Light" pitchFamily="49" charset="0"/>
              </a:rPr>
              <a:t>0.615625</a:t>
            </a:r>
            <a:r>
              <a:rPr lang="ru-RU" sz="1100" dirty="0" smtClean="0">
                <a:latin typeface="Cascadia Code Light" pitchFamily="49" charset="0"/>
                <a:cs typeface="Cascadia Code Light" pitchFamily="49" charset="0"/>
              </a:rPr>
              <a:t> —</a:t>
            </a:r>
            <a:r>
              <a:rPr lang="ru-RU" sz="1100" b="1" dirty="0" err="1" smtClean="0">
                <a:latin typeface="Cascadia Code Light" pitchFamily="49" charset="0"/>
                <a:cs typeface="Cascadia Code Light" pitchFamily="49" charset="0"/>
              </a:rPr>
              <a:t>y_center</a:t>
            </a:r>
            <a:r>
              <a:rPr lang="ru-RU" sz="1100" dirty="0" smtClean="0">
                <a:latin typeface="Cascadia Code Light" pitchFamily="49" charset="0"/>
                <a:cs typeface="Cascadia Code Light" pitchFamily="49" charset="0"/>
              </a:rPr>
              <a:t>. Координата Y центра рамки (61.5% от высоты картинки).</a:t>
            </a:r>
          </a:p>
          <a:p>
            <a:r>
              <a:rPr lang="ru-RU" sz="1100" b="1" dirty="0" smtClean="0">
                <a:latin typeface="Cascadia Code Light" pitchFamily="49" charset="0"/>
                <a:cs typeface="Cascadia Code Light" pitchFamily="49" charset="0"/>
              </a:rPr>
              <a:t>0.675000</a:t>
            </a:r>
            <a:r>
              <a:rPr lang="ru-RU" sz="1100" dirty="0" smtClean="0">
                <a:latin typeface="Cascadia Code Light" pitchFamily="49" charset="0"/>
                <a:cs typeface="Cascadia Code Light" pitchFamily="49" charset="0"/>
              </a:rPr>
              <a:t> — </a:t>
            </a:r>
            <a:r>
              <a:rPr lang="ru-RU" sz="1100" b="1" dirty="0" err="1" smtClean="0">
                <a:latin typeface="Cascadia Code Light" pitchFamily="49" charset="0"/>
                <a:cs typeface="Cascadia Code Light" pitchFamily="49" charset="0"/>
              </a:rPr>
              <a:t>width</a:t>
            </a:r>
            <a:r>
              <a:rPr lang="ru-RU" sz="1100" dirty="0" smtClean="0">
                <a:latin typeface="Cascadia Code Light" pitchFamily="49" charset="0"/>
                <a:cs typeface="Cascadia Code Light" pitchFamily="49" charset="0"/>
              </a:rPr>
              <a:t>. Ширина рамки (составляет 67.5% от всей ширины картинки). </a:t>
            </a:r>
          </a:p>
          <a:p>
            <a:r>
              <a:rPr lang="ru-RU" sz="1100" b="1" dirty="0" smtClean="0">
                <a:latin typeface="Cascadia Code Light" pitchFamily="49" charset="0"/>
                <a:cs typeface="Cascadia Code Light" pitchFamily="49" charset="0"/>
              </a:rPr>
              <a:t>0.560417</a:t>
            </a:r>
            <a:r>
              <a:rPr lang="ru-RU" sz="1100" dirty="0" smtClean="0">
                <a:latin typeface="Cascadia Code Light" pitchFamily="49" charset="0"/>
                <a:cs typeface="Cascadia Code Light" pitchFamily="49" charset="0"/>
              </a:rPr>
              <a:t> —</a:t>
            </a:r>
            <a:r>
              <a:rPr lang="ru-RU" sz="1100" b="1" dirty="0" err="1" smtClean="0">
                <a:latin typeface="Cascadia Code Light" pitchFamily="49" charset="0"/>
                <a:cs typeface="Cascadia Code Light" pitchFamily="49" charset="0"/>
              </a:rPr>
              <a:t>height</a:t>
            </a:r>
            <a:r>
              <a:rPr lang="ru-RU" sz="1100" dirty="0" smtClean="0">
                <a:latin typeface="Cascadia Code Light" pitchFamily="49" charset="0"/>
                <a:cs typeface="Cascadia Code Light" pitchFamily="49" charset="0"/>
              </a:rPr>
              <a:t>. Высота рамки (56% от высоты картинки).</a:t>
            </a:r>
          </a:p>
          <a:p>
            <a:endParaRPr lang="ru-RU" sz="1100" dirty="0">
              <a:latin typeface="Cascadia Code Light" pitchFamily="49" charset="0"/>
              <a:cs typeface="Cascadia Code Light" pitchFamily="49" charset="0"/>
            </a:endParaRPr>
          </a:p>
        </p:txBody>
      </p:sp>
      <p:pic>
        <p:nvPicPr>
          <p:cNvPr id="2050" name="Picture 2"/>
          <p:cNvPicPr>
            <a:picLocks noChangeAspect="1" noChangeArrowheads="1"/>
          </p:cNvPicPr>
          <p:nvPr/>
        </p:nvPicPr>
        <p:blipFill>
          <a:blip r:embed="rId2" cstate="print"/>
          <a:srcRect/>
          <a:stretch>
            <a:fillRect/>
          </a:stretch>
        </p:blipFill>
        <p:spPr bwMode="auto">
          <a:xfrm>
            <a:off x="304800" y="228600"/>
            <a:ext cx="3678237" cy="3518575"/>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cstate="print"/>
          <a:srcRect/>
          <a:stretch>
            <a:fillRect/>
          </a:stretch>
        </p:blipFill>
        <p:spPr bwMode="auto">
          <a:xfrm>
            <a:off x="4191000" y="228600"/>
            <a:ext cx="4110131" cy="3402012"/>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cstate="print"/>
          <a:srcRect b="44503"/>
          <a:stretch>
            <a:fillRect/>
          </a:stretch>
        </p:blipFill>
        <p:spPr bwMode="auto">
          <a:xfrm>
            <a:off x="381000" y="3581400"/>
            <a:ext cx="3505200" cy="609600"/>
          </a:xfrm>
          <a:prstGeom prst="rect">
            <a:avLst/>
          </a:prstGeom>
          <a:noFill/>
          <a:ln w="9525">
            <a:noFill/>
            <a:miter lim="800000"/>
            <a:headEnd/>
            <a:tailEnd/>
          </a:ln>
          <a:effectLst/>
        </p:spPr>
      </p:pic>
      <p:pic>
        <p:nvPicPr>
          <p:cNvPr id="2053" name="Picture 5"/>
          <p:cNvPicPr>
            <a:picLocks noChangeAspect="1" noChangeArrowheads="1"/>
          </p:cNvPicPr>
          <p:nvPr/>
        </p:nvPicPr>
        <p:blipFill>
          <a:blip r:embed="rId5" cstate="print"/>
          <a:srcRect/>
          <a:stretch>
            <a:fillRect/>
          </a:stretch>
        </p:blipFill>
        <p:spPr bwMode="auto">
          <a:xfrm>
            <a:off x="4267200" y="3505200"/>
            <a:ext cx="3776663" cy="100353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Содержимое 2"/>
          <p:cNvSpPr>
            <a:spLocks noGrp="1"/>
          </p:cNvSpPr>
          <p:nvPr>
            <p:ph idx="1"/>
          </p:nvPr>
        </p:nvSpPr>
        <p:spPr>
          <a:xfrm>
            <a:off x="457200" y="381000"/>
            <a:ext cx="8229600" cy="5745163"/>
          </a:xfrm>
        </p:spPr>
        <p:txBody>
          <a:bodyPr/>
          <a:lstStyle/>
          <a:p>
            <a:pPr>
              <a:buNone/>
            </a:pPr>
            <a:r>
              <a:rPr lang="ru-RU" dirty="0" smtClean="0">
                <a:latin typeface="Cascadia Code Light" pitchFamily="49" charset="0"/>
                <a:cs typeface="Cascadia Code Light" pitchFamily="49" charset="0"/>
              </a:rPr>
              <a:t>ПРАКТИКАА)</a:t>
            </a:r>
            <a:endParaRPr lang="ru-RU" dirty="0">
              <a:latin typeface="Cascadia Code Light" pitchFamily="49" charset="0"/>
              <a:cs typeface="Cascadia Code Light" pitchFamily="49" charset="0"/>
            </a:endParaRPr>
          </a:p>
        </p:txBody>
      </p:sp>
      <p:pic>
        <p:nvPicPr>
          <p:cNvPr id="12290" name="Picture 2"/>
          <p:cNvPicPr>
            <a:picLocks noChangeAspect="1" noChangeArrowheads="1"/>
          </p:cNvPicPr>
          <p:nvPr/>
        </p:nvPicPr>
        <p:blipFill>
          <a:blip r:embed="rId2" cstate="print"/>
          <a:srcRect/>
          <a:stretch>
            <a:fillRect/>
          </a:stretch>
        </p:blipFill>
        <p:spPr bwMode="auto">
          <a:xfrm>
            <a:off x="1676400" y="1600200"/>
            <a:ext cx="6210300" cy="4649241"/>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latin typeface="Cascadia Code Light" pitchFamily="49" charset="0"/>
                <a:cs typeface="Cascadia Code Light" pitchFamily="49" charset="0"/>
              </a:rPr>
              <a:t>0. Импорты</a:t>
            </a:r>
            <a:endParaRPr lang="ru-RU" dirty="0">
              <a:latin typeface="Cascadia Code Light" pitchFamily="49" charset="0"/>
              <a:cs typeface="Cascadia Code Light" pitchFamily="49" charset="0"/>
            </a:endParaRPr>
          </a:p>
        </p:txBody>
      </p:sp>
      <p:sp>
        <p:nvSpPr>
          <p:cNvPr id="3" name="Содержимое 2"/>
          <p:cNvSpPr>
            <a:spLocks noGrp="1"/>
          </p:cNvSpPr>
          <p:nvPr>
            <p:ph idx="1"/>
          </p:nvPr>
        </p:nvSpPr>
        <p:spPr>
          <a:xfrm>
            <a:off x="0" y="5334001"/>
            <a:ext cx="9144000" cy="1066800"/>
          </a:xfrm>
        </p:spPr>
        <p:txBody>
          <a:bodyPr/>
          <a:lstStyle/>
          <a:p>
            <a:endParaRPr lang="ru-RU" dirty="0"/>
          </a:p>
        </p:txBody>
      </p:sp>
      <p:pic>
        <p:nvPicPr>
          <p:cNvPr id="1026" name="Picture 2"/>
          <p:cNvPicPr>
            <a:picLocks noChangeAspect="1" noChangeArrowheads="1"/>
          </p:cNvPicPr>
          <p:nvPr/>
        </p:nvPicPr>
        <p:blipFill>
          <a:blip r:embed="rId3" cstate="print"/>
          <a:srcRect/>
          <a:stretch>
            <a:fillRect/>
          </a:stretch>
        </p:blipFill>
        <p:spPr bwMode="auto">
          <a:xfrm>
            <a:off x="0" y="1371600"/>
            <a:ext cx="10627057" cy="47244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1066800"/>
          </a:xfrm>
        </p:spPr>
        <p:txBody>
          <a:bodyPr>
            <a:normAutofit/>
          </a:bodyPr>
          <a:lstStyle/>
          <a:p>
            <a:r>
              <a:rPr lang="ru-RU" sz="3200" dirty="0" smtClean="0">
                <a:latin typeface="Cascadia Code Light" pitchFamily="49" charset="0"/>
                <a:cs typeface="Cascadia Code Light" pitchFamily="49" charset="0"/>
              </a:rPr>
              <a:t>Как подключить </a:t>
            </a:r>
            <a:r>
              <a:rPr lang="en-US" sz="3200" dirty="0" smtClean="0">
                <a:latin typeface="Cascadia Code Light" pitchFamily="49" charset="0"/>
                <a:cs typeface="Cascadia Code Light" pitchFamily="49" charset="0"/>
              </a:rPr>
              <a:t>GPU </a:t>
            </a:r>
            <a:r>
              <a:rPr lang="ru-RU" sz="3200" dirty="0" smtClean="0">
                <a:latin typeface="Cascadia Code Light" pitchFamily="49" charset="0"/>
                <a:cs typeface="Cascadia Code Light" pitchFamily="49" charset="0"/>
              </a:rPr>
              <a:t>в </a:t>
            </a:r>
            <a:r>
              <a:rPr lang="en-US" sz="3200" dirty="0" err="1" smtClean="0">
                <a:latin typeface="Cascadia Code Light" pitchFamily="49" charset="0"/>
                <a:cs typeface="Cascadia Code Light" pitchFamily="49" charset="0"/>
              </a:rPr>
              <a:t>Collab</a:t>
            </a:r>
            <a:endParaRPr lang="ru-RU" sz="3200" dirty="0">
              <a:latin typeface="Cascadia Code Light" pitchFamily="49" charset="0"/>
              <a:cs typeface="Cascadia Code Light" pitchFamily="49" charset="0"/>
            </a:endParaRPr>
          </a:p>
        </p:txBody>
      </p:sp>
      <p:sp>
        <p:nvSpPr>
          <p:cNvPr id="3" name="Содержимое 2"/>
          <p:cNvSpPr>
            <a:spLocks noGrp="1"/>
          </p:cNvSpPr>
          <p:nvPr>
            <p:ph idx="1"/>
          </p:nvPr>
        </p:nvSpPr>
        <p:spPr>
          <a:xfrm>
            <a:off x="228600" y="990601"/>
            <a:ext cx="8915400" cy="1447800"/>
          </a:xfrm>
        </p:spPr>
        <p:txBody>
          <a:bodyPr>
            <a:normAutofit lnSpcReduction="10000"/>
          </a:bodyPr>
          <a:lstStyle/>
          <a:p>
            <a:pPr>
              <a:buNone/>
            </a:pPr>
            <a:r>
              <a:rPr lang="ru-RU" dirty="0" smtClean="0">
                <a:latin typeface="Cascadia Code Light" pitchFamily="49" charset="0"/>
                <a:cs typeface="Cascadia Code Light" pitchFamily="49" charset="0"/>
              </a:rPr>
              <a:t>Среда выполнения -</a:t>
            </a:r>
            <a:r>
              <a:rPr lang="en-US" dirty="0" smtClean="0">
                <a:latin typeface="Cascadia Code Light" pitchFamily="49" charset="0"/>
                <a:cs typeface="Cascadia Code Light" pitchFamily="49" charset="0"/>
              </a:rPr>
              <a:t>&gt;</a:t>
            </a:r>
            <a:r>
              <a:rPr lang="ru-RU" dirty="0" smtClean="0">
                <a:latin typeface="Cascadia Code Light" pitchFamily="49" charset="0"/>
                <a:cs typeface="Cascadia Code Light" pitchFamily="49" charset="0"/>
              </a:rPr>
              <a:t> сменить среду выполнения -</a:t>
            </a:r>
            <a:r>
              <a:rPr lang="en-US" dirty="0" smtClean="0">
                <a:latin typeface="Cascadia Code Light" pitchFamily="49" charset="0"/>
                <a:cs typeface="Cascadia Code Light" pitchFamily="49" charset="0"/>
              </a:rPr>
              <a:t>&gt; </a:t>
            </a:r>
            <a:r>
              <a:rPr lang="ru-RU" dirty="0" smtClean="0">
                <a:latin typeface="Cascadia Code Light" pitchFamily="49" charset="0"/>
                <a:cs typeface="Cascadia Code Light" pitchFamily="49" charset="0"/>
              </a:rPr>
              <a:t>графический процессор Т4 -</a:t>
            </a:r>
            <a:r>
              <a:rPr lang="en-US" dirty="0" smtClean="0">
                <a:latin typeface="Cascadia Code Light" pitchFamily="49" charset="0"/>
                <a:cs typeface="Cascadia Code Light" pitchFamily="49" charset="0"/>
              </a:rPr>
              <a:t>&gt; </a:t>
            </a:r>
            <a:r>
              <a:rPr lang="ru-RU" dirty="0" smtClean="0">
                <a:latin typeface="Cascadia Code Light" pitchFamily="49" charset="0"/>
                <a:cs typeface="Cascadia Code Light" pitchFamily="49" charset="0"/>
              </a:rPr>
              <a:t>сохранить</a:t>
            </a:r>
            <a:endParaRPr lang="ru-RU" dirty="0">
              <a:latin typeface="Cascadia Code Light" pitchFamily="49" charset="0"/>
              <a:cs typeface="Cascadia Code Light" pitchFamily="49" charset="0"/>
            </a:endParaRPr>
          </a:p>
        </p:txBody>
      </p:sp>
      <p:pic>
        <p:nvPicPr>
          <p:cNvPr id="2050" name="Picture 2"/>
          <p:cNvPicPr>
            <a:picLocks noChangeAspect="1" noChangeArrowheads="1"/>
          </p:cNvPicPr>
          <p:nvPr/>
        </p:nvPicPr>
        <p:blipFill>
          <a:blip r:embed="rId2" cstate="print"/>
          <a:srcRect/>
          <a:stretch>
            <a:fillRect/>
          </a:stretch>
        </p:blipFill>
        <p:spPr bwMode="auto">
          <a:xfrm>
            <a:off x="0" y="2667000"/>
            <a:ext cx="5597525" cy="3840737"/>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cstate="print"/>
          <a:srcRect/>
          <a:stretch>
            <a:fillRect/>
          </a:stretch>
        </p:blipFill>
        <p:spPr bwMode="auto">
          <a:xfrm>
            <a:off x="5459582" y="2590800"/>
            <a:ext cx="3459345" cy="42672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1295400"/>
          </a:xfrm>
        </p:spPr>
        <p:txBody>
          <a:bodyPr>
            <a:noAutofit/>
          </a:bodyPr>
          <a:lstStyle/>
          <a:p>
            <a:r>
              <a:rPr lang="ru-RU" sz="3200" dirty="0" smtClean="0">
                <a:latin typeface="Cascadia Code Light" pitchFamily="49" charset="0"/>
                <a:cs typeface="Cascadia Code Light" pitchFamily="49" charset="0"/>
              </a:rPr>
              <a:t>Загружаем </a:t>
            </a:r>
            <a:r>
              <a:rPr lang="ru-RU" sz="3200" dirty="0" err="1" smtClean="0">
                <a:latin typeface="Cascadia Code Light" pitchFamily="49" charset="0"/>
                <a:cs typeface="Cascadia Code Light" pitchFamily="49" charset="0"/>
              </a:rPr>
              <a:t>предобученную</a:t>
            </a:r>
            <a:r>
              <a:rPr lang="ru-RU" sz="3200" dirty="0" smtClean="0">
                <a:latin typeface="Cascadia Code Light" pitchFamily="49" charset="0"/>
                <a:cs typeface="Cascadia Code Light" pitchFamily="49" charset="0"/>
              </a:rPr>
              <a:t> </a:t>
            </a:r>
            <a:r>
              <a:rPr lang="ru-RU" sz="3200" dirty="0" err="1" smtClean="0">
                <a:latin typeface="Cascadia Code Light" pitchFamily="49" charset="0"/>
                <a:cs typeface="Cascadia Code Light" pitchFamily="49" charset="0"/>
              </a:rPr>
              <a:t>нейросеть</a:t>
            </a:r>
            <a:r>
              <a:rPr lang="ru-RU" sz="3200" dirty="0" smtClean="0">
                <a:latin typeface="Cascadia Code Light" pitchFamily="49" charset="0"/>
                <a:cs typeface="Cascadia Code Light" pitchFamily="49" charset="0"/>
              </a:rPr>
              <a:t> </a:t>
            </a:r>
            <a:endParaRPr lang="ru-RU" sz="3200" dirty="0">
              <a:latin typeface="Cascadia Code Light" pitchFamily="49" charset="0"/>
              <a:cs typeface="Cascadia Code Light" pitchFamily="49" charset="0"/>
            </a:endParaRPr>
          </a:p>
        </p:txBody>
      </p:sp>
      <p:sp>
        <p:nvSpPr>
          <p:cNvPr id="3" name="Содержимое 2"/>
          <p:cNvSpPr>
            <a:spLocks noGrp="1"/>
          </p:cNvSpPr>
          <p:nvPr>
            <p:ph idx="1"/>
          </p:nvPr>
        </p:nvSpPr>
        <p:spPr>
          <a:xfrm>
            <a:off x="0" y="3962400"/>
            <a:ext cx="9144000" cy="2895600"/>
          </a:xfrm>
        </p:spPr>
        <p:txBody>
          <a:bodyPr>
            <a:noAutofit/>
          </a:bodyPr>
          <a:lstStyle/>
          <a:p>
            <a:r>
              <a:rPr lang="ru-RU" sz="1400" b="1" dirty="0" err="1" smtClean="0">
                <a:latin typeface="Cascadia Code Light" pitchFamily="49" charset="0"/>
                <a:cs typeface="Cascadia Code Light" pitchFamily="49" charset="0"/>
              </a:rPr>
              <a:t>model</a:t>
            </a:r>
            <a:r>
              <a:rPr lang="ru-RU" sz="1400" b="1" dirty="0" smtClean="0">
                <a:latin typeface="Cascadia Code Light" pitchFamily="49" charset="0"/>
                <a:cs typeface="Cascadia Code Light" pitchFamily="49" charset="0"/>
              </a:rPr>
              <a:t> = YOLO('yolov8n.pt')</a:t>
            </a:r>
            <a:r>
              <a:rPr lang="ru-RU" sz="1400" dirty="0" smtClean="0">
                <a:latin typeface="Cascadia Code Light" pitchFamily="49" charset="0"/>
                <a:cs typeface="Cascadia Code Light" pitchFamily="49" charset="0"/>
              </a:rPr>
              <a:t/>
            </a:r>
            <a:br>
              <a:rPr lang="ru-RU" sz="1400" dirty="0" smtClean="0">
                <a:latin typeface="Cascadia Code Light" pitchFamily="49" charset="0"/>
                <a:cs typeface="Cascadia Code Light" pitchFamily="49" charset="0"/>
              </a:rPr>
            </a:br>
            <a:r>
              <a:rPr lang="ru-RU" sz="1400" dirty="0" smtClean="0">
                <a:latin typeface="Cascadia Code Light" pitchFamily="49" charset="0"/>
                <a:cs typeface="Cascadia Code Light" pitchFamily="49" charset="0"/>
              </a:rPr>
              <a:t>Эта строка инициализирует объект </a:t>
            </a:r>
            <a:r>
              <a:rPr lang="ru-RU" sz="1400" dirty="0" err="1" smtClean="0">
                <a:latin typeface="Cascadia Code Light" pitchFamily="49" charset="0"/>
                <a:cs typeface="Cascadia Code Light" pitchFamily="49" charset="0"/>
              </a:rPr>
              <a:t>нейросети</a:t>
            </a:r>
            <a:r>
              <a:rPr lang="ru-RU" sz="1400" dirty="0" smtClean="0">
                <a:latin typeface="Cascadia Code Light" pitchFamily="49" charset="0"/>
                <a:cs typeface="Cascadia Code Light" pitchFamily="49" charset="0"/>
              </a:rPr>
              <a:t> и загружает в оперативную память её веса. Название файла yolov8n.pt содержит важную инженерную информацию</a:t>
            </a:r>
            <a:r>
              <a:rPr lang="ru-RU" sz="1400" dirty="0" smtClean="0">
                <a:latin typeface="Cascadia Code Light" pitchFamily="49" charset="0"/>
                <a:cs typeface="Cascadia Code Light" pitchFamily="49" charset="0"/>
              </a:rPr>
              <a:t>:</a:t>
            </a:r>
          </a:p>
          <a:p>
            <a:r>
              <a:rPr lang="ru-RU" sz="1400" b="1" dirty="0" smtClean="0">
                <a:latin typeface="Cascadia Code Light" pitchFamily="49" charset="0"/>
                <a:cs typeface="Cascadia Code Light" pitchFamily="49" charset="0"/>
              </a:rPr>
              <a:t>yolov8</a:t>
            </a:r>
            <a:r>
              <a:rPr lang="ru-RU" sz="1400" dirty="0" smtClean="0">
                <a:latin typeface="Cascadia Code Light" pitchFamily="49" charset="0"/>
                <a:cs typeface="Cascadia Code Light" pitchFamily="49" charset="0"/>
              </a:rPr>
              <a:t> — указывает на используемую версию архитектуры (восьмую).</a:t>
            </a:r>
          </a:p>
          <a:p>
            <a:r>
              <a:rPr lang="ru-RU" sz="1400" b="1" dirty="0" err="1" smtClean="0">
                <a:latin typeface="Cascadia Code Light" pitchFamily="49" charset="0"/>
                <a:cs typeface="Cascadia Code Light" pitchFamily="49" charset="0"/>
              </a:rPr>
              <a:t>n</a:t>
            </a:r>
            <a:r>
              <a:rPr lang="ru-RU" sz="1400" b="1" dirty="0" smtClean="0">
                <a:latin typeface="Cascadia Code Light" pitchFamily="49" charset="0"/>
                <a:cs typeface="Cascadia Code Light" pitchFamily="49" charset="0"/>
              </a:rPr>
              <a:t> (</a:t>
            </a:r>
            <a:r>
              <a:rPr lang="ru-RU" sz="1400" b="1" dirty="0" err="1" smtClean="0">
                <a:latin typeface="Cascadia Code Light" pitchFamily="49" charset="0"/>
                <a:cs typeface="Cascadia Code Light" pitchFamily="49" charset="0"/>
              </a:rPr>
              <a:t>nano</a:t>
            </a:r>
            <a:r>
              <a:rPr lang="ru-RU" sz="1400" b="1" dirty="0" smtClean="0">
                <a:latin typeface="Cascadia Code Light" pitchFamily="49" charset="0"/>
                <a:cs typeface="Cascadia Code Light" pitchFamily="49" charset="0"/>
              </a:rPr>
              <a:t>)</a:t>
            </a:r>
            <a:r>
              <a:rPr lang="ru-RU" sz="1400" dirty="0" smtClean="0">
                <a:latin typeface="Cascadia Code Light" pitchFamily="49" charset="0"/>
                <a:cs typeface="Cascadia Code Light" pitchFamily="49" charset="0"/>
              </a:rPr>
              <a:t> — обозначает </a:t>
            </a:r>
            <a:r>
              <a:rPr lang="ru-RU" sz="1400" b="1" dirty="0" smtClean="0">
                <a:latin typeface="Cascadia Code Light" pitchFamily="49" charset="0"/>
                <a:cs typeface="Cascadia Code Light" pitchFamily="49" charset="0"/>
              </a:rPr>
              <a:t>размер архитектурной модификации</a:t>
            </a:r>
            <a:r>
              <a:rPr lang="ru-RU" sz="1400" dirty="0" smtClean="0">
                <a:latin typeface="Cascadia Code Light" pitchFamily="49" charset="0"/>
                <a:cs typeface="Cascadia Code Light" pitchFamily="49" charset="0"/>
              </a:rPr>
              <a:t>. Разработчики YOLO выпускают модели разного масштаба: от </a:t>
            </a:r>
            <a:r>
              <a:rPr lang="ru-RU" sz="1400" dirty="0" err="1" smtClean="0">
                <a:latin typeface="Cascadia Code Light" pitchFamily="49" charset="0"/>
                <a:cs typeface="Cascadia Code Light" pitchFamily="49" charset="0"/>
              </a:rPr>
              <a:t>n</a:t>
            </a:r>
            <a:r>
              <a:rPr lang="ru-RU" sz="1400" dirty="0" smtClean="0">
                <a:latin typeface="Cascadia Code Light" pitchFamily="49" charset="0"/>
                <a:cs typeface="Cascadia Code Light" pitchFamily="49" charset="0"/>
              </a:rPr>
              <a:t> (</a:t>
            </a:r>
            <a:r>
              <a:rPr lang="ru-RU" sz="1400" dirty="0" err="1" smtClean="0">
                <a:latin typeface="Cascadia Code Light" pitchFamily="49" charset="0"/>
                <a:cs typeface="Cascadia Code Light" pitchFamily="49" charset="0"/>
              </a:rPr>
              <a:t>nano</a:t>
            </a:r>
            <a:r>
              <a:rPr lang="ru-RU" sz="1400" dirty="0" smtClean="0">
                <a:latin typeface="Cascadia Code Light" pitchFamily="49" charset="0"/>
                <a:cs typeface="Cascadia Code Light" pitchFamily="49" charset="0"/>
              </a:rPr>
              <a:t>) до </a:t>
            </a:r>
            <a:r>
              <a:rPr lang="ru-RU" sz="1400" dirty="0" err="1" smtClean="0">
                <a:latin typeface="Cascadia Code Light" pitchFamily="49" charset="0"/>
                <a:cs typeface="Cascadia Code Light" pitchFamily="49" charset="0"/>
              </a:rPr>
              <a:t>x</a:t>
            </a:r>
            <a:r>
              <a:rPr lang="ru-RU" sz="1400" dirty="0" smtClean="0">
                <a:latin typeface="Cascadia Code Light" pitchFamily="49" charset="0"/>
                <a:cs typeface="Cascadia Code Light" pitchFamily="49" charset="0"/>
              </a:rPr>
              <a:t> (</a:t>
            </a:r>
            <a:r>
              <a:rPr lang="ru-RU" sz="1400" dirty="0" err="1" smtClean="0">
                <a:latin typeface="Cascadia Code Light" pitchFamily="49" charset="0"/>
                <a:cs typeface="Cascadia Code Light" pitchFamily="49" charset="0"/>
              </a:rPr>
              <a:t>extra</a:t>
            </a:r>
            <a:r>
              <a:rPr lang="ru-RU" sz="1400" dirty="0" smtClean="0">
                <a:latin typeface="Cascadia Code Light" pitchFamily="49" charset="0"/>
                <a:cs typeface="Cascadia Code Light" pitchFamily="49" charset="0"/>
              </a:rPr>
              <a:t> </a:t>
            </a:r>
            <a:r>
              <a:rPr lang="ru-RU" sz="1400" dirty="0" err="1" smtClean="0">
                <a:latin typeface="Cascadia Code Light" pitchFamily="49" charset="0"/>
                <a:cs typeface="Cascadia Code Light" pitchFamily="49" charset="0"/>
              </a:rPr>
              <a:t>large</a:t>
            </a:r>
            <a:r>
              <a:rPr lang="ru-RU" sz="1400" dirty="0" smtClean="0">
                <a:latin typeface="Cascadia Code Light" pitchFamily="49" charset="0"/>
                <a:cs typeface="Cascadia Code Light" pitchFamily="49" charset="0"/>
              </a:rPr>
              <a:t>).</a:t>
            </a:r>
          </a:p>
          <a:p>
            <a:pPr lvl="1"/>
            <a:r>
              <a:rPr lang="ru-RU" sz="1400" i="1" dirty="0" err="1" smtClean="0">
                <a:latin typeface="Cascadia Code Light" pitchFamily="49" charset="0"/>
                <a:cs typeface="Cascadia Code Light" pitchFamily="49" charset="0"/>
              </a:rPr>
              <a:t>nano</a:t>
            </a:r>
            <a:r>
              <a:rPr lang="ru-RU" sz="1400" dirty="0" smtClean="0">
                <a:latin typeface="Cascadia Code Light" pitchFamily="49" charset="0"/>
                <a:cs typeface="Cascadia Code Light" pitchFamily="49" charset="0"/>
              </a:rPr>
              <a:t> — самая легкая и быстрая версия (идеальна для обучения в </a:t>
            </a:r>
            <a:r>
              <a:rPr lang="ru-RU" sz="1400" dirty="0" err="1" smtClean="0">
                <a:latin typeface="Cascadia Code Light" pitchFamily="49" charset="0"/>
                <a:cs typeface="Cascadia Code Light" pitchFamily="49" charset="0"/>
              </a:rPr>
              <a:t>Colab</a:t>
            </a:r>
            <a:r>
              <a:rPr lang="ru-RU" sz="1400" dirty="0" smtClean="0">
                <a:latin typeface="Cascadia Code Light" pitchFamily="49" charset="0"/>
                <a:cs typeface="Cascadia Code Light" pitchFamily="49" charset="0"/>
              </a:rPr>
              <a:t> и работы в реальном времени).</a:t>
            </a:r>
          </a:p>
          <a:p>
            <a:pPr lvl="1"/>
            <a:r>
              <a:rPr lang="ru-RU" sz="1400" dirty="0" err="1" smtClean="0">
                <a:latin typeface="Cascadia Code Light" pitchFamily="49" charset="0"/>
                <a:cs typeface="Cascadia Code Light" pitchFamily="49" charset="0"/>
              </a:rPr>
              <a:t>x</a:t>
            </a:r>
            <a:r>
              <a:rPr lang="ru-RU" sz="1400" dirty="0" smtClean="0">
                <a:latin typeface="Cascadia Code Light" pitchFamily="49" charset="0"/>
                <a:cs typeface="Cascadia Code Light" pitchFamily="49" charset="0"/>
              </a:rPr>
              <a:t> </a:t>
            </a:r>
            <a:r>
              <a:rPr lang="ru-RU" sz="1400" dirty="0" smtClean="0">
                <a:latin typeface="Cascadia Code Light" pitchFamily="49" charset="0"/>
                <a:cs typeface="Cascadia Code Light" pitchFamily="49" charset="0"/>
              </a:rPr>
              <a:t>— самая тяжелая, требующая много памяти, но обеспечивающая максимальную точность.</a:t>
            </a:r>
          </a:p>
          <a:p>
            <a:r>
              <a:rPr lang="ru-RU" sz="1400" b="1" dirty="0" smtClean="0">
                <a:latin typeface="Cascadia Code Light" pitchFamily="49" charset="0"/>
                <a:cs typeface="Cascadia Code Light" pitchFamily="49" charset="0"/>
              </a:rPr>
              <a:t>.</a:t>
            </a:r>
            <a:r>
              <a:rPr lang="ru-RU" sz="1400" b="1" dirty="0" err="1" smtClean="0">
                <a:latin typeface="Cascadia Code Light" pitchFamily="49" charset="0"/>
                <a:cs typeface="Cascadia Code Light" pitchFamily="49" charset="0"/>
              </a:rPr>
              <a:t>pt</a:t>
            </a:r>
            <a:r>
              <a:rPr lang="ru-RU" sz="1400" dirty="0" smtClean="0">
                <a:latin typeface="Cascadia Code Light" pitchFamily="49" charset="0"/>
                <a:cs typeface="Cascadia Code Light" pitchFamily="49" charset="0"/>
              </a:rPr>
              <a:t> — расширение файла, указывающее на формат </a:t>
            </a:r>
            <a:r>
              <a:rPr lang="ru-RU" sz="1400" b="1" dirty="0" err="1" smtClean="0">
                <a:latin typeface="Cascadia Code Light" pitchFamily="49" charset="0"/>
                <a:cs typeface="Cascadia Code Light" pitchFamily="49" charset="0"/>
              </a:rPr>
              <a:t>PyTorch</a:t>
            </a:r>
            <a:r>
              <a:rPr lang="ru-RU" sz="1400" dirty="0" smtClean="0">
                <a:latin typeface="Cascadia Code Light" pitchFamily="49" charset="0"/>
                <a:cs typeface="Cascadia Code Light" pitchFamily="49" charset="0"/>
              </a:rPr>
              <a:t> (тензорный движок, на котором написана YOLO).</a:t>
            </a:r>
          </a:p>
          <a:p>
            <a:endParaRPr lang="ru-RU" sz="1400" dirty="0" smtClean="0">
              <a:latin typeface="Cascadia Code Light" pitchFamily="49" charset="0"/>
              <a:cs typeface="Cascadia Code Light" pitchFamily="49" charset="0"/>
            </a:endParaRPr>
          </a:p>
          <a:p>
            <a:endParaRPr lang="ru-RU" sz="1400" dirty="0">
              <a:latin typeface="Cascadia Code Light" pitchFamily="49" charset="0"/>
              <a:cs typeface="Cascadia Code Light" pitchFamily="49" charset="0"/>
            </a:endParaRPr>
          </a:p>
        </p:txBody>
      </p:sp>
      <p:pic>
        <p:nvPicPr>
          <p:cNvPr id="3074" name="Picture 2"/>
          <p:cNvPicPr>
            <a:picLocks noChangeAspect="1" noChangeArrowheads="1"/>
          </p:cNvPicPr>
          <p:nvPr/>
        </p:nvPicPr>
        <p:blipFill>
          <a:blip r:embed="rId3" cstate="print"/>
          <a:srcRect/>
          <a:stretch>
            <a:fillRect/>
          </a:stretch>
        </p:blipFill>
        <p:spPr bwMode="auto">
          <a:xfrm>
            <a:off x="457200" y="1143000"/>
            <a:ext cx="7903357" cy="2871787"/>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0" y="1676400"/>
            <a:ext cx="9144000" cy="5181600"/>
          </a:xfrm>
        </p:spPr>
        <p:txBody>
          <a:bodyPr>
            <a:normAutofit fontScale="55000" lnSpcReduction="20000"/>
          </a:bodyPr>
          <a:lstStyle/>
          <a:p>
            <a:r>
              <a:rPr lang="ru-RU" dirty="0" smtClean="0">
                <a:latin typeface="Cascadia Code Light" pitchFamily="49" charset="0"/>
                <a:cs typeface="Cascadia Code Light" pitchFamily="49" charset="0"/>
              </a:rPr>
              <a:t>После того как </a:t>
            </a:r>
            <a:r>
              <a:rPr lang="ru-RU" dirty="0" err="1" smtClean="0">
                <a:latin typeface="Cascadia Code Light" pitchFamily="49" charset="0"/>
                <a:cs typeface="Cascadia Code Light" pitchFamily="49" charset="0"/>
              </a:rPr>
              <a:t>нейросеть</a:t>
            </a:r>
            <a:r>
              <a:rPr lang="ru-RU" dirty="0" smtClean="0">
                <a:latin typeface="Cascadia Code Light" pitchFamily="49" charset="0"/>
                <a:cs typeface="Cascadia Code Light" pitchFamily="49" charset="0"/>
              </a:rPr>
              <a:t> выполнила предсказание и вернула объект </a:t>
            </a:r>
            <a:r>
              <a:rPr lang="ru-RU" dirty="0" err="1" smtClean="0">
                <a:latin typeface="Cascadia Code Light" pitchFamily="49" charset="0"/>
                <a:cs typeface="Cascadia Code Light" pitchFamily="49" charset="0"/>
              </a:rPr>
              <a:t>results</a:t>
            </a:r>
            <a:r>
              <a:rPr lang="ru-RU" dirty="0" smtClean="0">
                <a:latin typeface="Cascadia Code Light" pitchFamily="49" charset="0"/>
                <a:cs typeface="Cascadia Code Light" pitchFamily="49" charset="0"/>
              </a:rPr>
              <a:t>, необходимо визуализировать полученные данные. Для этого используется всего две строки кода</a:t>
            </a:r>
            <a:r>
              <a:rPr lang="ru-RU" dirty="0" smtClean="0">
                <a:latin typeface="Cascadia Code Light" pitchFamily="49" charset="0"/>
                <a:cs typeface="Cascadia Code Light" pitchFamily="49" charset="0"/>
              </a:rPr>
              <a:t>.</a:t>
            </a:r>
          </a:p>
          <a:p>
            <a:endParaRPr lang="ru-RU" dirty="0" smtClean="0">
              <a:latin typeface="Cascadia Code Light" pitchFamily="49" charset="0"/>
              <a:cs typeface="Cascadia Code Light" pitchFamily="49" charset="0"/>
            </a:endParaRPr>
          </a:p>
          <a:p>
            <a:r>
              <a:rPr lang="ru-RU" b="1" dirty="0" smtClean="0">
                <a:latin typeface="Cascadia Code Light" pitchFamily="49" charset="0"/>
                <a:cs typeface="Cascadia Code Light" pitchFamily="49" charset="0"/>
              </a:rPr>
              <a:t>1. </a:t>
            </a:r>
            <a:r>
              <a:rPr lang="ru-RU" b="1" dirty="0" err="1" smtClean="0">
                <a:latin typeface="Cascadia Code Light" pitchFamily="49" charset="0"/>
                <a:cs typeface="Cascadia Code Light" pitchFamily="49" charset="0"/>
              </a:rPr>
              <a:t>annotated_frame</a:t>
            </a:r>
            <a:r>
              <a:rPr lang="ru-RU" b="1" dirty="0" smtClean="0">
                <a:latin typeface="Cascadia Code Light" pitchFamily="49" charset="0"/>
                <a:cs typeface="Cascadia Code Light" pitchFamily="49" charset="0"/>
              </a:rPr>
              <a:t> = </a:t>
            </a:r>
            <a:r>
              <a:rPr lang="ru-RU" b="1" dirty="0" err="1" smtClean="0">
                <a:latin typeface="Cascadia Code Light" pitchFamily="49" charset="0"/>
                <a:cs typeface="Cascadia Code Light" pitchFamily="49" charset="0"/>
              </a:rPr>
              <a:t>results</a:t>
            </a:r>
            <a:r>
              <a:rPr lang="ru-RU" b="1" dirty="0" smtClean="0">
                <a:latin typeface="Cascadia Code Light" pitchFamily="49" charset="0"/>
                <a:cs typeface="Cascadia Code Light" pitchFamily="49" charset="0"/>
              </a:rPr>
              <a:t>[0].</a:t>
            </a:r>
            <a:r>
              <a:rPr lang="ru-RU" b="1" dirty="0" err="1" smtClean="0">
                <a:latin typeface="Cascadia Code Light" pitchFamily="49" charset="0"/>
                <a:cs typeface="Cascadia Code Light" pitchFamily="49" charset="0"/>
              </a:rPr>
              <a:t>plot</a:t>
            </a:r>
            <a:r>
              <a:rPr lang="ru-RU" b="1" dirty="0" smtClean="0">
                <a:latin typeface="Cascadia Code Light" pitchFamily="49" charset="0"/>
                <a:cs typeface="Cascadia Code Light" pitchFamily="49" charset="0"/>
              </a:rPr>
              <a:t>()</a:t>
            </a:r>
            <a:endParaRPr lang="ru-RU" dirty="0" smtClean="0">
              <a:latin typeface="Cascadia Code Light" pitchFamily="49" charset="0"/>
              <a:cs typeface="Cascadia Code Light" pitchFamily="49" charset="0"/>
            </a:endParaRPr>
          </a:p>
          <a:p>
            <a:r>
              <a:rPr lang="ru-RU" b="1" dirty="0" err="1" smtClean="0">
                <a:latin typeface="Cascadia Code Light" pitchFamily="49" charset="0"/>
                <a:cs typeface="Cascadia Code Light" pitchFamily="49" charset="0"/>
              </a:rPr>
              <a:t>results</a:t>
            </a:r>
            <a:r>
              <a:rPr lang="ru-RU" dirty="0" smtClean="0">
                <a:latin typeface="Cascadia Code Light" pitchFamily="49" charset="0"/>
                <a:cs typeface="Cascadia Code Light" pitchFamily="49" charset="0"/>
              </a:rPr>
              <a:t> — это объект, содержащий все предсказания </a:t>
            </a:r>
            <a:r>
              <a:rPr lang="ru-RU" dirty="0" err="1" smtClean="0">
                <a:latin typeface="Cascadia Code Light" pitchFamily="49" charset="0"/>
                <a:cs typeface="Cascadia Code Light" pitchFamily="49" charset="0"/>
              </a:rPr>
              <a:t>нейросети</a:t>
            </a:r>
            <a:r>
              <a:rPr lang="ru-RU" dirty="0" smtClean="0">
                <a:latin typeface="Cascadia Code Light" pitchFamily="49" charset="0"/>
                <a:cs typeface="Cascadia Code Light" pitchFamily="49" charset="0"/>
              </a:rPr>
              <a:t> (координаты, классы, уверенность).</a:t>
            </a:r>
          </a:p>
          <a:p>
            <a:r>
              <a:rPr lang="ru-RU" b="1" dirty="0" smtClean="0">
                <a:latin typeface="Cascadia Code Light" pitchFamily="49" charset="0"/>
                <a:cs typeface="Cascadia Code Light" pitchFamily="49" charset="0"/>
              </a:rPr>
              <a:t>[0]</a:t>
            </a:r>
            <a:r>
              <a:rPr lang="ru-RU" dirty="0" smtClean="0">
                <a:latin typeface="Cascadia Code Light" pitchFamily="49" charset="0"/>
                <a:cs typeface="Cascadia Code Light" pitchFamily="49" charset="0"/>
              </a:rPr>
              <a:t> — индекс, указывающий на первое изображение. </a:t>
            </a:r>
            <a:r>
              <a:rPr lang="ru-RU" dirty="0" err="1" smtClean="0">
                <a:latin typeface="Cascadia Code Light" pitchFamily="49" charset="0"/>
                <a:cs typeface="Cascadia Code Light" pitchFamily="49" charset="0"/>
              </a:rPr>
              <a:t>Нейросети</a:t>
            </a:r>
            <a:r>
              <a:rPr lang="ru-RU" dirty="0" smtClean="0">
                <a:latin typeface="Cascadia Code Light" pitchFamily="49" charset="0"/>
                <a:cs typeface="Cascadia Code Light" pitchFamily="49" charset="0"/>
              </a:rPr>
              <a:t> всегда работают с </a:t>
            </a:r>
            <a:r>
              <a:rPr lang="ru-RU" dirty="0" err="1" smtClean="0">
                <a:latin typeface="Cascadia Code Light" pitchFamily="49" charset="0"/>
                <a:cs typeface="Cascadia Code Light" pitchFamily="49" charset="0"/>
              </a:rPr>
              <a:t>батчами</a:t>
            </a:r>
            <a:r>
              <a:rPr lang="ru-RU" dirty="0" smtClean="0">
                <a:latin typeface="Cascadia Code Light" pitchFamily="49" charset="0"/>
                <a:cs typeface="Cascadia Code Light" pitchFamily="49" charset="0"/>
              </a:rPr>
              <a:t> (пачками данных). Даже если мы передали одно изображение, YOLO обрабатывает его как </a:t>
            </a:r>
            <a:r>
              <a:rPr lang="ru-RU" dirty="0" err="1" smtClean="0">
                <a:latin typeface="Cascadia Code Light" pitchFamily="49" charset="0"/>
                <a:cs typeface="Cascadia Code Light" pitchFamily="49" charset="0"/>
              </a:rPr>
              <a:t>батч</a:t>
            </a:r>
            <a:r>
              <a:rPr lang="ru-RU" dirty="0" smtClean="0">
                <a:latin typeface="Cascadia Code Light" pitchFamily="49" charset="0"/>
                <a:cs typeface="Cascadia Code Light" pitchFamily="49" charset="0"/>
              </a:rPr>
              <a:t> размером 1. Поэтому мы обращаемся к нулевому элементу.</a:t>
            </a:r>
          </a:p>
          <a:p>
            <a:r>
              <a:rPr lang="ru-RU" b="1" dirty="0" smtClean="0">
                <a:latin typeface="Cascadia Code Light" pitchFamily="49" charset="0"/>
                <a:cs typeface="Cascadia Code Light" pitchFamily="49" charset="0"/>
              </a:rPr>
              <a:t>.</a:t>
            </a:r>
            <a:r>
              <a:rPr lang="ru-RU" b="1" dirty="0" err="1" smtClean="0">
                <a:latin typeface="Cascadia Code Light" pitchFamily="49" charset="0"/>
                <a:cs typeface="Cascadia Code Light" pitchFamily="49" charset="0"/>
              </a:rPr>
              <a:t>plot</a:t>
            </a:r>
            <a:r>
              <a:rPr lang="ru-RU" b="1" dirty="0" smtClean="0">
                <a:latin typeface="Cascadia Code Light" pitchFamily="49" charset="0"/>
                <a:cs typeface="Cascadia Code Light" pitchFamily="49" charset="0"/>
              </a:rPr>
              <a:t>()</a:t>
            </a:r>
            <a:r>
              <a:rPr lang="ru-RU" dirty="0" smtClean="0">
                <a:latin typeface="Cascadia Code Light" pitchFamily="49" charset="0"/>
                <a:cs typeface="Cascadia Code Light" pitchFamily="49" charset="0"/>
              </a:rPr>
              <a:t> — это встроенный метод библиотеки </a:t>
            </a:r>
            <a:r>
              <a:rPr lang="ru-RU" dirty="0" err="1" smtClean="0">
                <a:latin typeface="Cascadia Code Light" pitchFamily="49" charset="0"/>
                <a:cs typeface="Cascadia Code Light" pitchFamily="49" charset="0"/>
              </a:rPr>
              <a:t>Ultralytics</a:t>
            </a:r>
            <a:r>
              <a:rPr lang="ru-RU" dirty="0" smtClean="0">
                <a:latin typeface="Cascadia Code Light" pitchFamily="49" charset="0"/>
                <a:cs typeface="Cascadia Code Light" pitchFamily="49" charset="0"/>
              </a:rPr>
              <a:t>. Он берет исходное изображение и программно накладывает на него векторы предсказаний: рисует ограничивающие рамки (</a:t>
            </a:r>
            <a:r>
              <a:rPr lang="ru-RU" dirty="0" err="1" smtClean="0">
                <a:latin typeface="Cascadia Code Light" pitchFamily="49" charset="0"/>
                <a:cs typeface="Cascadia Code Light" pitchFamily="49" charset="0"/>
              </a:rPr>
              <a:t>Bounding</a:t>
            </a:r>
            <a:r>
              <a:rPr lang="ru-RU" dirty="0" smtClean="0">
                <a:latin typeface="Cascadia Code Light" pitchFamily="49" charset="0"/>
                <a:cs typeface="Cascadia Code Light" pitchFamily="49" charset="0"/>
              </a:rPr>
              <a:t> </a:t>
            </a:r>
            <a:r>
              <a:rPr lang="ru-RU" dirty="0" err="1" smtClean="0">
                <a:latin typeface="Cascadia Code Light" pitchFamily="49" charset="0"/>
                <a:cs typeface="Cascadia Code Light" pitchFamily="49" charset="0"/>
              </a:rPr>
              <a:t>Boxes</a:t>
            </a:r>
            <a:r>
              <a:rPr lang="ru-RU" dirty="0" smtClean="0">
                <a:latin typeface="Cascadia Code Light" pitchFamily="49" charset="0"/>
                <a:cs typeface="Cascadia Code Light" pitchFamily="49" charset="0"/>
              </a:rPr>
              <a:t>), подписывает классы объектов и выводит показатель уверенности (</a:t>
            </a:r>
            <a:r>
              <a:rPr lang="ru-RU" dirty="0" err="1" smtClean="0">
                <a:latin typeface="Cascadia Code Light" pitchFamily="49" charset="0"/>
                <a:cs typeface="Cascadia Code Light" pitchFamily="49" charset="0"/>
              </a:rPr>
              <a:t>Confidence</a:t>
            </a:r>
            <a:r>
              <a:rPr lang="ru-RU" dirty="0" smtClean="0">
                <a:latin typeface="Cascadia Code Light" pitchFamily="49" charset="0"/>
                <a:cs typeface="Cascadia Code Light" pitchFamily="49" charset="0"/>
              </a:rPr>
              <a:t>). Результат сохраняется в переменную </a:t>
            </a:r>
            <a:r>
              <a:rPr lang="ru-RU" dirty="0" err="1" smtClean="0">
                <a:latin typeface="Cascadia Code Light" pitchFamily="49" charset="0"/>
                <a:cs typeface="Cascadia Code Light" pitchFamily="49" charset="0"/>
              </a:rPr>
              <a:t>annotated_frame</a:t>
            </a:r>
            <a:r>
              <a:rPr lang="ru-RU" dirty="0" smtClean="0">
                <a:latin typeface="Cascadia Code Light" pitchFamily="49" charset="0"/>
                <a:cs typeface="Cascadia Code Light" pitchFamily="49" charset="0"/>
              </a:rPr>
              <a:t> </a:t>
            </a:r>
            <a:r>
              <a:rPr lang="ru-RU" dirty="0" smtClean="0">
                <a:latin typeface="Cascadia Code Light" pitchFamily="49" charset="0"/>
                <a:cs typeface="Cascadia Code Light" pitchFamily="49" charset="0"/>
              </a:rPr>
              <a:t>с </a:t>
            </a:r>
            <a:r>
              <a:rPr lang="ru-RU" dirty="0" smtClean="0">
                <a:latin typeface="Cascadia Code Light" pitchFamily="49" charset="0"/>
                <a:cs typeface="Cascadia Code Light" pitchFamily="49" charset="0"/>
              </a:rPr>
              <a:t>новым изображением.</a:t>
            </a:r>
          </a:p>
          <a:p>
            <a:r>
              <a:rPr lang="ru-RU" b="1" dirty="0" smtClean="0">
                <a:latin typeface="Cascadia Code Light" pitchFamily="49" charset="0"/>
                <a:cs typeface="Cascadia Code Light" pitchFamily="49" charset="0"/>
              </a:rPr>
              <a:t>2. cv2_imshow(</a:t>
            </a:r>
            <a:r>
              <a:rPr lang="ru-RU" b="1" dirty="0" err="1" smtClean="0">
                <a:latin typeface="Cascadia Code Light" pitchFamily="49" charset="0"/>
                <a:cs typeface="Cascadia Code Light" pitchFamily="49" charset="0"/>
              </a:rPr>
              <a:t>annotated_frame</a:t>
            </a:r>
            <a:r>
              <a:rPr lang="ru-RU" b="1" dirty="0" smtClean="0">
                <a:latin typeface="Cascadia Code Light" pitchFamily="49" charset="0"/>
                <a:cs typeface="Cascadia Code Light" pitchFamily="49" charset="0"/>
              </a:rPr>
              <a:t>)</a:t>
            </a:r>
            <a:endParaRPr lang="ru-RU" dirty="0" smtClean="0">
              <a:latin typeface="Cascadia Code Light" pitchFamily="49" charset="0"/>
              <a:cs typeface="Cascadia Code Light" pitchFamily="49" charset="0"/>
            </a:endParaRPr>
          </a:p>
          <a:p>
            <a:r>
              <a:rPr lang="ru-RU" dirty="0" smtClean="0">
                <a:latin typeface="Cascadia Code Light" pitchFamily="49" charset="0"/>
                <a:cs typeface="Cascadia Code Light" pitchFamily="49" charset="0"/>
              </a:rPr>
              <a:t>Функция </a:t>
            </a:r>
            <a:r>
              <a:rPr lang="ru-RU" dirty="0" smtClean="0">
                <a:latin typeface="Cascadia Code Light" pitchFamily="49" charset="0"/>
                <a:cs typeface="Cascadia Code Light" pitchFamily="49" charset="0"/>
              </a:rPr>
              <a:t>cv2_imshow() «встраивает» изображение напрямую в вывод ячейки блокнота (</a:t>
            </a:r>
            <a:r>
              <a:rPr lang="ru-RU" dirty="0" err="1" smtClean="0">
                <a:latin typeface="Cascadia Code Light" pitchFamily="49" charset="0"/>
                <a:cs typeface="Cascadia Code Light" pitchFamily="49" charset="0"/>
              </a:rPr>
              <a:t>output</a:t>
            </a:r>
            <a:r>
              <a:rPr lang="ru-RU" dirty="0" smtClean="0">
                <a:latin typeface="Cascadia Code Light" pitchFamily="49" charset="0"/>
                <a:cs typeface="Cascadia Code Light" pitchFamily="49" charset="0"/>
              </a:rPr>
              <a:t> </a:t>
            </a:r>
            <a:r>
              <a:rPr lang="ru-RU" dirty="0" err="1" smtClean="0">
                <a:latin typeface="Cascadia Code Light" pitchFamily="49" charset="0"/>
                <a:cs typeface="Cascadia Code Light" pitchFamily="49" charset="0"/>
              </a:rPr>
              <a:t>cell</a:t>
            </a:r>
            <a:r>
              <a:rPr lang="ru-RU" dirty="0" smtClean="0">
                <a:latin typeface="Cascadia Code Light" pitchFamily="49" charset="0"/>
                <a:cs typeface="Cascadia Code Light" pitchFamily="49" charset="0"/>
              </a:rPr>
              <a:t>), что позволяет нам сразу увидеть результат работы модели.</a:t>
            </a:r>
          </a:p>
          <a:p>
            <a:endParaRPr lang="ru-RU" dirty="0">
              <a:latin typeface="Cascadia Code Light" pitchFamily="49" charset="0"/>
              <a:cs typeface="Cascadia Code Light" pitchFamily="49" charset="0"/>
            </a:endParaRPr>
          </a:p>
        </p:txBody>
      </p:sp>
      <p:pic>
        <p:nvPicPr>
          <p:cNvPr id="4099" name="Picture 3"/>
          <p:cNvPicPr>
            <a:picLocks noChangeAspect="1" noChangeArrowheads="1"/>
          </p:cNvPicPr>
          <p:nvPr/>
        </p:nvPicPr>
        <p:blipFill>
          <a:blip r:embed="rId2" cstate="print"/>
          <a:srcRect/>
          <a:stretch>
            <a:fillRect/>
          </a:stretch>
        </p:blipFill>
        <p:spPr bwMode="auto">
          <a:xfrm>
            <a:off x="0" y="304800"/>
            <a:ext cx="10218796" cy="11430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Содержимое 2"/>
          <p:cNvSpPr>
            <a:spLocks noGrp="1"/>
          </p:cNvSpPr>
          <p:nvPr>
            <p:ph idx="1"/>
          </p:nvPr>
        </p:nvSpPr>
        <p:spPr>
          <a:xfrm>
            <a:off x="0" y="1"/>
            <a:ext cx="8915400" cy="2743200"/>
          </a:xfrm>
        </p:spPr>
        <p:txBody>
          <a:bodyPr>
            <a:normAutofit fontScale="70000" lnSpcReduction="20000"/>
          </a:bodyPr>
          <a:lstStyle/>
          <a:p>
            <a:r>
              <a:rPr lang="ru-RU" b="1" dirty="0" smtClean="0">
                <a:latin typeface="Cascadia Code Light" pitchFamily="49" charset="0"/>
                <a:cs typeface="Cascadia Code Light" pitchFamily="49" charset="0"/>
              </a:rPr>
              <a:t>Анализ результата </a:t>
            </a:r>
            <a:r>
              <a:rPr lang="ru-RU" dirty="0" smtClean="0">
                <a:latin typeface="Cascadia Code Light" pitchFamily="49" charset="0"/>
                <a:cs typeface="Cascadia Code Light" pitchFamily="49" charset="0"/>
              </a:rPr>
              <a:t/>
            </a:r>
            <a:br>
              <a:rPr lang="ru-RU" dirty="0" smtClean="0">
                <a:latin typeface="Cascadia Code Light" pitchFamily="49" charset="0"/>
                <a:cs typeface="Cascadia Code Light" pitchFamily="49" charset="0"/>
              </a:rPr>
            </a:br>
            <a:r>
              <a:rPr lang="ru-RU" dirty="0" smtClean="0">
                <a:latin typeface="Cascadia Code Light" pitchFamily="49" charset="0"/>
                <a:cs typeface="Cascadia Code Light" pitchFamily="49" charset="0"/>
              </a:rPr>
              <a:t>На изображении видны результаты работы модели. Синие рамки обозначают класс </a:t>
            </a:r>
            <a:r>
              <a:rPr lang="ru-RU" dirty="0" err="1" smtClean="0">
                <a:latin typeface="Cascadia Code Light" pitchFamily="49" charset="0"/>
                <a:cs typeface="Cascadia Code Light" pitchFamily="49" charset="0"/>
              </a:rPr>
              <a:t>person</a:t>
            </a:r>
            <a:r>
              <a:rPr lang="ru-RU" dirty="0" smtClean="0">
                <a:latin typeface="Cascadia Code Light" pitchFamily="49" charset="0"/>
                <a:cs typeface="Cascadia Code Light" pitchFamily="49" charset="0"/>
              </a:rPr>
              <a:t> с высокой уверенностью (0.84 и 0.82). Желтая рамка обозначает класс </a:t>
            </a:r>
            <a:r>
              <a:rPr lang="ru-RU" dirty="0" err="1" smtClean="0">
                <a:latin typeface="Cascadia Code Light" pitchFamily="49" charset="0"/>
                <a:cs typeface="Cascadia Code Light" pitchFamily="49" charset="0"/>
              </a:rPr>
              <a:t>tie</a:t>
            </a:r>
            <a:r>
              <a:rPr lang="ru-RU" dirty="0" smtClean="0">
                <a:latin typeface="Cascadia Code Light" pitchFamily="49" charset="0"/>
                <a:cs typeface="Cascadia Code Light" pitchFamily="49" charset="0"/>
              </a:rPr>
              <a:t> (галстук) с более низкой уверенностью (0.29). Это демонстрирует, что модель не просто выдает бинарный ответ «да/нет», а ранжирует свою уверенность в каждом найденном объекте.</a:t>
            </a:r>
          </a:p>
          <a:p>
            <a:endParaRPr lang="ru-RU" dirty="0">
              <a:latin typeface="Cascadia Code Light" pitchFamily="49" charset="0"/>
              <a:cs typeface="Cascadia Code Light" pitchFamily="49" charset="0"/>
            </a:endParaRPr>
          </a:p>
        </p:txBody>
      </p:sp>
      <p:pic>
        <p:nvPicPr>
          <p:cNvPr id="5122" name="Picture 2"/>
          <p:cNvPicPr>
            <a:picLocks noChangeAspect="1" noChangeArrowheads="1"/>
          </p:cNvPicPr>
          <p:nvPr/>
        </p:nvPicPr>
        <p:blipFill>
          <a:blip r:embed="rId2" cstate="print"/>
          <a:srcRect/>
          <a:stretch>
            <a:fillRect/>
          </a:stretch>
        </p:blipFill>
        <p:spPr bwMode="auto">
          <a:xfrm>
            <a:off x="914400" y="2250026"/>
            <a:ext cx="6812552" cy="4607974"/>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762000"/>
          </a:xfrm>
        </p:spPr>
        <p:txBody>
          <a:bodyPr/>
          <a:lstStyle/>
          <a:p>
            <a:r>
              <a:rPr lang="ru-RU" dirty="0" smtClean="0">
                <a:latin typeface="Cascadia Code Light" pitchFamily="49" charset="0"/>
                <a:cs typeface="Cascadia Code Light" pitchFamily="49" charset="0"/>
              </a:rPr>
              <a:t>Расчленяем </a:t>
            </a:r>
            <a:r>
              <a:rPr lang="en-US" dirty="0" smtClean="0">
                <a:latin typeface="Cascadia Code Light" pitchFamily="49" charset="0"/>
                <a:cs typeface="Cascadia Code Light" pitchFamily="49" charset="0"/>
              </a:rPr>
              <a:t>results</a:t>
            </a:r>
            <a:endParaRPr lang="ru-RU" dirty="0">
              <a:latin typeface="Cascadia Code Light" pitchFamily="49" charset="0"/>
              <a:cs typeface="Cascadia Code Light" pitchFamily="49" charset="0"/>
            </a:endParaRPr>
          </a:p>
        </p:txBody>
      </p:sp>
      <p:sp>
        <p:nvSpPr>
          <p:cNvPr id="3" name="Содержимое 2"/>
          <p:cNvSpPr>
            <a:spLocks noGrp="1"/>
          </p:cNvSpPr>
          <p:nvPr>
            <p:ph idx="1"/>
          </p:nvPr>
        </p:nvSpPr>
        <p:spPr>
          <a:xfrm>
            <a:off x="0" y="4038600"/>
            <a:ext cx="9144000" cy="2819400"/>
          </a:xfrm>
        </p:spPr>
        <p:txBody>
          <a:bodyPr>
            <a:normAutofit fontScale="47500" lnSpcReduction="20000"/>
          </a:bodyPr>
          <a:lstStyle/>
          <a:p>
            <a:r>
              <a:rPr lang="ru-RU" dirty="0" err="1" smtClean="0">
                <a:latin typeface="Cascadia Code Light" pitchFamily="49" charset="0"/>
                <a:cs typeface="Cascadia Code Light" pitchFamily="49" charset="0"/>
              </a:rPr>
              <a:t>results</a:t>
            </a:r>
            <a:r>
              <a:rPr lang="ru-RU" dirty="0" smtClean="0">
                <a:latin typeface="Cascadia Code Light" pitchFamily="49" charset="0"/>
                <a:cs typeface="Cascadia Code Light" pitchFamily="49" charset="0"/>
              </a:rPr>
              <a:t> — это массив (список) объектов класса </a:t>
            </a:r>
            <a:r>
              <a:rPr lang="ru-RU" dirty="0" err="1" smtClean="0">
                <a:latin typeface="Cascadia Code Light" pitchFamily="49" charset="0"/>
                <a:cs typeface="Cascadia Code Light" pitchFamily="49" charset="0"/>
              </a:rPr>
              <a:t>Results</a:t>
            </a:r>
            <a:r>
              <a:rPr lang="ru-RU" dirty="0" smtClean="0">
                <a:latin typeface="Cascadia Code Light" pitchFamily="49" charset="0"/>
                <a:cs typeface="Cascadia Code Light" pitchFamily="49" charset="0"/>
              </a:rPr>
              <a:t> из библиотеки </a:t>
            </a:r>
            <a:r>
              <a:rPr lang="ru-RU" dirty="0" err="1" smtClean="0">
                <a:latin typeface="Cascadia Code Light" pitchFamily="49" charset="0"/>
                <a:cs typeface="Cascadia Code Light" pitchFamily="49" charset="0"/>
              </a:rPr>
              <a:t>Ultralytics</a:t>
            </a:r>
            <a:r>
              <a:rPr lang="ru-RU" dirty="0" smtClean="0">
                <a:latin typeface="Cascadia Code Light" pitchFamily="49" charset="0"/>
                <a:cs typeface="Cascadia Code Light" pitchFamily="49" charset="0"/>
              </a:rPr>
              <a:t> (по одному объекту на каждую картинку в </a:t>
            </a:r>
            <a:r>
              <a:rPr lang="ru-RU" dirty="0" err="1" smtClean="0">
                <a:latin typeface="Cascadia Code Light" pitchFamily="49" charset="0"/>
                <a:cs typeface="Cascadia Code Light" pitchFamily="49" charset="0"/>
              </a:rPr>
              <a:t>батче</a:t>
            </a:r>
            <a:r>
              <a:rPr lang="ru-RU" dirty="0" smtClean="0">
                <a:latin typeface="Cascadia Code Light" pitchFamily="49" charset="0"/>
                <a:cs typeface="Cascadia Code Light" pitchFamily="49" charset="0"/>
              </a:rPr>
              <a:t>).</a:t>
            </a:r>
          </a:p>
          <a:p>
            <a:r>
              <a:rPr lang="ru-RU" dirty="0" smtClean="0">
                <a:latin typeface="Cascadia Code Light" pitchFamily="49" charset="0"/>
                <a:cs typeface="Cascadia Code Light" pitchFamily="49" charset="0"/>
              </a:rPr>
              <a:t>Если заглянуть внутрь </a:t>
            </a:r>
            <a:r>
              <a:rPr lang="ru-RU" dirty="0" err="1" smtClean="0">
                <a:latin typeface="Cascadia Code Light" pitchFamily="49" charset="0"/>
                <a:cs typeface="Cascadia Code Light" pitchFamily="49" charset="0"/>
              </a:rPr>
              <a:t>results</a:t>
            </a:r>
            <a:r>
              <a:rPr lang="ru-RU" dirty="0" smtClean="0">
                <a:latin typeface="Cascadia Code Light" pitchFamily="49" charset="0"/>
                <a:cs typeface="Cascadia Code Light" pitchFamily="49" charset="0"/>
              </a:rPr>
              <a:t>[0] (результата для нашей единственной картинки), там </a:t>
            </a:r>
            <a:r>
              <a:rPr lang="ru-RU" dirty="0" smtClean="0">
                <a:latin typeface="Cascadia Code Light" pitchFamily="49" charset="0"/>
                <a:cs typeface="Cascadia Code Light" pitchFamily="49" charset="0"/>
              </a:rPr>
              <a:t>лежит:</a:t>
            </a:r>
          </a:p>
          <a:p>
            <a:endParaRPr lang="ru-RU" dirty="0" smtClean="0">
              <a:latin typeface="Cascadia Code Light" pitchFamily="49" charset="0"/>
              <a:cs typeface="Cascadia Code Light" pitchFamily="49" charset="0"/>
            </a:endParaRPr>
          </a:p>
          <a:p>
            <a:r>
              <a:rPr lang="ru-RU" b="1" dirty="0" err="1" smtClean="0">
                <a:latin typeface="Cascadia Code Light" pitchFamily="49" charset="0"/>
                <a:cs typeface="Cascadia Code Light" pitchFamily="49" charset="0"/>
              </a:rPr>
              <a:t>results</a:t>
            </a:r>
            <a:r>
              <a:rPr lang="ru-RU" b="1" dirty="0" smtClean="0">
                <a:latin typeface="Cascadia Code Light" pitchFamily="49" charset="0"/>
                <a:cs typeface="Cascadia Code Light" pitchFamily="49" charset="0"/>
              </a:rPr>
              <a:t>[0].</a:t>
            </a:r>
            <a:r>
              <a:rPr lang="ru-RU" b="1" dirty="0" err="1" smtClean="0">
                <a:latin typeface="Cascadia Code Light" pitchFamily="49" charset="0"/>
                <a:cs typeface="Cascadia Code Light" pitchFamily="49" charset="0"/>
              </a:rPr>
              <a:t>boxes</a:t>
            </a:r>
            <a:r>
              <a:rPr lang="ru-RU" b="1" dirty="0" smtClean="0">
                <a:latin typeface="Cascadia Code Light" pitchFamily="49" charset="0"/>
                <a:cs typeface="Cascadia Code Light" pitchFamily="49" charset="0"/>
              </a:rPr>
              <a:t> (Рамки)</a:t>
            </a:r>
            <a:r>
              <a:rPr lang="ru-RU" dirty="0" smtClean="0">
                <a:latin typeface="Cascadia Code Light" pitchFamily="49" charset="0"/>
                <a:cs typeface="Cascadia Code Light" pitchFamily="49" charset="0"/>
              </a:rPr>
              <a:t> </a:t>
            </a:r>
            <a:r>
              <a:rPr lang="ru-RU" dirty="0" smtClean="0">
                <a:latin typeface="Cascadia Code Light" pitchFamily="49" charset="0"/>
                <a:cs typeface="Cascadia Code Light" pitchFamily="49" charset="0"/>
              </a:rPr>
              <a:t>— объект</a:t>
            </a:r>
            <a:r>
              <a:rPr lang="ru-RU" dirty="0" smtClean="0">
                <a:latin typeface="Cascadia Code Light" pitchFamily="49" charset="0"/>
                <a:cs typeface="Cascadia Code Light" pitchFamily="49" charset="0"/>
              </a:rPr>
              <a:t>, содержащий координаты, классы и уверенность.</a:t>
            </a:r>
          </a:p>
          <a:p>
            <a:r>
              <a:rPr lang="ru-RU" b="1" dirty="0" err="1" smtClean="0">
                <a:latin typeface="Cascadia Code Light" pitchFamily="49" charset="0"/>
                <a:cs typeface="Cascadia Code Light" pitchFamily="49" charset="0"/>
              </a:rPr>
              <a:t>results</a:t>
            </a:r>
            <a:r>
              <a:rPr lang="ru-RU" b="1" dirty="0" smtClean="0">
                <a:latin typeface="Cascadia Code Light" pitchFamily="49" charset="0"/>
                <a:cs typeface="Cascadia Code Light" pitchFamily="49" charset="0"/>
              </a:rPr>
              <a:t>[0].</a:t>
            </a:r>
            <a:r>
              <a:rPr lang="ru-RU" b="1" dirty="0" err="1" smtClean="0">
                <a:latin typeface="Cascadia Code Light" pitchFamily="49" charset="0"/>
                <a:cs typeface="Cascadia Code Light" pitchFamily="49" charset="0"/>
              </a:rPr>
              <a:t>names</a:t>
            </a:r>
            <a:r>
              <a:rPr lang="ru-RU" b="1" dirty="0" smtClean="0">
                <a:latin typeface="Cascadia Code Light" pitchFamily="49" charset="0"/>
                <a:cs typeface="Cascadia Code Light" pitchFamily="49" charset="0"/>
              </a:rPr>
              <a:t> (Словарь классов)</a:t>
            </a:r>
            <a:r>
              <a:rPr lang="ru-RU" dirty="0" smtClean="0">
                <a:latin typeface="Cascadia Code Light" pitchFamily="49" charset="0"/>
                <a:cs typeface="Cascadia Code Light" pitchFamily="49" charset="0"/>
              </a:rPr>
              <a:t> — Список всех 80 классов COCO. Сюда модель смотрит, когда переводит </a:t>
            </a:r>
            <a:r>
              <a:rPr lang="ru-RU" dirty="0" err="1" smtClean="0">
                <a:latin typeface="Cascadia Code Light" pitchFamily="49" charset="0"/>
                <a:cs typeface="Cascadia Code Light" pitchFamily="49" charset="0"/>
              </a:rPr>
              <a:t>cls_id</a:t>
            </a:r>
            <a:r>
              <a:rPr lang="ru-RU" dirty="0" smtClean="0">
                <a:latin typeface="Cascadia Code Light" pitchFamily="49" charset="0"/>
                <a:cs typeface="Cascadia Code Light" pitchFamily="49" charset="0"/>
              </a:rPr>
              <a:t> = 0 в слово "</a:t>
            </a:r>
            <a:r>
              <a:rPr lang="ru-RU" dirty="0" err="1" smtClean="0">
                <a:latin typeface="Cascadia Code Light" pitchFamily="49" charset="0"/>
                <a:cs typeface="Cascadia Code Light" pitchFamily="49" charset="0"/>
              </a:rPr>
              <a:t>person</a:t>
            </a:r>
            <a:r>
              <a:rPr lang="ru-RU" dirty="0" smtClean="0">
                <a:latin typeface="Cascadia Code Light" pitchFamily="49" charset="0"/>
                <a:cs typeface="Cascadia Code Light" pitchFamily="49" charset="0"/>
              </a:rPr>
              <a:t>".</a:t>
            </a:r>
          </a:p>
          <a:p>
            <a:r>
              <a:rPr lang="ru-RU" b="1" dirty="0" err="1" smtClean="0">
                <a:latin typeface="Cascadia Code Light" pitchFamily="49" charset="0"/>
                <a:cs typeface="Cascadia Code Light" pitchFamily="49" charset="0"/>
              </a:rPr>
              <a:t>results</a:t>
            </a:r>
            <a:r>
              <a:rPr lang="ru-RU" b="1" dirty="0" smtClean="0">
                <a:latin typeface="Cascadia Code Light" pitchFamily="49" charset="0"/>
                <a:cs typeface="Cascadia Code Light" pitchFamily="49" charset="0"/>
              </a:rPr>
              <a:t>[0].</a:t>
            </a:r>
            <a:r>
              <a:rPr lang="ru-RU" b="1" dirty="0" err="1" smtClean="0">
                <a:latin typeface="Cascadia Code Light" pitchFamily="49" charset="0"/>
                <a:cs typeface="Cascadia Code Light" pitchFamily="49" charset="0"/>
              </a:rPr>
              <a:t>orig_img</a:t>
            </a:r>
            <a:r>
              <a:rPr lang="ru-RU" b="1" dirty="0" smtClean="0">
                <a:latin typeface="Cascadia Code Light" pitchFamily="49" charset="0"/>
                <a:cs typeface="Cascadia Code Light" pitchFamily="49" charset="0"/>
              </a:rPr>
              <a:t> (Оригинал)</a:t>
            </a:r>
            <a:r>
              <a:rPr lang="ru-RU" dirty="0" smtClean="0">
                <a:latin typeface="Cascadia Code Light" pitchFamily="49" charset="0"/>
                <a:cs typeface="Cascadia Code Light" pitchFamily="49" charset="0"/>
              </a:rPr>
              <a:t> — Исходная картинка, которую модель загрузила в память (в виде массива чисел). Метод .</a:t>
            </a:r>
            <a:r>
              <a:rPr lang="ru-RU" dirty="0" err="1" smtClean="0">
                <a:latin typeface="Cascadia Code Light" pitchFamily="49" charset="0"/>
                <a:cs typeface="Cascadia Code Light" pitchFamily="49" charset="0"/>
              </a:rPr>
              <a:t>plot</a:t>
            </a:r>
            <a:r>
              <a:rPr lang="ru-RU" dirty="0" smtClean="0">
                <a:latin typeface="Cascadia Code Light" pitchFamily="49" charset="0"/>
                <a:cs typeface="Cascadia Code Light" pitchFamily="49" charset="0"/>
              </a:rPr>
              <a:t>() берет именно её и рисует на ней рамки.</a:t>
            </a:r>
          </a:p>
          <a:p>
            <a:endParaRPr lang="ru-RU" dirty="0">
              <a:latin typeface="Cascadia Code Light" pitchFamily="49" charset="0"/>
              <a:cs typeface="Cascadia Code Light" pitchFamily="49" charset="0"/>
            </a:endParaRPr>
          </a:p>
        </p:txBody>
      </p:sp>
      <p:pic>
        <p:nvPicPr>
          <p:cNvPr id="6146" name="Picture 2"/>
          <p:cNvPicPr>
            <a:picLocks noChangeAspect="1" noChangeArrowheads="1"/>
          </p:cNvPicPr>
          <p:nvPr/>
        </p:nvPicPr>
        <p:blipFill>
          <a:blip r:embed="rId2" cstate="print"/>
          <a:srcRect/>
          <a:stretch>
            <a:fillRect/>
          </a:stretch>
        </p:blipFill>
        <p:spPr bwMode="auto">
          <a:xfrm>
            <a:off x="304800" y="762000"/>
            <a:ext cx="8381021" cy="3251618"/>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3" name="Содержимое 2"/>
          <p:cNvSpPr>
            <a:spLocks noGrp="1"/>
          </p:cNvSpPr>
          <p:nvPr>
            <p:ph idx="1"/>
          </p:nvPr>
        </p:nvSpPr>
        <p:spPr>
          <a:xfrm>
            <a:off x="5181600" y="1905000"/>
            <a:ext cx="3505200" cy="4221163"/>
          </a:xfrm>
        </p:spPr>
        <p:txBody>
          <a:bodyPr>
            <a:normAutofit/>
          </a:bodyPr>
          <a:lstStyle/>
          <a:p>
            <a:r>
              <a:rPr lang="ru-RU" sz="2800" dirty="0" smtClean="0">
                <a:latin typeface="Cascadia Code Light" pitchFamily="49" charset="0"/>
                <a:cs typeface="Cascadia Code Light" pitchFamily="49" charset="0"/>
              </a:rPr>
              <a:t>В коде ниже вы можете загрузить свою картинку и проверить как </a:t>
            </a:r>
            <a:r>
              <a:rPr lang="ru-RU" sz="2800" dirty="0" err="1" smtClean="0">
                <a:latin typeface="Cascadia Code Light" pitchFamily="49" charset="0"/>
                <a:cs typeface="Cascadia Code Light" pitchFamily="49" charset="0"/>
              </a:rPr>
              <a:t>нейросеть</a:t>
            </a:r>
            <a:r>
              <a:rPr lang="ru-RU" sz="2800" dirty="0" smtClean="0">
                <a:latin typeface="Cascadia Code Light" pitchFamily="49" charset="0"/>
                <a:cs typeface="Cascadia Code Light" pitchFamily="49" charset="0"/>
              </a:rPr>
              <a:t> работает с новыми данными</a:t>
            </a:r>
            <a:endParaRPr lang="ru-RU" sz="2800" dirty="0">
              <a:latin typeface="Cascadia Code Light" pitchFamily="49" charset="0"/>
              <a:cs typeface="Cascadia Code Light" pitchFamily="49" charset="0"/>
            </a:endParaRPr>
          </a:p>
        </p:txBody>
      </p:sp>
      <p:pic>
        <p:nvPicPr>
          <p:cNvPr id="7170" name="Picture 2"/>
          <p:cNvPicPr>
            <a:picLocks noChangeAspect="1" noChangeArrowheads="1"/>
          </p:cNvPicPr>
          <p:nvPr/>
        </p:nvPicPr>
        <p:blipFill>
          <a:blip r:embed="rId2" cstate="print"/>
          <a:srcRect/>
          <a:stretch>
            <a:fillRect/>
          </a:stretch>
        </p:blipFill>
        <p:spPr bwMode="auto">
          <a:xfrm>
            <a:off x="0" y="228600"/>
            <a:ext cx="5062661" cy="685800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sz="2800" dirty="0" smtClean="0">
                <a:latin typeface="Cascadia Code Light" pitchFamily="49" charset="0"/>
                <a:cs typeface="Cascadia Code Light" pitchFamily="49" charset="0"/>
              </a:rPr>
              <a:t>Танцы с бубном для загрузки </a:t>
            </a:r>
            <a:r>
              <a:rPr lang="ru-RU" sz="2800" dirty="0" err="1" smtClean="0">
                <a:latin typeface="Cascadia Code Light" pitchFamily="49" charset="0"/>
                <a:cs typeface="Cascadia Code Light" pitchFamily="49" charset="0"/>
              </a:rPr>
              <a:t>датасета</a:t>
            </a:r>
            <a:r>
              <a:rPr lang="ru-RU" sz="2800" dirty="0" smtClean="0">
                <a:latin typeface="Cascadia Code Light" pitchFamily="49" charset="0"/>
                <a:cs typeface="Cascadia Code Light" pitchFamily="49" charset="0"/>
              </a:rPr>
              <a:t> африканских животных</a:t>
            </a:r>
            <a:endParaRPr lang="ru-RU" sz="2800" dirty="0">
              <a:latin typeface="Cascadia Code Light" pitchFamily="49" charset="0"/>
              <a:cs typeface="Cascadia Code Light" pitchFamily="49" charset="0"/>
            </a:endParaRPr>
          </a:p>
        </p:txBody>
      </p:sp>
      <p:sp>
        <p:nvSpPr>
          <p:cNvPr id="3" name="Содержимое 2"/>
          <p:cNvSpPr>
            <a:spLocks noGrp="1"/>
          </p:cNvSpPr>
          <p:nvPr>
            <p:ph idx="1"/>
          </p:nvPr>
        </p:nvSpPr>
        <p:spPr>
          <a:xfrm>
            <a:off x="6019800" y="1752600"/>
            <a:ext cx="3124200" cy="4953000"/>
          </a:xfrm>
        </p:spPr>
        <p:txBody>
          <a:bodyPr>
            <a:normAutofit fontScale="62500" lnSpcReduction="20000"/>
          </a:bodyPr>
          <a:lstStyle/>
          <a:p>
            <a:r>
              <a:rPr lang="ru-RU" dirty="0" smtClean="0">
                <a:latin typeface="Cascadia Code Light" pitchFamily="49" charset="0"/>
                <a:cs typeface="Cascadia Code Light" pitchFamily="49" charset="0"/>
              </a:rPr>
              <a:t>Первая ячейка жестко удаляет конкретные папки, скачивает архив по прямой ссылке и аккуратно распаковывает его в папку </a:t>
            </a:r>
            <a:r>
              <a:rPr lang="ru-RU" dirty="0" err="1" smtClean="0">
                <a:latin typeface="Cascadia Code Light" pitchFamily="49" charset="0"/>
                <a:cs typeface="Cascadia Code Light" pitchFamily="49" charset="0"/>
              </a:rPr>
              <a:t>african-wildlife</a:t>
            </a:r>
            <a:r>
              <a:rPr lang="ru-RU" dirty="0" smtClean="0">
                <a:latin typeface="Cascadia Code Light" pitchFamily="49" charset="0"/>
                <a:cs typeface="Cascadia Code Light" pitchFamily="49" charset="0"/>
              </a:rPr>
              <a:t>. Обратите внимание на флаг -</a:t>
            </a:r>
            <a:r>
              <a:rPr lang="ru-RU" dirty="0" err="1" smtClean="0">
                <a:latin typeface="Cascadia Code Light" pitchFamily="49" charset="0"/>
                <a:cs typeface="Cascadia Code Light" pitchFamily="49" charset="0"/>
              </a:rPr>
              <a:t>o</a:t>
            </a:r>
            <a:r>
              <a:rPr lang="ru-RU" dirty="0" smtClean="0">
                <a:latin typeface="Cascadia Code Light" pitchFamily="49" charset="0"/>
                <a:cs typeface="Cascadia Code Light" pitchFamily="49" charset="0"/>
              </a:rPr>
              <a:t> в команде </a:t>
            </a:r>
            <a:r>
              <a:rPr lang="ru-RU" dirty="0" err="1" smtClean="0">
                <a:latin typeface="Cascadia Code Light" pitchFamily="49" charset="0"/>
                <a:cs typeface="Cascadia Code Light" pitchFamily="49" charset="0"/>
              </a:rPr>
              <a:t>unzip</a:t>
            </a:r>
            <a:r>
              <a:rPr lang="ru-RU" dirty="0" smtClean="0">
                <a:latin typeface="Cascadia Code Light" pitchFamily="49" charset="0"/>
                <a:cs typeface="Cascadia Code Light" pitchFamily="49" charset="0"/>
              </a:rPr>
              <a:t> — он говорит: "Если файлы уже есть, просто перезапиши их, не задавай глупых вопросов в консоли</a:t>
            </a:r>
            <a:endParaRPr lang="ru-RU" dirty="0">
              <a:latin typeface="Cascadia Code Light" pitchFamily="49" charset="0"/>
              <a:cs typeface="Cascadia Code Light" pitchFamily="49" charset="0"/>
            </a:endParaRPr>
          </a:p>
        </p:txBody>
      </p:sp>
      <p:pic>
        <p:nvPicPr>
          <p:cNvPr id="8194" name="Picture 2"/>
          <p:cNvPicPr>
            <a:picLocks noChangeAspect="1" noChangeArrowheads="1"/>
          </p:cNvPicPr>
          <p:nvPr/>
        </p:nvPicPr>
        <p:blipFill>
          <a:blip r:embed="rId2" cstate="print"/>
          <a:srcRect/>
          <a:stretch>
            <a:fillRect/>
          </a:stretch>
        </p:blipFill>
        <p:spPr bwMode="auto">
          <a:xfrm>
            <a:off x="228600" y="1905000"/>
            <a:ext cx="5811838" cy="3545425"/>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1143000"/>
          </a:xfrm>
        </p:spPr>
        <p:txBody>
          <a:bodyPr/>
          <a:lstStyle/>
          <a:p>
            <a:r>
              <a:rPr lang="ru-RU" sz="3600" dirty="0" err="1" smtClean="0">
                <a:latin typeface="Cascadia Code Light" pitchFamily="49" charset="0"/>
                <a:cs typeface="Cascadia Code Light" pitchFamily="49" charset="0"/>
              </a:rPr>
              <a:t>Дообучение</a:t>
            </a:r>
            <a:endParaRPr lang="ru-RU" dirty="0">
              <a:latin typeface="Cascadia Code Light" pitchFamily="49" charset="0"/>
              <a:cs typeface="Cascadia Code Light" pitchFamily="49" charset="0"/>
            </a:endParaRPr>
          </a:p>
        </p:txBody>
      </p:sp>
      <p:sp>
        <p:nvSpPr>
          <p:cNvPr id="3" name="Содержимое 2"/>
          <p:cNvSpPr>
            <a:spLocks noGrp="1"/>
          </p:cNvSpPr>
          <p:nvPr>
            <p:ph idx="1"/>
          </p:nvPr>
        </p:nvSpPr>
        <p:spPr>
          <a:xfrm>
            <a:off x="304800" y="1600200"/>
            <a:ext cx="4648200" cy="5105400"/>
          </a:xfrm>
        </p:spPr>
        <p:txBody>
          <a:bodyPr>
            <a:noAutofit/>
          </a:bodyPr>
          <a:lstStyle/>
          <a:p>
            <a:r>
              <a:rPr lang="ru-RU" sz="1100" dirty="0" smtClean="0">
                <a:latin typeface="Cascadia Code Light" pitchFamily="49" charset="0"/>
                <a:cs typeface="Cascadia Code Light" pitchFamily="49" charset="0"/>
              </a:rPr>
              <a:t>Данный код инициирует процесс </a:t>
            </a:r>
            <a:r>
              <a:rPr lang="ru-RU" sz="1100" dirty="0" err="1" smtClean="0">
                <a:latin typeface="Cascadia Code Light" pitchFamily="49" charset="0"/>
                <a:cs typeface="Cascadia Code Light" pitchFamily="49" charset="0"/>
              </a:rPr>
              <a:t>дообучения</a:t>
            </a:r>
            <a:r>
              <a:rPr lang="ru-RU" sz="1100" dirty="0" smtClean="0">
                <a:latin typeface="Cascadia Code Light" pitchFamily="49" charset="0"/>
                <a:cs typeface="Cascadia Code Light" pitchFamily="49" charset="0"/>
              </a:rPr>
              <a:t> (</a:t>
            </a:r>
            <a:r>
              <a:rPr lang="ru-RU" sz="1100" dirty="0" err="1" smtClean="0">
                <a:latin typeface="Cascadia Code Light" pitchFamily="49" charset="0"/>
                <a:cs typeface="Cascadia Code Light" pitchFamily="49" charset="0"/>
              </a:rPr>
              <a:t>Fine-tuning</a:t>
            </a:r>
            <a:r>
              <a:rPr lang="ru-RU" sz="1100" dirty="0" smtClean="0">
                <a:latin typeface="Cascadia Code Light" pitchFamily="49" charset="0"/>
                <a:cs typeface="Cascadia Code Light" pitchFamily="49" charset="0"/>
              </a:rPr>
              <a:t>) </a:t>
            </a:r>
            <a:r>
              <a:rPr lang="ru-RU" sz="1100" dirty="0" err="1" smtClean="0">
                <a:latin typeface="Cascadia Code Light" pitchFamily="49" charset="0"/>
                <a:cs typeface="Cascadia Code Light" pitchFamily="49" charset="0"/>
              </a:rPr>
              <a:t>предобученной</a:t>
            </a:r>
            <a:r>
              <a:rPr lang="ru-RU" sz="1100" dirty="0" smtClean="0">
                <a:latin typeface="Cascadia Code Light" pitchFamily="49" charset="0"/>
                <a:cs typeface="Cascadia Code Light" pitchFamily="49" charset="0"/>
              </a:rPr>
              <a:t> модели YOLOv8 на нашем специфическом </a:t>
            </a:r>
            <a:r>
              <a:rPr lang="ru-RU" sz="1100" dirty="0" err="1" smtClean="0">
                <a:latin typeface="Cascadia Code Light" pitchFamily="49" charset="0"/>
                <a:cs typeface="Cascadia Code Light" pitchFamily="49" charset="0"/>
              </a:rPr>
              <a:t>датасете</a:t>
            </a:r>
            <a:r>
              <a:rPr lang="ru-RU" sz="1100" dirty="0" smtClean="0">
                <a:latin typeface="Cascadia Code Light" pitchFamily="49" charset="0"/>
                <a:cs typeface="Cascadia Code Light" pitchFamily="49" charset="0"/>
              </a:rPr>
              <a:t>. </a:t>
            </a:r>
          </a:p>
          <a:p>
            <a:r>
              <a:rPr lang="ru-RU" sz="1100" b="1" dirty="0" err="1" smtClean="0">
                <a:latin typeface="Cascadia Code Light" pitchFamily="49" charset="0"/>
                <a:cs typeface="Cascadia Code Light" pitchFamily="49" charset="0"/>
              </a:rPr>
              <a:t>model</a:t>
            </a:r>
            <a:r>
              <a:rPr lang="ru-RU" sz="1100" b="1" dirty="0" smtClean="0">
                <a:latin typeface="Cascadia Code Light" pitchFamily="49" charset="0"/>
                <a:cs typeface="Cascadia Code Light" pitchFamily="49" charset="0"/>
              </a:rPr>
              <a:t> = YOLO('yolov8n.pt')</a:t>
            </a:r>
            <a:r>
              <a:rPr lang="ru-RU" sz="1100" dirty="0" smtClean="0">
                <a:latin typeface="Cascadia Code Light" pitchFamily="49" charset="0"/>
                <a:cs typeface="Cascadia Code Light" pitchFamily="49" charset="0"/>
              </a:rPr>
              <a:t>:</a:t>
            </a:r>
            <a:br>
              <a:rPr lang="ru-RU" sz="1100" dirty="0" smtClean="0">
                <a:latin typeface="Cascadia Code Light" pitchFamily="49" charset="0"/>
                <a:cs typeface="Cascadia Code Light" pitchFamily="49" charset="0"/>
              </a:rPr>
            </a:br>
            <a:r>
              <a:rPr lang="ru-RU" sz="1100" dirty="0" smtClean="0">
                <a:latin typeface="Cascadia Code Light" pitchFamily="49" charset="0"/>
                <a:cs typeface="Cascadia Code Light" pitchFamily="49" charset="0"/>
              </a:rPr>
              <a:t>Мы загружаем базовую модель (nano-версию), которая уже содержит веса, обученные на </a:t>
            </a:r>
            <a:r>
              <a:rPr lang="ru-RU" sz="1100" dirty="0" err="1" smtClean="0">
                <a:latin typeface="Cascadia Code Light" pitchFamily="49" charset="0"/>
                <a:cs typeface="Cascadia Code Light" pitchFamily="49" charset="0"/>
              </a:rPr>
              <a:t>датасете</a:t>
            </a:r>
            <a:r>
              <a:rPr lang="ru-RU" sz="1100" dirty="0" smtClean="0">
                <a:latin typeface="Cascadia Code Light" pitchFamily="49" charset="0"/>
                <a:cs typeface="Cascadia Code Light" pitchFamily="49" charset="0"/>
              </a:rPr>
              <a:t> COCO (80 классов). Это наш «фундамент</a:t>
            </a:r>
            <a:r>
              <a:rPr lang="ru-RU" sz="1100" dirty="0" smtClean="0">
                <a:latin typeface="Cascadia Code Light" pitchFamily="49" charset="0"/>
                <a:cs typeface="Cascadia Code Light" pitchFamily="49" charset="0"/>
              </a:rPr>
              <a:t>».</a:t>
            </a:r>
          </a:p>
          <a:p>
            <a:endParaRPr lang="ru-RU" sz="1100" b="1" dirty="0" smtClean="0">
              <a:latin typeface="Cascadia Code Light" pitchFamily="49" charset="0"/>
              <a:cs typeface="Cascadia Code Light" pitchFamily="49" charset="0"/>
            </a:endParaRPr>
          </a:p>
          <a:p>
            <a:r>
              <a:rPr lang="ru-RU" sz="1100" b="1" dirty="0" smtClean="0">
                <a:latin typeface="Cascadia Code Light" pitchFamily="49" charset="0"/>
                <a:cs typeface="Cascadia Code Light" pitchFamily="49" charset="0"/>
              </a:rPr>
              <a:t>Разбор метода </a:t>
            </a:r>
            <a:r>
              <a:rPr lang="ru-RU" sz="1100" b="1" dirty="0" err="1" smtClean="0">
                <a:latin typeface="Cascadia Code Light" pitchFamily="49" charset="0"/>
                <a:cs typeface="Cascadia Code Light" pitchFamily="49" charset="0"/>
              </a:rPr>
              <a:t>model.train</a:t>
            </a:r>
            <a:r>
              <a:rPr lang="ru-RU" sz="1100" b="1" dirty="0" smtClean="0">
                <a:latin typeface="Cascadia Code Light" pitchFamily="49" charset="0"/>
                <a:cs typeface="Cascadia Code Light" pitchFamily="49" charset="0"/>
              </a:rPr>
              <a:t>():</a:t>
            </a:r>
            <a:endParaRPr lang="ru-RU" sz="1100" dirty="0" smtClean="0">
              <a:latin typeface="Cascadia Code Light" pitchFamily="49" charset="0"/>
              <a:cs typeface="Cascadia Code Light" pitchFamily="49" charset="0"/>
            </a:endParaRPr>
          </a:p>
          <a:p>
            <a:r>
              <a:rPr lang="ru-RU" sz="1100" b="1" dirty="0" err="1" smtClean="0">
                <a:latin typeface="Cascadia Code Light" pitchFamily="49" charset="0"/>
                <a:cs typeface="Cascadia Code Light" pitchFamily="49" charset="0"/>
              </a:rPr>
              <a:t>data</a:t>
            </a:r>
            <a:r>
              <a:rPr lang="ru-RU" sz="1100" b="1" dirty="0" err="1" smtClean="0">
                <a:latin typeface="Cascadia Code Light" pitchFamily="49" charset="0"/>
                <a:cs typeface="Cascadia Code Light" pitchFamily="49" charset="0"/>
              </a:rPr>
              <a:t>='african-wildlife.yaml</a:t>
            </a:r>
            <a:r>
              <a:rPr lang="ru-RU" sz="1100" b="1" dirty="0" smtClean="0">
                <a:latin typeface="Cascadia Code Light" pitchFamily="49" charset="0"/>
                <a:cs typeface="Cascadia Code Light" pitchFamily="49" charset="0"/>
              </a:rPr>
              <a:t>'</a:t>
            </a:r>
            <a:r>
              <a:rPr lang="ru-RU" sz="1100" dirty="0" smtClean="0">
                <a:latin typeface="Cascadia Code Light" pitchFamily="49" charset="0"/>
                <a:cs typeface="Cascadia Code Light" pitchFamily="49" charset="0"/>
              </a:rPr>
              <a:t>:</a:t>
            </a:r>
            <a:br>
              <a:rPr lang="ru-RU" sz="1100" dirty="0" smtClean="0">
                <a:latin typeface="Cascadia Code Light" pitchFamily="49" charset="0"/>
                <a:cs typeface="Cascadia Code Light" pitchFamily="49" charset="0"/>
              </a:rPr>
            </a:br>
            <a:r>
              <a:rPr lang="ru-RU" sz="1100" dirty="0" smtClean="0">
                <a:latin typeface="Cascadia Code Light" pitchFamily="49" charset="0"/>
                <a:cs typeface="Cascadia Code Light" pitchFamily="49" charset="0"/>
              </a:rPr>
              <a:t>Указывает на конфигурационный файл (паспорт </a:t>
            </a:r>
            <a:r>
              <a:rPr lang="ru-RU" sz="1100" dirty="0" err="1" smtClean="0">
                <a:latin typeface="Cascadia Code Light" pitchFamily="49" charset="0"/>
                <a:cs typeface="Cascadia Code Light" pitchFamily="49" charset="0"/>
              </a:rPr>
              <a:t>датасета</a:t>
            </a:r>
            <a:r>
              <a:rPr lang="ru-RU" sz="1100" dirty="0" smtClean="0">
                <a:latin typeface="Cascadia Code Light" pitchFamily="49" charset="0"/>
                <a:cs typeface="Cascadia Code Light" pitchFamily="49" charset="0"/>
              </a:rPr>
              <a:t>). Прочитав этот файл, YOLO понимает три вещи:</a:t>
            </a:r>
          </a:p>
          <a:p>
            <a:pPr lvl="1"/>
            <a:r>
              <a:rPr lang="ru-RU" sz="1100" dirty="0" smtClean="0">
                <a:latin typeface="Cascadia Code Light" pitchFamily="49" charset="0"/>
                <a:cs typeface="Cascadia Code Light" pitchFamily="49" charset="0"/>
              </a:rPr>
              <a:t>Где физически лежат картинки (</a:t>
            </a:r>
            <a:r>
              <a:rPr lang="ru-RU" sz="1100" dirty="0" err="1" smtClean="0">
                <a:latin typeface="Cascadia Code Light" pitchFamily="49" charset="0"/>
                <a:cs typeface="Cascadia Code Light" pitchFamily="49" charset="0"/>
              </a:rPr>
              <a:t>train</a:t>
            </a:r>
            <a:r>
              <a:rPr lang="ru-RU" sz="1100" dirty="0" smtClean="0">
                <a:latin typeface="Cascadia Code Light" pitchFamily="49" charset="0"/>
                <a:cs typeface="Cascadia Code Light" pitchFamily="49" charset="0"/>
              </a:rPr>
              <a:t>, </a:t>
            </a:r>
            <a:r>
              <a:rPr lang="ru-RU" sz="1100" dirty="0" err="1" smtClean="0">
                <a:latin typeface="Cascadia Code Light" pitchFamily="49" charset="0"/>
                <a:cs typeface="Cascadia Code Light" pitchFamily="49" charset="0"/>
              </a:rPr>
              <a:t>val</a:t>
            </a:r>
            <a:r>
              <a:rPr lang="ru-RU" sz="1100" dirty="0" smtClean="0">
                <a:latin typeface="Cascadia Code Light" pitchFamily="49" charset="0"/>
                <a:cs typeface="Cascadia Code Light" pitchFamily="49" charset="0"/>
              </a:rPr>
              <a:t>).</a:t>
            </a:r>
          </a:p>
          <a:p>
            <a:pPr lvl="1"/>
            <a:r>
              <a:rPr lang="ru-RU" sz="1100" dirty="0" smtClean="0">
                <a:latin typeface="Cascadia Code Light" pitchFamily="49" charset="0"/>
                <a:cs typeface="Cascadia Code Light" pitchFamily="49" charset="0"/>
              </a:rPr>
              <a:t>Сколько у нас классов (</a:t>
            </a:r>
            <a:r>
              <a:rPr lang="ru-RU" sz="1100" dirty="0" err="1" smtClean="0">
                <a:latin typeface="Cascadia Code Light" pitchFamily="49" charset="0"/>
                <a:cs typeface="Cascadia Code Light" pitchFamily="49" charset="0"/>
              </a:rPr>
              <a:t>nc</a:t>
            </a:r>
            <a:r>
              <a:rPr lang="ru-RU" sz="1100" dirty="0" smtClean="0">
                <a:latin typeface="Cascadia Code Light" pitchFamily="49" charset="0"/>
                <a:cs typeface="Cascadia Code Light" pitchFamily="49" charset="0"/>
              </a:rPr>
              <a:t>: 4).</a:t>
            </a:r>
          </a:p>
          <a:p>
            <a:pPr lvl="1"/>
            <a:r>
              <a:rPr lang="ru-RU" sz="1100" dirty="0" smtClean="0">
                <a:latin typeface="Cascadia Code Light" pitchFamily="49" charset="0"/>
                <a:cs typeface="Cascadia Code Light" pitchFamily="49" charset="0"/>
              </a:rPr>
              <a:t>Как они называются (</a:t>
            </a:r>
            <a:r>
              <a:rPr lang="ru-RU" sz="1100" dirty="0" err="1" smtClean="0">
                <a:latin typeface="Cascadia Code Light" pitchFamily="49" charset="0"/>
                <a:cs typeface="Cascadia Code Light" pitchFamily="49" charset="0"/>
              </a:rPr>
              <a:t>names</a:t>
            </a:r>
            <a:r>
              <a:rPr lang="ru-RU" sz="1100" dirty="0" smtClean="0">
                <a:latin typeface="Cascadia Code Light" pitchFamily="49" charset="0"/>
                <a:cs typeface="Cascadia Code Light" pitchFamily="49" charset="0"/>
              </a:rPr>
              <a:t>).</a:t>
            </a:r>
            <a:endParaRPr lang="ru-RU" sz="1100" dirty="0" smtClean="0">
              <a:latin typeface="Cascadia Code Light" pitchFamily="49" charset="0"/>
              <a:cs typeface="Cascadia Code Light" pitchFamily="49" charset="0"/>
            </a:endParaRPr>
          </a:p>
          <a:p>
            <a:pPr lvl="1"/>
            <a:r>
              <a:rPr lang="ru-RU" sz="1100" dirty="0" smtClean="0">
                <a:latin typeface="Cascadia Code Light" pitchFamily="49" charset="0"/>
                <a:cs typeface="Cascadia Code Light" pitchFamily="49" charset="0"/>
              </a:rPr>
              <a:t>Как </a:t>
            </a:r>
            <a:r>
              <a:rPr lang="ru-RU" sz="1100" dirty="0" smtClean="0">
                <a:latin typeface="Cascadia Code Light" pitchFamily="49" charset="0"/>
                <a:cs typeface="Cascadia Code Light" pitchFamily="49" charset="0"/>
              </a:rPr>
              <a:t>только YOLO видит, что классов 4, а не 80, она автоматически «отрезает» старую голову сети и создает новую, с 4 выходами. Веса новой головы инициализируются случайно.</a:t>
            </a:r>
          </a:p>
          <a:p>
            <a:r>
              <a:rPr lang="ru-RU" sz="1100" b="1" dirty="0" smtClean="0">
                <a:latin typeface="Cascadia Code Light" pitchFamily="49" charset="0"/>
                <a:cs typeface="Cascadia Code Light" pitchFamily="49" charset="0"/>
              </a:rPr>
              <a:t>epochs=15</a:t>
            </a:r>
            <a:r>
              <a:rPr lang="ru-RU" sz="1100" dirty="0" smtClean="0">
                <a:latin typeface="Cascadia Code Light" pitchFamily="49" charset="0"/>
                <a:cs typeface="Cascadia Code Light" pitchFamily="49" charset="0"/>
              </a:rPr>
              <a:t>: - число эпох, за которые новая </a:t>
            </a:r>
            <a:r>
              <a:rPr lang="ru-RU" sz="1100" dirty="0" smtClean="0">
                <a:latin typeface="Cascadia Code Light" pitchFamily="49" charset="0"/>
                <a:cs typeface="Cascadia Code Light" pitchFamily="49" charset="0"/>
              </a:rPr>
              <a:t>голова адаптировалась к нашим животным.</a:t>
            </a:r>
          </a:p>
          <a:p>
            <a:r>
              <a:rPr lang="ru-RU" sz="1100" b="1" dirty="0" smtClean="0">
                <a:latin typeface="Cascadia Code Light" pitchFamily="49" charset="0"/>
                <a:cs typeface="Cascadia Code Light" pitchFamily="49" charset="0"/>
              </a:rPr>
              <a:t>imgsz=640</a:t>
            </a:r>
            <a:r>
              <a:rPr lang="ru-RU" sz="1100" dirty="0" smtClean="0">
                <a:latin typeface="Cascadia Code Light" pitchFamily="49" charset="0"/>
                <a:cs typeface="Cascadia Code Light" pitchFamily="49" charset="0"/>
              </a:rPr>
              <a:t>: - Размер </a:t>
            </a:r>
            <a:r>
              <a:rPr lang="ru-RU" sz="1100" dirty="0" smtClean="0">
                <a:latin typeface="Cascadia Code Light" pitchFamily="49" charset="0"/>
                <a:cs typeface="Cascadia Code Light" pitchFamily="49" charset="0"/>
              </a:rPr>
              <a:t>входного изображения. YOLO принудительно сжимает все </a:t>
            </a:r>
            <a:r>
              <a:rPr lang="ru-RU" sz="1100" dirty="0" smtClean="0">
                <a:latin typeface="Cascadia Code Light" pitchFamily="49" charset="0"/>
                <a:cs typeface="Cascadia Code Light" pitchFamily="49" charset="0"/>
              </a:rPr>
              <a:t>картинки </a:t>
            </a:r>
            <a:r>
              <a:rPr lang="ru-RU" sz="1100" dirty="0" smtClean="0">
                <a:latin typeface="Cascadia Code Light" pitchFamily="49" charset="0"/>
                <a:cs typeface="Cascadia Code Light" pitchFamily="49" charset="0"/>
              </a:rPr>
              <a:t>до квадрата 640×640 пикселей. Это стандартный компромисс между качеством распознавания мелких деталей и скоростью вычислений</a:t>
            </a:r>
            <a:r>
              <a:rPr lang="ru-RU" sz="1100" dirty="0" smtClean="0">
                <a:latin typeface="Cascadia Code Light" pitchFamily="49" charset="0"/>
                <a:cs typeface="Cascadia Code Light" pitchFamily="49" charset="0"/>
              </a:rPr>
              <a:t>.</a:t>
            </a:r>
            <a:endParaRPr lang="ru-RU" sz="1100" dirty="0" smtClean="0">
              <a:latin typeface="Cascadia Code Light" pitchFamily="49" charset="0"/>
              <a:cs typeface="Cascadia Code Light" pitchFamily="49" charset="0"/>
            </a:endParaRPr>
          </a:p>
        </p:txBody>
      </p:sp>
      <p:pic>
        <p:nvPicPr>
          <p:cNvPr id="9218" name="Picture 2"/>
          <p:cNvPicPr>
            <a:picLocks noChangeAspect="1" noChangeArrowheads="1"/>
          </p:cNvPicPr>
          <p:nvPr/>
        </p:nvPicPr>
        <p:blipFill>
          <a:blip r:embed="rId2" cstate="print"/>
          <a:srcRect/>
          <a:stretch>
            <a:fillRect/>
          </a:stretch>
        </p:blipFill>
        <p:spPr bwMode="auto">
          <a:xfrm>
            <a:off x="4953000" y="1295400"/>
            <a:ext cx="4191000" cy="2752725"/>
          </a:xfrm>
          <a:prstGeom prst="rect">
            <a:avLst/>
          </a:prstGeom>
          <a:noFill/>
          <a:ln w="9525">
            <a:noFill/>
            <a:miter lim="800000"/>
            <a:headEnd/>
            <a:tailEnd/>
          </a:ln>
          <a:effectLst/>
        </p:spPr>
      </p:pic>
      <p:sp>
        <p:nvSpPr>
          <p:cNvPr id="5" name="Прямоугольник 4"/>
          <p:cNvSpPr/>
          <p:nvPr/>
        </p:nvSpPr>
        <p:spPr>
          <a:xfrm>
            <a:off x="5257800" y="4267200"/>
            <a:ext cx="3886200" cy="2831544"/>
          </a:xfrm>
          <a:prstGeom prst="rect">
            <a:avLst/>
          </a:prstGeom>
        </p:spPr>
        <p:txBody>
          <a:bodyPr wrap="square">
            <a:spAutoFit/>
          </a:bodyPr>
          <a:lstStyle/>
          <a:p>
            <a:r>
              <a:rPr lang="ru-RU" sz="1600" b="1" dirty="0" smtClean="0">
                <a:latin typeface="Cascadia Code Light" pitchFamily="49" charset="0"/>
                <a:cs typeface="Cascadia Code Light" pitchFamily="49" charset="0"/>
              </a:rPr>
              <a:t>batch=16</a:t>
            </a:r>
            <a:r>
              <a:rPr lang="ru-RU" sz="1600" dirty="0" smtClean="0">
                <a:latin typeface="Cascadia Code Light" pitchFamily="49" charset="0"/>
                <a:cs typeface="Cascadia Code Light" pitchFamily="49" charset="0"/>
              </a:rPr>
              <a:t>: - Размер </a:t>
            </a:r>
            <a:r>
              <a:rPr lang="ru-RU" sz="1600" dirty="0" err="1" smtClean="0">
                <a:latin typeface="Cascadia Code Light" pitchFamily="49" charset="0"/>
                <a:cs typeface="Cascadia Code Light" pitchFamily="49" charset="0"/>
              </a:rPr>
              <a:t>батча</a:t>
            </a:r>
            <a:r>
              <a:rPr lang="ru-RU" sz="1600" dirty="0" smtClean="0">
                <a:latin typeface="Cascadia Code Light" pitchFamily="49" charset="0"/>
                <a:cs typeface="Cascadia Code Light" pitchFamily="49" charset="0"/>
              </a:rPr>
              <a:t>. Она берет по 16 картинок за раз, делает вывод, вычисляет ошибку и обновляет веса, затем берет следующие 16.</a:t>
            </a:r>
          </a:p>
          <a:p>
            <a:r>
              <a:rPr lang="ru-RU" sz="1600" dirty="0" smtClean="0">
                <a:latin typeface="Cascadia Code Light" pitchFamily="49" charset="0"/>
                <a:cs typeface="Cascadia Code Light" pitchFamily="49" charset="0"/>
              </a:rPr>
              <a:t>Старые слои обучаются очень медленно, чтобы не забыть базовые признаки (границы, текстуры), а новая голова (</a:t>
            </a:r>
            <a:r>
              <a:rPr lang="ru-RU" sz="1600" dirty="0" err="1" smtClean="0">
                <a:latin typeface="Cascadia Code Light" pitchFamily="49" charset="0"/>
                <a:cs typeface="Cascadia Code Light" pitchFamily="49" charset="0"/>
              </a:rPr>
              <a:t>Head</a:t>
            </a:r>
            <a:r>
              <a:rPr lang="ru-RU" sz="1600" dirty="0" smtClean="0">
                <a:latin typeface="Cascadia Code Light" pitchFamily="49" charset="0"/>
                <a:cs typeface="Cascadia Code Light" pitchFamily="49" charset="0"/>
              </a:rPr>
              <a:t>) учится быстро.</a:t>
            </a:r>
          </a:p>
          <a:p>
            <a:endParaRPr lang="ru-RU" sz="1600" dirty="0">
              <a:latin typeface="Cascadia Code Light" pitchFamily="49" charset="0"/>
              <a:cs typeface="Cascadia Code Light" pitchFamily="49"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  </a:t>
            </a:r>
            <a:endParaRPr lang="ru-RU" dirty="0"/>
          </a:p>
        </p:txBody>
      </p:sp>
      <p:sp>
        <p:nvSpPr>
          <p:cNvPr id="3" name="Содержимое 2"/>
          <p:cNvSpPr>
            <a:spLocks noGrp="1"/>
          </p:cNvSpPr>
          <p:nvPr>
            <p:ph idx="1"/>
          </p:nvPr>
        </p:nvSpPr>
        <p:spPr>
          <a:xfrm>
            <a:off x="0" y="228600"/>
            <a:ext cx="5181600" cy="6400800"/>
          </a:xfrm>
        </p:spPr>
        <p:txBody>
          <a:bodyPr>
            <a:normAutofit fontScale="47500" lnSpcReduction="20000"/>
          </a:bodyPr>
          <a:lstStyle/>
          <a:p>
            <a:r>
              <a:rPr lang="ru-RU" dirty="0" smtClean="0">
                <a:latin typeface="Cascadia Code Light" pitchFamily="49" charset="0"/>
                <a:cs typeface="Cascadia Code Light" pitchFamily="49" charset="0"/>
              </a:rPr>
              <a:t>В следующей ячейке тестируем </a:t>
            </a:r>
            <a:r>
              <a:rPr lang="ru-RU" dirty="0" err="1" smtClean="0">
                <a:latin typeface="Cascadia Code Light" pitchFamily="49" charset="0"/>
                <a:cs typeface="Cascadia Code Light" pitchFamily="49" charset="0"/>
              </a:rPr>
              <a:t>дообученную</a:t>
            </a:r>
            <a:r>
              <a:rPr lang="ru-RU" dirty="0" smtClean="0">
                <a:latin typeface="Cascadia Code Light" pitchFamily="49" charset="0"/>
                <a:cs typeface="Cascadia Code Light" pitchFamily="49" charset="0"/>
              </a:rPr>
              <a:t> </a:t>
            </a:r>
            <a:r>
              <a:rPr lang="ru-RU" dirty="0" err="1" smtClean="0">
                <a:latin typeface="Cascadia Code Light" pitchFamily="49" charset="0"/>
                <a:cs typeface="Cascadia Code Light" pitchFamily="49" charset="0"/>
              </a:rPr>
              <a:t>нейросеть</a:t>
            </a:r>
            <a:r>
              <a:rPr lang="ru-RU" dirty="0" smtClean="0">
                <a:latin typeface="Cascadia Code Light" pitchFamily="49" charset="0"/>
                <a:cs typeface="Cascadia Code Light" pitchFamily="49" charset="0"/>
              </a:rPr>
              <a:t> на картинках из тестовой выборки</a:t>
            </a:r>
          </a:p>
          <a:p>
            <a:endParaRPr lang="ru-RU" dirty="0" smtClean="0">
              <a:latin typeface="Cascadia Code Light" pitchFamily="49" charset="0"/>
              <a:cs typeface="Cascadia Code Light" pitchFamily="49" charset="0"/>
            </a:endParaRPr>
          </a:p>
          <a:p>
            <a:r>
              <a:rPr lang="ru-RU" b="1" dirty="0" smtClean="0">
                <a:latin typeface="Cascadia Code Light" pitchFamily="49" charset="0"/>
                <a:cs typeface="Cascadia Code Light" pitchFamily="49" charset="0"/>
              </a:rPr>
              <a:t>Разбор </a:t>
            </a:r>
            <a:r>
              <a:rPr lang="ru-RU" b="1" dirty="0" smtClean="0">
                <a:latin typeface="Cascadia Code Light" pitchFamily="49" charset="0"/>
                <a:cs typeface="Cascadia Code Light" pitchFamily="49" charset="0"/>
              </a:rPr>
              <a:t>метода </a:t>
            </a:r>
            <a:r>
              <a:rPr lang="ru-RU" b="1" dirty="0" err="1" smtClean="0">
                <a:latin typeface="Cascadia Code Light" pitchFamily="49" charset="0"/>
                <a:cs typeface="Cascadia Code Light" pitchFamily="49" charset="0"/>
              </a:rPr>
              <a:t>best_model.predict</a:t>
            </a:r>
            <a:r>
              <a:rPr lang="ru-RU" b="1" dirty="0" smtClean="0">
                <a:latin typeface="Cascadia Code Light" pitchFamily="49" charset="0"/>
                <a:cs typeface="Cascadia Code Light" pitchFamily="49" charset="0"/>
              </a:rPr>
              <a:t>():</a:t>
            </a:r>
            <a:endParaRPr lang="ru-RU" dirty="0" smtClean="0">
              <a:latin typeface="Cascadia Code Light" pitchFamily="49" charset="0"/>
              <a:cs typeface="Cascadia Code Light" pitchFamily="49" charset="0"/>
            </a:endParaRPr>
          </a:p>
          <a:p>
            <a:r>
              <a:rPr lang="ru-RU" b="1" dirty="0" err="1" smtClean="0">
                <a:latin typeface="Cascadia Code Light" pitchFamily="49" charset="0"/>
                <a:cs typeface="Cascadia Code Light" pitchFamily="49" charset="0"/>
              </a:rPr>
              <a:t>source=test_images</a:t>
            </a:r>
            <a:r>
              <a:rPr lang="ru-RU" b="1" dirty="0" smtClean="0">
                <a:latin typeface="Cascadia Code Light" pitchFamily="49" charset="0"/>
                <a:cs typeface="Cascadia Code Light" pitchFamily="49" charset="0"/>
              </a:rPr>
              <a:t>[:3]</a:t>
            </a:r>
            <a:r>
              <a:rPr lang="ru-RU" dirty="0" smtClean="0">
                <a:latin typeface="Cascadia Code Light" pitchFamily="49" charset="0"/>
                <a:cs typeface="Cascadia Code Light" pitchFamily="49" charset="0"/>
              </a:rPr>
              <a:t>:</a:t>
            </a:r>
          </a:p>
          <a:p>
            <a:pPr lvl="1"/>
            <a:r>
              <a:rPr lang="ru-RU" dirty="0" err="1" smtClean="0">
                <a:latin typeface="Cascadia Code Light" pitchFamily="49" charset="0"/>
                <a:cs typeface="Cascadia Code Light" pitchFamily="49" charset="0"/>
              </a:rPr>
              <a:t>test_images</a:t>
            </a:r>
            <a:r>
              <a:rPr lang="ru-RU" dirty="0" smtClean="0">
                <a:latin typeface="Cascadia Code Light" pitchFamily="49" charset="0"/>
                <a:cs typeface="Cascadia Code Light" pitchFamily="49" charset="0"/>
              </a:rPr>
              <a:t> — это список путей к изображениям </a:t>
            </a:r>
          </a:p>
          <a:p>
            <a:pPr lvl="1"/>
            <a:r>
              <a:rPr lang="ru-RU" dirty="0" smtClean="0">
                <a:latin typeface="Cascadia Code Light" pitchFamily="49" charset="0"/>
                <a:cs typeface="Cascadia Code Light" pitchFamily="49" charset="0"/>
              </a:rPr>
              <a:t>[:3] — </a:t>
            </a:r>
            <a:r>
              <a:rPr lang="ru-RU" dirty="0" smtClean="0">
                <a:latin typeface="Cascadia Code Light" pitchFamily="49" charset="0"/>
                <a:cs typeface="Cascadia Code Light" pitchFamily="49" charset="0"/>
              </a:rPr>
              <a:t>взять </a:t>
            </a:r>
            <a:r>
              <a:rPr lang="ru-RU" dirty="0" smtClean="0">
                <a:latin typeface="Cascadia Code Light" pitchFamily="49" charset="0"/>
                <a:cs typeface="Cascadia Code Light" pitchFamily="49" charset="0"/>
              </a:rPr>
              <a:t>первые три элемента из </a:t>
            </a:r>
            <a:r>
              <a:rPr lang="ru-RU" dirty="0" smtClean="0">
                <a:latin typeface="Cascadia Code Light" pitchFamily="49" charset="0"/>
                <a:cs typeface="Cascadia Code Light" pitchFamily="49" charset="0"/>
              </a:rPr>
              <a:t>списка </a:t>
            </a:r>
            <a:endParaRPr lang="ru-RU" dirty="0" smtClean="0">
              <a:latin typeface="Cascadia Code Light" pitchFamily="49" charset="0"/>
              <a:cs typeface="Cascadia Code Light" pitchFamily="49" charset="0"/>
            </a:endParaRPr>
          </a:p>
          <a:p>
            <a:r>
              <a:rPr lang="ru-RU" b="1" dirty="0" err="1" smtClean="0">
                <a:latin typeface="Cascadia Code Light" pitchFamily="49" charset="0"/>
                <a:cs typeface="Cascadia Code Light" pitchFamily="49" charset="0"/>
              </a:rPr>
              <a:t>save=True</a:t>
            </a:r>
            <a:r>
              <a:rPr lang="ru-RU" dirty="0" smtClean="0">
                <a:latin typeface="Cascadia Code Light" pitchFamily="49" charset="0"/>
                <a:cs typeface="Cascadia Code Light" pitchFamily="49" charset="0"/>
              </a:rPr>
              <a:t>:</a:t>
            </a:r>
          </a:p>
          <a:p>
            <a:pPr lvl="1"/>
            <a:r>
              <a:rPr lang="ru-RU" dirty="0" smtClean="0">
                <a:latin typeface="Cascadia Code Light" pitchFamily="49" charset="0"/>
                <a:cs typeface="Cascadia Code Light" pitchFamily="49" charset="0"/>
              </a:rPr>
              <a:t>Критически важный параметр. Если бы он был </a:t>
            </a:r>
            <a:r>
              <a:rPr lang="ru-RU" dirty="0" err="1" smtClean="0">
                <a:latin typeface="Cascadia Code Light" pitchFamily="49" charset="0"/>
                <a:cs typeface="Cascadia Code Light" pitchFamily="49" charset="0"/>
              </a:rPr>
              <a:t>False</a:t>
            </a:r>
            <a:r>
              <a:rPr lang="ru-RU" dirty="0" smtClean="0">
                <a:latin typeface="Cascadia Code Light" pitchFamily="49" charset="0"/>
                <a:cs typeface="Cascadia Code Light" pitchFamily="49" charset="0"/>
              </a:rPr>
              <a:t>, модель просто вернула бы координаты в виде тензоров в память </a:t>
            </a:r>
            <a:r>
              <a:rPr lang="ru-RU" dirty="0" smtClean="0">
                <a:latin typeface="Cascadia Code Light" pitchFamily="49" charset="0"/>
                <a:cs typeface="Cascadia Code Light" pitchFamily="49" charset="0"/>
              </a:rPr>
              <a:t>компьютера. </a:t>
            </a:r>
            <a:r>
              <a:rPr lang="ru-RU" dirty="0" smtClean="0">
                <a:latin typeface="Cascadia Code Light" pitchFamily="49" charset="0"/>
                <a:cs typeface="Cascadia Code Light" pitchFamily="49" charset="0"/>
              </a:rPr>
              <a:t>С флагом </a:t>
            </a:r>
            <a:r>
              <a:rPr lang="ru-RU" dirty="0" err="1" smtClean="0">
                <a:latin typeface="Cascadia Code Light" pitchFamily="49" charset="0"/>
                <a:cs typeface="Cascadia Code Light" pitchFamily="49" charset="0"/>
              </a:rPr>
              <a:t>True</a:t>
            </a:r>
            <a:r>
              <a:rPr lang="ru-RU" dirty="0" smtClean="0">
                <a:latin typeface="Cascadia Code Light" pitchFamily="49" charset="0"/>
                <a:cs typeface="Cascadia Code Light" pitchFamily="49" charset="0"/>
              </a:rPr>
              <a:t> библиотека </a:t>
            </a:r>
            <a:r>
              <a:rPr lang="ru-RU" dirty="0" err="1" smtClean="0">
                <a:latin typeface="Cascadia Code Light" pitchFamily="49" charset="0"/>
                <a:cs typeface="Cascadia Code Light" pitchFamily="49" charset="0"/>
              </a:rPr>
              <a:t>Ultralytics</a:t>
            </a:r>
            <a:r>
              <a:rPr lang="ru-RU" dirty="0" smtClean="0">
                <a:latin typeface="Cascadia Code Light" pitchFamily="49" charset="0"/>
                <a:cs typeface="Cascadia Code Light" pitchFamily="49" charset="0"/>
              </a:rPr>
              <a:t> сохраняет новые файлы .</a:t>
            </a:r>
            <a:r>
              <a:rPr lang="ru-RU" dirty="0" err="1" smtClean="0">
                <a:latin typeface="Cascadia Code Light" pitchFamily="49" charset="0"/>
                <a:cs typeface="Cascadia Code Light" pitchFamily="49" charset="0"/>
              </a:rPr>
              <a:t>jpg</a:t>
            </a:r>
            <a:r>
              <a:rPr lang="ru-RU" dirty="0" smtClean="0">
                <a:latin typeface="Cascadia Code Light" pitchFamily="49" charset="0"/>
                <a:cs typeface="Cascadia Code Light" pitchFamily="49" charset="0"/>
              </a:rPr>
              <a:t> на диск, уже с нарисованными поверх рамками и подписями классов.</a:t>
            </a:r>
          </a:p>
          <a:p>
            <a:r>
              <a:rPr lang="ru-RU" b="1" dirty="0" smtClean="0">
                <a:latin typeface="Cascadia Code Light" pitchFamily="49" charset="0"/>
                <a:cs typeface="Cascadia Code Light" pitchFamily="49" charset="0"/>
              </a:rPr>
              <a:t>conf=0.4</a:t>
            </a:r>
            <a:r>
              <a:rPr lang="ru-RU" dirty="0" smtClean="0">
                <a:latin typeface="Cascadia Code Light" pitchFamily="49" charset="0"/>
                <a:cs typeface="Cascadia Code Light" pitchFamily="49" charset="0"/>
              </a:rPr>
              <a:t>:</a:t>
            </a:r>
          </a:p>
          <a:p>
            <a:pPr lvl="1"/>
            <a:r>
              <a:rPr lang="ru-RU" b="1" dirty="0" smtClean="0">
                <a:latin typeface="Cascadia Code Light" pitchFamily="49" charset="0"/>
                <a:cs typeface="Cascadia Code Light" pitchFamily="49" charset="0"/>
              </a:rPr>
              <a:t>Порог уверенности (</a:t>
            </a:r>
            <a:r>
              <a:rPr lang="ru-RU" b="1" dirty="0" err="1" smtClean="0">
                <a:latin typeface="Cascadia Code Light" pitchFamily="49" charset="0"/>
                <a:cs typeface="Cascadia Code Light" pitchFamily="49" charset="0"/>
              </a:rPr>
              <a:t>Confidence</a:t>
            </a:r>
            <a:r>
              <a:rPr lang="ru-RU" b="1" dirty="0" smtClean="0">
                <a:latin typeface="Cascadia Code Light" pitchFamily="49" charset="0"/>
                <a:cs typeface="Cascadia Code Light" pitchFamily="49" charset="0"/>
              </a:rPr>
              <a:t> </a:t>
            </a:r>
            <a:r>
              <a:rPr lang="ru-RU" b="1" dirty="0" err="1" smtClean="0">
                <a:latin typeface="Cascadia Code Light" pitchFamily="49" charset="0"/>
                <a:cs typeface="Cascadia Code Light" pitchFamily="49" charset="0"/>
              </a:rPr>
              <a:t>Threshold</a:t>
            </a:r>
            <a:r>
              <a:rPr lang="ru-RU" b="1" dirty="0" smtClean="0">
                <a:latin typeface="Cascadia Code Light" pitchFamily="49" charset="0"/>
                <a:cs typeface="Cascadia Code Light" pitchFamily="49" charset="0"/>
              </a:rPr>
              <a:t>)</a:t>
            </a:r>
            <a:r>
              <a:rPr lang="ru-RU" dirty="0" smtClean="0">
                <a:latin typeface="Cascadia Code Light" pitchFamily="49" charset="0"/>
                <a:cs typeface="Cascadia Code Light" pitchFamily="49" charset="0"/>
              </a:rPr>
              <a:t>. </a:t>
            </a:r>
            <a:r>
              <a:rPr lang="ru-RU" dirty="0" err="1" smtClean="0">
                <a:latin typeface="Cascadia Code Light" pitchFamily="49" charset="0"/>
                <a:cs typeface="Cascadia Code Light" pitchFamily="49" charset="0"/>
              </a:rPr>
              <a:t>Нейросеть</a:t>
            </a:r>
            <a:r>
              <a:rPr lang="ru-RU" dirty="0" smtClean="0">
                <a:latin typeface="Cascadia Code Light" pitchFamily="49" charset="0"/>
                <a:cs typeface="Cascadia Code Light" pitchFamily="49" charset="0"/>
              </a:rPr>
              <a:t> делает тысячи предсказаний, но многие из них — это фоновый шум с уверенностью 5% или 10%. Данный параметр говорит модели: </a:t>
            </a:r>
            <a:r>
              <a:rPr lang="ru-RU" i="1" dirty="0" smtClean="0">
                <a:latin typeface="Cascadia Code Light" pitchFamily="49" charset="0"/>
                <a:cs typeface="Cascadia Code Light" pitchFamily="49" charset="0"/>
              </a:rPr>
              <a:t>«Сохраняй и </a:t>
            </a:r>
            <a:r>
              <a:rPr lang="ru-RU" i="1" dirty="0" err="1" smtClean="0">
                <a:latin typeface="Cascadia Code Light" pitchFamily="49" charset="0"/>
                <a:cs typeface="Cascadia Code Light" pitchFamily="49" charset="0"/>
              </a:rPr>
              <a:t>отрисовывай</a:t>
            </a:r>
            <a:r>
              <a:rPr lang="ru-RU" i="1" dirty="0" smtClean="0">
                <a:latin typeface="Cascadia Code Light" pitchFamily="49" charset="0"/>
                <a:cs typeface="Cascadia Code Light" pitchFamily="49" charset="0"/>
              </a:rPr>
              <a:t> только те объекты, в которых ты уверена на 40% и более»</a:t>
            </a:r>
            <a:r>
              <a:rPr lang="ru-RU" dirty="0" smtClean="0">
                <a:latin typeface="Cascadia Code Light" pitchFamily="49" charset="0"/>
                <a:cs typeface="Cascadia Code Light" pitchFamily="49" charset="0"/>
              </a:rPr>
              <a:t>. Это отсекает </a:t>
            </a:r>
            <a:r>
              <a:rPr lang="ru-RU" dirty="0" smtClean="0">
                <a:latin typeface="Cascadia Code Light" pitchFamily="49" charset="0"/>
                <a:cs typeface="Cascadia Code Light" pitchFamily="49" charset="0"/>
              </a:rPr>
              <a:t>мусорные </a:t>
            </a:r>
            <a:r>
              <a:rPr lang="ru-RU" dirty="0" smtClean="0">
                <a:latin typeface="Cascadia Code Light" pitchFamily="49" charset="0"/>
                <a:cs typeface="Cascadia Code Light" pitchFamily="49" charset="0"/>
              </a:rPr>
              <a:t>рамки.</a:t>
            </a:r>
          </a:p>
          <a:p>
            <a:r>
              <a:rPr lang="ru-RU" b="1" dirty="0" err="1" smtClean="0">
                <a:latin typeface="Cascadia Code Light" pitchFamily="49" charset="0"/>
                <a:cs typeface="Cascadia Code Light" pitchFamily="49" charset="0"/>
              </a:rPr>
              <a:t>exist_ok=True</a:t>
            </a:r>
            <a:r>
              <a:rPr lang="ru-RU" dirty="0" smtClean="0">
                <a:latin typeface="Cascadia Code Light" pitchFamily="49" charset="0"/>
                <a:cs typeface="Cascadia Code Light" pitchFamily="49" charset="0"/>
              </a:rPr>
              <a:t>:</a:t>
            </a:r>
          </a:p>
          <a:p>
            <a:pPr lvl="1"/>
            <a:r>
              <a:rPr lang="ru-RU" b="1" dirty="0" smtClean="0">
                <a:latin typeface="Cascadia Code Light" pitchFamily="49" charset="0"/>
                <a:cs typeface="Cascadia Code Light" pitchFamily="49" charset="0"/>
              </a:rPr>
              <a:t>Защита от ошибок в </a:t>
            </a:r>
            <a:r>
              <a:rPr lang="ru-RU" b="1" dirty="0" err="1" smtClean="0">
                <a:latin typeface="Cascadia Code Light" pitchFamily="49" charset="0"/>
                <a:cs typeface="Cascadia Code Light" pitchFamily="49" charset="0"/>
              </a:rPr>
              <a:t>Colab</a:t>
            </a:r>
            <a:r>
              <a:rPr lang="ru-RU" dirty="0" smtClean="0">
                <a:latin typeface="Cascadia Code Light" pitchFamily="49" charset="0"/>
                <a:cs typeface="Cascadia Code Light" pitchFamily="49" charset="0"/>
              </a:rPr>
              <a:t>. По умолчанию YOLO сохраняет результаты в новую папку (например, </a:t>
            </a:r>
            <a:r>
              <a:rPr lang="ru-RU" dirty="0" err="1" smtClean="0">
                <a:latin typeface="Cascadia Code Light" pitchFamily="49" charset="0"/>
                <a:cs typeface="Cascadia Code Light" pitchFamily="49" charset="0"/>
              </a:rPr>
              <a:t>predict</a:t>
            </a:r>
            <a:r>
              <a:rPr lang="ru-RU" dirty="0" smtClean="0">
                <a:latin typeface="Cascadia Code Light" pitchFamily="49" charset="0"/>
                <a:cs typeface="Cascadia Code Light" pitchFamily="49" charset="0"/>
              </a:rPr>
              <a:t>, predict2, predict3). Если запустить ячейку повторно, а папка </a:t>
            </a:r>
            <a:r>
              <a:rPr lang="ru-RU" dirty="0" err="1" smtClean="0">
                <a:latin typeface="Cascadia Code Light" pitchFamily="49" charset="0"/>
                <a:cs typeface="Cascadia Code Light" pitchFamily="49" charset="0"/>
              </a:rPr>
              <a:t>predict</a:t>
            </a:r>
            <a:r>
              <a:rPr lang="ru-RU" dirty="0" smtClean="0">
                <a:latin typeface="Cascadia Code Light" pitchFamily="49" charset="0"/>
                <a:cs typeface="Cascadia Code Light" pitchFamily="49" charset="0"/>
              </a:rPr>
              <a:t> уже существует, программа может выдать ошибку. Параметр </a:t>
            </a:r>
            <a:r>
              <a:rPr lang="ru-RU" dirty="0" err="1" smtClean="0">
                <a:latin typeface="Cascadia Code Light" pitchFamily="49" charset="0"/>
                <a:cs typeface="Cascadia Code Light" pitchFamily="49" charset="0"/>
              </a:rPr>
              <a:t>exist_ok=True</a:t>
            </a:r>
            <a:r>
              <a:rPr lang="ru-RU" dirty="0" smtClean="0">
                <a:latin typeface="Cascadia Code Light" pitchFamily="49" charset="0"/>
                <a:cs typeface="Cascadia Code Light" pitchFamily="49" charset="0"/>
              </a:rPr>
              <a:t> говорит: </a:t>
            </a:r>
            <a:r>
              <a:rPr lang="ru-RU" i="1" dirty="0" smtClean="0">
                <a:latin typeface="Cascadia Code Light" pitchFamily="49" charset="0"/>
                <a:cs typeface="Cascadia Code Light" pitchFamily="49" charset="0"/>
              </a:rPr>
              <a:t>«Если папка существует — не падай с ошибкой, просто перезапиши файлы внутри неё»</a:t>
            </a:r>
            <a:r>
              <a:rPr lang="ru-RU" dirty="0" smtClean="0">
                <a:latin typeface="Cascadia Code Light" pitchFamily="49" charset="0"/>
                <a:cs typeface="Cascadia Code Light" pitchFamily="49" charset="0"/>
              </a:rPr>
              <a:t>.</a:t>
            </a:r>
          </a:p>
          <a:p>
            <a:endParaRPr lang="ru-RU" dirty="0">
              <a:latin typeface="Cascadia Code Light" pitchFamily="49" charset="0"/>
              <a:cs typeface="Cascadia Code Light" pitchFamily="49" charset="0"/>
            </a:endParaRPr>
          </a:p>
        </p:txBody>
      </p:sp>
      <p:pic>
        <p:nvPicPr>
          <p:cNvPr id="10242" name="Picture 2"/>
          <p:cNvPicPr>
            <a:picLocks noChangeAspect="1" noChangeArrowheads="1"/>
          </p:cNvPicPr>
          <p:nvPr/>
        </p:nvPicPr>
        <p:blipFill>
          <a:blip r:embed="rId2" cstate="print"/>
          <a:srcRect/>
          <a:stretch>
            <a:fillRect/>
          </a:stretch>
        </p:blipFill>
        <p:spPr bwMode="auto">
          <a:xfrm>
            <a:off x="5486399" y="1676400"/>
            <a:ext cx="7104529" cy="228600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81000" y="0"/>
            <a:ext cx="8229600" cy="1143000"/>
          </a:xfrm>
        </p:spPr>
        <p:txBody>
          <a:bodyPr>
            <a:normAutofit fontScale="90000"/>
          </a:bodyPr>
          <a:lstStyle/>
          <a:p>
            <a:r>
              <a:rPr lang="ru-RU" dirty="0" smtClean="0">
                <a:latin typeface="Cascadia Code Light" pitchFamily="49" charset="0"/>
                <a:cs typeface="Cascadia Code Light" pitchFamily="49" charset="0"/>
              </a:rPr>
              <a:t>Тестирование модели на своих данных</a:t>
            </a:r>
            <a:endParaRPr lang="ru-RU" dirty="0">
              <a:latin typeface="Cascadia Code Light" pitchFamily="49" charset="0"/>
              <a:cs typeface="Cascadia Code Light" pitchFamily="49" charset="0"/>
            </a:endParaRPr>
          </a:p>
        </p:txBody>
      </p:sp>
      <p:sp>
        <p:nvSpPr>
          <p:cNvPr id="3" name="Содержимое 2"/>
          <p:cNvSpPr>
            <a:spLocks noGrp="1"/>
          </p:cNvSpPr>
          <p:nvPr>
            <p:ph idx="1"/>
          </p:nvPr>
        </p:nvSpPr>
        <p:spPr>
          <a:xfrm>
            <a:off x="5334000" y="1371600"/>
            <a:ext cx="3810000" cy="5334000"/>
          </a:xfrm>
        </p:spPr>
        <p:txBody>
          <a:bodyPr>
            <a:noAutofit/>
          </a:bodyPr>
          <a:lstStyle/>
          <a:p>
            <a:r>
              <a:rPr lang="ru-RU" sz="1100" b="1" dirty="0" smtClean="0">
                <a:latin typeface="Cascadia Code Light" pitchFamily="49" charset="0"/>
                <a:cs typeface="Cascadia Code Light" pitchFamily="49" charset="0"/>
              </a:rPr>
              <a:t>1</a:t>
            </a:r>
            <a:r>
              <a:rPr lang="ru-RU" sz="1100" b="1" dirty="0" smtClean="0">
                <a:latin typeface="Cascadia Code Light" pitchFamily="49" charset="0"/>
                <a:cs typeface="Cascadia Code Light" pitchFamily="49" charset="0"/>
              </a:rPr>
              <a:t>. </a:t>
            </a:r>
            <a:r>
              <a:rPr lang="ru-RU" sz="1100" b="1" dirty="0" err="1" smtClean="0">
                <a:latin typeface="Cascadia Code Light" pitchFamily="49" charset="0"/>
                <a:cs typeface="Cascadia Code Light" pitchFamily="49" charset="0"/>
              </a:rPr>
              <a:t>results</a:t>
            </a:r>
            <a:r>
              <a:rPr lang="ru-RU" sz="1100" b="1" dirty="0" smtClean="0">
                <a:latin typeface="Cascadia Code Light" pitchFamily="49" charset="0"/>
                <a:cs typeface="Cascadia Code Light" pitchFamily="49" charset="0"/>
              </a:rPr>
              <a:t> = </a:t>
            </a:r>
            <a:r>
              <a:rPr lang="ru-RU" sz="1100" b="1" dirty="0" err="1" smtClean="0">
                <a:latin typeface="Cascadia Code Light" pitchFamily="49" charset="0"/>
                <a:cs typeface="Cascadia Code Light" pitchFamily="49" charset="0"/>
              </a:rPr>
              <a:t>best_model.predict</a:t>
            </a:r>
            <a:r>
              <a:rPr lang="ru-RU" sz="1100" b="1" dirty="0" smtClean="0">
                <a:latin typeface="Cascadia Code Light" pitchFamily="49" charset="0"/>
                <a:cs typeface="Cascadia Code Light" pitchFamily="49" charset="0"/>
              </a:rPr>
              <a:t>(</a:t>
            </a:r>
            <a:r>
              <a:rPr lang="ru-RU" sz="1100" b="1" dirty="0" err="1" smtClean="0">
                <a:latin typeface="Cascadia Code Light" pitchFamily="49" charset="0"/>
                <a:cs typeface="Cascadia Code Light" pitchFamily="49" charset="0"/>
              </a:rPr>
              <a:t>source=img_path</a:t>
            </a:r>
            <a:r>
              <a:rPr lang="ru-RU" sz="1100" b="1" dirty="0" smtClean="0">
                <a:latin typeface="Cascadia Code Light" pitchFamily="49" charset="0"/>
                <a:cs typeface="Cascadia Code Light" pitchFamily="49" charset="0"/>
              </a:rPr>
              <a:t>, conf=0.4)</a:t>
            </a:r>
            <a:endParaRPr lang="ru-RU" sz="1100" dirty="0" smtClean="0">
              <a:latin typeface="Cascadia Code Light" pitchFamily="49" charset="0"/>
              <a:cs typeface="Cascadia Code Light" pitchFamily="49" charset="0"/>
            </a:endParaRPr>
          </a:p>
          <a:p>
            <a:r>
              <a:rPr lang="ru-RU" sz="1100" b="1" dirty="0" err="1" smtClean="0">
                <a:latin typeface="Cascadia Code Light" pitchFamily="49" charset="0"/>
                <a:cs typeface="Cascadia Code Light" pitchFamily="49" charset="0"/>
              </a:rPr>
              <a:t>best_model</a:t>
            </a:r>
            <a:r>
              <a:rPr lang="ru-RU" sz="1100" dirty="0" smtClean="0">
                <a:latin typeface="Cascadia Code Light" pitchFamily="49" charset="0"/>
                <a:cs typeface="Cascadia Code Light" pitchFamily="49" charset="0"/>
              </a:rPr>
              <a:t> — это обученная нами модель (файл </a:t>
            </a:r>
            <a:r>
              <a:rPr lang="ru-RU" sz="1100" dirty="0" err="1" smtClean="0">
                <a:latin typeface="Cascadia Code Light" pitchFamily="49" charset="0"/>
                <a:cs typeface="Cascadia Code Light" pitchFamily="49" charset="0"/>
              </a:rPr>
              <a:t>best.pt</a:t>
            </a:r>
            <a:r>
              <a:rPr lang="ru-RU" sz="1100" dirty="0" smtClean="0">
                <a:latin typeface="Cascadia Code Light" pitchFamily="49" charset="0"/>
                <a:cs typeface="Cascadia Code Light" pitchFamily="49" charset="0"/>
              </a:rPr>
              <a:t>), которая специализируется на поиске 4 классов африканских животных.</a:t>
            </a:r>
          </a:p>
          <a:p>
            <a:r>
              <a:rPr lang="ru-RU" sz="1100" b="1" dirty="0" err="1" smtClean="0">
                <a:latin typeface="Cascadia Code Light" pitchFamily="49" charset="0"/>
                <a:cs typeface="Cascadia Code Light" pitchFamily="49" charset="0"/>
              </a:rPr>
              <a:t>source=img_path</a:t>
            </a:r>
            <a:r>
              <a:rPr lang="ru-RU" sz="1100" dirty="0" smtClean="0">
                <a:latin typeface="Cascadia Code Light" pitchFamily="49" charset="0"/>
                <a:cs typeface="Cascadia Code Light" pitchFamily="49" charset="0"/>
              </a:rPr>
              <a:t> </a:t>
            </a:r>
            <a:r>
              <a:rPr lang="ru-RU" sz="1100" dirty="0" smtClean="0">
                <a:latin typeface="Cascadia Code Light" pitchFamily="49" charset="0"/>
                <a:cs typeface="Cascadia Code Light" pitchFamily="49" charset="0"/>
              </a:rPr>
              <a:t>—переменная </a:t>
            </a:r>
            <a:r>
              <a:rPr lang="ru-RU" sz="1100" dirty="0" err="1" smtClean="0">
                <a:latin typeface="Cascadia Code Light" pitchFamily="49" charset="0"/>
                <a:cs typeface="Cascadia Code Light" pitchFamily="49" charset="0"/>
              </a:rPr>
              <a:t>img_path</a:t>
            </a:r>
            <a:r>
              <a:rPr lang="ru-RU" sz="1100" dirty="0" smtClean="0">
                <a:latin typeface="Cascadia Code Light" pitchFamily="49" charset="0"/>
                <a:cs typeface="Cascadia Code Light" pitchFamily="49" charset="0"/>
              </a:rPr>
              <a:t>. Она содержит строку с именем файла, который пользователь загрузил через </a:t>
            </a:r>
            <a:r>
              <a:rPr lang="ru-RU" sz="1100" dirty="0" err="1" smtClean="0">
                <a:latin typeface="Cascadia Code Light" pitchFamily="49" charset="0"/>
                <a:cs typeface="Cascadia Code Light" pitchFamily="49" charset="0"/>
              </a:rPr>
              <a:t>files.upload</a:t>
            </a:r>
            <a:r>
              <a:rPr lang="ru-RU" sz="1100" dirty="0" smtClean="0">
                <a:latin typeface="Cascadia Code Light" pitchFamily="49" charset="0"/>
                <a:cs typeface="Cascadia Code Light" pitchFamily="49" charset="0"/>
              </a:rPr>
              <a:t>().</a:t>
            </a:r>
          </a:p>
          <a:p>
            <a:r>
              <a:rPr lang="ru-RU" sz="1100" b="1" dirty="0" smtClean="0">
                <a:latin typeface="Cascadia Code Light" pitchFamily="49" charset="0"/>
                <a:cs typeface="Cascadia Code Light" pitchFamily="49" charset="0"/>
              </a:rPr>
              <a:t>conf=0.4</a:t>
            </a:r>
            <a:r>
              <a:rPr lang="ru-RU" sz="1100" dirty="0" smtClean="0">
                <a:latin typeface="Cascadia Code Light" pitchFamily="49" charset="0"/>
                <a:cs typeface="Cascadia Code Light" pitchFamily="49" charset="0"/>
              </a:rPr>
              <a:t> — порог </a:t>
            </a:r>
            <a:r>
              <a:rPr lang="ru-RU" sz="1100" dirty="0" smtClean="0">
                <a:latin typeface="Cascadia Code Light" pitchFamily="49" charset="0"/>
                <a:cs typeface="Cascadia Code Light" pitchFamily="49" charset="0"/>
              </a:rPr>
              <a:t>уверенности</a:t>
            </a:r>
          </a:p>
          <a:p>
            <a:endParaRPr lang="ru-RU" sz="1100" dirty="0" smtClean="0">
              <a:latin typeface="Cascadia Code Light" pitchFamily="49" charset="0"/>
              <a:cs typeface="Cascadia Code Light" pitchFamily="49" charset="0"/>
            </a:endParaRPr>
          </a:p>
          <a:p>
            <a:r>
              <a:rPr lang="ru-RU" sz="1100" b="1" dirty="0" err="1" smtClean="0">
                <a:latin typeface="Cascadia Code Light" pitchFamily="49" charset="0"/>
                <a:cs typeface="Cascadia Code Light" pitchFamily="49" charset="0"/>
              </a:rPr>
              <a:t>results</a:t>
            </a:r>
            <a:r>
              <a:rPr lang="ru-RU" sz="1100" dirty="0" smtClean="0">
                <a:latin typeface="Cascadia Code Light" pitchFamily="49" charset="0"/>
                <a:cs typeface="Cascadia Code Light" pitchFamily="49" charset="0"/>
              </a:rPr>
              <a:t> — объект, содержащий все найденные рамки, классы и координаты для данной картинки</a:t>
            </a:r>
            <a:r>
              <a:rPr lang="ru-RU" sz="1100" dirty="0" smtClean="0">
                <a:latin typeface="Cascadia Code Light" pitchFamily="49" charset="0"/>
                <a:cs typeface="Cascadia Code Light" pitchFamily="49" charset="0"/>
              </a:rPr>
              <a:t>.</a:t>
            </a:r>
          </a:p>
          <a:p>
            <a:endParaRPr lang="ru-RU" sz="1100" dirty="0" smtClean="0">
              <a:latin typeface="Cascadia Code Light" pitchFamily="49" charset="0"/>
              <a:cs typeface="Cascadia Code Light" pitchFamily="49" charset="0"/>
            </a:endParaRPr>
          </a:p>
          <a:p>
            <a:r>
              <a:rPr lang="ru-RU" sz="1100" b="1" dirty="0" smtClean="0">
                <a:latin typeface="Cascadia Code Light" pitchFamily="49" charset="0"/>
                <a:cs typeface="Cascadia Code Light" pitchFamily="49" charset="0"/>
              </a:rPr>
              <a:t>2. cv2_imshow(</a:t>
            </a:r>
            <a:r>
              <a:rPr lang="ru-RU" sz="1100" b="1" dirty="0" err="1" smtClean="0">
                <a:latin typeface="Cascadia Code Light" pitchFamily="49" charset="0"/>
                <a:cs typeface="Cascadia Code Light" pitchFamily="49" charset="0"/>
              </a:rPr>
              <a:t>results</a:t>
            </a:r>
            <a:r>
              <a:rPr lang="ru-RU" sz="1100" b="1" dirty="0" smtClean="0">
                <a:latin typeface="Cascadia Code Light" pitchFamily="49" charset="0"/>
                <a:cs typeface="Cascadia Code Light" pitchFamily="49" charset="0"/>
              </a:rPr>
              <a:t>[0].</a:t>
            </a:r>
            <a:r>
              <a:rPr lang="ru-RU" sz="1100" b="1" dirty="0" err="1" smtClean="0">
                <a:latin typeface="Cascadia Code Light" pitchFamily="49" charset="0"/>
                <a:cs typeface="Cascadia Code Light" pitchFamily="49" charset="0"/>
              </a:rPr>
              <a:t>plot</a:t>
            </a:r>
            <a:r>
              <a:rPr lang="ru-RU" sz="1100" b="1" dirty="0" smtClean="0">
                <a:latin typeface="Cascadia Code Light" pitchFamily="49" charset="0"/>
                <a:cs typeface="Cascadia Code Light" pitchFamily="49" charset="0"/>
              </a:rPr>
              <a:t>())</a:t>
            </a:r>
            <a:endParaRPr lang="ru-RU" sz="1100" dirty="0" smtClean="0">
              <a:latin typeface="Cascadia Code Light" pitchFamily="49" charset="0"/>
              <a:cs typeface="Cascadia Code Light" pitchFamily="49" charset="0"/>
            </a:endParaRPr>
          </a:p>
          <a:p>
            <a:r>
              <a:rPr lang="ru-RU" sz="1100" b="1" dirty="0" err="1" smtClean="0">
                <a:latin typeface="Cascadia Code Light" pitchFamily="49" charset="0"/>
                <a:cs typeface="Cascadia Code Light" pitchFamily="49" charset="0"/>
              </a:rPr>
              <a:t>results</a:t>
            </a:r>
            <a:r>
              <a:rPr lang="ru-RU" sz="1100" b="1" dirty="0" smtClean="0">
                <a:latin typeface="Cascadia Code Light" pitchFamily="49" charset="0"/>
                <a:cs typeface="Cascadia Code Light" pitchFamily="49" charset="0"/>
              </a:rPr>
              <a:t>[0]</a:t>
            </a:r>
            <a:r>
              <a:rPr lang="ru-RU" sz="1100" dirty="0" smtClean="0">
                <a:latin typeface="Cascadia Code Light" pitchFamily="49" charset="0"/>
                <a:cs typeface="Cascadia Code Light" pitchFamily="49" charset="0"/>
              </a:rPr>
              <a:t> — берет результат для первого (и единственного) загруженного изображения.</a:t>
            </a:r>
          </a:p>
          <a:p>
            <a:r>
              <a:rPr lang="ru-RU" sz="1100" b="1" dirty="0" smtClean="0">
                <a:latin typeface="Cascadia Code Light" pitchFamily="49" charset="0"/>
                <a:cs typeface="Cascadia Code Light" pitchFamily="49" charset="0"/>
              </a:rPr>
              <a:t>.</a:t>
            </a:r>
            <a:r>
              <a:rPr lang="ru-RU" sz="1100" b="1" dirty="0" err="1" smtClean="0">
                <a:latin typeface="Cascadia Code Light" pitchFamily="49" charset="0"/>
                <a:cs typeface="Cascadia Code Light" pitchFamily="49" charset="0"/>
              </a:rPr>
              <a:t>plot</a:t>
            </a:r>
            <a:r>
              <a:rPr lang="ru-RU" sz="1100" b="1" dirty="0" smtClean="0">
                <a:latin typeface="Cascadia Code Light" pitchFamily="49" charset="0"/>
                <a:cs typeface="Cascadia Code Light" pitchFamily="49" charset="0"/>
              </a:rPr>
              <a:t>()</a:t>
            </a:r>
            <a:r>
              <a:rPr lang="ru-RU" sz="1100" dirty="0" smtClean="0">
                <a:latin typeface="Cascadia Code Light" pitchFamily="49" charset="0"/>
                <a:cs typeface="Cascadia Code Light" pitchFamily="49" charset="0"/>
              </a:rPr>
              <a:t> — встроенный метод YOLO, который программно </a:t>
            </a:r>
            <a:r>
              <a:rPr lang="ru-RU" sz="1100" dirty="0" err="1" smtClean="0">
                <a:latin typeface="Cascadia Code Light" pitchFamily="49" charset="0"/>
                <a:cs typeface="Cascadia Code Light" pitchFamily="49" charset="0"/>
              </a:rPr>
              <a:t>отрисовывает</a:t>
            </a:r>
            <a:r>
              <a:rPr lang="ru-RU" sz="1100" dirty="0" smtClean="0">
                <a:latin typeface="Cascadia Code Light" pitchFamily="49" charset="0"/>
                <a:cs typeface="Cascadia Code Light" pitchFamily="49" charset="0"/>
              </a:rPr>
              <a:t> ограничивающие рамки, подписи классов и проценты уверенности прямо на исходном изображении.</a:t>
            </a:r>
          </a:p>
          <a:p>
            <a:r>
              <a:rPr lang="ru-RU" sz="1100" b="1" dirty="0" smtClean="0">
                <a:latin typeface="Cascadia Code Light" pitchFamily="49" charset="0"/>
                <a:cs typeface="Cascadia Code Light" pitchFamily="49" charset="0"/>
              </a:rPr>
              <a:t>cv2_imshow(...)</a:t>
            </a:r>
            <a:r>
              <a:rPr lang="ru-RU" sz="1100" dirty="0" smtClean="0">
                <a:latin typeface="Cascadia Code Light" pitchFamily="49" charset="0"/>
                <a:cs typeface="Cascadia Code Light" pitchFamily="49" charset="0"/>
              </a:rPr>
              <a:t> — функция для встраивания и показа готового изображения непосредственно в ячейке вывода </a:t>
            </a:r>
            <a:r>
              <a:rPr lang="ru-RU" sz="1100" dirty="0" err="1" smtClean="0">
                <a:latin typeface="Cascadia Code Light" pitchFamily="49" charset="0"/>
                <a:cs typeface="Cascadia Code Light" pitchFamily="49" charset="0"/>
              </a:rPr>
              <a:t>Google</a:t>
            </a:r>
            <a:r>
              <a:rPr lang="ru-RU" sz="1100" dirty="0" smtClean="0">
                <a:latin typeface="Cascadia Code Light" pitchFamily="49" charset="0"/>
                <a:cs typeface="Cascadia Code Light" pitchFamily="49" charset="0"/>
              </a:rPr>
              <a:t> </a:t>
            </a:r>
            <a:r>
              <a:rPr lang="ru-RU" sz="1100" dirty="0" err="1" smtClean="0">
                <a:latin typeface="Cascadia Code Light" pitchFamily="49" charset="0"/>
                <a:cs typeface="Cascadia Code Light" pitchFamily="49" charset="0"/>
              </a:rPr>
              <a:t>Colab</a:t>
            </a:r>
            <a:r>
              <a:rPr lang="ru-RU" sz="1100" dirty="0" smtClean="0">
                <a:latin typeface="Cascadia Code Light" pitchFamily="49" charset="0"/>
                <a:cs typeface="Cascadia Code Light" pitchFamily="49" charset="0"/>
              </a:rPr>
              <a:t>.</a:t>
            </a:r>
          </a:p>
          <a:p>
            <a:endParaRPr lang="ru-RU" sz="1100" dirty="0">
              <a:latin typeface="Cascadia Code Light" pitchFamily="49" charset="0"/>
              <a:cs typeface="Cascadia Code Light" pitchFamily="49" charset="0"/>
            </a:endParaRPr>
          </a:p>
        </p:txBody>
      </p:sp>
      <p:pic>
        <p:nvPicPr>
          <p:cNvPr id="11267" name="Picture 3"/>
          <p:cNvPicPr>
            <a:picLocks noChangeAspect="1" noChangeArrowheads="1"/>
          </p:cNvPicPr>
          <p:nvPr/>
        </p:nvPicPr>
        <p:blipFill>
          <a:blip r:embed="rId2" cstate="print"/>
          <a:srcRect r="8273"/>
          <a:stretch>
            <a:fillRect/>
          </a:stretch>
        </p:blipFill>
        <p:spPr bwMode="auto">
          <a:xfrm>
            <a:off x="0" y="1600200"/>
            <a:ext cx="5181600" cy="1066800"/>
          </a:xfrm>
          <a:prstGeom prst="rect">
            <a:avLst/>
          </a:prstGeom>
          <a:noFill/>
          <a:ln w="9525">
            <a:noFill/>
            <a:miter lim="800000"/>
            <a:headEnd/>
            <a:tailEnd/>
          </a:ln>
          <a:effectLst/>
        </p:spPr>
      </p:pic>
      <p:pic>
        <p:nvPicPr>
          <p:cNvPr id="11268" name="Picture 4"/>
          <p:cNvPicPr>
            <a:picLocks noChangeAspect="1" noChangeArrowheads="1"/>
          </p:cNvPicPr>
          <p:nvPr/>
        </p:nvPicPr>
        <p:blipFill>
          <a:blip r:embed="rId3" cstate="print"/>
          <a:srcRect/>
          <a:stretch>
            <a:fillRect/>
          </a:stretch>
        </p:blipFill>
        <p:spPr bwMode="auto">
          <a:xfrm>
            <a:off x="762000" y="2895600"/>
            <a:ext cx="3962400" cy="3542543"/>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Содержимое 2"/>
          <p:cNvSpPr>
            <a:spLocks noGrp="1"/>
          </p:cNvSpPr>
          <p:nvPr>
            <p:ph idx="1"/>
          </p:nvPr>
        </p:nvSpPr>
        <p:spPr>
          <a:xfrm>
            <a:off x="381000" y="533400"/>
            <a:ext cx="8305800" cy="5592763"/>
          </a:xfrm>
        </p:spPr>
        <p:txBody>
          <a:bodyPr>
            <a:normAutofit/>
          </a:bodyPr>
          <a:lstStyle/>
          <a:p>
            <a:pPr algn="ctr">
              <a:buNone/>
            </a:pPr>
            <a:r>
              <a:rPr lang="ru-RU" sz="4800" dirty="0" smtClean="0">
                <a:latin typeface="Cascadia Code Light" pitchFamily="49" charset="0"/>
                <a:cs typeface="Cascadia Code Light" pitchFamily="49" charset="0"/>
              </a:rPr>
              <a:t>Спасибо за внимание!</a:t>
            </a:r>
            <a:endParaRPr lang="ru-RU" sz="4800" dirty="0">
              <a:latin typeface="Cascadia Code Light" pitchFamily="49" charset="0"/>
              <a:cs typeface="Cascadia Code Light" pitchFamily="49" charset="0"/>
            </a:endParaRPr>
          </a:p>
        </p:txBody>
      </p:sp>
      <p:pic>
        <p:nvPicPr>
          <p:cNvPr id="13314" name="Picture 2"/>
          <p:cNvPicPr>
            <a:picLocks noChangeAspect="1" noChangeArrowheads="1"/>
          </p:cNvPicPr>
          <p:nvPr/>
        </p:nvPicPr>
        <p:blipFill>
          <a:blip r:embed="rId2" cstate="print"/>
          <a:srcRect/>
          <a:stretch>
            <a:fillRect/>
          </a:stretch>
        </p:blipFill>
        <p:spPr bwMode="auto">
          <a:xfrm>
            <a:off x="2362200" y="2133600"/>
            <a:ext cx="4632325" cy="4321886"/>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2000</TotalTime>
  <Words>3168</Words>
  <Application>Microsoft Office PowerPoint</Application>
  <PresentationFormat>Экран (4:3)</PresentationFormat>
  <Paragraphs>267</Paragraphs>
  <Slides>23</Slides>
  <Notes>9</Notes>
  <HiddenSlides>0</HiddenSlides>
  <MMClips>0</MMClips>
  <ScaleCrop>false</ScaleCrop>
  <HeadingPairs>
    <vt:vector size="4" baseType="variant">
      <vt:variant>
        <vt:lpstr>Тема</vt:lpstr>
      </vt:variant>
      <vt:variant>
        <vt:i4>1</vt:i4>
      </vt:variant>
      <vt:variant>
        <vt:lpstr>Заголовки слайдов</vt:lpstr>
      </vt:variant>
      <vt:variant>
        <vt:i4>23</vt:i4>
      </vt:variant>
    </vt:vector>
  </HeadingPairs>
  <TitlesOfParts>
    <vt:vector size="24" baseType="lpstr">
      <vt:lpstr>Office Theme</vt:lpstr>
      <vt:lpstr>Детекция объектов с YOLO</vt:lpstr>
      <vt:lpstr>План занятия</vt:lpstr>
      <vt:lpstr>Задача детекции</vt:lpstr>
      <vt:lpstr>YOLO: Один взгляд на картинку</vt:lpstr>
      <vt:lpstr>Target Assignment (Назначение целей).</vt:lpstr>
      <vt:lpstr>Слайд 6</vt:lpstr>
      <vt:lpstr>Архитектура YOLO простыми словами</vt:lpstr>
      <vt:lpstr>Transfer Learning в детекции </vt:lpstr>
      <vt:lpstr>Структура датасета</vt:lpstr>
      <vt:lpstr>Слайд 10</vt:lpstr>
      <vt:lpstr>Слайд 11</vt:lpstr>
      <vt:lpstr>0. Импорты</vt:lpstr>
      <vt:lpstr>Как подключить GPU в Collab</vt:lpstr>
      <vt:lpstr>Загружаем предобученную нейросеть </vt:lpstr>
      <vt:lpstr>Слайд 15</vt:lpstr>
      <vt:lpstr>Слайд 16</vt:lpstr>
      <vt:lpstr>Расчленяем results</vt:lpstr>
      <vt:lpstr>Слайд 18</vt:lpstr>
      <vt:lpstr>Танцы с бубном для загрузки датасета африканских животных</vt:lpstr>
      <vt:lpstr>Дообучение</vt:lpstr>
      <vt:lpstr>  </vt:lpstr>
      <vt:lpstr>Тестирование модели на своих данных</vt:lpstr>
      <vt:lpstr>Слайд 23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Детекция объектов с YOLO</dc:title>
  <dc:creator>Вера Пономаренко</dc:creator>
  <cp:lastModifiedBy>Вера Пономаренко</cp:lastModifiedBy>
  <cp:revision>20</cp:revision>
  <dcterms:created xsi:type="dcterms:W3CDTF">2026-10-27T09:07:38Z</dcterms:created>
  <dcterms:modified xsi:type="dcterms:W3CDTF">2026-10-30T08:21:25Z</dcterms:modified>
</cp:coreProperties>
</file>
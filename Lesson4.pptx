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75" r:id="rId5"/>
    <p:sldId id="260" r:id="rId6"/>
    <p:sldId id="272" r:id="rId7"/>
    <p:sldId id="270" r:id="rId8"/>
    <p:sldId id="273" r:id="rId9"/>
    <p:sldId id="268" r:id="rId10"/>
    <p:sldId id="269" r:id="rId11"/>
    <p:sldId id="274" r:id="rId12"/>
    <p:sldId id="267" r:id="rId13"/>
    <p:sldId id="271" r:id="rId14"/>
    <p:sldId id="266" r:id="rId15"/>
    <p:sldId id="263" r:id="rId16"/>
    <p:sldId id="264" r:id="rId17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0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62000" y="0"/>
            <a:ext cx="7848600" cy="3505201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Занятие</a:t>
            </a: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>4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>ML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и изображения</a:t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b="1" dirty="0" err="1" smtClean="0">
                <a:latin typeface="Cascadia Code SemiLight" pitchFamily="49" charset="0"/>
                <a:cs typeface="Cascadia Code SemiLight" pitchFamily="49" charset="0"/>
              </a:rPr>
              <a:t>Свёрточные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 нейронные сети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715000"/>
            <a:ext cx="3962400" cy="114300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Мастерские МИЦ. 10 сезон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Основы машинного обучения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Занятие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4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Пономаренко Вера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19458" name="AutoShape 2" descr="blob:https://web.telegram.org/ed39cbfb-374d-4fbf-842a-6d3dbc23d7b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9135" y="2057400"/>
            <a:ext cx="6081849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План занятия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3276600" cy="4648199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1.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Полносвязные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en-US" dirty="0" err="1" smtClean="0">
                <a:latin typeface="Cascadia Code ExtraLight" pitchFamily="49" charset="0"/>
                <a:cs typeface="Cascadia Code ExtraLight" pitchFamily="49" charset="0"/>
              </a:rPr>
              <a:t>vs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сверточные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нейронные сети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2.Свертка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3.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Пулинг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4. Создание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CNN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для распознавания предметов гардероба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18434" name="AutoShape 2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36" name="AutoShape 4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38" name="AutoShape 6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40" name="AutoShape 8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42" name="AutoShape 10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600200"/>
            <a:ext cx="4640599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Чем плохи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полносвязные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нейронные сети?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1447800"/>
            <a:ext cx="8610600" cy="1447800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1. Слишком много весов</a:t>
            </a:r>
          </a:p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2. Ломаются пространственные отношения</a:t>
            </a:r>
            <a:endParaRPr lang="ru-RU" sz="24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438400"/>
            <a:ext cx="4670611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3505200"/>
            <a:ext cx="5410200" cy="3193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Свёртка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1524000"/>
            <a:ext cx="4191000" cy="48768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Ядро -  это маленькая матрица чисел (обычно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3×3),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которую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свёрточная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сеть «прикладывает» к изображению, чтобы найти в нём определённый узор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pPr lvl="0"/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464" y="1371600"/>
            <a:ext cx="4117411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Свёртка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5562600"/>
            <a:ext cx="8382000" cy="1020763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Карта признаков - это результат применения одного ядра ко всему изображению. Это новое изображение, в котором ярко показано,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где именно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на исходной картинке встретился узор, который ищет это ядро.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820268" cy="2714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2819400"/>
            <a:ext cx="6240463" cy="2165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Математика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00200"/>
            <a:ext cx="8065198" cy="4996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27" y="1371600"/>
            <a:ext cx="9114173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04800" y="990600"/>
            <a:ext cx="9554413" cy="517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067800" cy="838200"/>
          </a:xfrm>
        </p:spPr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Если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stride = 2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066800"/>
            <a:ext cx="5257800" cy="3213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4006594"/>
            <a:ext cx="4726093" cy="2851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410200" y="1219200"/>
            <a:ext cx="3429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Cascadia Code Light" pitchFamily="49" charset="0"/>
                <a:cs typeface="Cascadia Code Light" pitchFamily="49" charset="0"/>
              </a:rPr>
              <a:t>Stride</a:t>
            </a:r>
            <a:r>
              <a:rPr lang="en-US" sz="3200" dirty="0" smtClean="0">
                <a:latin typeface="Cascadia Code Light" pitchFamily="49" charset="0"/>
                <a:cs typeface="Cascadia Code Light" pitchFamily="49" charset="0"/>
              </a:rPr>
              <a:t> — </a:t>
            </a:r>
            <a:r>
              <a:rPr lang="ru-RU" sz="3200" dirty="0" smtClean="0">
                <a:latin typeface="Cascadia Code Light" pitchFamily="49" charset="0"/>
                <a:cs typeface="Cascadia Code Light" pitchFamily="49" charset="0"/>
              </a:rPr>
              <a:t>шаг сдвига окна (обычно 1).</a:t>
            </a:r>
            <a:endParaRPr lang="ru-RU" sz="3200" dirty="0" smtClean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"/>
            <a:ext cx="6172200" cy="3674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3429000"/>
            <a:ext cx="5567363" cy="3324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Паддинг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371600"/>
            <a:ext cx="5419725" cy="525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486400" y="1752600"/>
            <a:ext cx="3581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scadia Code Light" pitchFamily="49" charset="0"/>
                <a:cs typeface="Cascadia Code Light" pitchFamily="49" charset="0"/>
              </a:rPr>
              <a:t>Padding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—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добивка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краёв нулями, чтобы карта не уменьшалась (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padding='same')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или уменьшалась (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padding='valid').</a:t>
            </a:r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Несколько слоев сверток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33600"/>
            <a:ext cx="7852842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905000"/>
            <a:ext cx="8925352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5821363"/>
          </a:xfrm>
        </p:spPr>
        <p:txBody>
          <a:bodyPr/>
          <a:lstStyle/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Каждый следующий слой смотрит не на пиксели, а на карты предыдущего. Поэтому он видит более сложные вещи.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00200"/>
            <a:ext cx="8517715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8458200" cy="88423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 Pooling: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идея и математика 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257800" y="1524000"/>
            <a:ext cx="3733800" cy="5334000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Идея -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Pooling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сжимает карту, оставляя главное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Pooling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не имеет весов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это просто операция.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Уменьшает размер → меньше вычислений и меньше весов на выходе.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Даёт устойчивость к небольшим сдвигам: сдвинули объект на пиксель — максимум в окне тот же.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MaxPooling</a:t>
            </a:r>
            <a:endParaRPr lang="ru-RU" b="1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Average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pooling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14338" name="Picture 2" descr="Пулинг для изображений | Машинное и глубокое обучени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286000"/>
            <a:ext cx="4749452" cy="3467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Практика)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371600"/>
            <a:ext cx="6248400" cy="530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225</Words>
  <Application>Microsoft Office PowerPoint</Application>
  <PresentationFormat>Экран (4:3)</PresentationFormat>
  <Paragraphs>34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Office Theme</vt:lpstr>
      <vt:lpstr>Занятие 4. ML и изображения Свёрточные нейронные сети    </vt:lpstr>
      <vt:lpstr>План занятия</vt:lpstr>
      <vt:lpstr>Чем плохи полносвязные нейронные сети?</vt:lpstr>
      <vt:lpstr>Свёртка</vt:lpstr>
      <vt:lpstr>Свёртка</vt:lpstr>
      <vt:lpstr>Математика</vt:lpstr>
      <vt:lpstr>Слайд 7</vt:lpstr>
      <vt:lpstr>Слайд 8</vt:lpstr>
      <vt:lpstr>Если stride = 2</vt:lpstr>
      <vt:lpstr>Слайд 10</vt:lpstr>
      <vt:lpstr>Паддинг</vt:lpstr>
      <vt:lpstr>Несколько слоев сверток</vt:lpstr>
      <vt:lpstr>Слайд 13</vt:lpstr>
      <vt:lpstr>Слайд 14</vt:lpstr>
      <vt:lpstr> Pooling: идея и математика  </vt:lpstr>
      <vt:lpstr>Практика)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4. ML и изображения Свёрточные нейронные сети    </dc:title>
  <dc:creator>Вера Пономаренко</dc:creator>
  <cp:lastModifiedBy>Вера Пономаренко</cp:lastModifiedBy>
  <cp:revision>4</cp:revision>
  <dcterms:created xsi:type="dcterms:W3CDTF">2026-10-12T19:50:59Z</dcterms:created>
  <dcterms:modified xsi:type="dcterms:W3CDTF">2026-10-12T21:40:40Z</dcterms:modified>
</cp:coreProperties>
</file>